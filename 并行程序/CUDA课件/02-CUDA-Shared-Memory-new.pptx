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74" r:id="rId3"/>
    <p:sldId id="275" r:id="rId4"/>
    <p:sldId id="276" r:id="rId5"/>
    <p:sldId id="258" r:id="rId6"/>
    <p:sldId id="261" r:id="rId7"/>
    <p:sldId id="277" r:id="rId8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>
          <p15:clr>
            <a:srgbClr val="A4A3A4"/>
          </p15:clr>
        </p15:guide>
        <p15:guide id="2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0000"/>
    <a:srgbClr val="D9D9D9"/>
    <a:srgbClr val="F7AA89"/>
    <a:srgbClr val="FFD78E"/>
    <a:srgbClr val="0070C0"/>
    <a:srgbClr val="A0B0DC"/>
    <a:srgbClr val="338DCD"/>
    <a:srgbClr val="FFD686"/>
    <a:srgbClr val="F6B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4" autoAdjust="0"/>
    <p:restoredTop sz="82615" autoAdjust="0"/>
  </p:normalViewPr>
  <p:slideViewPr>
    <p:cSldViewPr showGuides="1">
      <p:cViewPr varScale="1">
        <p:scale>
          <a:sx n="74" d="100"/>
          <a:sy n="74" d="100"/>
        </p:scale>
        <p:origin x="88" y="76"/>
      </p:cViewPr>
      <p:guideLst>
        <p:guide orient="horz" pos="2292"/>
        <p:guide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BF8376AD-7CA3-4D19-B75B-E580D7AE758A}"/>
    <pc:docChg chg="modSld">
      <pc:chgData name="" userId="60900f52fed158ba" providerId="LiveId" clId="{BF8376AD-7CA3-4D19-B75B-E580D7AE758A}" dt="2025-12-15T01:20:43.611" v="1"/>
      <pc:docMkLst>
        <pc:docMk/>
      </pc:docMkLst>
      <pc:sldChg chg="modSp">
        <pc:chgData name="" userId="60900f52fed158ba" providerId="LiveId" clId="{BF8376AD-7CA3-4D19-B75B-E580D7AE758A}" dt="2025-11-30T14:09:02.224" v="0"/>
        <pc:sldMkLst>
          <pc:docMk/>
          <pc:sldMk cId="0" sldId="256"/>
        </pc:sldMkLst>
        <pc:spChg chg="mod">
          <ac:chgData name="" userId="60900f52fed158ba" providerId="LiveId" clId="{BF8376AD-7CA3-4D19-B75B-E580D7AE758A}" dt="2025-11-30T14:09:02.224" v="0"/>
          <ac:spMkLst>
            <pc:docMk/>
            <pc:sldMk cId="0" sldId="256"/>
            <ac:spMk id="10" creationId="{00000000-0000-0000-0000-000000000000}"/>
          </ac:spMkLst>
        </pc:spChg>
      </pc:sldChg>
      <pc:sldChg chg="modSp">
        <pc:chgData name="" userId="60900f52fed158ba" providerId="LiveId" clId="{BF8376AD-7CA3-4D19-B75B-E580D7AE758A}" dt="2025-12-15T01:20:43.611" v="1"/>
        <pc:sldMkLst>
          <pc:docMk/>
          <pc:sldMk cId="3013329800" sldId="277"/>
        </pc:sldMkLst>
        <pc:spChg chg="mod">
          <ac:chgData name="" userId="60900f52fed158ba" providerId="LiveId" clId="{BF8376AD-7CA3-4D19-B75B-E580D7AE758A}" dt="2025-12-15T01:20:43.611" v="1"/>
          <ac:spMkLst>
            <pc:docMk/>
            <pc:sldMk cId="3013329800" sldId="277"/>
            <ac:spMk id="4" creationId="{27D24453-3D95-0AB0-6EF1-40314EDAA3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9F0AE-5429-41AA-B523-A7139403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7B8C4DA-96A1-26B1-0E7B-C0CD576816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23524C03-F5E1-7EBB-6195-93B8B3962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88AFC389-B6AB-F020-4C3E-3BB8C1E854A7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16562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25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6203F8-0C70-49E3-9CA8-81F2A82319DE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kumimoji="1" lang="zh-CN" altLang="en-US" sz="36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Slide 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 marL="425450" indent="-425450">
              <a:lnSpc>
                <a:spcPct val="125000"/>
              </a:lnSpc>
              <a:buFont typeface="Wingdings" panose="05000000000000000000" pitchFamily="2" charset="2"/>
              <a:buChar char="q"/>
              <a:defRPr kumimoji="1" lang="zh-CN" altLang="en-US" sz="32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>
              <a:lnSpc>
                <a:spcPct val="125000"/>
              </a:lnSpc>
              <a:spcBef>
                <a:spcPts val="0"/>
              </a:spcBef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3200"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First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en-US" altLang="zh-CN" dirty="0"/>
              <a:t>Forth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D7BEFA-A630-4DF1-801A-25135564E842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7F3999-B934-4DFC-BE70-52CC1BC7E685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AAA782-5618-4E6A-B830-309462DA396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F2017F-D9AB-4DFA-8DC2-F4BD788E31DE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304025-2596-4036-BBC8-A8D2783E80BA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6A4C2E-225E-48C4-906D-16B2785A05D3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3CCB45-657B-4EBF-B1A8-548A3848FE7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7499C4-3E3A-4C40-BAB1-A5EA1295297A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255C34-BB88-4E89-A318-5797FE9B0CE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610BF1-13D6-4FCC-9445-C401ED6E35F0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E167EE-0F98-4F1E-AD27-E561075E3AE0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rgbClr val="0070C0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3718566" y="2375115"/>
            <a:ext cx="5364469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高性能计算程序设计</a:t>
            </a:r>
            <a:endParaRPr lang="zh-CN" altLang="en-US" sz="4000" b="1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144216" y="1872258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4690735" y="3816474"/>
            <a:ext cx="3420127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ECB7-84A1-6949-47D3-F14CE9EF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>
            <a:extLst>
              <a:ext uri="{FF2B5EF4-FFF2-40B4-BE49-F238E27FC236}">
                <a16:creationId xmlns:a16="http://schemas.microsoft.com/office/drawing/2014/main" id="{23B23F17-0CBC-DD0C-3BC0-8241259B3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52AC7B11-AF5D-9585-DF1A-ABDB103B8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447" y="2448322"/>
            <a:ext cx="7452702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en-US" altLang="zh-CN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CUDA SHARED MEMORY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2C962075-5FDB-D6AD-1551-58F21D0881B9}"/>
              </a:ext>
            </a:extLst>
          </p:cNvPr>
          <p:cNvSpPr txBox="1"/>
          <p:nvPr/>
        </p:nvSpPr>
        <p:spPr>
          <a:xfrm>
            <a:off x="1144216" y="1872258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C2D93BDB-5B7D-7C7E-9584-78A10FC7DFA7}"/>
              </a:ext>
            </a:extLst>
          </p:cNvPr>
          <p:cNvSpPr txBox="1">
            <a:spLocks/>
          </p:cNvSpPr>
          <p:nvPr/>
        </p:nvSpPr>
        <p:spPr>
          <a:xfrm>
            <a:off x="5235389" y="3415521"/>
            <a:ext cx="2076872" cy="369857"/>
          </a:xfrm>
          <a:prstGeom prst="rect">
            <a:avLst/>
          </a:prstGeom>
        </p:spPr>
        <p:txBody>
          <a:bodyPr>
            <a:normAutofit fontScale="80000" lnSpcReduction="10000"/>
          </a:bodyPr>
          <a:lstStyle>
            <a:lvl1pPr marL="425450" indent="-42545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rgbClr val="0070C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925830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2pPr>
            <a:lvl3pPr marL="1425575" indent="-282575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3pPr>
            <a:lvl4pPr marL="1995805" indent="-282575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4pPr>
            <a:lvl5pPr marL="2567305" indent="-282575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76B9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alibri Light" panose="020F0302020204030204" pitchFamily="34" charset="0"/>
              </a:rPr>
              <a:t>NVIDIA</a:t>
            </a:r>
            <a:r>
              <a:rPr lang="en-US" altLang="zh-CN" sz="2000" spc="-15" dirty="0">
                <a:solidFill>
                  <a:srgbClr val="76B9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alibri Light" panose="020F0302020204030204" pitchFamily="34" charset="0"/>
              </a:rPr>
              <a:t> </a:t>
            </a:r>
            <a:r>
              <a:rPr lang="en-US" altLang="zh-CN" sz="2000" spc="-5" dirty="0">
                <a:solidFill>
                  <a:srgbClr val="76B9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alibri Light" panose="020F0302020204030204" pitchFamily="34" charset="0"/>
              </a:rPr>
              <a:t>Corporation</a:t>
            </a:r>
            <a:endParaRPr lang="en-US" altLang="zh-CN" sz="18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8164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9F68-4463-8AFB-276E-F7D8477A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0382A7-851E-0DAE-731C-F60EECFB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(1 OF 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F6271F-4069-EC5B-B2AA-331B21357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792088"/>
          </a:xfrm>
        </p:spPr>
        <p:txBody>
          <a:bodyPr/>
          <a:lstStyle/>
          <a:p>
            <a:r>
              <a:rPr lang="en-US" dirty="0"/>
              <a:t>Difference between host and device</a:t>
            </a:r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549ACD02-153D-A23B-573A-0AD2000423BF}"/>
              </a:ext>
            </a:extLst>
          </p:cNvPr>
          <p:cNvSpPr txBox="1">
            <a:spLocks/>
          </p:cNvSpPr>
          <p:nvPr/>
        </p:nvSpPr>
        <p:spPr>
          <a:xfrm>
            <a:off x="352128" y="3384426"/>
            <a:ext cx="12097344" cy="3312368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Using </a:t>
            </a:r>
            <a:r>
              <a:rPr lang="en-US" dirty="0">
                <a:solidFill>
                  <a:srgbClr val="92D050"/>
                </a:solidFill>
              </a:rPr>
              <a:t>__</a:t>
            </a:r>
            <a:r>
              <a:rPr lang="en-US" altLang="zh-CN" dirty="0">
                <a:solidFill>
                  <a:srgbClr val="92D050"/>
                </a:solidFill>
              </a:rPr>
              <a:t>global__ </a:t>
            </a:r>
            <a:r>
              <a:rPr lang="en-US" altLang="zh-CN" dirty="0"/>
              <a:t>to declare a function as device code</a:t>
            </a:r>
          </a:p>
          <a:p>
            <a:pPr lvl="2"/>
            <a:r>
              <a:rPr lang="en-US" altLang="zh-CN" dirty="0"/>
              <a:t>Executes on the device</a:t>
            </a:r>
          </a:p>
          <a:p>
            <a:pPr lvl="2"/>
            <a:r>
              <a:rPr lang="en-US" altLang="zh-CN" dirty="0"/>
              <a:t>Called from the host (or possibly from other device code)</a:t>
            </a:r>
          </a:p>
          <a:p>
            <a:r>
              <a:rPr lang="en-US" altLang="zh-CN" dirty="0"/>
              <a:t>Passing parameters from host code to a device function</a:t>
            </a:r>
          </a:p>
          <a:p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1EC60E-377C-AA00-6CB4-3F7777ECF705}"/>
              </a:ext>
            </a:extLst>
          </p:cNvPr>
          <p:cNvSpPr txBox="1"/>
          <p:nvPr/>
        </p:nvSpPr>
        <p:spPr>
          <a:xfrm>
            <a:off x="352128" y="2016275"/>
            <a:ext cx="64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2295">
              <a:lnSpc>
                <a:spcPct val="100000"/>
              </a:lnSpc>
              <a:spcBef>
                <a:spcPts val="1565"/>
              </a:spcBef>
              <a:tabLst>
                <a:tab pos="1610360" algn="l"/>
              </a:tabLst>
            </a:pPr>
            <a:r>
              <a:rPr lang="en-US" altLang="zh-CN" sz="2400" b="1" i="1" spc="-5" dirty="0">
                <a:solidFill>
                  <a:srgbClr val="FFC000"/>
                </a:solidFill>
                <a:cs typeface="Calibri" panose="020F0502020204030204" pitchFamily="34" charset="0"/>
              </a:rPr>
              <a:t>Host	</a:t>
            </a:r>
            <a:r>
              <a:rPr lang="en-US" altLang="zh-CN" sz="2400" spc="-5" dirty="0">
                <a:solidFill>
                  <a:srgbClr val="5E5E5E"/>
                </a:solidFill>
                <a:cs typeface="Calibri" panose="020F0502020204030204" pitchFamily="34" charset="0"/>
              </a:rPr>
              <a:t>CPU</a:t>
            </a:r>
            <a:endParaRPr lang="en-US" altLang="zh-CN" sz="2400" dirty="0"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altLang="zh-CN" sz="2400" dirty="0">
              <a:cs typeface="Calibri" panose="020F0502020204030204" pitchFamily="34" charset="0"/>
            </a:endParaRPr>
          </a:p>
          <a:p>
            <a:pPr marL="582295">
              <a:lnSpc>
                <a:spcPct val="100000"/>
              </a:lnSpc>
              <a:spcBef>
                <a:spcPts val="5"/>
              </a:spcBef>
              <a:tabLst>
                <a:tab pos="1610360" algn="l"/>
              </a:tabLst>
            </a:pPr>
            <a:r>
              <a:rPr lang="en-US" altLang="zh-CN" sz="2400" b="1" i="1" dirty="0">
                <a:solidFill>
                  <a:srgbClr val="FFC000"/>
                </a:solidFill>
                <a:cs typeface="Calibri" panose="020F0502020204030204" pitchFamily="34" charset="0"/>
              </a:rPr>
              <a:t>Device	</a:t>
            </a:r>
            <a:r>
              <a:rPr lang="en-US" altLang="zh-CN" sz="2400" spc="-5" dirty="0">
                <a:solidFill>
                  <a:srgbClr val="5E5E5E"/>
                </a:solidFill>
                <a:cs typeface="Calibri" panose="020F0502020204030204" pitchFamily="34" charset="0"/>
              </a:rPr>
              <a:t>GPU</a:t>
            </a:r>
            <a:endParaRPr lang="en-US" altLang="zh-CN" sz="2400" dirty="0">
              <a:cs typeface="Calibri" panose="020F050202020403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97D539-1DD1-F802-5DFF-9B4073B4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96024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3071-0575-8DE5-2CC0-7116ED39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E6F6788-2785-4429-D8BE-5BFD9098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(2 OF 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51770-04FF-9D51-5711-3BF52A3AA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device memory management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cudaMalloc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 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cudaMemcpy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cudaFree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</a:t>
            </a:r>
          </a:p>
          <a:p>
            <a:pPr marL="274320" lvl="1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Launching parallel kernels</a:t>
            </a:r>
          </a:p>
          <a:p>
            <a:pPr lvl="1"/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Launch N copies of add() with add</a:t>
            </a:r>
            <a:r>
              <a:rPr lang="en-US" b="1" dirty="0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&lt;&lt;&lt;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N,1</a:t>
            </a:r>
            <a:r>
              <a:rPr lang="en-US" b="1" dirty="0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&gt;&gt;&gt;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(…);</a:t>
            </a:r>
          </a:p>
          <a:p>
            <a:pPr lvl="1"/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Use </a:t>
            </a:r>
            <a:r>
              <a:rPr lang="en-US" b="1" dirty="0" err="1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blockIdx.x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 to access block index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B980E9-5573-A708-2636-B9AE0249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71261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82922-F8E4-6811-A397-0C053193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9BE933-D8E5-0D97-AEA9-F7EFFA66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12B12D-88D2-04D0-DAEA-4CD897AA5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memory is equivalent to a user-managed cache: The application explicitly allocates and accesses 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Launching parallel kernels</a:t>
            </a:r>
          </a:p>
          <a:p>
            <a:pPr lvl="1"/>
            <a:r>
              <a:rPr lang="en-US" dirty="0"/>
              <a:t>Launch N copies of add() with add</a:t>
            </a:r>
            <a:r>
              <a:rPr lang="en-US" dirty="0">
                <a:solidFill>
                  <a:srgbClr val="FFC000"/>
                </a:solidFill>
              </a:rPr>
              <a:t>&lt;&lt;&lt;</a:t>
            </a:r>
            <a:r>
              <a:rPr lang="en-US" dirty="0"/>
              <a:t>N,1</a:t>
            </a:r>
            <a:r>
              <a:rPr lang="en-US" dirty="0">
                <a:solidFill>
                  <a:srgbClr val="FFC000"/>
                </a:solidFill>
              </a:rPr>
              <a:t>&gt;&gt;&gt;</a:t>
            </a:r>
            <a:r>
              <a:rPr lang="en-US" dirty="0"/>
              <a:t>(…);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solidFill>
                  <a:srgbClr val="FFC000"/>
                </a:solidFill>
              </a:rPr>
              <a:t>blockIdx.x</a:t>
            </a:r>
            <a:r>
              <a:rPr lang="en-US" dirty="0"/>
              <a:t> to access block index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FBD251-BE30-9FE6-6AA9-46620680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28991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C672-998C-0300-19A5-7632A1E8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1EC85-103C-D912-4002-453E8997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sz="2800" dirty="0"/>
              <a:t>Shared Memory: SHARING DATA BETWEEN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60B31-FB2A-E0C2-0500-5204662F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400599"/>
          </a:xfrm>
        </p:spPr>
        <p:txBody>
          <a:bodyPr/>
          <a:lstStyle/>
          <a:p>
            <a:pPr lvl="1"/>
            <a:r>
              <a:rPr lang="en-US" dirty="0"/>
              <a:t>Terminology: within </a:t>
            </a:r>
            <a:r>
              <a:rPr lang="en-US"/>
              <a:t>a thread </a:t>
            </a:r>
            <a:r>
              <a:rPr lang="en-US" dirty="0"/>
              <a:t>block, threads share data via </a:t>
            </a:r>
            <a:r>
              <a:rPr lang="en-US" dirty="0">
                <a:solidFill>
                  <a:srgbClr val="FFC000"/>
                </a:solidFill>
              </a:rPr>
              <a:t>shared memory</a:t>
            </a:r>
          </a:p>
          <a:p>
            <a:pPr lvl="1"/>
            <a:r>
              <a:rPr lang="en-US" dirty="0"/>
              <a:t>Shared memory is equivalent to a user-managed cache: </a:t>
            </a:r>
          </a:p>
          <a:p>
            <a:pPr lvl="2"/>
            <a:r>
              <a:rPr lang="en-US" dirty="0"/>
              <a:t>The application explicitly allocates and accesses it.</a:t>
            </a:r>
          </a:p>
          <a:p>
            <a:pPr lvl="1"/>
            <a:r>
              <a:rPr lang="en-US" dirty="0"/>
              <a:t>Extremely fast on-chip memory, user-managed</a:t>
            </a:r>
          </a:p>
          <a:p>
            <a:pPr lvl="1"/>
            <a:r>
              <a:rPr lang="en-US" dirty="0"/>
              <a:t>Declare using </a:t>
            </a:r>
            <a:r>
              <a:rPr lang="en-US" dirty="0">
                <a:solidFill>
                  <a:srgbClr val="FFC000"/>
                </a:solidFill>
              </a:rPr>
              <a:t>__shared__, </a:t>
            </a:r>
            <a:r>
              <a:rPr lang="en-US" dirty="0"/>
              <a:t>allocated a variable per block  that:</a:t>
            </a:r>
          </a:p>
          <a:p>
            <a:pPr lvl="2"/>
            <a:r>
              <a:rPr lang="en-US" dirty="0"/>
              <a:t>Resides in the shared memory space of a thread block,</a:t>
            </a:r>
          </a:p>
          <a:p>
            <a:pPr lvl="2"/>
            <a:r>
              <a:rPr lang="en-US" dirty="0"/>
              <a:t>Has the lifetime of the block,</a:t>
            </a:r>
          </a:p>
          <a:p>
            <a:pPr lvl="2"/>
            <a:r>
              <a:rPr lang="en-US" dirty="0"/>
              <a:t>Has a distinct object per block,</a:t>
            </a:r>
          </a:p>
          <a:p>
            <a:pPr lvl="2"/>
            <a:r>
              <a:rPr lang="en-US" dirty="0"/>
              <a:t>Is only accessible from all the CUDA threads within the block,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F56162-B03C-6ED6-4B7B-BC444B28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92748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9459-8276-B078-D661-61C7EC43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ABC0F8-0865-BF7A-9020-816E49D6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sz="2800" dirty="0"/>
              <a:t>Shared Memory: SHARING DATA BETWEEN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D24453-3D95-0AB0-6EF1-40314EDA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400599"/>
          </a:xfrm>
        </p:spPr>
        <p:txBody>
          <a:bodyPr/>
          <a:lstStyle/>
          <a:p>
            <a:r>
              <a:rPr lang="en-US" dirty="0"/>
              <a:t>Typical programming pattern:</a:t>
            </a:r>
          </a:p>
          <a:p>
            <a:pPr lvl="1"/>
            <a:r>
              <a:rPr lang="en-US" dirty="0"/>
              <a:t>Load data from device memory to shared memory</a:t>
            </a:r>
          </a:p>
          <a:p>
            <a:pPr lvl="1"/>
            <a:r>
              <a:rPr lang="en-US" dirty="0"/>
              <a:t>Synchronize with all the other threads of the block so that each thread can safely read shared memory locations that were populated by different threads,</a:t>
            </a:r>
            <a:r>
              <a:rPr lang="en-US" altLang="zh-CN" dirty="0">
                <a:solidFill>
                  <a:srgbClr val="FFC000"/>
                </a:solidFill>
              </a:rPr>
              <a:t> __</a:t>
            </a:r>
            <a:r>
              <a:rPr lang="en-US" altLang="zh-CN" dirty="0" err="1">
                <a:solidFill>
                  <a:srgbClr val="FFC000"/>
                </a:solidFill>
              </a:rPr>
              <a:t>syncthreads</a:t>
            </a:r>
            <a:r>
              <a:rPr lang="en-US" altLang="zh-CN" dirty="0">
                <a:solidFill>
                  <a:srgbClr val="FFC000"/>
                </a:solidFill>
              </a:rPr>
              <a:t>();</a:t>
            </a:r>
            <a:endParaRPr lang="en-US" dirty="0"/>
          </a:p>
          <a:p>
            <a:pPr lvl="1"/>
            <a:r>
              <a:rPr lang="en-US" dirty="0"/>
              <a:t>Process the data in shared memory</a:t>
            </a:r>
          </a:p>
          <a:p>
            <a:pPr lvl="1"/>
            <a:r>
              <a:rPr lang="en-US" dirty="0"/>
              <a:t>Synchronize again if necessary to make sure that shared memory has been updated with the results,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syncthreads</a:t>
            </a:r>
            <a:r>
              <a:rPr lang="en-US" altLang="zh-CN" dirty="0">
                <a:solidFill>
                  <a:srgbClr val="FFC000"/>
                </a:solidFill>
              </a:rPr>
              <a:t>();</a:t>
            </a:r>
            <a:endParaRPr lang="en-US" dirty="0"/>
          </a:p>
          <a:p>
            <a:pPr lvl="1"/>
            <a:r>
              <a:rPr lang="en-US" dirty="0"/>
              <a:t>Write the results back to device memory.</a:t>
            </a:r>
          </a:p>
          <a:p>
            <a:pPr lvl="1"/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8DF6E6-87B6-635C-9D2C-E4E44708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32980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452</TotalTime>
  <Words>334</Words>
  <Application>Microsoft Office PowerPoint</Application>
  <PresentationFormat>自定义</PresentationFormat>
  <Paragraphs>53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微软雅黑</vt:lpstr>
      <vt:lpstr>Microsoft YaHei Light</vt:lpstr>
      <vt:lpstr>Arial</vt:lpstr>
      <vt:lpstr>Calibri</vt:lpstr>
      <vt:lpstr>Comic Sans MS</vt:lpstr>
      <vt:lpstr>Courier New</vt:lpstr>
      <vt:lpstr>Wingdings</vt:lpstr>
      <vt:lpstr>教育部工程研究中心项目汇报-改</vt:lpstr>
      <vt:lpstr>PowerPoint 演示文稿</vt:lpstr>
      <vt:lpstr>PowerPoint 演示文稿</vt:lpstr>
      <vt:lpstr>REVIEW (1 OF 2)</vt:lpstr>
      <vt:lpstr>REVIEW (2 OF 2)</vt:lpstr>
      <vt:lpstr>Shared Memory</vt:lpstr>
      <vt:lpstr>Shared Memory: SHARING DATA BETWEEN THREADS</vt:lpstr>
      <vt:lpstr>Shared Memory: SHARING DATA BETWEEN THREADS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達富 鍾</cp:lastModifiedBy>
  <cp:revision>2630</cp:revision>
  <dcterms:created xsi:type="dcterms:W3CDTF">2016-05-19T09:43:00Z</dcterms:created>
  <dcterms:modified xsi:type="dcterms:W3CDTF">2026-01-14T09:23:58Z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FE6B41012A634C3A893C10D0EDECA588</vt:lpwstr>
  </property>
</Properties>
</file>