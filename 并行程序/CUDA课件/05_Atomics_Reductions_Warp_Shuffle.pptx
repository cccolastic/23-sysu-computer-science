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21" r:id="rId2"/>
    <p:sldId id="257" r:id="rId3"/>
    <p:sldId id="323" r:id="rId4"/>
    <p:sldId id="282"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Lst>
  <p:sldSz cx="10972800" cy="6172200"/>
  <p:notesSz cx="10972800" cy="6172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uyuan DENG" initials="XD" lastIdx="1" clrIdx="0"/>
  <p:cmAuthor id="2" name="Betty Mo" initials="BM"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9"/>
    <p:restoredTop sz="93661" autoAdjust="0"/>
  </p:normalViewPr>
  <p:slideViewPr>
    <p:cSldViewPr>
      <p:cViewPr varScale="1">
        <p:scale>
          <a:sx n="59" d="100"/>
          <a:sy n="59" d="100"/>
        </p:scale>
        <p:origin x="28" y="9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0900f52fed158ba" providerId="LiveId" clId="{9420C578-9B6F-4E87-96C5-BA92EE13D58A}"/>
    <pc:docChg chg="modSld">
      <pc:chgData name="" userId="60900f52fed158ba" providerId="LiveId" clId="{9420C578-9B6F-4E87-96C5-BA92EE13D58A}" dt="2025-06-17T14:05:51.916" v="23" actId="20577"/>
      <pc:docMkLst>
        <pc:docMk/>
      </pc:docMkLst>
      <pc:sldChg chg="modSp">
        <pc:chgData name="" userId="60900f52fed158ba" providerId="LiveId" clId="{9420C578-9B6F-4E87-96C5-BA92EE13D58A}" dt="2025-06-17T13:58:43.577" v="0" actId="14100"/>
        <pc:sldMkLst>
          <pc:docMk/>
          <pc:sldMk cId="0" sldId="287"/>
        </pc:sldMkLst>
        <pc:spChg chg="mod">
          <ac:chgData name="" userId="60900f52fed158ba" providerId="LiveId" clId="{9420C578-9B6F-4E87-96C5-BA92EE13D58A}" dt="2025-06-17T13:58:43.577" v="0" actId="14100"/>
          <ac:spMkLst>
            <pc:docMk/>
            <pc:sldMk cId="0" sldId="287"/>
            <ac:spMk id="104" creationId="{00000000-0000-0000-0000-000000000000}"/>
          </ac:spMkLst>
        </pc:spChg>
      </pc:sldChg>
      <pc:sldChg chg="delSp modSp">
        <pc:chgData name="" userId="60900f52fed158ba" providerId="LiveId" clId="{9420C578-9B6F-4E87-96C5-BA92EE13D58A}" dt="2025-06-17T14:00:31.463" v="5"/>
        <pc:sldMkLst>
          <pc:docMk/>
          <pc:sldMk cId="0" sldId="288"/>
        </pc:sldMkLst>
        <pc:spChg chg="del mod">
          <ac:chgData name="" userId="60900f52fed158ba" providerId="LiveId" clId="{9420C578-9B6F-4E87-96C5-BA92EE13D58A}" dt="2025-06-17T14:00:31.463" v="5"/>
          <ac:spMkLst>
            <pc:docMk/>
            <pc:sldMk cId="0" sldId="288"/>
            <ac:spMk id="10" creationId="{00000000-0000-0000-0000-000000000000}"/>
          </ac:spMkLst>
        </pc:spChg>
        <pc:spChg chg="mod">
          <ac:chgData name="" userId="60900f52fed158ba" providerId="LiveId" clId="{9420C578-9B6F-4E87-96C5-BA92EE13D58A}" dt="2025-06-17T14:00:25.136" v="3"/>
          <ac:spMkLst>
            <pc:docMk/>
            <pc:sldMk cId="0" sldId="288"/>
            <ac:spMk id="11" creationId="{00000000-0000-0000-0000-000000000000}"/>
          </ac:spMkLst>
        </pc:spChg>
      </pc:sldChg>
      <pc:sldChg chg="modSp">
        <pc:chgData name="" userId="60900f52fed158ba" providerId="LiveId" clId="{9420C578-9B6F-4E87-96C5-BA92EE13D58A}" dt="2025-06-17T14:01:21.283" v="9" actId="14100"/>
        <pc:sldMkLst>
          <pc:docMk/>
          <pc:sldMk cId="0" sldId="291"/>
        </pc:sldMkLst>
        <pc:spChg chg="mod">
          <ac:chgData name="" userId="60900f52fed158ba" providerId="LiveId" clId="{9420C578-9B6F-4E87-96C5-BA92EE13D58A}" dt="2025-06-17T14:01:12.823" v="6" actId="14100"/>
          <ac:spMkLst>
            <pc:docMk/>
            <pc:sldMk cId="0" sldId="291"/>
            <ac:spMk id="100" creationId="{00000000-0000-0000-0000-000000000000}"/>
          </ac:spMkLst>
        </pc:spChg>
        <pc:spChg chg="mod">
          <ac:chgData name="" userId="60900f52fed158ba" providerId="LiveId" clId="{9420C578-9B6F-4E87-96C5-BA92EE13D58A}" dt="2025-06-17T14:01:15.198" v="7" actId="14100"/>
          <ac:spMkLst>
            <pc:docMk/>
            <pc:sldMk cId="0" sldId="291"/>
            <ac:spMk id="101" creationId="{00000000-0000-0000-0000-000000000000}"/>
          </ac:spMkLst>
        </pc:spChg>
        <pc:spChg chg="mod">
          <ac:chgData name="" userId="60900f52fed158ba" providerId="LiveId" clId="{9420C578-9B6F-4E87-96C5-BA92EE13D58A}" dt="2025-06-17T14:01:18.622" v="8" actId="14100"/>
          <ac:spMkLst>
            <pc:docMk/>
            <pc:sldMk cId="0" sldId="291"/>
            <ac:spMk id="102" creationId="{00000000-0000-0000-0000-000000000000}"/>
          </ac:spMkLst>
        </pc:spChg>
        <pc:spChg chg="mod">
          <ac:chgData name="" userId="60900f52fed158ba" providerId="LiveId" clId="{9420C578-9B6F-4E87-96C5-BA92EE13D58A}" dt="2025-06-17T14:01:21.283" v="9" actId="14100"/>
          <ac:spMkLst>
            <pc:docMk/>
            <pc:sldMk cId="0" sldId="291"/>
            <ac:spMk id="103" creationId="{00000000-0000-0000-0000-000000000000}"/>
          </ac:spMkLst>
        </pc:spChg>
      </pc:sldChg>
      <pc:sldChg chg="modSp">
        <pc:chgData name="" userId="60900f52fed158ba" providerId="LiveId" clId="{9420C578-9B6F-4E87-96C5-BA92EE13D58A}" dt="2025-06-17T14:05:51.916" v="23" actId="20577"/>
        <pc:sldMkLst>
          <pc:docMk/>
          <pc:sldMk cId="0" sldId="296"/>
        </pc:sldMkLst>
        <pc:spChg chg="mod">
          <ac:chgData name="" userId="60900f52fed158ba" providerId="LiveId" clId="{9420C578-9B6F-4E87-96C5-BA92EE13D58A}" dt="2025-06-17T14:05:51.916" v="23" actId="20577"/>
          <ac:spMkLst>
            <pc:docMk/>
            <pc:sldMk cId="0" sldId="29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754563" cy="3095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215063" y="0"/>
            <a:ext cx="4754562" cy="309563"/>
          </a:xfrm>
          <a:prstGeom prst="rect">
            <a:avLst/>
          </a:prstGeom>
        </p:spPr>
        <p:txBody>
          <a:bodyPr vert="horz" lIns="91440" tIns="45720" rIns="91440" bIns="45720" rtlCol="0"/>
          <a:lstStyle>
            <a:lvl1pPr algn="r">
              <a:defRPr sz="1200"/>
            </a:lvl1pPr>
          </a:lstStyle>
          <a:p>
            <a:fld id="{F72D1232-DB13-4572-93F1-A4F83D556CF8}" type="datetimeFigureOut">
              <a:rPr lang="zh-CN" altLang="en-US" smtClean="0"/>
              <a:t>2026/1/14</a:t>
            </a:fld>
            <a:endParaRPr lang="zh-CN" altLang="en-US"/>
          </a:p>
        </p:txBody>
      </p:sp>
      <p:sp>
        <p:nvSpPr>
          <p:cNvPr id="4" name="幻灯片图像占位符 3"/>
          <p:cNvSpPr>
            <a:spLocks noGrp="1" noRot="1" noChangeAspect="1"/>
          </p:cNvSpPr>
          <p:nvPr>
            <p:ph type="sldImg" idx="2"/>
          </p:nvPr>
        </p:nvSpPr>
        <p:spPr>
          <a:xfrm>
            <a:off x="3635375" y="771525"/>
            <a:ext cx="3702050" cy="20828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96963" y="2970213"/>
            <a:ext cx="8778875" cy="2430462"/>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5862638"/>
            <a:ext cx="4754563" cy="30956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215063" y="5862638"/>
            <a:ext cx="4754562" cy="309562"/>
          </a:xfrm>
          <a:prstGeom prst="rect">
            <a:avLst/>
          </a:prstGeom>
        </p:spPr>
        <p:txBody>
          <a:bodyPr vert="horz" lIns="91440" tIns="45720" rIns="91440" bIns="45720" rtlCol="0" anchor="b"/>
          <a:lstStyle>
            <a:lvl1pPr algn="r">
              <a:defRPr sz="1200"/>
            </a:lvl1pPr>
          </a:lstStyle>
          <a:p>
            <a:fld id="{BF232590-938D-4A9D-A02D-769FA58EAFE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docs.nvidia.com/cuda/cuda-c-programming-guide/index.html#memory-fence-functions"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docs.nvidia.com/cuda/cuda-c-programming-guide/index.html#synchronization-function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If you don't declare a shared array as volatile, then the compiler is free to optimize locations in shared memory by locating them in registers (whose scope is specific to a single thread), for any thread, at it's choosing. This is true whether you access that particular shared element from only one thread or not. Therefore, if you use shared memory as a communication vehicle between threads of a block, it's best to declare it volatile. However, this sort of communication pattern often also requires execution barriers to enforce ordering of reads/writes, so continue reading about barriers below.</a:t>
            </a:r>
          </a:p>
          <a:p>
            <a:pPr fontAlgn="base"/>
            <a:r>
              <a:rPr lang="en-US" sz="1200" b="0" i="0" kern="1200" dirty="0">
                <a:solidFill>
                  <a:schemeClr val="tx1"/>
                </a:solidFill>
                <a:effectLst/>
                <a:latin typeface="+mn-lt"/>
                <a:ea typeface="+mn-ea"/>
                <a:cs typeface="+mn-cs"/>
              </a:rPr>
              <a:t>Obviously if each thread only accessed its own elements of shared memory, and never those associated with another thread, then this does not matter, and the compiler optimization will not break anything.</a:t>
            </a:r>
          </a:p>
          <a:p>
            <a:pPr fontAlgn="base"/>
            <a:r>
              <a:rPr lang="en-US" sz="1200" b="0" i="0" kern="1200" dirty="0">
                <a:solidFill>
                  <a:schemeClr val="tx1"/>
                </a:solidFill>
                <a:effectLst/>
                <a:latin typeface="+mn-lt"/>
                <a:ea typeface="+mn-ea"/>
                <a:cs typeface="+mn-cs"/>
              </a:rPr>
              <a:t>In your case, where you have a section of code where each thread is accessing it's own elements of shared memory, and the only inter-thread access occurs at a well understood location, you could use a </a:t>
            </a:r>
            <a:r>
              <a:rPr lang="en-US" sz="1200" b="0" i="0" u="sng" kern="1200" dirty="0">
                <a:solidFill>
                  <a:schemeClr val="tx1"/>
                </a:solidFill>
                <a:effectLst/>
                <a:latin typeface="+mn-lt"/>
                <a:ea typeface="+mn-ea"/>
                <a:cs typeface="+mn-cs"/>
                <a:hlinkClick r:id="rId3"/>
              </a:rPr>
              <a:t>memory fence function</a:t>
            </a:r>
            <a:r>
              <a:rPr lang="en-US" sz="1200" b="0" i="0" kern="1200" dirty="0">
                <a:solidFill>
                  <a:schemeClr val="tx1"/>
                </a:solidFill>
                <a:effectLst/>
                <a:latin typeface="+mn-lt"/>
                <a:ea typeface="+mn-ea"/>
                <a:cs typeface="+mn-cs"/>
              </a:rPr>
              <a:t> to force the compiler to evict any values that are temporarily stored in registers, back out to the shared array. So you might think that __</a:t>
            </a:r>
            <a:r>
              <a:rPr lang="en-US" sz="1200" b="0" i="0" kern="1200" dirty="0" err="1">
                <a:solidFill>
                  <a:schemeClr val="tx1"/>
                </a:solidFill>
                <a:effectLst/>
                <a:latin typeface="+mn-lt"/>
                <a:ea typeface="+mn-ea"/>
                <a:cs typeface="+mn-cs"/>
              </a:rPr>
              <a:t>threadfence_block</a:t>
            </a:r>
            <a:r>
              <a:rPr lang="en-US" sz="1200" b="0" i="0" kern="1200" dirty="0">
                <a:solidFill>
                  <a:schemeClr val="tx1"/>
                </a:solidFill>
                <a:effectLst/>
                <a:latin typeface="+mn-lt"/>
                <a:ea typeface="+mn-ea"/>
                <a:cs typeface="+mn-cs"/>
              </a:rPr>
              <a:t>() might be useful, but in your case, __</a:t>
            </a:r>
            <a:r>
              <a:rPr lang="en-US" sz="1200" b="0" i="0" kern="1200" dirty="0" err="1">
                <a:solidFill>
                  <a:schemeClr val="tx1"/>
                </a:solidFill>
                <a:effectLst/>
                <a:latin typeface="+mn-lt"/>
                <a:ea typeface="+mn-ea"/>
                <a:cs typeface="+mn-cs"/>
              </a:rPr>
              <a:t>syncthreads</a:t>
            </a:r>
            <a:r>
              <a:rPr lang="en-US" sz="1200" b="0" i="0" kern="1200" dirty="0">
                <a:solidFill>
                  <a:schemeClr val="tx1"/>
                </a:solidFill>
                <a:effectLst/>
                <a:latin typeface="+mn-lt"/>
                <a:ea typeface="+mn-ea"/>
                <a:cs typeface="+mn-cs"/>
              </a:rPr>
              <a:t>() </a:t>
            </a:r>
            <a:r>
              <a:rPr lang="en-US" sz="1200" b="0" i="0" u="sng" kern="1200" dirty="0">
                <a:solidFill>
                  <a:schemeClr val="tx1"/>
                </a:solidFill>
                <a:effectLst/>
                <a:latin typeface="+mn-lt"/>
                <a:ea typeface="+mn-ea"/>
                <a:cs typeface="+mn-cs"/>
                <a:hlinkClick r:id="rId4"/>
              </a:rPr>
              <a:t>already has memory-fencing functionality built in</a:t>
            </a:r>
            <a:r>
              <a:rPr lang="en-US" sz="1200" b="0" i="0" kern="1200" dirty="0">
                <a:solidFill>
                  <a:schemeClr val="tx1"/>
                </a:solidFill>
                <a:effectLst/>
                <a:latin typeface="+mn-lt"/>
                <a:ea typeface="+mn-ea"/>
                <a:cs typeface="+mn-cs"/>
              </a:rPr>
              <a:t>. So your __</a:t>
            </a:r>
            <a:r>
              <a:rPr lang="en-US" sz="1200" b="0" i="0" kern="1200" dirty="0" err="1">
                <a:solidFill>
                  <a:schemeClr val="tx1"/>
                </a:solidFill>
                <a:effectLst/>
                <a:latin typeface="+mn-lt"/>
                <a:ea typeface="+mn-ea"/>
                <a:cs typeface="+mn-cs"/>
              </a:rPr>
              <a:t>syncthreads</a:t>
            </a:r>
            <a:r>
              <a:rPr lang="en-US" sz="1200" b="0" i="0" kern="1200" dirty="0">
                <a:solidFill>
                  <a:schemeClr val="tx1"/>
                </a:solidFill>
                <a:effectLst/>
                <a:latin typeface="+mn-lt"/>
                <a:ea typeface="+mn-ea"/>
                <a:cs typeface="+mn-cs"/>
              </a:rPr>
              <a:t>() call is sufficient to force thread synchronization as well as to force any register-cached values in shared memory to be evicted back to shared memory.</a:t>
            </a:r>
          </a:p>
          <a:p>
            <a:pPr fontAlgn="base"/>
            <a:r>
              <a:rPr lang="en-US" sz="1200" b="0" i="0" kern="1200" dirty="0">
                <a:solidFill>
                  <a:schemeClr val="tx1"/>
                </a:solidFill>
                <a:effectLst/>
                <a:latin typeface="+mn-lt"/>
                <a:ea typeface="+mn-ea"/>
                <a:cs typeface="+mn-cs"/>
              </a:rPr>
              <a:t>By the way, if that reduction at the end of your code is of performance concern, you could consider using a parallel reduction method to speed it up.</a:t>
            </a:r>
          </a:p>
          <a:p>
            <a:endParaRPr lang="en-US" dirty="0"/>
          </a:p>
        </p:txBody>
      </p:sp>
      <p:sp>
        <p:nvSpPr>
          <p:cNvPr id="4" name="灯片编号占位符 3"/>
          <p:cNvSpPr>
            <a:spLocks noGrp="1"/>
          </p:cNvSpPr>
          <p:nvPr>
            <p:ph type="sldNum" sz="quarter" idx="5"/>
          </p:nvPr>
        </p:nvSpPr>
        <p:spPr/>
        <p:txBody>
          <a:bodyPr/>
          <a:lstStyle/>
          <a:p>
            <a:fld id="{BF232590-938D-4A9D-A02D-769FA58EAFE7}"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22960" y="1917387"/>
            <a:ext cx="9326880" cy="1323022"/>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645920" y="3497580"/>
            <a:ext cx="7680960" cy="1577340"/>
          </a:xfrm>
          <a:prstGeom prst="rect">
            <a:avLst/>
          </a:prstGeo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7F68671A-1028-4918-B52D-F225EDA688D1}"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48641" y="122868"/>
            <a:ext cx="9628567" cy="493522"/>
          </a:xfrm>
          <a:prstGeom prst="rect">
            <a:avLst/>
          </a:prstGeom>
        </p:spPr>
        <p:txBody>
          <a:bodyPr/>
          <a:lstStyle/>
          <a:p>
            <a:r>
              <a:rPr lang="zh-CN" altLang="en-US" dirty="0"/>
              <a:t>单击此处编辑母版标题样式</a:t>
            </a:r>
          </a:p>
        </p:txBody>
      </p:sp>
      <p:sp>
        <p:nvSpPr>
          <p:cNvPr id="3" name="内容占位符 2"/>
          <p:cNvSpPr>
            <a:spLocks noGrp="1"/>
          </p:cNvSpPr>
          <p:nvPr>
            <p:ph idx="1"/>
          </p:nvPr>
        </p:nvSpPr>
        <p:spPr>
          <a:xfrm>
            <a:off x="548640" y="925860"/>
            <a:ext cx="9875520" cy="4073367"/>
          </a:xfrm>
          <a:prstGeom prst="rect">
            <a:avLst/>
          </a:prstGeom>
        </p:spPr>
        <p:txBody>
          <a:bodyPr/>
          <a:lstStyle>
            <a:lvl2pPr marL="882015" indent="-391795">
              <a:buFont typeface="Arial" panose="020B0604020202020204" pitchFamily="34" charset="0"/>
              <a:buChar char="»"/>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CA40A734-EF3B-425E-9970-80954DDB080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66777" y="3966215"/>
            <a:ext cx="9326880" cy="1225868"/>
          </a:xfrm>
          <a:prstGeom prst="rect">
            <a:avLst/>
          </a:prstGeom>
        </p:spPr>
        <p:txBody>
          <a:bodyPr anchor="t"/>
          <a:lstStyle>
            <a:lvl1pPr algn="l">
              <a:defRPr sz="3600" b="1" cap="all"/>
            </a:lvl1pPr>
          </a:lstStyle>
          <a:p>
            <a:r>
              <a:rPr lang="zh-CN" altLang="en-US"/>
              <a:t>单击此处编辑母版标题样式</a:t>
            </a:r>
          </a:p>
        </p:txBody>
      </p:sp>
      <p:sp>
        <p:nvSpPr>
          <p:cNvPr id="3" name="文本占位符 2"/>
          <p:cNvSpPr>
            <a:spLocks noGrp="1"/>
          </p:cNvSpPr>
          <p:nvPr>
            <p:ph type="body" idx="1"/>
          </p:nvPr>
        </p:nvSpPr>
        <p:spPr>
          <a:xfrm>
            <a:off x="866777" y="2616042"/>
            <a:ext cx="9326880" cy="1350168"/>
          </a:xfrm>
          <a:prstGeom prst="rect">
            <a:avLst/>
          </a:prstGeo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91F44B76-BDB5-48DA-9429-18FB768FED70}"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548640" y="1440185"/>
            <a:ext cx="4846320" cy="4073367"/>
          </a:xfrm>
          <a:prstGeom prst="rect">
            <a:avLst/>
          </a:prstGeo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577841" y="1440185"/>
            <a:ext cx="4846320" cy="4073367"/>
          </a:xfrm>
          <a:prstGeom prst="rect">
            <a:avLst/>
          </a:prstGeo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89D35798-1DC4-447E-97F5-D240AF3B9805}"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48640" y="1381602"/>
            <a:ext cx="4848225" cy="575786"/>
          </a:xfrm>
          <a:prstGeom prst="rect">
            <a:avLst/>
          </a:prstGeo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4" name="内容占位符 3"/>
          <p:cNvSpPr>
            <a:spLocks noGrp="1"/>
          </p:cNvSpPr>
          <p:nvPr>
            <p:ph sz="half" idx="2"/>
          </p:nvPr>
        </p:nvSpPr>
        <p:spPr>
          <a:xfrm>
            <a:off x="548640" y="1957388"/>
            <a:ext cx="4848225" cy="3556159"/>
          </a:xfrm>
          <a:prstGeom prst="rect">
            <a:avLst/>
          </a:prstGeo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574034" y="1381602"/>
            <a:ext cx="4850130" cy="575786"/>
          </a:xfrm>
          <a:prstGeom prst="rect">
            <a:avLst/>
          </a:prstGeo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6" name="内容占位符 5"/>
          <p:cNvSpPr>
            <a:spLocks noGrp="1"/>
          </p:cNvSpPr>
          <p:nvPr>
            <p:ph sz="quarter" idx="4"/>
          </p:nvPr>
        </p:nvSpPr>
        <p:spPr>
          <a:xfrm>
            <a:off x="5574034" y="1957388"/>
            <a:ext cx="4850130" cy="3556159"/>
          </a:xfrm>
          <a:prstGeom prst="rect">
            <a:avLst/>
          </a:prstGeo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8"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1FFB9FFA-BBF7-4E6B-ACD4-E99548C5776B}"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4"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FA78C75F-3921-4200-A546-C4950D0184B6}"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3"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47694E68-0D6D-410C-8C00-3741D352D069}"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8643" y="245745"/>
            <a:ext cx="3609975" cy="1045845"/>
          </a:xfrm>
          <a:prstGeom prst="rect">
            <a:avLst/>
          </a:prstGeom>
        </p:spPr>
        <p:txBody>
          <a:bodyPr anchor="b"/>
          <a:lstStyle>
            <a:lvl1pPr algn="l">
              <a:defRPr sz="1800" b="1"/>
            </a:lvl1pPr>
          </a:lstStyle>
          <a:p>
            <a:r>
              <a:rPr lang="zh-CN" altLang="en-US"/>
              <a:t>单击此处编辑母版标题样式</a:t>
            </a:r>
          </a:p>
        </p:txBody>
      </p:sp>
      <p:sp>
        <p:nvSpPr>
          <p:cNvPr id="3" name="内容占位符 2"/>
          <p:cNvSpPr>
            <a:spLocks noGrp="1"/>
          </p:cNvSpPr>
          <p:nvPr>
            <p:ph idx="1"/>
          </p:nvPr>
        </p:nvSpPr>
        <p:spPr>
          <a:xfrm>
            <a:off x="4290063" y="245750"/>
            <a:ext cx="6134100" cy="5267802"/>
          </a:xfrm>
          <a:prstGeom prst="rect">
            <a:avLst/>
          </a:prstGeo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48643" y="1291593"/>
            <a:ext cx="3609975" cy="4221957"/>
          </a:xfrm>
          <a:prstGeom prst="rect">
            <a:avLst/>
          </a:prstGeo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a:t>单击此处编辑母版文本样式</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875CE17F-E7E8-4836-8B19-28E882EF05B9}"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150745" y="4320541"/>
            <a:ext cx="6583680" cy="510064"/>
          </a:xfrm>
          <a:prstGeom prst="rect">
            <a:avLst/>
          </a:prstGeom>
        </p:spPr>
        <p:txBody>
          <a:bodyPr anchor="b"/>
          <a:lstStyle>
            <a:lvl1pPr algn="l">
              <a:defRPr sz="1800" b="1"/>
            </a:lvl1pPr>
          </a:lstStyle>
          <a:p>
            <a:r>
              <a:rPr lang="zh-CN" altLang="en-US"/>
              <a:t>单击此处编辑母版标题样式</a:t>
            </a:r>
          </a:p>
        </p:txBody>
      </p:sp>
      <p:sp>
        <p:nvSpPr>
          <p:cNvPr id="3" name="图片占位符 2"/>
          <p:cNvSpPr>
            <a:spLocks noGrp="1"/>
          </p:cNvSpPr>
          <p:nvPr>
            <p:ph type="pic" idx="1"/>
          </p:nvPr>
        </p:nvSpPr>
        <p:spPr>
          <a:xfrm>
            <a:off x="2150745" y="551498"/>
            <a:ext cx="6583680" cy="3703320"/>
          </a:xfrm>
          <a:prstGeom prst="rect">
            <a:avLst/>
          </a:prstGeom>
        </p:spPr>
        <p:txBody>
          <a:bodyPr rtlCol="0">
            <a:normAutofit/>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pPr lvl="0"/>
            <a:endParaRPr lang="zh-CN" altLang="en-US" noProof="0"/>
          </a:p>
        </p:txBody>
      </p:sp>
      <p:sp>
        <p:nvSpPr>
          <p:cNvPr id="4" name="文本占位符 3"/>
          <p:cNvSpPr>
            <a:spLocks noGrp="1"/>
          </p:cNvSpPr>
          <p:nvPr>
            <p:ph type="body" sz="half" idx="2"/>
          </p:nvPr>
        </p:nvSpPr>
        <p:spPr>
          <a:xfrm>
            <a:off x="2150745" y="4830605"/>
            <a:ext cx="6583680" cy="724376"/>
          </a:xfrm>
          <a:prstGeom prst="rect">
            <a:avLst/>
          </a:prstGeo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a:t>单击此处编辑母版文本样式</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530D8648-5A27-46B1-9DFF-F43427A188ED}"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548640" y="1440185"/>
            <a:ext cx="9875520" cy="4073367"/>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B6AFD8D9-97CE-47AB-99B6-669B4E33450F}"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955280" y="247179"/>
            <a:ext cx="2468880" cy="5266372"/>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48640" y="247179"/>
            <a:ext cx="7223760" cy="52663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14D234CD-C4BF-451E-A810-76886530BD7F}"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2026/1/14</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2026/1/14</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lum/>
          </a:blip>
          <a:srcRect/>
          <a:stretch>
            <a:fillRect/>
          </a:stretch>
        </a:blip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1536247" y="165887"/>
            <a:ext cx="8515478" cy="493047"/>
          </a:xfrm>
          <a:prstGeom prst="rect">
            <a:avLst/>
          </a:prstGeom>
          <a:noFill/>
          <a:ln w="9525">
            <a:noFill/>
          </a:ln>
        </p:spPr>
        <p:txBody>
          <a:bodyPr lIns="114181" tIns="57091" rIns="114181" bIns="57091" anchor="ctr"/>
          <a:lstStyle/>
          <a:p>
            <a:pPr lvl="0"/>
            <a:r>
              <a:rPr lang="zh-CN" altLang="en-US" dirty="0"/>
              <a:t>单击此处编辑母版标题样式</a:t>
            </a:r>
          </a:p>
        </p:txBody>
      </p:sp>
      <p:sp>
        <p:nvSpPr>
          <p:cNvPr id="8" name="文本占位符 2"/>
          <p:cNvSpPr>
            <a:spLocks noGrp="1"/>
          </p:cNvSpPr>
          <p:nvPr>
            <p:ph type="body" idx="1"/>
          </p:nvPr>
        </p:nvSpPr>
        <p:spPr>
          <a:xfrm>
            <a:off x="549729" y="987581"/>
            <a:ext cx="9873343" cy="4095781"/>
          </a:xfrm>
          <a:prstGeom prst="rect">
            <a:avLst/>
          </a:prstGeom>
          <a:noFill/>
          <a:ln w="9525">
            <a:noFill/>
          </a:ln>
        </p:spPr>
        <p:txBody>
          <a:bodyPr lIns="114181" tIns="57091" rIns="114181" bIns="57091"/>
          <a:lstStyle/>
          <a:p>
            <a:pPr lvl="0"/>
            <a:r>
              <a:rPr lang="zh-CN" altLang="en-US" dirty="0"/>
              <a:t>单击此处编辑母版文本样式</a:t>
            </a:r>
          </a:p>
          <a:p>
            <a:pPr marL="925830" lvl="1" indent="-354330" algn="l" defTabSz="1139825" rtl="0" eaLnBrk="1" fontAlgn="base" hangingPunct="1">
              <a:spcBef>
                <a:spcPct val="20000"/>
              </a:spcBef>
              <a:spcAft>
                <a:spcPct val="0"/>
              </a:spcAft>
              <a:buFont typeface="Arial" panose="020B0604020202020204" pitchFamily="34" charset="0"/>
              <a:buChar char="»"/>
            </a:pPr>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549729" y="5720443"/>
            <a:ext cx="2559504" cy="329293"/>
          </a:xfrm>
          <a:prstGeom prst="rect">
            <a:avLst/>
          </a:prstGeom>
        </p:spPr>
        <p:txBody>
          <a:bodyPr vert="horz" wrap="square" lIns="114181" tIns="57091" rIns="114181" bIns="57091" numCol="1" anchor="ctr" anchorCtr="0" compatLnSpc="1"/>
          <a:lstStyle>
            <a:lvl1pPr eaLnBrk="1" hangingPunct="1">
              <a:defRPr sz="1285">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2026/1/14</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748768" y="5720443"/>
            <a:ext cx="3475264" cy="329293"/>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285">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8140409" y="5710193"/>
            <a:ext cx="2559504" cy="329293"/>
          </a:xfrm>
          <a:prstGeom prst="rect">
            <a:avLst/>
          </a:prstGeom>
        </p:spPr>
        <p:txBody>
          <a:bodyPr vert="horz" wrap="square" lIns="114181" tIns="57091" rIns="114181" bIns="57091" numCol="1" anchor="ctr" anchorCtr="0" compatLnSpc="1"/>
          <a:lstStyle>
            <a:lvl1pPr algn="r" eaLnBrk="1" hangingPunct="1">
              <a:defRPr sz="1285">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2" name="图片 5"/>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0154085" y="42295"/>
            <a:ext cx="794657" cy="740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kumimoji="1" lang="zh-CN" altLang="en-US" sz="3430" b="1" kern="1200" dirty="0">
          <a:solidFill>
            <a:schemeClr val="tx1"/>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5pPr>
      <a:lvl6pPr marL="48006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6pPr>
      <a:lvl7pPr marL="96012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7pPr>
      <a:lvl8pPr marL="144018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8pPr>
      <a:lvl9pPr marL="192024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9pPr>
    </p:titleStyle>
    <p:bodyStyle>
      <a:lvl1pPr marL="308610" indent="-308610" algn="l" rtl="0" eaLnBrk="0" fontAlgn="base" hangingPunct="0">
        <a:spcBef>
          <a:spcPct val="17000"/>
        </a:spcBef>
        <a:spcAft>
          <a:spcPct val="0"/>
        </a:spcAft>
        <a:buFont typeface="Arial" panose="020B0604020202020204" pitchFamily="34" charset="0"/>
        <a:buChar char="»"/>
        <a:defRPr kumimoji="1" lang="zh-CN" altLang="en-US" sz="3085" b="1" kern="1200" dirty="0">
          <a:solidFill>
            <a:srgbClr val="0070C0"/>
          </a:solidFill>
          <a:latin typeface="微软雅黑" panose="020B0503020204020204" charset="-122"/>
          <a:ea typeface="微软雅黑" panose="020B0503020204020204" charset="-122"/>
          <a:cs typeface="+mn-cs"/>
        </a:defRPr>
      </a:lvl1pPr>
      <a:lvl2pPr marL="882015" indent="-391795" algn="l" rtl="0" eaLnBrk="0" fontAlgn="base" hangingPunct="0">
        <a:spcBef>
          <a:spcPct val="17000"/>
        </a:spcBef>
        <a:spcAft>
          <a:spcPct val="0"/>
        </a:spcAft>
        <a:buFont typeface="Arial" panose="020B0604020202020204" pitchFamily="34" charset="0"/>
        <a:buChar char="–"/>
        <a:defRPr kumimoji="1" lang="zh-CN" altLang="en-US" sz="2745" b="1" kern="1200" dirty="0">
          <a:solidFill>
            <a:schemeClr val="tx1"/>
          </a:solidFill>
          <a:latin typeface="微软雅黑" panose="020B0503020204020204" charset="-122"/>
          <a:ea typeface="微软雅黑" panose="020B0503020204020204" charset="-122"/>
          <a:cs typeface="+mn-cs"/>
        </a:defRPr>
      </a:lvl2pPr>
      <a:lvl3pPr marL="1028700" indent="-205740" algn="l" rtl="0" eaLnBrk="0" fontAlgn="base" hangingPunct="0">
        <a:spcBef>
          <a:spcPct val="17000"/>
        </a:spcBef>
        <a:spcAft>
          <a:spcPct val="0"/>
        </a:spcAft>
        <a:buFont typeface="Arial" panose="020B0604020202020204" pitchFamily="34" charset="0"/>
        <a:buChar char="»"/>
        <a:defRPr kumimoji="1" lang="zh-CN" altLang="en-US" sz="2400" b="1" kern="1200" dirty="0">
          <a:solidFill>
            <a:schemeClr val="tx1"/>
          </a:solidFill>
          <a:latin typeface="微软雅黑" panose="020B0503020204020204" charset="-122"/>
          <a:ea typeface="微软雅黑" panose="020B0503020204020204" charset="-122"/>
          <a:cs typeface="+mn-cs"/>
        </a:defRPr>
      </a:lvl3pPr>
      <a:lvl4pPr marL="1440180" indent="-205740" algn="l" rtl="0" eaLnBrk="0" fontAlgn="base" hangingPunct="0">
        <a:spcBef>
          <a:spcPct val="17000"/>
        </a:spcBef>
        <a:spcAft>
          <a:spcPct val="0"/>
        </a:spcAft>
        <a:buFont typeface="Arial" panose="020B0604020202020204" pitchFamily="34" charset="0"/>
        <a:buChar char="»"/>
        <a:defRPr kumimoji="1" lang="zh-CN" altLang="en-US" sz="2055" b="1" kern="1200" dirty="0">
          <a:solidFill>
            <a:schemeClr val="tx1"/>
          </a:solidFill>
          <a:latin typeface="微软雅黑" panose="020B0503020204020204" charset="-122"/>
          <a:ea typeface="微软雅黑" panose="020B0503020204020204" charset="-122"/>
          <a:cs typeface="+mn-cs"/>
        </a:defRPr>
      </a:lvl4pPr>
      <a:lvl5pPr marL="1851660" indent="-205740" algn="l" rtl="0" eaLnBrk="0" fontAlgn="base" hangingPunct="0">
        <a:spcBef>
          <a:spcPct val="17000"/>
        </a:spcBef>
        <a:spcAft>
          <a:spcPct val="0"/>
        </a:spcAft>
        <a:buFont typeface="Arial" panose="020B0604020202020204" pitchFamily="34" charset="0"/>
        <a:buChar char="»"/>
        <a:defRPr kumimoji="1" lang="zh-CN" altLang="en-US" sz="1715" b="1" kern="1200" dirty="0">
          <a:solidFill>
            <a:schemeClr val="tx1"/>
          </a:solidFill>
          <a:latin typeface="微软雅黑" panose="020B0503020204020204" charset="-122"/>
          <a:ea typeface="微软雅黑" panose="020B0503020204020204" charset="-122"/>
          <a:cs typeface="+mn-cs"/>
        </a:defRPr>
      </a:lvl5pPr>
      <a:lvl6pPr marL="226314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6pPr>
      <a:lvl7pPr marL="267462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7pPr>
      <a:lvl8pPr marL="308610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8pPr>
      <a:lvl9pPr marL="349758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822325" rtl="0" eaLnBrk="1" latinLnBrk="0" hangingPunct="1">
        <a:defRPr sz="1620" kern="1200">
          <a:solidFill>
            <a:schemeClr val="tx1"/>
          </a:solidFill>
          <a:latin typeface="+mn-lt"/>
          <a:ea typeface="+mn-ea"/>
          <a:cs typeface="+mn-cs"/>
        </a:defRPr>
      </a:lvl1pPr>
      <a:lvl2pPr marL="411480" algn="l" defTabSz="822325" rtl="0" eaLnBrk="1" latinLnBrk="0" hangingPunct="1">
        <a:defRPr sz="1620" kern="1200">
          <a:solidFill>
            <a:schemeClr val="tx1"/>
          </a:solidFill>
          <a:latin typeface="+mn-lt"/>
          <a:ea typeface="+mn-ea"/>
          <a:cs typeface="+mn-cs"/>
        </a:defRPr>
      </a:lvl2pPr>
      <a:lvl3pPr marL="822960" algn="l" defTabSz="822325" rtl="0" eaLnBrk="1" latinLnBrk="0" hangingPunct="1">
        <a:defRPr sz="1620" kern="1200">
          <a:solidFill>
            <a:schemeClr val="tx1"/>
          </a:solidFill>
          <a:latin typeface="+mn-lt"/>
          <a:ea typeface="+mn-ea"/>
          <a:cs typeface="+mn-cs"/>
        </a:defRPr>
      </a:lvl3pPr>
      <a:lvl4pPr marL="1234440" algn="l" defTabSz="822325" rtl="0" eaLnBrk="1" latinLnBrk="0" hangingPunct="1">
        <a:defRPr sz="1620" kern="1200">
          <a:solidFill>
            <a:schemeClr val="tx1"/>
          </a:solidFill>
          <a:latin typeface="+mn-lt"/>
          <a:ea typeface="+mn-ea"/>
          <a:cs typeface="+mn-cs"/>
        </a:defRPr>
      </a:lvl4pPr>
      <a:lvl5pPr marL="1645920" algn="l" defTabSz="822325" rtl="0" eaLnBrk="1" latinLnBrk="0" hangingPunct="1">
        <a:defRPr sz="1620" kern="1200">
          <a:solidFill>
            <a:schemeClr val="tx1"/>
          </a:solidFill>
          <a:latin typeface="+mn-lt"/>
          <a:ea typeface="+mn-ea"/>
          <a:cs typeface="+mn-cs"/>
        </a:defRPr>
      </a:lvl5pPr>
      <a:lvl6pPr marL="2057400" algn="l" defTabSz="822325" rtl="0" eaLnBrk="1" latinLnBrk="0" hangingPunct="1">
        <a:defRPr sz="1620" kern="1200">
          <a:solidFill>
            <a:schemeClr val="tx1"/>
          </a:solidFill>
          <a:latin typeface="+mn-lt"/>
          <a:ea typeface="+mn-ea"/>
          <a:cs typeface="+mn-cs"/>
        </a:defRPr>
      </a:lvl6pPr>
      <a:lvl7pPr marL="2468880" algn="l" defTabSz="822325" rtl="0" eaLnBrk="1" latinLnBrk="0" hangingPunct="1">
        <a:defRPr sz="1620" kern="1200">
          <a:solidFill>
            <a:schemeClr val="tx1"/>
          </a:solidFill>
          <a:latin typeface="+mn-lt"/>
          <a:ea typeface="+mn-ea"/>
          <a:cs typeface="+mn-cs"/>
        </a:defRPr>
      </a:lvl7pPr>
      <a:lvl8pPr marL="2880360" algn="l" defTabSz="822325" rtl="0" eaLnBrk="1" latinLnBrk="0" hangingPunct="1">
        <a:defRPr sz="1620" kern="1200">
          <a:solidFill>
            <a:schemeClr val="tx1"/>
          </a:solidFill>
          <a:latin typeface="+mn-lt"/>
          <a:ea typeface="+mn-ea"/>
          <a:cs typeface="+mn-cs"/>
        </a:defRPr>
      </a:lvl8pPr>
      <a:lvl9pPr marL="3291840" algn="l" defTabSz="822325"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41.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04900" y="2009829"/>
            <a:ext cx="8763000" cy="1231106"/>
          </a:xfrm>
        </p:spPr>
        <p:txBody>
          <a:bodyPr>
            <a:noAutofit/>
          </a:bodyPr>
          <a:lstStyle/>
          <a:p>
            <a:pPr marL="12700">
              <a:lnSpc>
                <a:spcPct val="100000"/>
              </a:lnSpc>
              <a:spcBef>
                <a:spcPts val="515"/>
              </a:spcBef>
            </a:pPr>
            <a:r>
              <a:rPr lang="en-US" altLang="zh-CN" sz="3200" b="1" spc="-5" dirty="0">
                <a:latin typeface="Comic Sans MS" panose="030F0702030302020204" pitchFamily="66" charset="0"/>
                <a:cs typeface="Calibri Light" panose="020F0302020204030204" pitchFamily="34" charset="0"/>
              </a:rPr>
              <a:t>ATOMICS, REDUCTIONS,  WARP SHUFFLE</a:t>
            </a:r>
            <a:endParaRPr lang="en-US" sz="2000" dirty="0">
              <a:latin typeface="Comic Sans MS" panose="030F0702030302020204" pitchFamily="66" charset="0"/>
              <a:cs typeface="Calibri Light" panose="020F0302020204030204" pitchFamily="34" charset="0"/>
            </a:endParaRPr>
          </a:p>
        </p:txBody>
      </p:sp>
      <p:sp>
        <p:nvSpPr>
          <p:cNvPr id="3" name="副标题 2"/>
          <p:cNvSpPr>
            <a:spLocks noGrp="1"/>
          </p:cNvSpPr>
          <p:nvPr>
            <p:ph type="subTitle" idx="1"/>
          </p:nvPr>
        </p:nvSpPr>
        <p:spPr>
          <a:xfrm>
            <a:off x="1371600" y="3240934"/>
            <a:ext cx="8229600" cy="683365"/>
          </a:xfrm>
        </p:spPr>
        <p:txBody>
          <a:bodyPr>
            <a:normAutofit fontScale="95000"/>
          </a:bodyPr>
          <a:lstStyle/>
          <a:p>
            <a:endParaRPr lang="en-US" altLang="zh-CN" sz="2400" b="1" dirty="0">
              <a:solidFill>
                <a:schemeClr val="tx1"/>
              </a:solidFill>
              <a:latin typeface="Comic Sans MS" panose="030F0702030302020204" pitchFamily="66" charset="0"/>
              <a:cs typeface="Calibri Light" panose="020F0302020204030204" pitchFamily="34" charset="0"/>
            </a:endParaRP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a:t>
            </a:fld>
            <a:endParaRPr spc="-5" dirty="0"/>
          </a:p>
        </p:txBody>
      </p:sp>
      <p:pic>
        <p:nvPicPr>
          <p:cNvPr id="4101" name="图片 2"/>
          <p:cNvPicPr>
            <a:picLocks noChangeAspect="1"/>
          </p:cNvPicPr>
          <p:nvPr/>
        </p:nvPicPr>
        <p:blipFill>
          <a:blip r:embed="rId2"/>
          <a:stretch>
            <a:fillRect/>
          </a:stretch>
        </p:blipFill>
        <p:spPr>
          <a:xfrm>
            <a:off x="228600" y="19050"/>
            <a:ext cx="4246880" cy="66167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657600" y="144579"/>
            <a:ext cx="2867660" cy="566822"/>
          </a:xfrm>
          <a:prstGeom prst="rect">
            <a:avLst/>
          </a:prstGeom>
        </p:spPr>
        <p:txBody>
          <a:bodyPr vert="horz" wrap="square" lIns="0" tIns="12700" rIns="0" bIns="0" rtlCol="0">
            <a:spAutoFit/>
          </a:bodyPr>
          <a:lstStyle/>
          <a:p>
            <a:pPr marL="12700">
              <a:lnSpc>
                <a:spcPct val="100000"/>
              </a:lnSpc>
              <a:spcBef>
                <a:spcPts val="100"/>
              </a:spcBef>
            </a:pPr>
            <a:r>
              <a:rPr sz="3600" spc="-5" dirty="0">
                <a:latin typeface="Comic Sans MS" panose="030F0702030302020204" pitchFamily="66" charset="0"/>
              </a:rPr>
              <a:t>A</a:t>
            </a:r>
            <a:r>
              <a:rPr sz="3600" dirty="0">
                <a:latin typeface="Comic Sans MS" panose="030F0702030302020204" pitchFamily="66" charset="0"/>
              </a:rPr>
              <a:t>GE</a:t>
            </a:r>
            <a:r>
              <a:rPr sz="3600" spc="5" dirty="0">
                <a:latin typeface="Comic Sans MS" panose="030F0702030302020204" pitchFamily="66" charset="0"/>
              </a:rPr>
              <a:t>N</a:t>
            </a:r>
            <a:r>
              <a:rPr sz="3600" dirty="0">
                <a:latin typeface="Comic Sans MS" panose="030F0702030302020204" pitchFamily="66" charset="0"/>
              </a:rPr>
              <a:t>DA</a:t>
            </a:r>
          </a:p>
        </p:txBody>
      </p:sp>
      <p:sp>
        <p:nvSpPr>
          <p:cNvPr id="6" name="object 6"/>
          <p:cNvSpPr txBox="1"/>
          <p:nvPr/>
        </p:nvSpPr>
        <p:spPr>
          <a:xfrm>
            <a:off x="914400" y="904973"/>
            <a:ext cx="9525000" cy="4815742"/>
          </a:xfrm>
          <a:prstGeom prst="rect">
            <a:avLst/>
          </a:prstGeom>
        </p:spPr>
        <p:txBody>
          <a:bodyPr vert="horz" wrap="square" lIns="0" tIns="12700" rIns="0" bIns="0" rtlCol="0">
            <a:spAutoFit/>
          </a:bodyPr>
          <a:lstStyle/>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Transformations vs. Reductions, Thread Strategy</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Atomics, Atomic Reductions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Atomic Tips and Tricks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Classical Parallel Reduction</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Parallel Reduction + Atomics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Warp Shuffle, Reduction with Warp Shuffle</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Other Warp Shuffle Uses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Further Study</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Homework</a:t>
            </a:r>
          </a:p>
        </p:txBody>
      </p:sp>
      <p:sp>
        <p:nvSpPr>
          <p:cNvPr id="7"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2</a:t>
            </a:fld>
            <a:endParaRPr spc="-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71600" y="2247900"/>
            <a:ext cx="8229600" cy="1231106"/>
          </a:xfrm>
        </p:spPr>
        <p:txBody>
          <a:bodyPr>
            <a:noAutofit/>
          </a:bodyPr>
          <a:lstStyle/>
          <a:p>
            <a:pPr marL="12700">
              <a:lnSpc>
                <a:spcPct val="100000"/>
              </a:lnSpc>
              <a:spcBef>
                <a:spcPts val="515"/>
              </a:spcBef>
            </a:pPr>
            <a:r>
              <a:rPr lang="en-US" altLang="zh-CN" sz="3200" b="1" spc="-5" dirty="0">
                <a:latin typeface="Comic Sans MS" panose="030F0702030302020204" pitchFamily="66" charset="0"/>
                <a:cs typeface="Calibri Light" panose="020F0302020204030204" pitchFamily="34" charset="0"/>
              </a:rPr>
              <a:t>CLASSICAL  </a:t>
            </a:r>
            <a:br>
              <a:rPr lang="en-US" altLang="zh-CN" sz="3200" b="1" spc="-5" dirty="0">
                <a:latin typeface="Comic Sans MS" panose="030F0702030302020204" pitchFamily="66" charset="0"/>
                <a:cs typeface="Calibri Light" panose="020F0302020204030204" pitchFamily="34" charset="0"/>
              </a:rPr>
            </a:br>
            <a:r>
              <a:rPr lang="en-US" altLang="zh-CN" sz="3200" b="1" spc="-5" dirty="0">
                <a:latin typeface="Comic Sans MS" panose="030F0702030302020204" pitchFamily="66" charset="0"/>
                <a:cs typeface="Calibri Light" panose="020F0302020204030204" pitchFamily="34" charset="0"/>
              </a:rPr>
              <a:t>PARALLEL REDUCTION</a:t>
            </a:r>
            <a:endParaRPr lang="en-US" sz="2000" dirty="0">
              <a:latin typeface="Comic Sans MS" panose="030F0702030302020204" pitchFamily="66" charset="0"/>
              <a:cs typeface="Calibri Light" panose="020F0302020204030204" pitchFamily="34" charset="0"/>
            </a:endParaRP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3</a:t>
            </a:fld>
            <a:endParaRPr spc="-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23945" y="193838"/>
            <a:ext cx="4959819" cy="504562"/>
          </a:xfrm>
          <a:prstGeom prst="rect">
            <a:avLst/>
          </a:prstGeom>
        </p:spPr>
        <p:txBody>
          <a:bodyPr vert="horz" wrap="square" lIns="0" tIns="12002" rIns="0" bIns="0" rtlCol="0">
            <a:spAutoFit/>
          </a:bodyPr>
          <a:lstStyle/>
          <a:p>
            <a:pPr marL="11430">
              <a:spcBef>
                <a:spcPts val="95"/>
              </a:spcBef>
            </a:pPr>
            <a:r>
              <a:rPr sz="3200" b="1" spc="-5" dirty="0">
                <a:latin typeface="Comic Sans MS" panose="030F0702030302020204" pitchFamily="66" charset="0"/>
              </a:rPr>
              <a:t>Parallel</a:t>
            </a:r>
            <a:r>
              <a:rPr sz="3200" b="1" spc="-77" dirty="0">
                <a:latin typeface="Comic Sans MS" panose="030F0702030302020204" pitchFamily="66" charset="0"/>
              </a:rPr>
              <a:t> </a:t>
            </a:r>
            <a:r>
              <a:rPr sz="3200" b="1" dirty="0">
                <a:latin typeface="Comic Sans MS" panose="030F0702030302020204" pitchFamily="66" charset="0"/>
              </a:rPr>
              <a:t>Reduction</a:t>
            </a:r>
          </a:p>
        </p:txBody>
      </p:sp>
      <p:sp>
        <p:nvSpPr>
          <p:cNvPr id="10" name="object 10"/>
          <p:cNvSpPr/>
          <p:nvPr/>
        </p:nvSpPr>
        <p:spPr>
          <a:xfrm>
            <a:off x="4203262" y="1875167"/>
            <a:ext cx="212827" cy="226314"/>
          </a:xfrm>
          <a:prstGeom prst="rect">
            <a:avLst/>
          </a:prstGeom>
          <a:blipFill>
            <a:blip r:embed="rId2" cstate="print"/>
            <a:stretch>
              <a:fillRect/>
            </a:stretch>
          </a:blipFill>
        </p:spPr>
        <p:txBody>
          <a:bodyPr wrap="square" lIns="0" tIns="0" rIns="0" bIns="0" rtlCol="0"/>
          <a:lstStyle/>
          <a:p>
            <a:endParaRPr sz="1620"/>
          </a:p>
        </p:txBody>
      </p:sp>
      <p:sp>
        <p:nvSpPr>
          <p:cNvPr id="11" name="object 11"/>
          <p:cNvSpPr/>
          <p:nvPr/>
        </p:nvSpPr>
        <p:spPr>
          <a:xfrm>
            <a:off x="4203262"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12" name="object 12"/>
          <p:cNvSpPr txBox="1"/>
          <p:nvPr/>
        </p:nvSpPr>
        <p:spPr>
          <a:xfrm>
            <a:off x="4254811"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4</a:t>
            </a:r>
            <a:endParaRPr sz="1260">
              <a:latin typeface="Arial" panose="020B0604020202020204"/>
              <a:cs typeface="Arial" panose="020B0604020202020204"/>
            </a:endParaRPr>
          </a:p>
        </p:txBody>
      </p:sp>
      <p:sp>
        <p:nvSpPr>
          <p:cNvPr id="13" name="object 13"/>
          <p:cNvSpPr/>
          <p:nvPr/>
        </p:nvSpPr>
        <p:spPr>
          <a:xfrm>
            <a:off x="5054797" y="1875167"/>
            <a:ext cx="212827" cy="226314"/>
          </a:xfrm>
          <a:prstGeom prst="rect">
            <a:avLst/>
          </a:prstGeom>
          <a:blipFill>
            <a:blip r:embed="rId3" cstate="print"/>
            <a:stretch>
              <a:fillRect/>
            </a:stretch>
          </a:blipFill>
        </p:spPr>
        <p:txBody>
          <a:bodyPr wrap="square" lIns="0" tIns="0" rIns="0" bIns="0" rtlCol="0"/>
          <a:lstStyle/>
          <a:p>
            <a:endParaRPr sz="1620"/>
          </a:p>
        </p:txBody>
      </p:sp>
      <p:sp>
        <p:nvSpPr>
          <p:cNvPr id="14" name="object 14"/>
          <p:cNvSpPr/>
          <p:nvPr/>
        </p:nvSpPr>
        <p:spPr>
          <a:xfrm>
            <a:off x="5054797"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15" name="object 15"/>
          <p:cNvSpPr txBox="1"/>
          <p:nvPr/>
        </p:nvSpPr>
        <p:spPr>
          <a:xfrm>
            <a:off x="5106346"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7</a:t>
            </a:r>
            <a:endParaRPr sz="1260">
              <a:latin typeface="Arial" panose="020B0604020202020204"/>
              <a:cs typeface="Arial" panose="020B0604020202020204"/>
            </a:endParaRPr>
          </a:p>
        </p:txBody>
      </p:sp>
      <p:sp>
        <p:nvSpPr>
          <p:cNvPr id="16" name="object 16"/>
          <p:cNvSpPr/>
          <p:nvPr/>
        </p:nvSpPr>
        <p:spPr>
          <a:xfrm>
            <a:off x="5906332" y="1875167"/>
            <a:ext cx="212827" cy="226314"/>
          </a:xfrm>
          <a:prstGeom prst="rect">
            <a:avLst/>
          </a:prstGeom>
          <a:blipFill>
            <a:blip r:embed="rId3" cstate="print"/>
            <a:stretch>
              <a:fillRect/>
            </a:stretch>
          </a:blipFill>
        </p:spPr>
        <p:txBody>
          <a:bodyPr wrap="square" lIns="0" tIns="0" rIns="0" bIns="0" rtlCol="0"/>
          <a:lstStyle/>
          <a:p>
            <a:endParaRPr sz="1620"/>
          </a:p>
        </p:txBody>
      </p:sp>
      <p:sp>
        <p:nvSpPr>
          <p:cNvPr id="17" name="object 17"/>
          <p:cNvSpPr/>
          <p:nvPr/>
        </p:nvSpPr>
        <p:spPr>
          <a:xfrm>
            <a:off x="5906332"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18" name="object 18"/>
          <p:cNvSpPr txBox="1"/>
          <p:nvPr/>
        </p:nvSpPr>
        <p:spPr>
          <a:xfrm>
            <a:off x="5958110"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5</a:t>
            </a:r>
            <a:endParaRPr sz="1260">
              <a:latin typeface="Arial" panose="020B0604020202020204"/>
              <a:cs typeface="Arial" panose="020B0604020202020204"/>
            </a:endParaRPr>
          </a:p>
        </p:txBody>
      </p:sp>
      <p:sp>
        <p:nvSpPr>
          <p:cNvPr id="19" name="object 19"/>
          <p:cNvSpPr/>
          <p:nvPr/>
        </p:nvSpPr>
        <p:spPr>
          <a:xfrm>
            <a:off x="6757867" y="1875167"/>
            <a:ext cx="212827" cy="226314"/>
          </a:xfrm>
          <a:prstGeom prst="rect">
            <a:avLst/>
          </a:prstGeom>
          <a:blipFill>
            <a:blip r:embed="rId2" cstate="print"/>
            <a:stretch>
              <a:fillRect/>
            </a:stretch>
          </a:blipFill>
        </p:spPr>
        <p:txBody>
          <a:bodyPr wrap="square" lIns="0" tIns="0" rIns="0" bIns="0" rtlCol="0"/>
          <a:lstStyle/>
          <a:p>
            <a:endParaRPr sz="1620"/>
          </a:p>
        </p:txBody>
      </p:sp>
      <p:sp>
        <p:nvSpPr>
          <p:cNvPr id="20" name="object 20"/>
          <p:cNvSpPr/>
          <p:nvPr/>
        </p:nvSpPr>
        <p:spPr>
          <a:xfrm>
            <a:off x="6757867"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21" name="object 21"/>
          <p:cNvSpPr txBox="1"/>
          <p:nvPr/>
        </p:nvSpPr>
        <p:spPr>
          <a:xfrm>
            <a:off x="6809873"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9</a:t>
            </a:r>
            <a:endParaRPr sz="1260">
              <a:latin typeface="Arial" panose="020B0604020202020204"/>
              <a:cs typeface="Arial" panose="020B0604020202020204"/>
            </a:endParaRPr>
          </a:p>
        </p:txBody>
      </p:sp>
      <p:sp>
        <p:nvSpPr>
          <p:cNvPr id="22" name="object 22"/>
          <p:cNvSpPr/>
          <p:nvPr/>
        </p:nvSpPr>
        <p:spPr>
          <a:xfrm>
            <a:off x="4629029" y="2327681"/>
            <a:ext cx="212827" cy="226200"/>
          </a:xfrm>
          <a:prstGeom prst="rect">
            <a:avLst/>
          </a:prstGeom>
          <a:blipFill>
            <a:blip r:embed="rId4" cstate="print"/>
            <a:stretch>
              <a:fillRect/>
            </a:stretch>
          </a:blipFill>
        </p:spPr>
        <p:txBody>
          <a:bodyPr wrap="square" lIns="0" tIns="0" rIns="0" bIns="0" rtlCol="0"/>
          <a:lstStyle/>
          <a:p>
            <a:endParaRPr sz="1620"/>
          </a:p>
        </p:txBody>
      </p:sp>
      <p:sp>
        <p:nvSpPr>
          <p:cNvPr id="23" name="object 23"/>
          <p:cNvSpPr/>
          <p:nvPr/>
        </p:nvSpPr>
        <p:spPr>
          <a:xfrm>
            <a:off x="4629029" y="2327681"/>
            <a:ext cx="213169" cy="226314"/>
          </a:xfrm>
          <a:custGeom>
            <a:avLst/>
            <a:gdLst/>
            <a:ahLst/>
            <a:cxnLst/>
            <a:rect l="l" t="t" r="r" b="b"/>
            <a:pathLst>
              <a:path w="236854" h="251460">
                <a:moveTo>
                  <a:pt x="0" y="125729"/>
                </a:moveTo>
                <a:lnTo>
                  <a:pt x="9276" y="76777"/>
                </a:lnTo>
                <a:lnTo>
                  <a:pt x="34591" y="36814"/>
                </a:lnTo>
                <a:lnTo>
                  <a:pt x="72169" y="9876"/>
                </a:lnTo>
                <a:lnTo>
                  <a:pt x="118237" y="0"/>
                </a:lnTo>
                <a:lnTo>
                  <a:pt x="164250" y="9876"/>
                </a:lnTo>
                <a:lnTo>
                  <a:pt x="201834" y="36814"/>
                </a:lnTo>
                <a:lnTo>
                  <a:pt x="227179" y="76777"/>
                </a:lnTo>
                <a:lnTo>
                  <a:pt x="236474" y="125729"/>
                </a:lnTo>
                <a:lnTo>
                  <a:pt x="227179" y="174609"/>
                </a:lnTo>
                <a:lnTo>
                  <a:pt x="201834" y="214534"/>
                </a:lnTo>
                <a:lnTo>
                  <a:pt x="164250" y="241458"/>
                </a:lnTo>
                <a:lnTo>
                  <a:pt x="118237" y="251333"/>
                </a:lnTo>
                <a:lnTo>
                  <a:pt x="72169" y="241458"/>
                </a:lnTo>
                <a:lnTo>
                  <a:pt x="34591" y="214534"/>
                </a:lnTo>
                <a:lnTo>
                  <a:pt x="9276" y="174609"/>
                </a:lnTo>
                <a:lnTo>
                  <a:pt x="0" y="125729"/>
                </a:lnTo>
                <a:close/>
              </a:path>
            </a:pathLst>
          </a:custGeom>
          <a:ln w="25400">
            <a:solidFill>
              <a:srgbClr val="000000"/>
            </a:solidFill>
          </a:ln>
        </p:spPr>
        <p:txBody>
          <a:bodyPr wrap="square" lIns="0" tIns="0" rIns="0" bIns="0" rtlCol="0"/>
          <a:lstStyle/>
          <a:p>
            <a:endParaRPr sz="1620"/>
          </a:p>
        </p:txBody>
      </p:sp>
      <p:sp>
        <p:nvSpPr>
          <p:cNvPr id="24" name="object 24"/>
          <p:cNvSpPr/>
          <p:nvPr/>
        </p:nvSpPr>
        <p:spPr>
          <a:xfrm>
            <a:off x="6332099" y="2327681"/>
            <a:ext cx="212827" cy="226200"/>
          </a:xfrm>
          <a:prstGeom prst="rect">
            <a:avLst/>
          </a:prstGeom>
          <a:blipFill>
            <a:blip r:embed="rId4" cstate="print"/>
            <a:stretch>
              <a:fillRect/>
            </a:stretch>
          </a:blipFill>
        </p:spPr>
        <p:txBody>
          <a:bodyPr wrap="square" lIns="0" tIns="0" rIns="0" bIns="0" rtlCol="0"/>
          <a:lstStyle/>
          <a:p>
            <a:endParaRPr sz="1620"/>
          </a:p>
        </p:txBody>
      </p:sp>
      <p:sp>
        <p:nvSpPr>
          <p:cNvPr id="25" name="object 25"/>
          <p:cNvSpPr/>
          <p:nvPr/>
        </p:nvSpPr>
        <p:spPr>
          <a:xfrm>
            <a:off x="6332099" y="2327681"/>
            <a:ext cx="213169" cy="226314"/>
          </a:xfrm>
          <a:custGeom>
            <a:avLst/>
            <a:gdLst/>
            <a:ahLst/>
            <a:cxnLst/>
            <a:rect l="l" t="t" r="r" b="b"/>
            <a:pathLst>
              <a:path w="236854" h="251460">
                <a:moveTo>
                  <a:pt x="0" y="125729"/>
                </a:moveTo>
                <a:lnTo>
                  <a:pt x="9276" y="76777"/>
                </a:lnTo>
                <a:lnTo>
                  <a:pt x="34591" y="36814"/>
                </a:lnTo>
                <a:lnTo>
                  <a:pt x="72169" y="9876"/>
                </a:lnTo>
                <a:lnTo>
                  <a:pt x="118237" y="0"/>
                </a:lnTo>
                <a:lnTo>
                  <a:pt x="164250" y="9876"/>
                </a:lnTo>
                <a:lnTo>
                  <a:pt x="201834" y="36814"/>
                </a:lnTo>
                <a:lnTo>
                  <a:pt x="227179" y="76777"/>
                </a:lnTo>
                <a:lnTo>
                  <a:pt x="236474" y="125729"/>
                </a:lnTo>
                <a:lnTo>
                  <a:pt x="227179" y="174609"/>
                </a:lnTo>
                <a:lnTo>
                  <a:pt x="201834" y="214534"/>
                </a:lnTo>
                <a:lnTo>
                  <a:pt x="164250" y="241458"/>
                </a:lnTo>
                <a:lnTo>
                  <a:pt x="118237" y="251333"/>
                </a:lnTo>
                <a:lnTo>
                  <a:pt x="72169" y="241458"/>
                </a:lnTo>
                <a:lnTo>
                  <a:pt x="34591" y="214534"/>
                </a:lnTo>
                <a:lnTo>
                  <a:pt x="9276" y="174609"/>
                </a:lnTo>
                <a:lnTo>
                  <a:pt x="0" y="125729"/>
                </a:lnTo>
                <a:close/>
              </a:path>
            </a:pathLst>
          </a:custGeom>
          <a:ln w="25400">
            <a:solidFill>
              <a:srgbClr val="000000"/>
            </a:solidFill>
          </a:ln>
        </p:spPr>
        <p:txBody>
          <a:bodyPr wrap="square" lIns="0" tIns="0" rIns="0" bIns="0" rtlCol="0"/>
          <a:lstStyle/>
          <a:p>
            <a:endParaRPr sz="1620"/>
          </a:p>
        </p:txBody>
      </p:sp>
      <p:sp>
        <p:nvSpPr>
          <p:cNvPr id="26" name="object 26"/>
          <p:cNvSpPr/>
          <p:nvPr/>
        </p:nvSpPr>
        <p:spPr>
          <a:xfrm>
            <a:off x="5480564" y="2780194"/>
            <a:ext cx="212827" cy="226199"/>
          </a:xfrm>
          <a:prstGeom prst="rect">
            <a:avLst/>
          </a:prstGeom>
          <a:blipFill>
            <a:blip r:embed="rId5" cstate="print"/>
            <a:stretch>
              <a:fillRect/>
            </a:stretch>
          </a:blipFill>
        </p:spPr>
        <p:txBody>
          <a:bodyPr wrap="square" lIns="0" tIns="0" rIns="0" bIns="0" rtlCol="0"/>
          <a:lstStyle/>
          <a:p>
            <a:endParaRPr sz="1620"/>
          </a:p>
        </p:txBody>
      </p:sp>
      <p:sp>
        <p:nvSpPr>
          <p:cNvPr id="27" name="object 27"/>
          <p:cNvSpPr/>
          <p:nvPr/>
        </p:nvSpPr>
        <p:spPr>
          <a:xfrm>
            <a:off x="5480564" y="2780194"/>
            <a:ext cx="213169" cy="226314"/>
          </a:xfrm>
          <a:custGeom>
            <a:avLst/>
            <a:gdLst/>
            <a:ahLst/>
            <a:cxnLst/>
            <a:rect l="l" t="t" r="r" b="b"/>
            <a:pathLst>
              <a:path w="236854" h="251460">
                <a:moveTo>
                  <a:pt x="0" y="125602"/>
                </a:moveTo>
                <a:lnTo>
                  <a:pt x="9276" y="76723"/>
                </a:lnTo>
                <a:lnTo>
                  <a:pt x="34591" y="36798"/>
                </a:lnTo>
                <a:lnTo>
                  <a:pt x="72169" y="9874"/>
                </a:lnTo>
                <a:lnTo>
                  <a:pt x="118237" y="0"/>
                </a:lnTo>
                <a:lnTo>
                  <a:pt x="164250" y="9874"/>
                </a:lnTo>
                <a:lnTo>
                  <a:pt x="201834" y="36798"/>
                </a:lnTo>
                <a:lnTo>
                  <a:pt x="227179" y="76723"/>
                </a:lnTo>
                <a:lnTo>
                  <a:pt x="236474" y="125602"/>
                </a:lnTo>
                <a:lnTo>
                  <a:pt x="227179" y="174555"/>
                </a:lnTo>
                <a:lnTo>
                  <a:pt x="201834" y="214518"/>
                </a:lnTo>
                <a:lnTo>
                  <a:pt x="164250" y="241456"/>
                </a:lnTo>
                <a:lnTo>
                  <a:pt x="118237" y="251332"/>
                </a:lnTo>
                <a:lnTo>
                  <a:pt x="72169" y="241456"/>
                </a:lnTo>
                <a:lnTo>
                  <a:pt x="34591" y="214518"/>
                </a:lnTo>
                <a:lnTo>
                  <a:pt x="9276" y="174555"/>
                </a:lnTo>
                <a:lnTo>
                  <a:pt x="0" y="125602"/>
                </a:lnTo>
                <a:close/>
              </a:path>
            </a:pathLst>
          </a:custGeom>
          <a:ln w="25400">
            <a:solidFill>
              <a:srgbClr val="000000"/>
            </a:solidFill>
          </a:ln>
        </p:spPr>
        <p:txBody>
          <a:bodyPr wrap="square" lIns="0" tIns="0" rIns="0" bIns="0" rtlCol="0"/>
          <a:lstStyle/>
          <a:p>
            <a:endParaRPr sz="1620"/>
          </a:p>
        </p:txBody>
      </p:sp>
      <p:sp>
        <p:nvSpPr>
          <p:cNvPr id="28" name="object 28"/>
          <p:cNvSpPr txBox="1"/>
          <p:nvPr/>
        </p:nvSpPr>
        <p:spPr>
          <a:xfrm>
            <a:off x="2209800" y="2328596"/>
            <a:ext cx="6847141" cy="3128357"/>
          </a:xfrm>
          <a:prstGeom prst="rect">
            <a:avLst/>
          </a:prstGeom>
        </p:spPr>
        <p:txBody>
          <a:bodyPr vert="horz" wrap="square" lIns="0" tIns="12002" rIns="0" bIns="0" rtlCol="0">
            <a:spAutoFit/>
          </a:bodyPr>
          <a:lstStyle/>
          <a:p>
            <a:pPr marR="77470" algn="ctr">
              <a:spcBef>
                <a:spcPts val="95"/>
              </a:spcBef>
              <a:tabLst>
                <a:tab pos="1696085" algn="l"/>
              </a:tabLst>
            </a:pPr>
            <a:r>
              <a:rPr sz="1400" spc="-50" dirty="0">
                <a:latin typeface="Arial" panose="020B0604020202020204"/>
                <a:cs typeface="Arial" panose="020B0604020202020204"/>
              </a:rPr>
              <a:t>11	</a:t>
            </a:r>
            <a:r>
              <a:rPr sz="1400" spc="-5" dirty="0">
                <a:latin typeface="Arial" panose="020B0604020202020204"/>
                <a:cs typeface="Arial" panose="020B0604020202020204"/>
              </a:rPr>
              <a:t>14</a:t>
            </a:r>
            <a:endParaRPr sz="1400" dirty="0">
              <a:latin typeface="Arial" panose="020B0604020202020204"/>
              <a:cs typeface="Arial" panose="020B0604020202020204"/>
            </a:endParaRPr>
          </a:p>
          <a:p>
            <a:pPr>
              <a:spcBef>
                <a:spcPts val="30"/>
              </a:spcBef>
            </a:pPr>
            <a:endParaRPr dirty="0">
              <a:latin typeface="Arial" panose="020B0604020202020204"/>
              <a:cs typeface="Arial" panose="020B0604020202020204"/>
            </a:endParaRPr>
          </a:p>
          <a:p>
            <a:pPr marR="83820" algn="ctr"/>
            <a:r>
              <a:rPr sz="1400" spc="-5" dirty="0">
                <a:latin typeface="Arial" panose="020B0604020202020204"/>
                <a:cs typeface="Arial" panose="020B0604020202020204"/>
              </a:rPr>
              <a:t>25</a:t>
            </a:r>
            <a:endParaRPr sz="1400" dirty="0">
              <a:latin typeface="Arial" panose="020B0604020202020204"/>
              <a:cs typeface="Arial" panose="020B0604020202020204"/>
            </a:endParaRPr>
          </a:p>
          <a:p>
            <a:pPr marL="11430">
              <a:spcBef>
                <a:spcPts val="600"/>
              </a:spcBef>
            </a:pPr>
            <a:r>
              <a:rPr sz="2400" spc="-5" dirty="0">
                <a:latin typeface="Comic Sans MS" panose="030F0702030302020204" pitchFamily="66" charset="0"/>
                <a:cs typeface="Arial" panose="020B0604020202020204"/>
              </a:rPr>
              <a:t>Need </a:t>
            </a:r>
            <a:r>
              <a:rPr sz="2400" dirty="0">
                <a:latin typeface="Comic Sans MS" panose="030F0702030302020204" pitchFamily="66" charset="0"/>
                <a:cs typeface="Arial" panose="020B0604020202020204"/>
              </a:rPr>
              <a:t>to </a:t>
            </a:r>
            <a:r>
              <a:rPr sz="2400" spc="-9" dirty="0">
                <a:latin typeface="Comic Sans MS" panose="030F0702030302020204" pitchFamily="66" charset="0"/>
                <a:cs typeface="Arial" panose="020B0604020202020204"/>
              </a:rPr>
              <a:t>be </a:t>
            </a:r>
            <a:r>
              <a:rPr sz="2400" spc="-5" dirty="0">
                <a:latin typeface="Comic Sans MS" panose="030F0702030302020204" pitchFamily="66" charset="0"/>
                <a:cs typeface="Arial" panose="020B0604020202020204"/>
              </a:rPr>
              <a:t>able </a:t>
            </a:r>
            <a:r>
              <a:rPr sz="2400" dirty="0">
                <a:latin typeface="Comic Sans MS" panose="030F0702030302020204" pitchFamily="66" charset="0"/>
                <a:cs typeface="Arial" panose="020B0604020202020204"/>
              </a:rPr>
              <a:t>to </a:t>
            </a:r>
            <a:r>
              <a:rPr sz="2400" spc="-5" dirty="0">
                <a:latin typeface="Comic Sans MS" panose="030F0702030302020204" pitchFamily="66" charset="0"/>
                <a:cs typeface="Arial" panose="020B0604020202020204"/>
              </a:rPr>
              <a:t>use </a:t>
            </a:r>
            <a:r>
              <a:rPr sz="2400" dirty="0">
                <a:latin typeface="Comic Sans MS" panose="030F0702030302020204" pitchFamily="66" charset="0"/>
                <a:cs typeface="Arial" panose="020B0604020202020204"/>
              </a:rPr>
              <a:t>multiple </a:t>
            </a:r>
            <a:r>
              <a:rPr sz="2400" spc="-5" dirty="0">
                <a:latin typeface="Comic Sans MS" panose="030F0702030302020204" pitchFamily="66" charset="0"/>
                <a:cs typeface="Arial" panose="020B0604020202020204"/>
              </a:rPr>
              <a:t>thread</a:t>
            </a:r>
            <a:r>
              <a:rPr sz="2400" spc="-27"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blocks</a:t>
            </a:r>
            <a:endParaRPr sz="2400" dirty="0">
              <a:latin typeface="Comic Sans MS" panose="030F0702030302020204" pitchFamily="66" charset="0"/>
              <a:cs typeface="Arial" panose="020B0604020202020204"/>
            </a:endParaRPr>
          </a:p>
          <a:p>
            <a:pPr marL="477520">
              <a:spcBef>
                <a:spcPts val="215"/>
              </a:spcBef>
            </a:pPr>
            <a:r>
              <a:rPr sz="2000" dirty="0">
                <a:latin typeface="Comic Sans MS" panose="030F0702030302020204" pitchFamily="66" charset="0"/>
                <a:cs typeface="Arial" panose="020B0604020202020204"/>
              </a:rPr>
              <a:t>To process </a:t>
            </a:r>
            <a:r>
              <a:rPr sz="2000" spc="-5" dirty="0">
                <a:latin typeface="Comic Sans MS" panose="030F0702030302020204" pitchFamily="66" charset="0"/>
                <a:cs typeface="Arial" panose="020B0604020202020204"/>
              </a:rPr>
              <a:t>very </a:t>
            </a:r>
            <a:r>
              <a:rPr sz="2000" dirty="0">
                <a:latin typeface="Comic Sans MS" panose="030F0702030302020204" pitchFamily="66" charset="0"/>
                <a:cs typeface="Arial" panose="020B0604020202020204"/>
              </a:rPr>
              <a:t>large</a:t>
            </a:r>
            <a:r>
              <a:rPr sz="2000" spc="-54"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arrays</a:t>
            </a:r>
            <a:endParaRPr sz="2000" dirty="0">
              <a:latin typeface="Comic Sans MS" panose="030F0702030302020204" pitchFamily="66" charset="0"/>
              <a:cs typeface="Arial" panose="020B0604020202020204"/>
            </a:endParaRPr>
          </a:p>
          <a:p>
            <a:pPr marL="477520">
              <a:spcBef>
                <a:spcPts val="220"/>
              </a:spcBef>
            </a:pPr>
            <a:r>
              <a:rPr sz="2000" dirty="0">
                <a:latin typeface="Comic Sans MS" panose="030F0702030302020204" pitchFamily="66" charset="0"/>
                <a:cs typeface="Arial" panose="020B0604020202020204"/>
              </a:rPr>
              <a:t>To keep all </a:t>
            </a:r>
            <a:r>
              <a:rPr lang="en-US" sz="2000" dirty="0">
                <a:latin typeface="Comic Sans MS" panose="030F0702030302020204" pitchFamily="66" charset="0"/>
                <a:cs typeface="Arial" panose="020B0604020202020204"/>
              </a:rPr>
              <a:t>streaming </a:t>
            </a:r>
            <a:r>
              <a:rPr sz="2000" dirty="0">
                <a:latin typeface="Comic Sans MS" panose="030F0702030302020204" pitchFamily="66" charset="0"/>
                <a:cs typeface="Arial" panose="020B0604020202020204"/>
              </a:rPr>
              <a:t>multiprocessors</a:t>
            </a:r>
            <a:r>
              <a:rPr lang="en-US" sz="2000" dirty="0">
                <a:latin typeface="Comic Sans MS" panose="030F0702030302020204" pitchFamily="66" charset="0"/>
                <a:cs typeface="Arial" panose="020B0604020202020204"/>
              </a:rPr>
              <a:t> (SIMD processors)</a:t>
            </a:r>
            <a:r>
              <a:rPr sz="2000" dirty="0">
                <a:latin typeface="Comic Sans MS" panose="030F0702030302020204" pitchFamily="66" charset="0"/>
                <a:cs typeface="Arial" panose="020B0604020202020204"/>
              </a:rPr>
              <a:t> on the GPU</a:t>
            </a:r>
            <a:r>
              <a:rPr sz="2000" spc="-140"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busy</a:t>
            </a:r>
          </a:p>
          <a:p>
            <a:pPr marL="477520">
              <a:spcBef>
                <a:spcPts val="215"/>
              </a:spcBef>
            </a:pPr>
            <a:r>
              <a:rPr sz="2000" dirty="0">
                <a:latin typeface="Comic Sans MS" panose="030F0702030302020204" pitchFamily="66" charset="0"/>
                <a:cs typeface="Arial" panose="020B0604020202020204"/>
              </a:rPr>
              <a:t>Each thread block reduces a portion of the</a:t>
            </a:r>
            <a:r>
              <a:rPr sz="2000" spc="-144"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array</a:t>
            </a:r>
          </a:p>
          <a:p>
            <a:pPr marL="11430" marR="4445">
              <a:lnSpc>
                <a:spcPts val="2330"/>
              </a:lnSpc>
              <a:spcBef>
                <a:spcPts val="550"/>
              </a:spcBef>
            </a:pPr>
            <a:r>
              <a:rPr sz="2400" spc="-5" dirty="0">
                <a:solidFill>
                  <a:srgbClr val="FF0000"/>
                </a:solidFill>
                <a:latin typeface="Comic Sans MS" panose="030F0702030302020204" pitchFamily="66" charset="0"/>
                <a:cs typeface="Arial" panose="020B0604020202020204"/>
              </a:rPr>
              <a:t>But </a:t>
            </a:r>
            <a:r>
              <a:rPr sz="2400" dirty="0">
                <a:solidFill>
                  <a:srgbClr val="FF0000"/>
                </a:solidFill>
                <a:latin typeface="Comic Sans MS" panose="030F0702030302020204" pitchFamily="66" charset="0"/>
                <a:cs typeface="Arial" panose="020B0604020202020204"/>
              </a:rPr>
              <a:t>how do </a:t>
            </a:r>
            <a:r>
              <a:rPr sz="2400" spc="9" dirty="0">
                <a:solidFill>
                  <a:srgbClr val="FF0000"/>
                </a:solidFill>
                <a:latin typeface="Comic Sans MS" panose="030F0702030302020204" pitchFamily="66" charset="0"/>
                <a:cs typeface="Arial" panose="020B0604020202020204"/>
              </a:rPr>
              <a:t>we </a:t>
            </a:r>
            <a:r>
              <a:rPr sz="2400" spc="-5" dirty="0">
                <a:solidFill>
                  <a:srgbClr val="FF0000"/>
                </a:solidFill>
                <a:latin typeface="Comic Sans MS" panose="030F0702030302020204" pitchFamily="66" charset="0"/>
                <a:cs typeface="Arial" panose="020B0604020202020204"/>
              </a:rPr>
              <a:t>communicate </a:t>
            </a:r>
            <a:r>
              <a:rPr sz="2400" dirty="0">
                <a:solidFill>
                  <a:srgbClr val="FF0000"/>
                </a:solidFill>
                <a:latin typeface="Comic Sans MS" panose="030F0702030302020204" pitchFamily="66" charset="0"/>
                <a:cs typeface="Arial" panose="020B0604020202020204"/>
              </a:rPr>
              <a:t>partial </a:t>
            </a:r>
            <a:r>
              <a:rPr sz="2400" spc="-5" dirty="0">
                <a:solidFill>
                  <a:srgbClr val="FF0000"/>
                </a:solidFill>
                <a:latin typeface="Comic Sans MS" panose="030F0702030302020204" pitchFamily="66" charset="0"/>
                <a:cs typeface="Arial" panose="020B0604020202020204"/>
              </a:rPr>
              <a:t>results</a:t>
            </a:r>
            <a:r>
              <a:rPr sz="2400" spc="-72" dirty="0">
                <a:solidFill>
                  <a:srgbClr val="FF0000"/>
                </a:solidFill>
                <a:latin typeface="Comic Sans MS" panose="030F0702030302020204" pitchFamily="66" charset="0"/>
                <a:cs typeface="Arial" panose="020B0604020202020204"/>
              </a:rPr>
              <a:t> </a:t>
            </a:r>
            <a:r>
              <a:rPr sz="2400" dirty="0">
                <a:solidFill>
                  <a:srgbClr val="FF0000"/>
                </a:solidFill>
                <a:latin typeface="Comic Sans MS" panose="030F0702030302020204" pitchFamily="66" charset="0"/>
                <a:cs typeface="Arial" panose="020B0604020202020204"/>
              </a:rPr>
              <a:t>between  </a:t>
            </a:r>
            <a:r>
              <a:rPr sz="2400" spc="-5" dirty="0">
                <a:solidFill>
                  <a:srgbClr val="FF0000"/>
                </a:solidFill>
                <a:latin typeface="Comic Sans MS" panose="030F0702030302020204" pitchFamily="66" charset="0"/>
                <a:cs typeface="Arial" panose="020B0604020202020204"/>
              </a:rPr>
              <a:t>thread</a:t>
            </a:r>
            <a:r>
              <a:rPr sz="2400" spc="-14" dirty="0">
                <a:solidFill>
                  <a:srgbClr val="FF0000"/>
                </a:solidFill>
                <a:latin typeface="Comic Sans MS" panose="030F0702030302020204" pitchFamily="66" charset="0"/>
                <a:cs typeface="Arial" panose="020B0604020202020204"/>
              </a:rPr>
              <a:t> </a:t>
            </a:r>
            <a:r>
              <a:rPr sz="2400" spc="-5" dirty="0">
                <a:solidFill>
                  <a:srgbClr val="FF0000"/>
                </a:solidFill>
                <a:latin typeface="Comic Sans MS" panose="030F0702030302020204" pitchFamily="66" charset="0"/>
                <a:cs typeface="Arial" panose="020B0604020202020204"/>
              </a:rPr>
              <a:t>blocks?</a:t>
            </a:r>
            <a:endParaRPr sz="2400" dirty="0">
              <a:solidFill>
                <a:srgbClr val="FF0000"/>
              </a:solidFill>
              <a:latin typeface="Comic Sans MS" panose="030F0702030302020204" pitchFamily="66" charset="0"/>
              <a:cs typeface="Arial" panose="020B0604020202020204"/>
            </a:endParaRPr>
          </a:p>
        </p:txBody>
      </p:sp>
      <p:sp>
        <p:nvSpPr>
          <p:cNvPr id="29" name="object 29"/>
          <p:cNvSpPr/>
          <p:nvPr/>
        </p:nvSpPr>
        <p:spPr>
          <a:xfrm>
            <a:off x="4096733" y="1601876"/>
            <a:ext cx="213169" cy="264033"/>
          </a:xfrm>
          <a:custGeom>
            <a:avLst/>
            <a:gdLst/>
            <a:ahLst/>
            <a:cxnLst/>
            <a:rect l="l" t="t" r="r" b="b"/>
            <a:pathLst>
              <a:path w="236854" h="293369">
                <a:moveTo>
                  <a:pt x="0" y="0"/>
                </a:moveTo>
                <a:lnTo>
                  <a:pt x="236600" y="293242"/>
                </a:lnTo>
              </a:path>
            </a:pathLst>
          </a:custGeom>
          <a:ln w="25399">
            <a:solidFill>
              <a:srgbClr val="000000"/>
            </a:solidFill>
          </a:ln>
        </p:spPr>
        <p:txBody>
          <a:bodyPr wrap="square" lIns="0" tIns="0" rIns="0" bIns="0" rtlCol="0"/>
          <a:lstStyle/>
          <a:p>
            <a:endParaRPr sz="1620"/>
          </a:p>
        </p:txBody>
      </p:sp>
      <p:sp>
        <p:nvSpPr>
          <p:cNvPr id="30" name="object 30"/>
          <p:cNvSpPr/>
          <p:nvPr/>
        </p:nvSpPr>
        <p:spPr>
          <a:xfrm>
            <a:off x="4309675"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1" name="object 31"/>
          <p:cNvSpPr/>
          <p:nvPr/>
        </p:nvSpPr>
        <p:spPr>
          <a:xfrm>
            <a:off x="4948268" y="1601876"/>
            <a:ext cx="213169" cy="264033"/>
          </a:xfrm>
          <a:custGeom>
            <a:avLst/>
            <a:gdLst/>
            <a:ahLst/>
            <a:cxnLst/>
            <a:rect l="l" t="t" r="r" b="b"/>
            <a:pathLst>
              <a:path w="236854" h="293369">
                <a:moveTo>
                  <a:pt x="0" y="0"/>
                </a:moveTo>
                <a:lnTo>
                  <a:pt x="236600" y="293242"/>
                </a:lnTo>
              </a:path>
            </a:pathLst>
          </a:custGeom>
          <a:ln w="25399">
            <a:solidFill>
              <a:srgbClr val="000000"/>
            </a:solidFill>
          </a:ln>
        </p:spPr>
        <p:txBody>
          <a:bodyPr wrap="square" lIns="0" tIns="0" rIns="0" bIns="0" rtlCol="0"/>
          <a:lstStyle/>
          <a:p>
            <a:endParaRPr sz="1620"/>
          </a:p>
        </p:txBody>
      </p:sp>
      <p:sp>
        <p:nvSpPr>
          <p:cNvPr id="32" name="object 32"/>
          <p:cNvSpPr/>
          <p:nvPr/>
        </p:nvSpPr>
        <p:spPr>
          <a:xfrm>
            <a:off x="5161210"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3" name="object 33"/>
          <p:cNvSpPr/>
          <p:nvPr/>
        </p:nvSpPr>
        <p:spPr>
          <a:xfrm>
            <a:off x="6012745"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4" name="object 34"/>
          <p:cNvSpPr/>
          <p:nvPr/>
        </p:nvSpPr>
        <p:spPr>
          <a:xfrm>
            <a:off x="5799803" y="1601876"/>
            <a:ext cx="213169" cy="264033"/>
          </a:xfrm>
          <a:custGeom>
            <a:avLst/>
            <a:gdLst/>
            <a:ahLst/>
            <a:cxnLst/>
            <a:rect l="l" t="t" r="r" b="b"/>
            <a:pathLst>
              <a:path w="236854" h="293369">
                <a:moveTo>
                  <a:pt x="0" y="0"/>
                </a:moveTo>
                <a:lnTo>
                  <a:pt x="236600" y="293242"/>
                </a:lnTo>
              </a:path>
            </a:pathLst>
          </a:custGeom>
          <a:ln w="25399">
            <a:solidFill>
              <a:srgbClr val="000000"/>
            </a:solidFill>
          </a:ln>
        </p:spPr>
        <p:txBody>
          <a:bodyPr wrap="square" lIns="0" tIns="0" rIns="0" bIns="0" rtlCol="0"/>
          <a:lstStyle/>
          <a:p>
            <a:endParaRPr sz="1620"/>
          </a:p>
        </p:txBody>
      </p:sp>
      <p:sp>
        <p:nvSpPr>
          <p:cNvPr id="35" name="object 35"/>
          <p:cNvSpPr/>
          <p:nvPr/>
        </p:nvSpPr>
        <p:spPr>
          <a:xfrm>
            <a:off x="6864280"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6" name="object 36"/>
          <p:cNvSpPr/>
          <p:nvPr/>
        </p:nvSpPr>
        <p:spPr>
          <a:xfrm>
            <a:off x="6651338" y="1601876"/>
            <a:ext cx="213169" cy="254889"/>
          </a:xfrm>
          <a:custGeom>
            <a:avLst/>
            <a:gdLst/>
            <a:ahLst/>
            <a:cxnLst/>
            <a:rect l="l" t="t" r="r" b="b"/>
            <a:pathLst>
              <a:path w="236854" h="283210">
                <a:moveTo>
                  <a:pt x="0" y="0"/>
                </a:moveTo>
                <a:lnTo>
                  <a:pt x="236600" y="282828"/>
                </a:lnTo>
              </a:path>
            </a:pathLst>
          </a:custGeom>
          <a:ln w="25400">
            <a:solidFill>
              <a:srgbClr val="000000"/>
            </a:solidFill>
          </a:ln>
        </p:spPr>
        <p:txBody>
          <a:bodyPr wrap="square" lIns="0" tIns="0" rIns="0" bIns="0" rtlCol="0"/>
          <a:lstStyle/>
          <a:p>
            <a:endParaRPr sz="1620"/>
          </a:p>
        </p:txBody>
      </p:sp>
      <p:sp>
        <p:nvSpPr>
          <p:cNvPr id="37" name="object 37"/>
          <p:cNvSpPr/>
          <p:nvPr/>
        </p:nvSpPr>
        <p:spPr>
          <a:xfrm>
            <a:off x="4309675" y="2110853"/>
            <a:ext cx="425768" cy="207454"/>
          </a:xfrm>
          <a:custGeom>
            <a:avLst/>
            <a:gdLst/>
            <a:ahLst/>
            <a:cxnLst/>
            <a:rect l="l" t="t" r="r" b="b"/>
            <a:pathLst>
              <a:path w="473075" h="230505">
                <a:moveTo>
                  <a:pt x="0" y="0"/>
                </a:moveTo>
                <a:lnTo>
                  <a:pt x="473075" y="230505"/>
                </a:lnTo>
              </a:path>
            </a:pathLst>
          </a:custGeom>
          <a:ln w="25400">
            <a:solidFill>
              <a:srgbClr val="000000"/>
            </a:solidFill>
          </a:ln>
        </p:spPr>
        <p:txBody>
          <a:bodyPr wrap="square" lIns="0" tIns="0" rIns="0" bIns="0" rtlCol="0"/>
          <a:lstStyle/>
          <a:p>
            <a:endParaRPr sz="1620"/>
          </a:p>
        </p:txBody>
      </p:sp>
      <p:sp>
        <p:nvSpPr>
          <p:cNvPr id="38" name="object 38"/>
          <p:cNvSpPr/>
          <p:nvPr/>
        </p:nvSpPr>
        <p:spPr>
          <a:xfrm>
            <a:off x="4735443" y="2110853"/>
            <a:ext cx="425768" cy="207454"/>
          </a:xfrm>
          <a:custGeom>
            <a:avLst/>
            <a:gdLst/>
            <a:ahLst/>
            <a:cxnLst/>
            <a:rect l="l" t="t" r="r" b="b"/>
            <a:pathLst>
              <a:path w="473075" h="230505">
                <a:moveTo>
                  <a:pt x="473075" y="0"/>
                </a:moveTo>
                <a:lnTo>
                  <a:pt x="0" y="230505"/>
                </a:lnTo>
              </a:path>
            </a:pathLst>
          </a:custGeom>
          <a:ln w="25400">
            <a:solidFill>
              <a:srgbClr val="000000"/>
            </a:solidFill>
          </a:ln>
        </p:spPr>
        <p:txBody>
          <a:bodyPr wrap="square" lIns="0" tIns="0" rIns="0" bIns="0" rtlCol="0"/>
          <a:lstStyle/>
          <a:p>
            <a:endParaRPr sz="1620"/>
          </a:p>
        </p:txBody>
      </p:sp>
      <p:sp>
        <p:nvSpPr>
          <p:cNvPr id="39" name="object 39"/>
          <p:cNvSpPr/>
          <p:nvPr/>
        </p:nvSpPr>
        <p:spPr>
          <a:xfrm>
            <a:off x="6012745" y="2110853"/>
            <a:ext cx="425768" cy="207454"/>
          </a:xfrm>
          <a:custGeom>
            <a:avLst/>
            <a:gdLst/>
            <a:ahLst/>
            <a:cxnLst/>
            <a:rect l="l" t="t" r="r" b="b"/>
            <a:pathLst>
              <a:path w="473075" h="230505">
                <a:moveTo>
                  <a:pt x="0" y="0"/>
                </a:moveTo>
                <a:lnTo>
                  <a:pt x="473075" y="230505"/>
                </a:lnTo>
              </a:path>
            </a:pathLst>
          </a:custGeom>
          <a:ln w="25400">
            <a:solidFill>
              <a:srgbClr val="000000"/>
            </a:solidFill>
          </a:ln>
        </p:spPr>
        <p:txBody>
          <a:bodyPr wrap="square" lIns="0" tIns="0" rIns="0" bIns="0" rtlCol="0"/>
          <a:lstStyle/>
          <a:p>
            <a:endParaRPr sz="1620"/>
          </a:p>
        </p:txBody>
      </p:sp>
      <p:sp>
        <p:nvSpPr>
          <p:cNvPr id="40" name="object 40"/>
          <p:cNvSpPr/>
          <p:nvPr/>
        </p:nvSpPr>
        <p:spPr>
          <a:xfrm>
            <a:off x="6438513" y="2110853"/>
            <a:ext cx="425768" cy="207454"/>
          </a:xfrm>
          <a:custGeom>
            <a:avLst/>
            <a:gdLst/>
            <a:ahLst/>
            <a:cxnLst/>
            <a:rect l="l" t="t" r="r" b="b"/>
            <a:pathLst>
              <a:path w="473075" h="230505">
                <a:moveTo>
                  <a:pt x="473075" y="0"/>
                </a:moveTo>
                <a:lnTo>
                  <a:pt x="0" y="230505"/>
                </a:lnTo>
              </a:path>
            </a:pathLst>
          </a:custGeom>
          <a:ln w="25400">
            <a:solidFill>
              <a:srgbClr val="000000"/>
            </a:solidFill>
          </a:ln>
        </p:spPr>
        <p:txBody>
          <a:bodyPr wrap="square" lIns="0" tIns="0" rIns="0" bIns="0" rtlCol="0"/>
          <a:lstStyle/>
          <a:p>
            <a:endParaRPr sz="1620"/>
          </a:p>
        </p:txBody>
      </p:sp>
      <p:sp>
        <p:nvSpPr>
          <p:cNvPr id="41" name="object 41"/>
          <p:cNvSpPr/>
          <p:nvPr/>
        </p:nvSpPr>
        <p:spPr>
          <a:xfrm>
            <a:off x="4735443" y="2563367"/>
            <a:ext cx="851535" cy="207454"/>
          </a:xfrm>
          <a:custGeom>
            <a:avLst/>
            <a:gdLst/>
            <a:ahLst/>
            <a:cxnLst/>
            <a:rect l="l" t="t" r="r" b="b"/>
            <a:pathLst>
              <a:path w="946150" h="230504">
                <a:moveTo>
                  <a:pt x="0" y="0"/>
                </a:moveTo>
                <a:lnTo>
                  <a:pt x="946150" y="230377"/>
                </a:lnTo>
              </a:path>
            </a:pathLst>
          </a:custGeom>
          <a:ln w="25400">
            <a:solidFill>
              <a:srgbClr val="000000"/>
            </a:solidFill>
          </a:ln>
        </p:spPr>
        <p:txBody>
          <a:bodyPr wrap="square" lIns="0" tIns="0" rIns="0" bIns="0" rtlCol="0"/>
          <a:lstStyle/>
          <a:p>
            <a:endParaRPr sz="1620"/>
          </a:p>
        </p:txBody>
      </p:sp>
      <p:sp>
        <p:nvSpPr>
          <p:cNvPr id="42" name="object 42"/>
          <p:cNvSpPr/>
          <p:nvPr/>
        </p:nvSpPr>
        <p:spPr>
          <a:xfrm>
            <a:off x="5586978" y="2563367"/>
            <a:ext cx="851535" cy="207454"/>
          </a:xfrm>
          <a:custGeom>
            <a:avLst/>
            <a:gdLst/>
            <a:ahLst/>
            <a:cxnLst/>
            <a:rect l="l" t="t" r="r" b="b"/>
            <a:pathLst>
              <a:path w="946150" h="230504">
                <a:moveTo>
                  <a:pt x="946150" y="0"/>
                </a:moveTo>
                <a:lnTo>
                  <a:pt x="0" y="230377"/>
                </a:lnTo>
              </a:path>
            </a:pathLst>
          </a:custGeom>
          <a:ln w="25400">
            <a:solidFill>
              <a:srgbClr val="000000"/>
            </a:solidFill>
          </a:ln>
        </p:spPr>
        <p:txBody>
          <a:bodyPr wrap="square" lIns="0" tIns="0" rIns="0" bIns="0" rtlCol="0"/>
          <a:lstStyle/>
          <a:p>
            <a:endParaRPr sz="1620"/>
          </a:p>
        </p:txBody>
      </p:sp>
      <p:sp>
        <p:nvSpPr>
          <p:cNvPr id="43" name="object 43"/>
          <p:cNvSpPr/>
          <p:nvPr/>
        </p:nvSpPr>
        <p:spPr>
          <a:xfrm>
            <a:off x="3990321"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44" name="object 44"/>
          <p:cNvSpPr/>
          <p:nvPr/>
        </p:nvSpPr>
        <p:spPr>
          <a:xfrm>
            <a:off x="3990321" y="1366190"/>
            <a:ext cx="213169" cy="226314"/>
          </a:xfrm>
          <a:custGeom>
            <a:avLst/>
            <a:gdLst/>
            <a:ahLst/>
            <a:cxnLst/>
            <a:rect l="l" t="t" r="r" b="b"/>
            <a:pathLst>
              <a:path w="236855"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45" name="object 45"/>
          <p:cNvSpPr/>
          <p:nvPr/>
        </p:nvSpPr>
        <p:spPr>
          <a:xfrm>
            <a:off x="4416089"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46" name="object 46"/>
          <p:cNvSpPr/>
          <p:nvPr/>
        </p:nvSpPr>
        <p:spPr>
          <a:xfrm>
            <a:off x="4416088"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47" name="object 47"/>
          <p:cNvSpPr/>
          <p:nvPr/>
        </p:nvSpPr>
        <p:spPr>
          <a:xfrm>
            <a:off x="4841856" y="1366190"/>
            <a:ext cx="212940" cy="226200"/>
          </a:xfrm>
          <a:prstGeom prst="rect">
            <a:avLst/>
          </a:prstGeom>
          <a:blipFill>
            <a:blip r:embed="rId7" cstate="print"/>
            <a:stretch>
              <a:fillRect/>
            </a:stretch>
          </a:blipFill>
        </p:spPr>
        <p:txBody>
          <a:bodyPr wrap="square" lIns="0" tIns="0" rIns="0" bIns="0" rtlCol="0"/>
          <a:lstStyle/>
          <a:p>
            <a:endParaRPr sz="1620"/>
          </a:p>
        </p:txBody>
      </p:sp>
      <p:sp>
        <p:nvSpPr>
          <p:cNvPr id="48" name="object 48"/>
          <p:cNvSpPr/>
          <p:nvPr/>
        </p:nvSpPr>
        <p:spPr>
          <a:xfrm>
            <a:off x="4841856"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49" name="object 49"/>
          <p:cNvSpPr/>
          <p:nvPr/>
        </p:nvSpPr>
        <p:spPr>
          <a:xfrm>
            <a:off x="5267624"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0" name="object 50"/>
          <p:cNvSpPr/>
          <p:nvPr/>
        </p:nvSpPr>
        <p:spPr>
          <a:xfrm>
            <a:off x="5267623"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1" name="object 51"/>
          <p:cNvSpPr/>
          <p:nvPr/>
        </p:nvSpPr>
        <p:spPr>
          <a:xfrm>
            <a:off x="5693391"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2" name="object 52"/>
          <p:cNvSpPr/>
          <p:nvPr/>
        </p:nvSpPr>
        <p:spPr>
          <a:xfrm>
            <a:off x="5693391"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3" name="object 53"/>
          <p:cNvSpPr/>
          <p:nvPr/>
        </p:nvSpPr>
        <p:spPr>
          <a:xfrm>
            <a:off x="6119159" y="1366190"/>
            <a:ext cx="212940" cy="226200"/>
          </a:xfrm>
          <a:prstGeom prst="rect">
            <a:avLst/>
          </a:prstGeom>
          <a:blipFill>
            <a:blip r:embed="rId7" cstate="print"/>
            <a:stretch>
              <a:fillRect/>
            </a:stretch>
          </a:blipFill>
        </p:spPr>
        <p:txBody>
          <a:bodyPr wrap="square" lIns="0" tIns="0" rIns="0" bIns="0" rtlCol="0"/>
          <a:lstStyle/>
          <a:p>
            <a:endParaRPr sz="1620"/>
          </a:p>
        </p:txBody>
      </p:sp>
      <p:sp>
        <p:nvSpPr>
          <p:cNvPr id="54" name="object 54"/>
          <p:cNvSpPr/>
          <p:nvPr/>
        </p:nvSpPr>
        <p:spPr>
          <a:xfrm>
            <a:off x="6119158"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5" name="object 55"/>
          <p:cNvSpPr/>
          <p:nvPr/>
        </p:nvSpPr>
        <p:spPr>
          <a:xfrm>
            <a:off x="6544926"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6" name="object 56"/>
          <p:cNvSpPr/>
          <p:nvPr/>
        </p:nvSpPr>
        <p:spPr>
          <a:xfrm>
            <a:off x="6544926"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7" name="object 57"/>
          <p:cNvSpPr/>
          <p:nvPr/>
        </p:nvSpPr>
        <p:spPr>
          <a:xfrm>
            <a:off x="6970694"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8" name="object 58"/>
          <p:cNvSpPr/>
          <p:nvPr/>
        </p:nvSpPr>
        <p:spPr>
          <a:xfrm>
            <a:off x="6970693"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9" name="object 59"/>
          <p:cNvSpPr txBox="1"/>
          <p:nvPr/>
        </p:nvSpPr>
        <p:spPr>
          <a:xfrm>
            <a:off x="2209800" y="876300"/>
            <a:ext cx="6784276" cy="679930"/>
          </a:xfrm>
          <a:prstGeom prst="rect">
            <a:avLst/>
          </a:prstGeom>
        </p:spPr>
        <p:txBody>
          <a:bodyPr vert="horz" wrap="square" lIns="0" tIns="11430" rIns="0" bIns="0" rtlCol="0">
            <a:spAutoFit/>
          </a:bodyPr>
          <a:lstStyle/>
          <a:p>
            <a:pPr algn="ctr">
              <a:spcBef>
                <a:spcPts val="90"/>
              </a:spcBef>
            </a:pPr>
            <a:r>
              <a:rPr sz="2000" spc="-5" dirty="0">
                <a:latin typeface="Comic Sans MS" panose="030F0702030302020204" pitchFamily="66" charset="0"/>
                <a:cs typeface="Arial" panose="020B0604020202020204"/>
              </a:rPr>
              <a:t>Tree-based approach used </a:t>
            </a:r>
            <a:r>
              <a:rPr sz="2000" dirty="0">
                <a:latin typeface="Comic Sans MS" panose="030F0702030302020204" pitchFamily="66" charset="0"/>
                <a:cs typeface="Arial" panose="020B0604020202020204"/>
              </a:rPr>
              <a:t>within </a:t>
            </a:r>
            <a:r>
              <a:rPr sz="2000" spc="-5" dirty="0">
                <a:latin typeface="Comic Sans MS" panose="030F0702030302020204" pitchFamily="66" charset="0"/>
                <a:cs typeface="Arial" panose="020B0604020202020204"/>
              </a:rPr>
              <a:t>each thread</a:t>
            </a:r>
            <a:r>
              <a:rPr sz="2000" spc="5"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block</a:t>
            </a:r>
            <a:endParaRPr sz="2000" dirty="0">
              <a:latin typeface="Comic Sans MS" panose="030F0702030302020204" pitchFamily="66" charset="0"/>
              <a:cs typeface="Arial" panose="020B0604020202020204"/>
            </a:endParaRPr>
          </a:p>
          <a:p>
            <a:pPr marR="20320" algn="ctr">
              <a:spcBef>
                <a:spcPts val="1275"/>
              </a:spcBef>
              <a:tabLst>
                <a:tab pos="424815" algn="l"/>
                <a:tab pos="850900" algn="l"/>
                <a:tab pos="1276985" algn="l"/>
                <a:tab pos="1703070" algn="l"/>
                <a:tab pos="2128520" algn="l"/>
                <a:tab pos="2554605" algn="l"/>
                <a:tab pos="2980055" algn="l"/>
              </a:tabLst>
            </a:pPr>
            <a:r>
              <a:rPr sz="1260" dirty="0">
                <a:latin typeface="Arial" panose="020B0604020202020204"/>
                <a:cs typeface="Arial" panose="020B0604020202020204"/>
              </a:rPr>
              <a:t>3	1	7	0	4	1	6	3</a:t>
            </a:r>
          </a:p>
        </p:txBody>
      </p:sp>
      <p:sp>
        <p:nvSpPr>
          <p:cNvPr id="61" name="object 34"/>
          <p:cNvSpPr txBox="1">
            <a:spLocks noGrp="1"/>
          </p:cNvSpPr>
          <p:nvPr>
            <p:ph type="sldNum" sz="quarter" idx="12"/>
          </p:nvPr>
        </p:nvSpPr>
        <p:spPr>
          <a:xfrm>
            <a:off x="7693641" y="516666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4</a:t>
            </a:fld>
            <a:endParaRPr spc="-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00200" y="190500"/>
            <a:ext cx="8850630"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Problem: </a:t>
            </a:r>
            <a:r>
              <a:rPr sz="3600" b="1" spc="-5" dirty="0">
                <a:latin typeface="Comic Sans MS" panose="030F0702030302020204" pitchFamily="66" charset="0"/>
              </a:rPr>
              <a:t>Global</a:t>
            </a:r>
            <a:r>
              <a:rPr sz="3600" b="1" spc="-99" dirty="0">
                <a:latin typeface="Comic Sans MS" panose="030F0702030302020204" pitchFamily="66" charset="0"/>
              </a:rPr>
              <a:t> </a:t>
            </a:r>
            <a:r>
              <a:rPr sz="3600" b="1" dirty="0">
                <a:latin typeface="Comic Sans MS" panose="030F0702030302020204" pitchFamily="66" charset="0"/>
              </a:rPr>
              <a:t>Synchronization</a:t>
            </a:r>
          </a:p>
        </p:txBody>
      </p:sp>
      <p:sp>
        <p:nvSpPr>
          <p:cNvPr id="13" name="object 13"/>
          <p:cNvSpPr txBox="1"/>
          <p:nvPr/>
        </p:nvSpPr>
        <p:spPr>
          <a:xfrm>
            <a:off x="1298362" y="1256485"/>
            <a:ext cx="8376075" cy="3963394"/>
          </a:xfrm>
          <a:prstGeom prst="rect">
            <a:avLst/>
          </a:prstGeom>
        </p:spPr>
        <p:txBody>
          <a:bodyPr vert="horz" wrap="square" lIns="0" tIns="12002" rIns="0" bIns="0" rtlCol="0">
            <a:spAutoFit/>
          </a:bodyPr>
          <a:lstStyle/>
          <a:p>
            <a:pPr marL="297180" indent="-285750">
              <a:spcBef>
                <a:spcPts val="95"/>
              </a:spcBef>
              <a:buFont typeface="Arial" panose="020B0604020202020204" pitchFamily="34" charset="0"/>
              <a:buChar char="•"/>
            </a:pPr>
            <a:r>
              <a:rPr sz="2000" b="1" dirty="0">
                <a:latin typeface="Comic Sans MS" panose="030F0702030302020204" pitchFamily="66" charset="0"/>
                <a:cs typeface="Arial" panose="020B0604020202020204"/>
              </a:rPr>
              <a:t>If </a:t>
            </a:r>
            <a:r>
              <a:rPr sz="2000" b="1" spc="14" dirty="0">
                <a:latin typeface="Comic Sans MS" panose="030F0702030302020204" pitchFamily="66" charset="0"/>
                <a:cs typeface="Arial" panose="020B0604020202020204"/>
              </a:rPr>
              <a:t>we </a:t>
            </a:r>
            <a:r>
              <a:rPr sz="2000" b="1" dirty="0">
                <a:latin typeface="Comic Sans MS" panose="030F0702030302020204" pitchFamily="66" charset="0"/>
                <a:cs typeface="Arial" panose="020B0604020202020204"/>
              </a:rPr>
              <a:t>could </a:t>
            </a:r>
            <a:r>
              <a:rPr sz="2000" b="1" spc="-5" dirty="0">
                <a:latin typeface="Comic Sans MS" panose="030F0702030302020204" pitchFamily="66" charset="0"/>
                <a:cs typeface="Arial" panose="020B0604020202020204"/>
              </a:rPr>
              <a:t>synchronize </a:t>
            </a:r>
            <a:r>
              <a:rPr sz="2000" b="1" dirty="0">
                <a:latin typeface="Comic Sans MS" panose="030F0702030302020204" pitchFamily="66" charset="0"/>
                <a:cs typeface="Arial" panose="020B0604020202020204"/>
              </a:rPr>
              <a:t>across all thread blocks, could</a:t>
            </a:r>
            <a:r>
              <a:rPr sz="2000" b="1" spc="-189"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easily</a:t>
            </a:r>
            <a:r>
              <a:rPr lang="en-US" sz="2000"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reduce </a:t>
            </a:r>
            <a:r>
              <a:rPr sz="2000" b="1" spc="-5" dirty="0">
                <a:latin typeface="Comic Sans MS" panose="030F0702030302020204" pitchFamily="66" charset="0"/>
                <a:cs typeface="Arial" panose="020B0604020202020204"/>
              </a:rPr>
              <a:t>very </a:t>
            </a:r>
            <a:r>
              <a:rPr sz="2000" b="1" dirty="0">
                <a:latin typeface="Comic Sans MS" panose="030F0702030302020204" pitchFamily="66" charset="0"/>
                <a:cs typeface="Arial" panose="020B0604020202020204"/>
              </a:rPr>
              <a:t>large </a:t>
            </a:r>
            <a:r>
              <a:rPr sz="2000" b="1" spc="-5" dirty="0">
                <a:latin typeface="Comic Sans MS" panose="030F0702030302020204" pitchFamily="66" charset="0"/>
                <a:cs typeface="Arial" panose="020B0604020202020204"/>
              </a:rPr>
              <a:t>arrays,</a:t>
            </a:r>
            <a:r>
              <a:rPr sz="2000" b="1" spc="-54"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right?</a:t>
            </a:r>
            <a:endParaRPr sz="2000" dirty="0">
              <a:latin typeface="Comic Sans MS" panose="030F0702030302020204" pitchFamily="66" charset="0"/>
              <a:cs typeface="Arial" panose="020B0604020202020204"/>
            </a:endParaRPr>
          </a:p>
          <a:p>
            <a:pPr marL="763270" marR="1462405" indent="-285750">
              <a:lnSpc>
                <a:spcPct val="120000"/>
              </a:lnSpc>
              <a:spcBef>
                <a:spcPts val="10"/>
              </a:spcBef>
              <a:buFont typeface="Arial" panose="020B0604020202020204" pitchFamily="34" charset="0"/>
              <a:buChar char="•"/>
            </a:pPr>
            <a:r>
              <a:rPr b="1" dirty="0">
                <a:latin typeface="Comic Sans MS" panose="030F0702030302020204" pitchFamily="66" charset="0"/>
                <a:cs typeface="Arial" panose="020B0604020202020204"/>
              </a:rPr>
              <a:t>Global </a:t>
            </a:r>
            <a:r>
              <a:rPr b="1" spc="-9" dirty="0">
                <a:latin typeface="Comic Sans MS" panose="030F0702030302020204" pitchFamily="66" charset="0"/>
                <a:cs typeface="Arial" panose="020B0604020202020204"/>
              </a:rPr>
              <a:t>sync </a:t>
            </a:r>
            <a:r>
              <a:rPr b="1" spc="-5" dirty="0">
                <a:latin typeface="Comic Sans MS" panose="030F0702030302020204" pitchFamily="66" charset="0"/>
                <a:cs typeface="Arial" panose="020B0604020202020204"/>
              </a:rPr>
              <a:t>after </a:t>
            </a:r>
            <a:r>
              <a:rPr b="1" spc="-9" dirty="0">
                <a:latin typeface="Comic Sans MS" panose="030F0702030302020204" pitchFamily="66" charset="0"/>
                <a:cs typeface="Arial" panose="020B0604020202020204"/>
              </a:rPr>
              <a:t>each </a:t>
            </a:r>
            <a:r>
              <a:rPr b="1" dirty="0">
                <a:latin typeface="Comic Sans MS" panose="030F0702030302020204" pitchFamily="66" charset="0"/>
                <a:cs typeface="Arial" panose="020B0604020202020204"/>
              </a:rPr>
              <a:t>block </a:t>
            </a:r>
            <a:r>
              <a:rPr b="1" spc="-5" dirty="0">
                <a:latin typeface="Comic Sans MS" panose="030F0702030302020204" pitchFamily="66" charset="0"/>
                <a:cs typeface="Arial" panose="020B0604020202020204"/>
              </a:rPr>
              <a:t>produces its result  </a:t>
            </a:r>
            <a:endParaRPr lang="en-US" b="1" spc="-5" dirty="0">
              <a:latin typeface="Comic Sans MS" panose="030F0702030302020204" pitchFamily="66" charset="0"/>
              <a:cs typeface="Arial" panose="020B0604020202020204"/>
            </a:endParaRPr>
          </a:p>
          <a:p>
            <a:pPr marL="763270" marR="1462405" indent="-285750">
              <a:lnSpc>
                <a:spcPct val="120000"/>
              </a:lnSpc>
              <a:spcBef>
                <a:spcPts val="10"/>
              </a:spcBef>
              <a:buFont typeface="Arial" panose="020B0604020202020204" pitchFamily="34" charset="0"/>
              <a:buChar char="•"/>
            </a:pPr>
            <a:r>
              <a:rPr b="1" dirty="0">
                <a:latin typeface="Comic Sans MS" panose="030F0702030302020204" pitchFamily="66" charset="0"/>
                <a:cs typeface="Arial" panose="020B0604020202020204"/>
              </a:rPr>
              <a:t>Once </a:t>
            </a:r>
            <a:r>
              <a:rPr b="1" spc="-5" dirty="0">
                <a:latin typeface="Comic Sans MS" panose="030F0702030302020204" pitchFamily="66" charset="0"/>
                <a:cs typeface="Arial" panose="020B0604020202020204"/>
              </a:rPr>
              <a:t>all blocks reach sync, </a:t>
            </a:r>
            <a:r>
              <a:rPr b="1" dirty="0">
                <a:latin typeface="Comic Sans MS" panose="030F0702030302020204" pitchFamily="66" charset="0"/>
                <a:cs typeface="Arial" panose="020B0604020202020204"/>
              </a:rPr>
              <a:t>continue</a:t>
            </a:r>
            <a:r>
              <a:rPr b="1" spc="-36" dirty="0">
                <a:latin typeface="Comic Sans MS" panose="030F0702030302020204" pitchFamily="66" charset="0"/>
                <a:cs typeface="Arial" panose="020B0604020202020204"/>
              </a:rPr>
              <a:t> </a:t>
            </a:r>
            <a:r>
              <a:rPr b="1" spc="-5" dirty="0">
                <a:latin typeface="Comic Sans MS" panose="030F0702030302020204" pitchFamily="66" charset="0"/>
                <a:cs typeface="Arial" panose="020B0604020202020204"/>
              </a:rPr>
              <a:t>recursively</a:t>
            </a:r>
            <a:endParaRPr dirty="0">
              <a:latin typeface="Comic Sans MS" panose="030F0702030302020204" pitchFamily="66" charset="0"/>
              <a:cs typeface="Arial" panose="020B0604020202020204"/>
            </a:endParaRPr>
          </a:p>
          <a:p>
            <a:pPr marL="297180" indent="-285750">
              <a:spcBef>
                <a:spcPts val="425"/>
              </a:spcBef>
              <a:buFont typeface="Arial" panose="020B0604020202020204" pitchFamily="34" charset="0"/>
              <a:buChar char="•"/>
              <a:tabLst>
                <a:tab pos="4656455" algn="l"/>
              </a:tabLst>
            </a:pPr>
            <a:r>
              <a:rPr sz="2000" b="1" dirty="0">
                <a:latin typeface="Comic Sans MS" panose="030F0702030302020204" pitchFamily="66" charset="0"/>
                <a:cs typeface="Arial" panose="020B0604020202020204"/>
              </a:rPr>
              <a:t>But CUDA has no</a:t>
            </a:r>
            <a:r>
              <a:rPr sz="2000" b="1" spc="9"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global</a:t>
            </a:r>
            <a:r>
              <a:rPr sz="2000" b="1" spc="5" dirty="0">
                <a:latin typeface="Comic Sans MS" panose="030F0702030302020204" pitchFamily="66" charset="0"/>
                <a:cs typeface="Arial" panose="020B0604020202020204"/>
              </a:rPr>
              <a:t> </a:t>
            </a:r>
            <a:r>
              <a:rPr sz="2000" b="1" spc="-5" dirty="0">
                <a:latin typeface="Comic Sans MS" panose="030F0702030302020204" pitchFamily="66" charset="0"/>
                <a:cs typeface="Arial" panose="020B0604020202020204"/>
              </a:rPr>
              <a:t>synchronization.</a:t>
            </a:r>
            <a:r>
              <a:rPr lang="en-US" sz="2000" b="1" spc="-5" dirty="0">
                <a:latin typeface="Comic Sans MS" panose="030F0702030302020204" pitchFamily="66" charset="0"/>
                <a:cs typeface="Arial" panose="020B0604020202020204"/>
              </a:rPr>
              <a:t> </a:t>
            </a:r>
            <a:r>
              <a:rPr sz="2000" b="1" spc="-5" dirty="0">
                <a:latin typeface="Comic Sans MS" panose="030F0702030302020204" pitchFamily="66" charset="0"/>
                <a:cs typeface="Arial" panose="020B0604020202020204"/>
              </a:rPr>
              <a:t>Why?</a:t>
            </a:r>
            <a:endParaRPr sz="2000" dirty="0">
              <a:latin typeface="Comic Sans MS" panose="030F0702030302020204" pitchFamily="66" charset="0"/>
              <a:cs typeface="Arial" panose="020B0604020202020204"/>
            </a:endParaRPr>
          </a:p>
          <a:p>
            <a:pPr marL="763270" indent="-285750">
              <a:spcBef>
                <a:spcPts val="395"/>
              </a:spcBef>
              <a:buFont typeface="Arial" panose="020B0604020202020204" pitchFamily="34" charset="0"/>
              <a:buChar char="•"/>
            </a:pPr>
            <a:r>
              <a:rPr b="1" spc="-9" dirty="0">
                <a:latin typeface="Comic Sans MS" panose="030F0702030302020204" pitchFamily="66" charset="0"/>
                <a:cs typeface="Arial" panose="020B0604020202020204"/>
              </a:rPr>
              <a:t>Expensive </a:t>
            </a:r>
            <a:r>
              <a:rPr b="1" dirty="0">
                <a:latin typeface="Comic Sans MS" panose="030F0702030302020204" pitchFamily="66" charset="0"/>
                <a:cs typeface="Arial" panose="020B0604020202020204"/>
              </a:rPr>
              <a:t>to build in hardware for </a:t>
            </a:r>
            <a:r>
              <a:rPr b="1" spc="-5" dirty="0">
                <a:latin typeface="Comic Sans MS" panose="030F0702030302020204" pitchFamily="66" charset="0"/>
                <a:cs typeface="Arial" panose="020B0604020202020204"/>
              </a:rPr>
              <a:t>GPUs </a:t>
            </a:r>
            <a:r>
              <a:rPr b="1" spc="5" dirty="0">
                <a:latin typeface="Comic Sans MS" panose="030F0702030302020204" pitchFamily="66" charset="0"/>
                <a:cs typeface="Arial" panose="020B0604020202020204"/>
              </a:rPr>
              <a:t>with </a:t>
            </a:r>
            <a:r>
              <a:rPr b="1" dirty="0">
                <a:latin typeface="Comic Sans MS" panose="030F0702030302020204" pitchFamily="66" charset="0"/>
                <a:cs typeface="Arial" panose="020B0604020202020204"/>
              </a:rPr>
              <a:t>high</a:t>
            </a:r>
            <a:r>
              <a:rPr b="1" spc="-77" dirty="0">
                <a:latin typeface="Comic Sans MS" panose="030F0702030302020204" pitchFamily="66" charset="0"/>
                <a:cs typeface="Arial" panose="020B0604020202020204"/>
              </a:rPr>
              <a:t> </a:t>
            </a:r>
            <a:r>
              <a:rPr b="1" spc="-5" dirty="0">
                <a:latin typeface="Comic Sans MS" panose="030F0702030302020204" pitchFamily="66" charset="0"/>
                <a:cs typeface="Arial" panose="020B0604020202020204"/>
              </a:rPr>
              <a:t>processor</a:t>
            </a:r>
            <a:r>
              <a:rPr lang="en-US" spc="-5"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count</a:t>
            </a:r>
            <a:endParaRPr dirty="0">
              <a:latin typeface="Comic Sans MS" panose="030F0702030302020204" pitchFamily="66" charset="0"/>
              <a:cs typeface="Arial" panose="020B0604020202020204"/>
            </a:endParaRPr>
          </a:p>
          <a:p>
            <a:pPr marL="763270" marR="171450" indent="-285750" algn="just">
              <a:spcBef>
                <a:spcPts val="390"/>
              </a:spcBef>
              <a:buFont typeface="Arial" panose="020B0604020202020204" pitchFamily="34" charset="0"/>
              <a:buChar char="•"/>
            </a:pPr>
            <a:r>
              <a:rPr b="1" dirty="0">
                <a:latin typeface="Comic Sans MS" panose="030F0702030302020204" pitchFamily="66" charset="0"/>
                <a:cs typeface="Arial" panose="020B0604020202020204"/>
              </a:rPr>
              <a:t>Would </a:t>
            </a:r>
            <a:r>
              <a:rPr b="1" spc="-5" dirty="0">
                <a:latin typeface="Comic Sans MS" panose="030F0702030302020204" pitchFamily="66" charset="0"/>
                <a:cs typeface="Arial" panose="020B0604020202020204"/>
              </a:rPr>
              <a:t>force programmer </a:t>
            </a:r>
            <a:r>
              <a:rPr b="1" dirty="0">
                <a:latin typeface="Comic Sans MS" panose="030F0702030302020204" pitchFamily="66" charset="0"/>
                <a:cs typeface="Arial" panose="020B0604020202020204"/>
              </a:rPr>
              <a:t>to run </a:t>
            </a:r>
            <a:r>
              <a:rPr b="1" spc="5" dirty="0">
                <a:latin typeface="Comic Sans MS" panose="030F0702030302020204" pitchFamily="66" charset="0"/>
                <a:cs typeface="Arial" panose="020B0604020202020204"/>
              </a:rPr>
              <a:t>fewer </a:t>
            </a:r>
            <a:r>
              <a:rPr b="1" spc="-5" dirty="0">
                <a:latin typeface="Comic Sans MS" panose="030F0702030302020204" pitchFamily="66" charset="0"/>
                <a:cs typeface="Arial" panose="020B0604020202020204"/>
              </a:rPr>
              <a:t>blocks </a:t>
            </a:r>
            <a:r>
              <a:rPr b="1" dirty="0">
                <a:latin typeface="Comic Sans MS" panose="030F0702030302020204" pitchFamily="66" charset="0"/>
                <a:cs typeface="Arial" panose="020B0604020202020204"/>
              </a:rPr>
              <a:t>to </a:t>
            </a:r>
            <a:r>
              <a:rPr b="1" spc="-9" dirty="0">
                <a:latin typeface="Comic Sans MS" panose="030F0702030302020204" pitchFamily="66" charset="0"/>
                <a:cs typeface="Arial" panose="020B0604020202020204"/>
              </a:rPr>
              <a:t>avoid  </a:t>
            </a:r>
            <a:r>
              <a:rPr b="1" spc="-5" dirty="0">
                <a:latin typeface="Comic Sans MS" panose="030F0702030302020204" pitchFamily="66" charset="0"/>
                <a:cs typeface="Arial" panose="020B0604020202020204"/>
              </a:rPr>
              <a:t>deadlock, </a:t>
            </a:r>
            <a:r>
              <a:rPr b="1" spc="5" dirty="0">
                <a:latin typeface="Comic Sans MS" panose="030F0702030302020204" pitchFamily="66" charset="0"/>
                <a:cs typeface="Arial" panose="020B0604020202020204"/>
              </a:rPr>
              <a:t>which </a:t>
            </a:r>
            <a:r>
              <a:rPr b="1" spc="-5" dirty="0">
                <a:latin typeface="Comic Sans MS" panose="030F0702030302020204" pitchFamily="66" charset="0"/>
                <a:cs typeface="Arial" panose="020B0604020202020204"/>
              </a:rPr>
              <a:t>may reduce </a:t>
            </a:r>
            <a:r>
              <a:rPr b="1" spc="-9" dirty="0">
                <a:latin typeface="Comic Sans MS" panose="030F0702030302020204" pitchFamily="66" charset="0"/>
                <a:cs typeface="Arial" panose="020B0604020202020204"/>
              </a:rPr>
              <a:t>overall</a:t>
            </a:r>
            <a:r>
              <a:rPr b="1" spc="-18" dirty="0">
                <a:latin typeface="Comic Sans MS" panose="030F0702030302020204" pitchFamily="66" charset="0"/>
                <a:cs typeface="Arial" panose="020B0604020202020204"/>
              </a:rPr>
              <a:t> </a:t>
            </a:r>
            <a:r>
              <a:rPr b="1" spc="-5" dirty="0">
                <a:latin typeface="Comic Sans MS" panose="030F0702030302020204" pitchFamily="66" charset="0"/>
                <a:cs typeface="Arial" panose="020B0604020202020204"/>
              </a:rPr>
              <a:t>efficiency</a:t>
            </a:r>
            <a:endParaRPr dirty="0">
              <a:latin typeface="Comic Sans MS" panose="030F0702030302020204" pitchFamily="66" charset="0"/>
              <a:cs typeface="Arial" panose="020B0604020202020204"/>
            </a:endParaRPr>
          </a:p>
          <a:p>
            <a:pPr marL="457200" indent="-457200">
              <a:spcBef>
                <a:spcPts val="20"/>
              </a:spcBef>
              <a:buFont typeface="Arial" panose="020B0604020202020204" pitchFamily="34" charset="0"/>
              <a:buChar char="•"/>
            </a:pPr>
            <a:endParaRPr sz="2800" dirty="0">
              <a:latin typeface="Comic Sans MS" panose="030F0702030302020204" pitchFamily="66" charset="0"/>
              <a:cs typeface="Arial" panose="020B0604020202020204"/>
            </a:endParaRPr>
          </a:p>
          <a:p>
            <a:pPr marL="297180" indent="-285750">
              <a:buFont typeface="Arial" panose="020B0604020202020204" pitchFamily="34" charset="0"/>
              <a:buChar char="•"/>
            </a:pPr>
            <a:r>
              <a:rPr sz="2000" b="1" dirty="0">
                <a:latin typeface="Comic Sans MS" panose="030F0702030302020204" pitchFamily="66" charset="0"/>
                <a:cs typeface="Arial" panose="020B0604020202020204"/>
              </a:rPr>
              <a:t>Solution: decompose into multiple</a:t>
            </a:r>
            <a:r>
              <a:rPr sz="2000" b="1" spc="-99"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kernels</a:t>
            </a:r>
            <a:endParaRPr sz="2000" dirty="0">
              <a:latin typeface="Comic Sans MS" panose="030F0702030302020204" pitchFamily="66" charset="0"/>
              <a:cs typeface="Arial" panose="020B0604020202020204"/>
            </a:endParaRPr>
          </a:p>
          <a:p>
            <a:pPr marL="763270" marR="243205" indent="-285750">
              <a:lnSpc>
                <a:spcPct val="120000"/>
              </a:lnSpc>
              <a:spcBef>
                <a:spcPts val="5"/>
              </a:spcBef>
              <a:buFont typeface="Arial" panose="020B0604020202020204" pitchFamily="34" charset="0"/>
              <a:buChar char="•"/>
            </a:pPr>
            <a:r>
              <a:rPr b="1" spc="-5" dirty="0">
                <a:latin typeface="Comic Sans MS" panose="030F0702030302020204" pitchFamily="66" charset="0"/>
                <a:cs typeface="Arial" panose="020B0604020202020204"/>
              </a:rPr>
              <a:t>Kernel </a:t>
            </a:r>
            <a:r>
              <a:rPr b="1" dirty="0">
                <a:latin typeface="Comic Sans MS" panose="030F0702030302020204" pitchFamily="66" charset="0"/>
                <a:cs typeface="Arial" panose="020B0604020202020204"/>
              </a:rPr>
              <a:t>launch </a:t>
            </a:r>
            <a:r>
              <a:rPr b="1" spc="-9" dirty="0">
                <a:latin typeface="Comic Sans MS" panose="030F0702030302020204" pitchFamily="66" charset="0"/>
                <a:cs typeface="Arial" panose="020B0604020202020204"/>
              </a:rPr>
              <a:t>serves </a:t>
            </a:r>
            <a:r>
              <a:rPr b="1" spc="-5" dirty="0">
                <a:latin typeface="Comic Sans MS" panose="030F0702030302020204" pitchFamily="66" charset="0"/>
                <a:cs typeface="Arial" panose="020B0604020202020204"/>
              </a:rPr>
              <a:t>as a </a:t>
            </a:r>
            <a:r>
              <a:rPr b="1" dirty="0">
                <a:latin typeface="Comic Sans MS" panose="030F0702030302020204" pitchFamily="66" charset="0"/>
                <a:cs typeface="Arial" panose="020B0604020202020204"/>
              </a:rPr>
              <a:t>global </a:t>
            </a:r>
            <a:r>
              <a:rPr b="1" spc="-5" dirty="0">
                <a:latin typeface="Comic Sans MS" panose="030F0702030302020204" pitchFamily="66" charset="0"/>
                <a:cs typeface="Arial" panose="020B0604020202020204"/>
              </a:rPr>
              <a:t>synchronization </a:t>
            </a:r>
            <a:r>
              <a:rPr b="1" dirty="0">
                <a:latin typeface="Comic Sans MS" panose="030F0702030302020204" pitchFamily="66" charset="0"/>
                <a:cs typeface="Arial" panose="020B0604020202020204"/>
              </a:rPr>
              <a:t>point  </a:t>
            </a:r>
            <a:endParaRPr lang="en-US" b="1" dirty="0">
              <a:latin typeface="Comic Sans MS" panose="030F0702030302020204" pitchFamily="66" charset="0"/>
              <a:cs typeface="Arial" panose="020B0604020202020204"/>
            </a:endParaRPr>
          </a:p>
          <a:p>
            <a:pPr marL="763270" marR="243205" indent="-285750">
              <a:lnSpc>
                <a:spcPct val="120000"/>
              </a:lnSpc>
              <a:spcBef>
                <a:spcPts val="5"/>
              </a:spcBef>
              <a:buFont typeface="Arial" panose="020B0604020202020204" pitchFamily="34" charset="0"/>
              <a:buChar char="•"/>
            </a:pPr>
            <a:r>
              <a:rPr b="1" spc="-5" dirty="0">
                <a:latin typeface="Comic Sans MS" panose="030F0702030302020204" pitchFamily="66" charset="0"/>
                <a:cs typeface="Arial" panose="020B0604020202020204"/>
              </a:rPr>
              <a:t>Kernel </a:t>
            </a:r>
            <a:r>
              <a:rPr b="1" dirty="0">
                <a:latin typeface="Comic Sans MS" panose="030F0702030302020204" pitchFamily="66" charset="0"/>
                <a:cs typeface="Arial" panose="020B0604020202020204"/>
              </a:rPr>
              <a:t>launch </a:t>
            </a:r>
            <a:r>
              <a:rPr b="1" spc="-5" dirty="0">
                <a:latin typeface="Comic Sans MS" panose="030F0702030302020204" pitchFamily="66" charset="0"/>
                <a:cs typeface="Arial" panose="020B0604020202020204"/>
              </a:rPr>
              <a:t>has </a:t>
            </a:r>
            <a:r>
              <a:rPr b="1" dirty="0">
                <a:latin typeface="Comic Sans MS" panose="030F0702030302020204" pitchFamily="66" charset="0"/>
                <a:cs typeface="Arial" panose="020B0604020202020204"/>
              </a:rPr>
              <a:t>negligible </a:t>
            </a:r>
            <a:r>
              <a:rPr b="1" spc="-5" dirty="0">
                <a:latin typeface="Comic Sans MS" panose="030F0702030302020204" pitchFamily="66" charset="0"/>
                <a:cs typeface="Arial" panose="020B0604020202020204"/>
              </a:rPr>
              <a:t>HW </a:t>
            </a:r>
            <a:r>
              <a:rPr b="1" spc="-9" dirty="0">
                <a:latin typeface="Comic Sans MS" panose="030F0702030302020204" pitchFamily="66" charset="0"/>
                <a:cs typeface="Arial" panose="020B0604020202020204"/>
              </a:rPr>
              <a:t>overhead, </a:t>
            </a:r>
            <a:r>
              <a:rPr b="1" dirty="0">
                <a:latin typeface="Comic Sans MS" panose="030F0702030302020204" pitchFamily="66" charset="0"/>
                <a:cs typeface="Arial" panose="020B0604020202020204"/>
              </a:rPr>
              <a:t>low SW</a:t>
            </a:r>
            <a:r>
              <a:rPr b="1" spc="14" dirty="0">
                <a:latin typeface="Comic Sans MS" panose="030F0702030302020204" pitchFamily="66" charset="0"/>
                <a:cs typeface="Arial" panose="020B0604020202020204"/>
              </a:rPr>
              <a:t> </a:t>
            </a:r>
            <a:r>
              <a:rPr b="1" spc="-9" dirty="0">
                <a:latin typeface="Comic Sans MS" panose="030F0702030302020204" pitchFamily="66" charset="0"/>
                <a:cs typeface="Arial" panose="020B0604020202020204"/>
              </a:rPr>
              <a:t>overhead</a:t>
            </a:r>
            <a:endParaRPr dirty="0">
              <a:latin typeface="Comic Sans MS" panose="030F0702030302020204" pitchFamily="66" charset="0"/>
              <a:cs typeface="Arial" panose="020B0604020202020204"/>
            </a:endParaRPr>
          </a:p>
        </p:txBody>
      </p:sp>
      <p:sp>
        <p:nvSpPr>
          <p:cNvPr id="1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5</a:t>
            </a:fld>
            <a:endParaRPr spc="-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77340" y="3360420"/>
            <a:ext cx="7818120" cy="754380"/>
          </a:xfrm>
          <a:custGeom>
            <a:avLst/>
            <a:gdLst/>
            <a:ahLst/>
            <a:cxnLst/>
            <a:rect l="l" t="t" r="r" b="b"/>
            <a:pathLst>
              <a:path w="8686800" h="838200">
                <a:moveTo>
                  <a:pt x="8686800" y="0"/>
                </a:moveTo>
                <a:lnTo>
                  <a:pt x="0" y="0"/>
                </a:lnTo>
                <a:lnTo>
                  <a:pt x="0" y="838200"/>
                </a:lnTo>
                <a:lnTo>
                  <a:pt x="8686800" y="838200"/>
                </a:lnTo>
                <a:lnTo>
                  <a:pt x="8686800" y="0"/>
                </a:lnTo>
                <a:close/>
              </a:path>
            </a:pathLst>
          </a:custGeom>
          <a:solidFill>
            <a:srgbClr val="99CCFF">
              <a:alpha val="49018"/>
            </a:srgbClr>
          </a:solidFill>
        </p:spPr>
        <p:txBody>
          <a:bodyPr wrap="square" lIns="0" tIns="0" rIns="0" bIns="0" rtlCol="0"/>
          <a:lstStyle/>
          <a:p>
            <a:endParaRPr sz="1620"/>
          </a:p>
        </p:txBody>
      </p:sp>
      <p:sp>
        <p:nvSpPr>
          <p:cNvPr id="3" name="object 3"/>
          <p:cNvSpPr/>
          <p:nvPr/>
        </p:nvSpPr>
        <p:spPr>
          <a:xfrm>
            <a:off x="1577340" y="2194560"/>
            <a:ext cx="7818120" cy="960120"/>
          </a:xfrm>
          <a:custGeom>
            <a:avLst/>
            <a:gdLst/>
            <a:ahLst/>
            <a:cxnLst/>
            <a:rect l="l" t="t" r="r" b="b"/>
            <a:pathLst>
              <a:path w="8686800" h="1066800">
                <a:moveTo>
                  <a:pt x="8686800" y="0"/>
                </a:moveTo>
                <a:lnTo>
                  <a:pt x="0" y="0"/>
                </a:lnTo>
                <a:lnTo>
                  <a:pt x="0" y="1066800"/>
                </a:lnTo>
                <a:lnTo>
                  <a:pt x="8686800" y="1066800"/>
                </a:lnTo>
                <a:lnTo>
                  <a:pt x="8686800" y="0"/>
                </a:lnTo>
                <a:close/>
              </a:path>
            </a:pathLst>
          </a:custGeom>
          <a:solidFill>
            <a:srgbClr val="76B800">
              <a:alpha val="49018"/>
            </a:srgbClr>
          </a:solidFill>
        </p:spPr>
        <p:txBody>
          <a:bodyPr wrap="square" lIns="0" tIns="0" rIns="0" bIns="0" rtlCol="0"/>
          <a:lstStyle/>
          <a:p>
            <a:endParaRPr sz="1620"/>
          </a:p>
        </p:txBody>
      </p:sp>
      <p:sp>
        <p:nvSpPr>
          <p:cNvPr id="5" name="object 5"/>
          <p:cNvSpPr txBox="1">
            <a:spLocks noGrp="1"/>
          </p:cNvSpPr>
          <p:nvPr>
            <p:ph type="title"/>
          </p:nvPr>
        </p:nvSpPr>
        <p:spPr>
          <a:xfrm>
            <a:off x="1524000" y="89535"/>
            <a:ext cx="8851900"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Solution: </a:t>
            </a:r>
            <a:r>
              <a:rPr sz="3600" b="1" spc="-5" dirty="0">
                <a:latin typeface="Comic Sans MS" panose="030F0702030302020204" pitchFamily="66" charset="0"/>
              </a:rPr>
              <a:t>Kernel</a:t>
            </a:r>
            <a:r>
              <a:rPr sz="3600" b="1" spc="-117" dirty="0">
                <a:latin typeface="Comic Sans MS" panose="030F0702030302020204" pitchFamily="66" charset="0"/>
              </a:rPr>
              <a:t> </a:t>
            </a:r>
            <a:r>
              <a:rPr sz="3600" b="1" dirty="0">
                <a:latin typeface="Comic Sans MS" panose="030F0702030302020204" pitchFamily="66" charset="0"/>
              </a:rPr>
              <a:t>Decomposition</a:t>
            </a:r>
          </a:p>
        </p:txBody>
      </p:sp>
      <p:sp>
        <p:nvSpPr>
          <p:cNvPr id="7" name="object 7"/>
          <p:cNvSpPr txBox="1"/>
          <p:nvPr/>
        </p:nvSpPr>
        <p:spPr>
          <a:xfrm>
            <a:off x="2265700" y="1188948"/>
            <a:ext cx="6497300" cy="750205"/>
          </a:xfrm>
          <a:prstGeom prst="rect">
            <a:avLst/>
          </a:prstGeom>
        </p:spPr>
        <p:txBody>
          <a:bodyPr vert="horz" wrap="square" lIns="0" tIns="11430" rIns="0" bIns="0" rtlCol="0">
            <a:spAutoFit/>
          </a:bodyPr>
          <a:lstStyle/>
          <a:p>
            <a:pPr marL="11430" marR="4445">
              <a:spcBef>
                <a:spcPts val="90"/>
              </a:spcBef>
            </a:pPr>
            <a:r>
              <a:rPr sz="2400" spc="-5" dirty="0">
                <a:latin typeface="Comic Sans MS" panose="030F0702030302020204" pitchFamily="66" charset="0"/>
                <a:cs typeface="Arial" panose="020B0604020202020204"/>
              </a:rPr>
              <a:t>Avoid </a:t>
            </a:r>
            <a:r>
              <a:rPr sz="2400" dirty="0">
                <a:latin typeface="Comic Sans MS" panose="030F0702030302020204" pitchFamily="66" charset="0"/>
                <a:cs typeface="Arial" panose="020B0604020202020204"/>
              </a:rPr>
              <a:t>global </a:t>
            </a:r>
            <a:r>
              <a:rPr sz="2400" spc="-9" dirty="0">
                <a:latin typeface="Comic Sans MS" panose="030F0702030302020204" pitchFamily="66" charset="0"/>
                <a:cs typeface="Arial" panose="020B0604020202020204"/>
              </a:rPr>
              <a:t>sync </a:t>
            </a:r>
            <a:r>
              <a:rPr sz="2400" spc="-5" dirty="0">
                <a:latin typeface="Comic Sans MS" panose="030F0702030302020204" pitchFamily="66" charset="0"/>
                <a:cs typeface="Arial" panose="020B0604020202020204"/>
              </a:rPr>
              <a:t>by decomposing computation  </a:t>
            </a:r>
            <a:r>
              <a:rPr sz="2400" dirty="0">
                <a:latin typeface="Comic Sans MS" panose="030F0702030302020204" pitchFamily="66" charset="0"/>
                <a:cs typeface="Arial" panose="020B0604020202020204"/>
              </a:rPr>
              <a:t>into multiple </a:t>
            </a:r>
            <a:r>
              <a:rPr sz="2400" spc="-5" dirty="0">
                <a:latin typeface="Comic Sans MS" panose="030F0702030302020204" pitchFamily="66" charset="0"/>
                <a:cs typeface="Arial" panose="020B0604020202020204"/>
              </a:rPr>
              <a:t>kernel</a:t>
            </a:r>
            <a:r>
              <a:rPr sz="2400" spc="-72"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invocations</a:t>
            </a:r>
            <a:endParaRPr sz="2400" dirty="0">
              <a:latin typeface="Comic Sans MS" panose="030F0702030302020204" pitchFamily="66" charset="0"/>
              <a:cs typeface="Arial" panose="020B0604020202020204"/>
            </a:endParaRPr>
          </a:p>
        </p:txBody>
      </p:sp>
      <p:sp>
        <p:nvSpPr>
          <p:cNvPr id="10" name="object 10"/>
          <p:cNvSpPr txBox="1"/>
          <p:nvPr/>
        </p:nvSpPr>
        <p:spPr>
          <a:xfrm>
            <a:off x="2265700" y="4283918"/>
            <a:ext cx="7640300" cy="1109278"/>
          </a:xfrm>
          <a:prstGeom prst="rect">
            <a:avLst/>
          </a:prstGeom>
        </p:spPr>
        <p:txBody>
          <a:bodyPr vert="horz" wrap="square" lIns="0" tIns="11430" rIns="0" bIns="0" rtlCol="0">
            <a:spAutoFit/>
          </a:bodyPr>
          <a:lstStyle/>
          <a:p>
            <a:pPr marL="11430">
              <a:spcBef>
                <a:spcPts val="90"/>
              </a:spcBef>
            </a:pPr>
            <a:r>
              <a:rPr sz="2400" dirty="0">
                <a:latin typeface="Comic Sans MS" panose="030F0702030302020204" pitchFamily="66" charset="0"/>
                <a:cs typeface="Arial" panose="020B0604020202020204"/>
              </a:rPr>
              <a:t>In the </a:t>
            </a:r>
            <a:r>
              <a:rPr sz="2400" spc="-5" dirty="0">
                <a:latin typeface="Comic Sans MS" panose="030F0702030302020204" pitchFamily="66" charset="0"/>
                <a:cs typeface="Arial" panose="020B0604020202020204"/>
              </a:rPr>
              <a:t>case </a:t>
            </a:r>
            <a:r>
              <a:rPr sz="2400" dirty="0">
                <a:latin typeface="Comic Sans MS" panose="030F0702030302020204" pitchFamily="66" charset="0"/>
                <a:cs typeface="Arial" panose="020B0604020202020204"/>
              </a:rPr>
              <a:t>of reductions, </a:t>
            </a:r>
            <a:r>
              <a:rPr sz="2400" spc="-5" dirty="0">
                <a:latin typeface="Comic Sans MS" panose="030F0702030302020204" pitchFamily="66" charset="0"/>
                <a:cs typeface="Arial" panose="020B0604020202020204"/>
              </a:rPr>
              <a:t>code </a:t>
            </a:r>
            <a:r>
              <a:rPr sz="2400" dirty="0">
                <a:latin typeface="Comic Sans MS" panose="030F0702030302020204" pitchFamily="66" charset="0"/>
                <a:cs typeface="Arial" panose="020B0604020202020204"/>
              </a:rPr>
              <a:t>for </a:t>
            </a:r>
            <a:r>
              <a:rPr sz="2400" spc="-5" dirty="0">
                <a:latin typeface="Comic Sans MS" panose="030F0702030302020204" pitchFamily="66" charset="0"/>
                <a:cs typeface="Arial" panose="020B0604020202020204"/>
              </a:rPr>
              <a:t>all </a:t>
            </a:r>
            <a:r>
              <a:rPr sz="2400" dirty="0">
                <a:latin typeface="Comic Sans MS" panose="030F0702030302020204" pitchFamily="66" charset="0"/>
                <a:cs typeface="Arial" panose="020B0604020202020204"/>
              </a:rPr>
              <a:t>levels is</a:t>
            </a:r>
            <a:r>
              <a:rPr sz="2400" spc="-113"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the</a:t>
            </a:r>
          </a:p>
          <a:p>
            <a:pPr marL="11430"/>
            <a:r>
              <a:rPr sz="2400" spc="-5" dirty="0">
                <a:latin typeface="Comic Sans MS" panose="030F0702030302020204" pitchFamily="66" charset="0"/>
                <a:cs typeface="Arial" panose="020B0604020202020204"/>
              </a:rPr>
              <a:t>same</a:t>
            </a:r>
            <a:endParaRPr sz="2400" dirty="0">
              <a:latin typeface="Comic Sans MS" panose="030F0702030302020204" pitchFamily="66" charset="0"/>
              <a:cs typeface="Arial" panose="020B0604020202020204"/>
            </a:endParaRPr>
          </a:p>
          <a:p>
            <a:pPr marL="477520">
              <a:spcBef>
                <a:spcPts val="435"/>
              </a:spcBef>
            </a:pPr>
            <a:r>
              <a:rPr sz="2000" spc="-5" dirty="0">
                <a:latin typeface="Comic Sans MS" panose="030F0702030302020204" pitchFamily="66" charset="0"/>
                <a:cs typeface="Arial" panose="020B0604020202020204"/>
              </a:rPr>
              <a:t>Recursive </a:t>
            </a:r>
            <a:r>
              <a:rPr sz="2000" dirty="0">
                <a:latin typeface="Comic Sans MS" panose="030F0702030302020204" pitchFamily="66" charset="0"/>
                <a:cs typeface="Arial" panose="020B0604020202020204"/>
              </a:rPr>
              <a:t>kernel</a:t>
            </a:r>
            <a:r>
              <a:rPr sz="2000" spc="-41"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invocation</a:t>
            </a:r>
            <a:endParaRPr sz="2000" dirty="0">
              <a:latin typeface="Comic Sans MS" panose="030F0702030302020204" pitchFamily="66" charset="0"/>
              <a:cs typeface="Arial" panose="020B0604020202020204"/>
            </a:endParaRPr>
          </a:p>
        </p:txBody>
      </p:sp>
      <p:sp>
        <p:nvSpPr>
          <p:cNvPr id="11" name="object 11"/>
          <p:cNvSpPr/>
          <p:nvPr/>
        </p:nvSpPr>
        <p:spPr>
          <a:xfrm>
            <a:off x="1634490" y="2320290"/>
            <a:ext cx="6675120" cy="425768"/>
          </a:xfrm>
          <a:prstGeom prst="rect">
            <a:avLst/>
          </a:prstGeom>
          <a:blipFill>
            <a:blip r:embed="rId2" cstate="print"/>
            <a:stretch>
              <a:fillRect/>
            </a:stretch>
          </a:blipFill>
        </p:spPr>
        <p:txBody>
          <a:bodyPr wrap="square" lIns="0" tIns="0" rIns="0" bIns="0" rtlCol="0"/>
          <a:lstStyle/>
          <a:p>
            <a:endParaRPr sz="1620"/>
          </a:p>
        </p:txBody>
      </p:sp>
      <p:sp>
        <p:nvSpPr>
          <p:cNvPr id="12" name="object 12"/>
          <p:cNvSpPr txBox="1"/>
          <p:nvPr/>
        </p:nvSpPr>
        <p:spPr>
          <a:xfrm>
            <a:off x="1635861" y="2276033"/>
            <a:ext cx="6675691" cy="483145"/>
          </a:xfrm>
          <a:prstGeom prst="rect">
            <a:avLst/>
          </a:prstGeom>
        </p:spPr>
        <p:txBody>
          <a:bodyPr vert="horz" wrap="square" lIns="0" tIns="26860" rIns="0" bIns="0" rtlCol="0">
            <a:spAutoFit/>
          </a:bodyPr>
          <a:lstStyle/>
          <a:p>
            <a:pPr algn="ctr">
              <a:spcBef>
                <a:spcPts val="210"/>
              </a:spcBef>
            </a:pPr>
            <a:r>
              <a:rPr sz="720" dirty="0">
                <a:latin typeface="Arial" panose="020B0604020202020204"/>
                <a:cs typeface="Arial" panose="020B0604020202020204"/>
              </a:rPr>
              <a:t>3</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23" dirty="0">
                <a:latin typeface="Arial" panose="020B0604020202020204"/>
                <a:cs typeface="Arial" panose="020B0604020202020204"/>
              </a:rPr>
              <a:t> </a:t>
            </a:r>
            <a:r>
              <a:rPr sz="720" dirty="0">
                <a:latin typeface="Arial" panose="020B0604020202020204"/>
                <a:cs typeface="Arial" panose="020B0604020202020204"/>
              </a:rPr>
              <a:t>3</a:t>
            </a:r>
            <a:r>
              <a:rPr sz="720" spc="45" dirty="0">
                <a:latin typeface="Arial" panose="020B0604020202020204"/>
                <a:cs typeface="Arial" panose="020B0604020202020204"/>
              </a:rPr>
              <a:t> </a:t>
            </a:r>
            <a:r>
              <a:rPr sz="720" dirty="0">
                <a:latin typeface="Arial" panose="020B0604020202020204"/>
                <a:cs typeface="Arial" panose="020B0604020202020204"/>
              </a:rPr>
              <a:t>3</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23"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23" dirty="0">
                <a:latin typeface="Arial" panose="020B0604020202020204"/>
                <a:cs typeface="Arial" panose="020B0604020202020204"/>
              </a:rPr>
              <a:t> </a:t>
            </a:r>
            <a:r>
              <a:rPr sz="720" dirty="0">
                <a:latin typeface="Arial" panose="020B0604020202020204"/>
                <a:cs typeface="Arial" panose="020B0604020202020204"/>
              </a:rPr>
              <a:t>3</a:t>
            </a:r>
            <a:r>
              <a:rPr sz="720" spc="23"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23"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59"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4"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76"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23"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71"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23"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71"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23" dirty="0">
                <a:latin typeface="Arial" panose="020B0604020202020204"/>
                <a:cs typeface="Arial" panose="020B0604020202020204"/>
              </a:rPr>
              <a:t> </a:t>
            </a:r>
            <a:r>
              <a:rPr sz="720" dirty="0">
                <a:latin typeface="Arial" panose="020B0604020202020204"/>
                <a:cs typeface="Arial" panose="020B0604020202020204"/>
              </a:rPr>
              <a:t>7</a:t>
            </a:r>
            <a:r>
              <a:rPr sz="720" spc="23"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27" dirty="0">
                <a:latin typeface="Arial" panose="020B0604020202020204"/>
                <a:cs typeface="Arial" panose="020B0604020202020204"/>
              </a:rPr>
              <a:t> </a:t>
            </a:r>
            <a:r>
              <a:rPr sz="720" dirty="0">
                <a:latin typeface="Arial" panose="020B0604020202020204"/>
                <a:cs typeface="Arial" panose="020B0604020202020204"/>
              </a:rPr>
              <a:t>6</a:t>
            </a:r>
            <a:r>
              <a:rPr sz="720" spc="23" dirty="0">
                <a:latin typeface="Arial" panose="020B0604020202020204"/>
                <a:cs typeface="Arial" panose="020B0604020202020204"/>
              </a:rPr>
              <a:t> </a:t>
            </a:r>
            <a:r>
              <a:rPr sz="720" dirty="0">
                <a:latin typeface="Arial" panose="020B0604020202020204"/>
                <a:cs typeface="Arial" panose="020B0604020202020204"/>
              </a:rPr>
              <a:t>3</a:t>
            </a:r>
            <a:endParaRPr sz="720">
              <a:latin typeface="Arial" panose="020B0604020202020204"/>
              <a:cs typeface="Arial" panose="020B0604020202020204"/>
            </a:endParaRPr>
          </a:p>
          <a:p>
            <a:pPr algn="ctr">
              <a:spcBef>
                <a:spcPts val="120"/>
              </a:spcBef>
              <a:tabLst>
                <a:tab pos="208915" algn="l"/>
                <a:tab pos="417195" algn="l"/>
                <a:tab pos="627380" algn="l"/>
                <a:tab pos="840105" algn="l"/>
                <a:tab pos="1049020" algn="l"/>
                <a:tab pos="1257935" algn="l"/>
                <a:tab pos="1467485" algn="l"/>
                <a:tab pos="1677035" algn="l"/>
                <a:tab pos="1885950" algn="l"/>
                <a:tab pos="2094865" algn="l"/>
                <a:tab pos="2303145" algn="l"/>
                <a:tab pos="2517140" algn="l"/>
                <a:tab pos="2726055" algn="l"/>
                <a:tab pos="2934970" algn="l"/>
                <a:tab pos="3143250" algn="l"/>
                <a:tab pos="3377565" algn="l"/>
                <a:tab pos="3585845" algn="l"/>
                <a:tab pos="3794760" algn="l"/>
                <a:tab pos="4004310" algn="l"/>
                <a:tab pos="4207510" algn="l"/>
                <a:tab pos="4416425" algn="l"/>
                <a:tab pos="4625340" algn="l"/>
                <a:tab pos="4834255" algn="l"/>
                <a:tab pos="5036185" algn="l"/>
                <a:tab pos="5245735" algn="l"/>
                <a:tab pos="5455285" algn="l"/>
                <a:tab pos="5663565" algn="l"/>
                <a:tab pos="5866765" algn="l"/>
                <a:tab pos="6076315" algn="l"/>
                <a:tab pos="6286500" algn="l"/>
                <a:tab pos="6496050" algn="l"/>
              </a:tabLst>
            </a:pPr>
            <a:r>
              <a:rPr sz="720" dirty="0">
                <a:latin typeface="Arial" panose="020B0604020202020204"/>
                <a:cs typeface="Arial" panose="020B0604020202020204"/>
              </a:rPr>
              <a:t>4	7	5	9	4	7	5	9	4	7	5	9	4	7	5	9	4	7	5	9	4	7	5	9	4	7	5	9	4	7	5	9</a:t>
            </a:r>
            <a:endParaRPr sz="720">
              <a:latin typeface="Arial" panose="020B0604020202020204"/>
              <a:cs typeface="Arial" panose="020B0604020202020204"/>
            </a:endParaRPr>
          </a:p>
          <a:p>
            <a:pPr algn="ctr">
              <a:spcBef>
                <a:spcPts val="10"/>
              </a:spcBef>
              <a:tabLst>
                <a:tab pos="417830" algn="l"/>
                <a:tab pos="840105" algn="l"/>
                <a:tab pos="1257935" algn="l"/>
                <a:tab pos="1677035" algn="l"/>
                <a:tab pos="2094230" algn="l"/>
                <a:tab pos="2517140" algn="l"/>
                <a:tab pos="2934335" algn="l"/>
                <a:tab pos="3377565" algn="l"/>
                <a:tab pos="3794760" algn="l"/>
                <a:tab pos="4207510" algn="l"/>
                <a:tab pos="4625340" algn="l"/>
                <a:tab pos="5036820" algn="l"/>
                <a:tab pos="5455285" algn="l"/>
                <a:tab pos="5867400" algn="l"/>
                <a:tab pos="6286500" algn="l"/>
              </a:tabLst>
            </a:pPr>
            <a:r>
              <a:rPr sz="720" spc="-5" dirty="0">
                <a:latin typeface="Arial" panose="020B0604020202020204"/>
                <a:cs typeface="Arial" panose="020B0604020202020204"/>
              </a:rPr>
              <a:t>11	14	11	14	11	14	11	14	11	14	11	14	11	14	11	14</a:t>
            </a:r>
            <a:endParaRPr sz="720">
              <a:latin typeface="Arial" panose="020B0604020202020204"/>
              <a:cs typeface="Arial" panose="020B0604020202020204"/>
            </a:endParaRPr>
          </a:p>
          <a:p>
            <a:pPr algn="ctr">
              <a:spcBef>
                <a:spcPts val="15"/>
              </a:spcBef>
              <a:tabLst>
                <a:tab pos="840105" algn="l"/>
                <a:tab pos="1676400" algn="l"/>
                <a:tab pos="2516505" algn="l"/>
                <a:tab pos="3376930" algn="l"/>
                <a:tab pos="4206875" algn="l"/>
                <a:tab pos="5036185" algn="l"/>
                <a:tab pos="5868035" algn="l"/>
              </a:tabLst>
            </a:pPr>
            <a:r>
              <a:rPr sz="720" spc="-5" dirty="0">
                <a:latin typeface="Arial" panose="020B0604020202020204"/>
                <a:cs typeface="Arial" panose="020B0604020202020204"/>
              </a:rPr>
              <a:t>25	25	25	25	25	25	25	25</a:t>
            </a:r>
            <a:endParaRPr sz="720">
              <a:latin typeface="Arial" panose="020B0604020202020204"/>
              <a:cs typeface="Arial" panose="020B0604020202020204"/>
            </a:endParaRPr>
          </a:p>
        </p:txBody>
      </p:sp>
      <p:sp>
        <p:nvSpPr>
          <p:cNvPr id="13" name="object 13"/>
          <p:cNvSpPr/>
          <p:nvPr/>
        </p:nvSpPr>
        <p:spPr>
          <a:xfrm>
            <a:off x="4599203" y="3627538"/>
            <a:ext cx="805815" cy="425768"/>
          </a:xfrm>
          <a:prstGeom prst="rect">
            <a:avLst/>
          </a:prstGeom>
          <a:blipFill>
            <a:blip r:embed="rId3" cstate="print"/>
            <a:stretch>
              <a:fillRect/>
            </a:stretch>
          </a:blipFill>
        </p:spPr>
        <p:txBody>
          <a:bodyPr wrap="square" lIns="0" tIns="0" rIns="0" bIns="0" rtlCol="0"/>
          <a:lstStyle/>
          <a:p>
            <a:endParaRPr sz="1620"/>
          </a:p>
        </p:txBody>
      </p:sp>
      <p:sp>
        <p:nvSpPr>
          <p:cNvPr id="14" name="object 14"/>
          <p:cNvSpPr txBox="1"/>
          <p:nvPr/>
        </p:nvSpPr>
        <p:spPr>
          <a:xfrm>
            <a:off x="4940275" y="3945864"/>
            <a:ext cx="124587" cy="122341"/>
          </a:xfrm>
          <a:prstGeom prst="rect">
            <a:avLst/>
          </a:prstGeom>
        </p:spPr>
        <p:txBody>
          <a:bodyPr vert="horz" wrap="square" lIns="0" tIns="11430" rIns="0" bIns="0" rtlCol="0">
            <a:spAutoFit/>
          </a:bodyPr>
          <a:lstStyle/>
          <a:p>
            <a:pPr marL="11430">
              <a:spcBef>
                <a:spcPts val="90"/>
              </a:spcBef>
            </a:pPr>
            <a:r>
              <a:rPr sz="720" spc="-5" dirty="0">
                <a:latin typeface="Arial" panose="020B0604020202020204"/>
                <a:cs typeface="Arial" panose="020B0604020202020204"/>
              </a:rPr>
              <a:t>25</a:t>
            </a:r>
            <a:endParaRPr sz="720">
              <a:latin typeface="Arial" panose="020B0604020202020204"/>
              <a:cs typeface="Arial" panose="020B0604020202020204"/>
            </a:endParaRPr>
          </a:p>
        </p:txBody>
      </p:sp>
      <p:sp>
        <p:nvSpPr>
          <p:cNvPr id="15" name="object 15"/>
          <p:cNvSpPr txBox="1"/>
          <p:nvPr/>
        </p:nvSpPr>
        <p:spPr>
          <a:xfrm>
            <a:off x="4601032" y="3583854"/>
            <a:ext cx="805244" cy="371767"/>
          </a:xfrm>
          <a:prstGeom prst="rect">
            <a:avLst/>
          </a:prstGeom>
        </p:spPr>
        <p:txBody>
          <a:bodyPr vert="horz" wrap="square" lIns="0" tIns="26288" rIns="0" bIns="0" rtlCol="0">
            <a:spAutoFit/>
          </a:bodyPr>
          <a:lstStyle/>
          <a:p>
            <a:pPr algn="ctr">
              <a:spcBef>
                <a:spcPts val="205"/>
              </a:spcBef>
            </a:pPr>
            <a:r>
              <a:rPr sz="720" dirty="0">
                <a:latin typeface="Arial" panose="020B0604020202020204"/>
                <a:cs typeface="Arial" panose="020B0604020202020204"/>
              </a:rPr>
              <a:t>3 1 7 0 4 1 6</a:t>
            </a:r>
            <a:r>
              <a:rPr sz="720" spc="50" dirty="0">
                <a:latin typeface="Arial" panose="020B0604020202020204"/>
                <a:cs typeface="Arial" panose="020B0604020202020204"/>
              </a:rPr>
              <a:t> </a:t>
            </a:r>
            <a:r>
              <a:rPr sz="720" dirty="0">
                <a:latin typeface="Arial" panose="020B0604020202020204"/>
                <a:cs typeface="Arial" panose="020B0604020202020204"/>
              </a:rPr>
              <a:t>3</a:t>
            </a:r>
            <a:endParaRPr sz="720">
              <a:latin typeface="Arial" panose="020B0604020202020204"/>
              <a:cs typeface="Arial" panose="020B0604020202020204"/>
            </a:endParaRPr>
          </a:p>
          <a:p>
            <a:pPr algn="ctr">
              <a:spcBef>
                <a:spcPts val="120"/>
              </a:spcBef>
              <a:tabLst>
                <a:tab pos="208280" algn="l"/>
                <a:tab pos="417195" algn="l"/>
                <a:tab pos="625475" algn="l"/>
              </a:tabLst>
            </a:pPr>
            <a:r>
              <a:rPr sz="720" dirty="0">
                <a:latin typeface="Arial" panose="020B0604020202020204"/>
                <a:cs typeface="Arial" panose="020B0604020202020204"/>
              </a:rPr>
              <a:t>4	7	5	9</a:t>
            </a:r>
            <a:endParaRPr sz="720">
              <a:latin typeface="Arial" panose="020B0604020202020204"/>
              <a:cs typeface="Arial" panose="020B0604020202020204"/>
            </a:endParaRPr>
          </a:p>
          <a:p>
            <a:pPr algn="ctr">
              <a:spcBef>
                <a:spcPts val="15"/>
              </a:spcBef>
              <a:tabLst>
                <a:tab pos="417195" algn="l"/>
              </a:tabLst>
            </a:pPr>
            <a:r>
              <a:rPr sz="720" spc="-5" dirty="0">
                <a:latin typeface="Arial" panose="020B0604020202020204"/>
                <a:cs typeface="Arial" panose="020B0604020202020204"/>
              </a:rPr>
              <a:t>11	14</a:t>
            </a:r>
            <a:endParaRPr sz="720">
              <a:latin typeface="Arial" panose="020B0604020202020204"/>
              <a:cs typeface="Arial" panose="020B0604020202020204"/>
            </a:endParaRPr>
          </a:p>
        </p:txBody>
      </p:sp>
      <p:sp>
        <p:nvSpPr>
          <p:cNvPr id="16" name="object 16"/>
          <p:cNvSpPr/>
          <p:nvPr/>
        </p:nvSpPr>
        <p:spPr>
          <a:xfrm>
            <a:off x="2068830" y="2735998"/>
            <a:ext cx="2542032" cy="902970"/>
          </a:xfrm>
          <a:custGeom>
            <a:avLst/>
            <a:gdLst/>
            <a:ahLst/>
            <a:cxnLst/>
            <a:rect l="l" t="t" r="r" b="b"/>
            <a:pathLst>
              <a:path w="2824479" h="1003300">
                <a:moveTo>
                  <a:pt x="0" y="0"/>
                </a:moveTo>
                <a:lnTo>
                  <a:pt x="2824226" y="1003300"/>
                </a:lnTo>
              </a:path>
            </a:pathLst>
          </a:custGeom>
          <a:ln w="28575">
            <a:solidFill>
              <a:srgbClr val="808080"/>
            </a:solidFill>
            <a:prstDash val="lgDash"/>
          </a:ln>
        </p:spPr>
        <p:txBody>
          <a:bodyPr wrap="square" lIns="0" tIns="0" rIns="0" bIns="0" rtlCol="0"/>
          <a:lstStyle/>
          <a:p>
            <a:endParaRPr sz="1620"/>
          </a:p>
        </p:txBody>
      </p:sp>
      <p:sp>
        <p:nvSpPr>
          <p:cNvPr id="17" name="object 17"/>
          <p:cNvSpPr/>
          <p:nvPr/>
        </p:nvSpPr>
        <p:spPr>
          <a:xfrm>
            <a:off x="2888933" y="2735998"/>
            <a:ext cx="1803083" cy="902970"/>
          </a:xfrm>
          <a:custGeom>
            <a:avLst/>
            <a:gdLst/>
            <a:ahLst/>
            <a:cxnLst/>
            <a:rect l="l" t="t" r="r" b="b"/>
            <a:pathLst>
              <a:path w="2003425" h="1003300">
                <a:moveTo>
                  <a:pt x="0" y="0"/>
                </a:moveTo>
                <a:lnTo>
                  <a:pt x="2003425" y="1003300"/>
                </a:lnTo>
              </a:path>
            </a:pathLst>
          </a:custGeom>
          <a:ln w="28575">
            <a:solidFill>
              <a:srgbClr val="808080"/>
            </a:solidFill>
            <a:prstDash val="lgDash"/>
          </a:ln>
        </p:spPr>
        <p:txBody>
          <a:bodyPr wrap="square" lIns="0" tIns="0" rIns="0" bIns="0" rtlCol="0"/>
          <a:lstStyle/>
          <a:p>
            <a:endParaRPr sz="1620"/>
          </a:p>
        </p:txBody>
      </p:sp>
      <p:sp>
        <p:nvSpPr>
          <p:cNvPr id="18" name="object 18"/>
          <p:cNvSpPr/>
          <p:nvPr/>
        </p:nvSpPr>
        <p:spPr>
          <a:xfrm>
            <a:off x="3709035" y="2735998"/>
            <a:ext cx="1147572" cy="902970"/>
          </a:xfrm>
          <a:custGeom>
            <a:avLst/>
            <a:gdLst/>
            <a:ahLst/>
            <a:cxnLst/>
            <a:rect l="l" t="t" r="r" b="b"/>
            <a:pathLst>
              <a:path w="1275079" h="1003300">
                <a:moveTo>
                  <a:pt x="0" y="0"/>
                </a:moveTo>
                <a:lnTo>
                  <a:pt x="1274826" y="1003300"/>
                </a:lnTo>
              </a:path>
            </a:pathLst>
          </a:custGeom>
          <a:ln w="28575">
            <a:solidFill>
              <a:srgbClr val="808080"/>
            </a:solidFill>
            <a:prstDash val="lgDash"/>
          </a:ln>
        </p:spPr>
        <p:txBody>
          <a:bodyPr wrap="square" lIns="0" tIns="0" rIns="0" bIns="0" rtlCol="0"/>
          <a:lstStyle/>
          <a:p>
            <a:endParaRPr sz="1620"/>
          </a:p>
        </p:txBody>
      </p:sp>
      <p:sp>
        <p:nvSpPr>
          <p:cNvPr id="19" name="object 19"/>
          <p:cNvSpPr/>
          <p:nvPr/>
        </p:nvSpPr>
        <p:spPr>
          <a:xfrm>
            <a:off x="4610634" y="2735998"/>
            <a:ext cx="327470" cy="902970"/>
          </a:xfrm>
          <a:custGeom>
            <a:avLst/>
            <a:gdLst/>
            <a:ahLst/>
            <a:cxnLst/>
            <a:rect l="l" t="t" r="r" b="b"/>
            <a:pathLst>
              <a:path w="363854" h="1003300">
                <a:moveTo>
                  <a:pt x="0" y="0"/>
                </a:moveTo>
                <a:lnTo>
                  <a:pt x="363474" y="1003300"/>
                </a:lnTo>
              </a:path>
            </a:pathLst>
          </a:custGeom>
          <a:ln w="28575">
            <a:solidFill>
              <a:srgbClr val="808080"/>
            </a:solidFill>
            <a:prstDash val="lgDash"/>
          </a:ln>
        </p:spPr>
        <p:txBody>
          <a:bodyPr wrap="square" lIns="0" tIns="0" rIns="0" bIns="0" rtlCol="0"/>
          <a:lstStyle/>
          <a:p>
            <a:endParaRPr sz="1620"/>
          </a:p>
        </p:txBody>
      </p:sp>
      <p:sp>
        <p:nvSpPr>
          <p:cNvPr id="20" name="object 20"/>
          <p:cNvSpPr/>
          <p:nvPr/>
        </p:nvSpPr>
        <p:spPr>
          <a:xfrm>
            <a:off x="5347068" y="2735998"/>
            <a:ext cx="2541461" cy="902970"/>
          </a:xfrm>
          <a:custGeom>
            <a:avLst/>
            <a:gdLst/>
            <a:ahLst/>
            <a:cxnLst/>
            <a:rect l="l" t="t" r="r" b="b"/>
            <a:pathLst>
              <a:path w="2823845" h="1003300">
                <a:moveTo>
                  <a:pt x="2823464" y="0"/>
                </a:moveTo>
                <a:lnTo>
                  <a:pt x="0" y="1003300"/>
                </a:lnTo>
              </a:path>
            </a:pathLst>
          </a:custGeom>
          <a:ln w="28575">
            <a:solidFill>
              <a:srgbClr val="808080"/>
            </a:solidFill>
            <a:prstDash val="lgDash"/>
          </a:ln>
        </p:spPr>
        <p:txBody>
          <a:bodyPr wrap="square" lIns="0" tIns="0" rIns="0" bIns="0" rtlCol="0"/>
          <a:lstStyle/>
          <a:p>
            <a:endParaRPr sz="1620"/>
          </a:p>
        </p:txBody>
      </p:sp>
      <p:sp>
        <p:nvSpPr>
          <p:cNvPr id="21" name="object 21"/>
          <p:cNvSpPr/>
          <p:nvPr/>
        </p:nvSpPr>
        <p:spPr>
          <a:xfrm>
            <a:off x="5265115" y="2735998"/>
            <a:ext cx="1803654" cy="902970"/>
          </a:xfrm>
          <a:custGeom>
            <a:avLst/>
            <a:gdLst/>
            <a:ahLst/>
            <a:cxnLst/>
            <a:rect l="l" t="t" r="r" b="b"/>
            <a:pathLst>
              <a:path w="2004060" h="1003300">
                <a:moveTo>
                  <a:pt x="2003679" y="0"/>
                </a:moveTo>
                <a:lnTo>
                  <a:pt x="0" y="1003300"/>
                </a:lnTo>
              </a:path>
            </a:pathLst>
          </a:custGeom>
          <a:ln w="28575">
            <a:solidFill>
              <a:srgbClr val="808080"/>
            </a:solidFill>
            <a:prstDash val="lgDash"/>
          </a:ln>
        </p:spPr>
        <p:txBody>
          <a:bodyPr wrap="square" lIns="0" tIns="0" rIns="0" bIns="0" rtlCol="0"/>
          <a:lstStyle/>
          <a:p>
            <a:endParaRPr sz="1620"/>
          </a:p>
        </p:txBody>
      </p:sp>
      <p:sp>
        <p:nvSpPr>
          <p:cNvPr id="22" name="object 22"/>
          <p:cNvSpPr/>
          <p:nvPr/>
        </p:nvSpPr>
        <p:spPr>
          <a:xfrm>
            <a:off x="5101208" y="2735998"/>
            <a:ext cx="1147572" cy="902970"/>
          </a:xfrm>
          <a:custGeom>
            <a:avLst/>
            <a:gdLst/>
            <a:ahLst/>
            <a:cxnLst/>
            <a:rect l="l" t="t" r="r" b="b"/>
            <a:pathLst>
              <a:path w="1275079" h="1003300">
                <a:moveTo>
                  <a:pt x="1275079" y="0"/>
                </a:moveTo>
                <a:lnTo>
                  <a:pt x="0" y="1003300"/>
                </a:lnTo>
              </a:path>
            </a:pathLst>
          </a:custGeom>
          <a:ln w="28575">
            <a:solidFill>
              <a:srgbClr val="808080"/>
            </a:solidFill>
            <a:prstDash val="lgDash"/>
          </a:ln>
        </p:spPr>
        <p:txBody>
          <a:bodyPr wrap="square" lIns="0" tIns="0" rIns="0" bIns="0" rtlCol="0"/>
          <a:lstStyle/>
          <a:p>
            <a:endParaRPr sz="1620"/>
          </a:p>
        </p:txBody>
      </p:sp>
      <p:sp>
        <p:nvSpPr>
          <p:cNvPr id="23" name="object 23"/>
          <p:cNvSpPr/>
          <p:nvPr/>
        </p:nvSpPr>
        <p:spPr>
          <a:xfrm>
            <a:off x="5019256" y="2735998"/>
            <a:ext cx="328041" cy="902970"/>
          </a:xfrm>
          <a:custGeom>
            <a:avLst/>
            <a:gdLst/>
            <a:ahLst/>
            <a:cxnLst/>
            <a:rect l="l" t="t" r="r" b="b"/>
            <a:pathLst>
              <a:path w="364489" h="1003300">
                <a:moveTo>
                  <a:pt x="364236" y="0"/>
                </a:moveTo>
                <a:lnTo>
                  <a:pt x="0" y="1003300"/>
                </a:lnTo>
              </a:path>
            </a:pathLst>
          </a:custGeom>
          <a:ln w="28575">
            <a:solidFill>
              <a:srgbClr val="808080"/>
            </a:solidFill>
            <a:prstDash val="lgDash"/>
          </a:ln>
        </p:spPr>
        <p:txBody>
          <a:bodyPr wrap="square" lIns="0" tIns="0" rIns="0" bIns="0" rtlCol="0"/>
          <a:lstStyle/>
          <a:p>
            <a:endParaRPr sz="1620"/>
          </a:p>
        </p:txBody>
      </p:sp>
      <p:sp>
        <p:nvSpPr>
          <p:cNvPr id="24" name="object 24"/>
          <p:cNvSpPr txBox="1"/>
          <p:nvPr/>
        </p:nvSpPr>
        <p:spPr>
          <a:xfrm>
            <a:off x="8509178" y="2562263"/>
            <a:ext cx="775525" cy="510140"/>
          </a:xfrm>
          <a:prstGeom prst="rect">
            <a:avLst/>
          </a:prstGeom>
        </p:spPr>
        <p:txBody>
          <a:bodyPr vert="horz" wrap="square" lIns="0" tIns="11430" rIns="0" bIns="0" rtlCol="0">
            <a:spAutoFit/>
          </a:bodyPr>
          <a:lstStyle/>
          <a:p>
            <a:pPr marL="27305">
              <a:spcBef>
                <a:spcPts val="90"/>
              </a:spcBef>
            </a:pPr>
            <a:r>
              <a:rPr sz="1620" spc="-5" dirty="0">
                <a:latin typeface="Arial" panose="020B0604020202020204"/>
                <a:cs typeface="Arial" panose="020B0604020202020204"/>
              </a:rPr>
              <a:t>Level</a:t>
            </a:r>
            <a:r>
              <a:rPr sz="1620" spc="-90" dirty="0">
                <a:latin typeface="Arial" panose="020B0604020202020204"/>
                <a:cs typeface="Arial" panose="020B0604020202020204"/>
              </a:rPr>
              <a:t> </a:t>
            </a:r>
            <a:r>
              <a:rPr sz="1620" dirty="0">
                <a:latin typeface="Arial" panose="020B0604020202020204"/>
                <a:cs typeface="Arial" panose="020B0604020202020204"/>
              </a:rPr>
              <a:t>0:</a:t>
            </a:r>
            <a:endParaRPr sz="1620">
              <a:latin typeface="Arial" panose="020B0604020202020204"/>
              <a:cs typeface="Arial" panose="020B0604020202020204"/>
            </a:endParaRPr>
          </a:p>
          <a:p>
            <a:pPr marL="11430"/>
            <a:r>
              <a:rPr sz="1620" spc="-5" dirty="0">
                <a:latin typeface="Arial" panose="020B0604020202020204"/>
                <a:cs typeface="Arial" panose="020B0604020202020204"/>
              </a:rPr>
              <a:t>8</a:t>
            </a:r>
            <a:r>
              <a:rPr sz="1620" spc="-86" dirty="0">
                <a:latin typeface="Arial" panose="020B0604020202020204"/>
                <a:cs typeface="Arial" panose="020B0604020202020204"/>
              </a:rPr>
              <a:t> </a:t>
            </a:r>
            <a:r>
              <a:rPr sz="1620" spc="-5" dirty="0">
                <a:latin typeface="Arial" panose="020B0604020202020204"/>
                <a:cs typeface="Arial" panose="020B0604020202020204"/>
              </a:rPr>
              <a:t>blocks</a:t>
            </a:r>
            <a:endParaRPr sz="1620">
              <a:latin typeface="Arial" panose="020B0604020202020204"/>
              <a:cs typeface="Arial" panose="020B0604020202020204"/>
            </a:endParaRPr>
          </a:p>
        </p:txBody>
      </p:sp>
      <p:sp>
        <p:nvSpPr>
          <p:cNvPr id="25" name="object 25"/>
          <p:cNvSpPr txBox="1"/>
          <p:nvPr/>
        </p:nvSpPr>
        <p:spPr>
          <a:xfrm>
            <a:off x="8525179" y="3522612"/>
            <a:ext cx="741807" cy="510140"/>
          </a:xfrm>
          <a:prstGeom prst="rect">
            <a:avLst/>
          </a:prstGeom>
        </p:spPr>
        <p:txBody>
          <a:bodyPr vert="horz" wrap="square" lIns="0" tIns="11430" rIns="0" bIns="0" rtlCol="0">
            <a:spAutoFit/>
          </a:bodyPr>
          <a:lstStyle/>
          <a:p>
            <a:pPr marL="11430">
              <a:spcBef>
                <a:spcPts val="90"/>
              </a:spcBef>
            </a:pPr>
            <a:r>
              <a:rPr sz="1620" spc="-5" dirty="0">
                <a:latin typeface="Arial" panose="020B0604020202020204"/>
                <a:cs typeface="Arial" panose="020B0604020202020204"/>
              </a:rPr>
              <a:t>Level</a:t>
            </a:r>
            <a:r>
              <a:rPr sz="1620" spc="-77" dirty="0">
                <a:latin typeface="Arial" panose="020B0604020202020204"/>
                <a:cs typeface="Arial" panose="020B0604020202020204"/>
              </a:rPr>
              <a:t> </a:t>
            </a:r>
            <a:r>
              <a:rPr sz="1620" dirty="0">
                <a:latin typeface="Arial" panose="020B0604020202020204"/>
                <a:cs typeface="Arial" panose="020B0604020202020204"/>
              </a:rPr>
              <a:t>1:</a:t>
            </a:r>
            <a:endParaRPr sz="1620">
              <a:latin typeface="Arial" panose="020B0604020202020204"/>
              <a:cs typeface="Arial" panose="020B0604020202020204"/>
            </a:endParaRPr>
          </a:p>
          <a:p>
            <a:pPr marL="46990"/>
            <a:r>
              <a:rPr sz="1620" spc="-5" dirty="0">
                <a:latin typeface="Arial" panose="020B0604020202020204"/>
                <a:cs typeface="Arial" panose="020B0604020202020204"/>
              </a:rPr>
              <a:t>1</a:t>
            </a:r>
            <a:r>
              <a:rPr sz="1620" spc="-54" dirty="0">
                <a:latin typeface="Arial" panose="020B0604020202020204"/>
                <a:cs typeface="Arial" panose="020B0604020202020204"/>
              </a:rPr>
              <a:t> </a:t>
            </a:r>
            <a:r>
              <a:rPr sz="1620" spc="-5" dirty="0">
                <a:latin typeface="Arial" panose="020B0604020202020204"/>
                <a:cs typeface="Arial" panose="020B0604020202020204"/>
              </a:rPr>
              <a:t>block</a:t>
            </a:r>
            <a:endParaRPr sz="1620">
              <a:latin typeface="Arial" panose="020B0604020202020204"/>
              <a:cs typeface="Arial" panose="020B0604020202020204"/>
            </a:endParaRPr>
          </a:p>
        </p:txBody>
      </p:sp>
      <p:sp>
        <p:nvSpPr>
          <p:cNvPr id="27"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6</a:t>
            </a:fld>
            <a:endParaRPr spc="-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00200" y="114300"/>
            <a:ext cx="8249920" cy="565150"/>
          </a:xfrm>
          <a:prstGeom prst="rect">
            <a:avLst/>
          </a:prstGeom>
        </p:spPr>
        <p:txBody>
          <a:bodyPr vert="horz" wrap="square" lIns="0" tIns="12002" rIns="0" bIns="0" rtlCol="0">
            <a:spAutoFit/>
          </a:bodyPr>
          <a:lstStyle/>
          <a:p>
            <a:pPr marL="11430">
              <a:spcBef>
                <a:spcPts val="95"/>
              </a:spcBef>
            </a:pPr>
            <a:r>
              <a:rPr lang="zh-CN" altLang="en-US" sz="3600" dirty="0">
                <a:latin typeface="Comic Sans MS" panose="030F0702030302020204" pitchFamily="66" charset="0"/>
              </a:rPr>
              <a:t>What is Our Optimization Goal?</a:t>
            </a:r>
          </a:p>
        </p:txBody>
      </p:sp>
      <p:sp>
        <p:nvSpPr>
          <p:cNvPr id="14" name="object 14"/>
          <p:cNvSpPr txBox="1"/>
          <p:nvPr/>
        </p:nvSpPr>
        <p:spPr>
          <a:xfrm>
            <a:off x="457200" y="979367"/>
            <a:ext cx="9464040" cy="4877618"/>
          </a:xfrm>
          <a:prstGeom prst="rect">
            <a:avLst/>
          </a:prstGeom>
        </p:spPr>
        <p:txBody>
          <a:bodyPr vert="horz" wrap="square" lIns="0" tIns="10859" rIns="0" bIns="0" rtlCol="0">
            <a:spAutoFit/>
          </a:bodyPr>
          <a:lstStyle/>
          <a:p>
            <a:pPr marL="11430" marR="4445">
              <a:lnSpc>
                <a:spcPct val="120000"/>
              </a:lnSpc>
              <a:spcBef>
                <a:spcPts val="85"/>
              </a:spcBef>
            </a:pPr>
            <a:r>
              <a:rPr lang="en-US" sz="2400" spc="-5" dirty="0">
                <a:latin typeface="Comic Sans MS" panose="030F0702030302020204" pitchFamily="66" charset="0"/>
                <a:cs typeface="Arial" panose="020B0604020202020204"/>
              </a:rPr>
              <a:t>S</a:t>
            </a:r>
            <a:r>
              <a:rPr sz="2400" spc="-5" dirty="0" err="1">
                <a:latin typeface="Comic Sans MS" panose="030F0702030302020204" pitchFamily="66" charset="0"/>
                <a:cs typeface="Arial" panose="020B0604020202020204"/>
              </a:rPr>
              <a:t>hould</a:t>
            </a:r>
            <a:r>
              <a:rPr sz="2400" spc="-5"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strive to </a:t>
            </a:r>
            <a:r>
              <a:rPr sz="2400" spc="-5" dirty="0">
                <a:latin typeface="Comic Sans MS" panose="030F0702030302020204" pitchFamily="66" charset="0"/>
                <a:cs typeface="Arial" panose="020B0604020202020204"/>
              </a:rPr>
              <a:t>reach </a:t>
            </a:r>
            <a:r>
              <a:rPr sz="2400" dirty="0">
                <a:latin typeface="Comic Sans MS" panose="030F0702030302020204" pitchFamily="66" charset="0"/>
                <a:cs typeface="Arial" panose="020B0604020202020204"/>
              </a:rPr>
              <a:t>GPU </a:t>
            </a:r>
            <a:r>
              <a:rPr sz="2400" spc="-5" dirty="0">
                <a:latin typeface="Comic Sans MS" panose="030F0702030302020204" pitchFamily="66" charset="0"/>
                <a:cs typeface="Arial" panose="020B0604020202020204"/>
              </a:rPr>
              <a:t>peak performance  </a:t>
            </a:r>
            <a:endParaRPr lang="en-US" sz="2400" spc="-5" dirty="0">
              <a:latin typeface="Comic Sans MS" panose="030F0702030302020204" pitchFamily="66" charset="0"/>
              <a:cs typeface="Arial" panose="020B0604020202020204"/>
            </a:endParaRPr>
          </a:p>
          <a:p>
            <a:pPr marL="11430" marR="4445">
              <a:lnSpc>
                <a:spcPct val="120000"/>
              </a:lnSpc>
              <a:spcBef>
                <a:spcPts val="85"/>
              </a:spcBef>
            </a:pPr>
            <a:r>
              <a:rPr sz="2400" spc="-5" dirty="0">
                <a:latin typeface="Comic Sans MS" panose="030F0702030302020204" pitchFamily="66" charset="0"/>
                <a:cs typeface="Arial" panose="020B0604020202020204"/>
              </a:rPr>
              <a:t>Choose </a:t>
            </a:r>
            <a:r>
              <a:rPr sz="2400" dirty="0">
                <a:latin typeface="Comic Sans MS" panose="030F0702030302020204" pitchFamily="66" charset="0"/>
                <a:cs typeface="Arial" panose="020B0604020202020204"/>
              </a:rPr>
              <a:t>the right</a:t>
            </a:r>
            <a:r>
              <a:rPr sz="2400" spc="-41"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metric:</a:t>
            </a:r>
          </a:p>
          <a:p>
            <a:pPr marL="477520" marR="1779270">
              <a:lnSpc>
                <a:spcPct val="120000"/>
              </a:lnSpc>
              <a:spcBef>
                <a:spcPts val="5"/>
              </a:spcBef>
            </a:pPr>
            <a:r>
              <a:rPr sz="2000" dirty="0">
                <a:latin typeface="Comic Sans MS" panose="030F0702030302020204" pitchFamily="66" charset="0"/>
                <a:cs typeface="Arial" panose="020B0604020202020204"/>
              </a:rPr>
              <a:t>GFLOP/s: for compute-bound kernels  Bandwidth: for </a:t>
            </a:r>
            <a:r>
              <a:rPr sz="2000" spc="-5" dirty="0">
                <a:latin typeface="Comic Sans MS" panose="030F0702030302020204" pitchFamily="66" charset="0"/>
                <a:cs typeface="Arial" panose="020B0604020202020204"/>
              </a:rPr>
              <a:t>memory-bound</a:t>
            </a:r>
            <a:r>
              <a:rPr sz="2000" spc="-81"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kernels</a:t>
            </a:r>
          </a:p>
          <a:p>
            <a:pPr marR="478790" algn="ctr">
              <a:spcBef>
                <a:spcPts val="520"/>
              </a:spcBef>
            </a:pPr>
            <a:r>
              <a:rPr sz="2400" spc="-5" dirty="0">
                <a:latin typeface="Comic Sans MS" panose="030F0702030302020204" pitchFamily="66" charset="0"/>
                <a:cs typeface="Arial" panose="020B0604020202020204"/>
              </a:rPr>
              <a:t>Reductions have </a:t>
            </a:r>
            <a:r>
              <a:rPr sz="2400" dirty="0">
                <a:latin typeface="Comic Sans MS" panose="030F0702030302020204" pitchFamily="66" charset="0"/>
                <a:cs typeface="Arial" panose="020B0604020202020204"/>
              </a:rPr>
              <a:t>very low arithmetic</a:t>
            </a:r>
            <a:r>
              <a:rPr sz="2400" spc="-18"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intensity</a:t>
            </a:r>
            <a:endParaRPr sz="2400" dirty="0">
              <a:latin typeface="Comic Sans MS" panose="030F0702030302020204" pitchFamily="66" charset="0"/>
              <a:cs typeface="Arial" panose="020B0604020202020204"/>
            </a:endParaRPr>
          </a:p>
          <a:p>
            <a:pPr marR="499745" algn="ctr">
              <a:spcBef>
                <a:spcPts val="435"/>
              </a:spcBef>
            </a:pPr>
            <a:r>
              <a:rPr sz="2000" dirty="0">
                <a:latin typeface="Comic Sans MS" panose="030F0702030302020204" pitchFamily="66" charset="0"/>
                <a:cs typeface="Arial" panose="020B0604020202020204"/>
              </a:rPr>
              <a:t>1 flop per element loaded</a:t>
            </a:r>
            <a:r>
              <a:rPr sz="2000" spc="-99"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(bandwidth-optimal)</a:t>
            </a:r>
            <a:r>
              <a:rPr lang="en-US" sz="2000" dirty="0">
                <a:latin typeface="Comic Sans MS" panose="030F0702030302020204" pitchFamily="66" charset="0"/>
                <a:cs typeface="Arial" panose="020B0604020202020204"/>
              </a:rPr>
              <a:t>, limited by bandwidth</a:t>
            </a:r>
            <a:endParaRPr sz="2000" dirty="0">
              <a:latin typeface="Comic Sans MS" panose="030F0702030302020204" pitchFamily="66" charset="0"/>
              <a:cs typeface="Arial" panose="020B0604020202020204"/>
            </a:endParaRPr>
          </a:p>
          <a:p>
            <a:pPr marR="357505" algn="ctr">
              <a:spcBef>
                <a:spcPts val="515"/>
              </a:spcBef>
            </a:pPr>
            <a:r>
              <a:rPr sz="2400" spc="-5" dirty="0">
                <a:latin typeface="Comic Sans MS" panose="030F0702030302020204" pitchFamily="66" charset="0"/>
                <a:cs typeface="Arial" panose="020B0604020202020204"/>
              </a:rPr>
              <a:t>Therefore </a:t>
            </a:r>
            <a:r>
              <a:rPr sz="2400" spc="5" dirty="0">
                <a:latin typeface="Comic Sans MS" panose="030F0702030302020204" pitchFamily="66" charset="0"/>
                <a:cs typeface="Arial" panose="020B0604020202020204"/>
              </a:rPr>
              <a:t>we </a:t>
            </a:r>
            <a:r>
              <a:rPr sz="2400" spc="-5" dirty="0">
                <a:latin typeface="Comic Sans MS" panose="030F0702030302020204" pitchFamily="66" charset="0"/>
                <a:cs typeface="Arial" panose="020B0604020202020204"/>
              </a:rPr>
              <a:t>should </a:t>
            </a:r>
            <a:r>
              <a:rPr sz="2400" dirty="0">
                <a:latin typeface="Comic Sans MS" panose="030F0702030302020204" pitchFamily="66" charset="0"/>
                <a:cs typeface="Arial" panose="020B0604020202020204"/>
              </a:rPr>
              <a:t>strive </a:t>
            </a:r>
            <a:r>
              <a:rPr sz="2400" spc="-5" dirty="0">
                <a:latin typeface="Comic Sans MS" panose="030F0702030302020204" pitchFamily="66" charset="0"/>
                <a:cs typeface="Arial" panose="020B0604020202020204"/>
              </a:rPr>
              <a:t>for peak</a:t>
            </a:r>
            <a:r>
              <a:rPr sz="2400" spc="-41"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bandwidth</a:t>
            </a:r>
          </a:p>
          <a:p>
            <a:pPr>
              <a:spcBef>
                <a:spcPts val="50"/>
              </a:spcBef>
            </a:pPr>
            <a:endParaRPr sz="2800" dirty="0">
              <a:latin typeface="Comic Sans MS" panose="030F0702030302020204" pitchFamily="66" charset="0"/>
              <a:cs typeface="Arial" panose="020B0604020202020204"/>
            </a:endParaRPr>
          </a:p>
          <a:p>
            <a:pPr marL="477520" marR="1682115" indent="-466090">
              <a:lnSpc>
                <a:spcPct val="118000"/>
              </a:lnSpc>
            </a:pPr>
            <a:r>
              <a:rPr sz="2400" dirty="0">
                <a:latin typeface="Comic Sans MS" panose="030F0702030302020204" pitchFamily="66" charset="0"/>
                <a:cs typeface="Arial" panose="020B0604020202020204"/>
              </a:rPr>
              <a:t>Will </a:t>
            </a:r>
            <a:r>
              <a:rPr sz="2400" spc="-5" dirty="0">
                <a:latin typeface="Comic Sans MS" panose="030F0702030302020204" pitchFamily="66" charset="0"/>
                <a:cs typeface="Arial" panose="020B0604020202020204"/>
              </a:rPr>
              <a:t>use </a:t>
            </a:r>
            <a:r>
              <a:rPr sz="2400" dirty="0">
                <a:latin typeface="Comic Sans MS" panose="030F0702030302020204" pitchFamily="66" charset="0"/>
                <a:cs typeface="Arial" panose="020B0604020202020204"/>
              </a:rPr>
              <a:t>G80 GPU </a:t>
            </a:r>
            <a:r>
              <a:rPr sz="2400" spc="-5" dirty="0">
                <a:latin typeface="Comic Sans MS" panose="030F0702030302020204" pitchFamily="66" charset="0"/>
                <a:cs typeface="Arial" panose="020B0604020202020204"/>
              </a:rPr>
              <a:t>for </a:t>
            </a:r>
            <a:r>
              <a:rPr sz="2400" dirty="0">
                <a:latin typeface="Comic Sans MS" panose="030F0702030302020204" pitchFamily="66" charset="0"/>
                <a:cs typeface="Arial" panose="020B0604020202020204"/>
              </a:rPr>
              <a:t>this </a:t>
            </a:r>
            <a:r>
              <a:rPr sz="2400" spc="-5" dirty="0">
                <a:latin typeface="Comic Sans MS" panose="030F0702030302020204" pitchFamily="66" charset="0"/>
                <a:cs typeface="Arial" panose="020B0604020202020204"/>
              </a:rPr>
              <a:t>example  </a:t>
            </a:r>
            <a:endParaRPr lang="en-US" sz="2400" spc="-5" dirty="0">
              <a:latin typeface="Comic Sans MS" panose="030F0702030302020204" pitchFamily="66" charset="0"/>
              <a:cs typeface="Arial" panose="020B0604020202020204"/>
            </a:endParaRPr>
          </a:p>
          <a:p>
            <a:pPr marL="477520" marR="1682115" indent="-466090">
              <a:lnSpc>
                <a:spcPct val="118000"/>
              </a:lnSpc>
            </a:pPr>
            <a:r>
              <a:rPr sz="2000" dirty="0">
                <a:latin typeface="Comic Sans MS" panose="030F0702030302020204" pitchFamily="66" charset="0"/>
                <a:cs typeface="Arial" panose="020B0604020202020204"/>
              </a:rPr>
              <a:t>384-bit memory interface, 900 MHz</a:t>
            </a:r>
            <a:r>
              <a:rPr sz="2000" spc="-176"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DDR  </a:t>
            </a:r>
            <a:endParaRPr lang="en-US" sz="2000" dirty="0">
              <a:latin typeface="Comic Sans MS" panose="030F0702030302020204" pitchFamily="66" charset="0"/>
              <a:cs typeface="Arial" panose="020B0604020202020204"/>
            </a:endParaRPr>
          </a:p>
          <a:p>
            <a:pPr marL="477520" marR="1682115" indent="-466090">
              <a:lnSpc>
                <a:spcPct val="118000"/>
              </a:lnSpc>
            </a:pPr>
            <a:r>
              <a:rPr lang="en-US" sz="2000"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384 * 1800 / 8 = </a:t>
            </a:r>
            <a:r>
              <a:rPr sz="2000" dirty="0">
                <a:solidFill>
                  <a:srgbClr val="76B800"/>
                </a:solidFill>
                <a:latin typeface="Comic Sans MS" panose="030F0702030302020204" pitchFamily="66" charset="0"/>
                <a:cs typeface="Arial" panose="020B0604020202020204"/>
              </a:rPr>
              <a:t>86.4</a:t>
            </a:r>
            <a:r>
              <a:rPr sz="2000" spc="-103" dirty="0">
                <a:solidFill>
                  <a:srgbClr val="76B800"/>
                </a:solidFill>
                <a:latin typeface="Comic Sans MS" panose="030F0702030302020204" pitchFamily="66" charset="0"/>
                <a:cs typeface="Arial" panose="020B0604020202020204"/>
              </a:rPr>
              <a:t> </a:t>
            </a:r>
            <a:r>
              <a:rPr sz="2000" dirty="0">
                <a:solidFill>
                  <a:srgbClr val="76B800"/>
                </a:solidFill>
                <a:latin typeface="Comic Sans MS" panose="030F0702030302020204" pitchFamily="66" charset="0"/>
                <a:cs typeface="Arial" panose="020B0604020202020204"/>
              </a:rPr>
              <a:t>GB/s</a:t>
            </a:r>
            <a:endParaRPr lang="en-US" sz="2000" dirty="0">
              <a:solidFill>
                <a:srgbClr val="76B800"/>
              </a:solidFill>
              <a:latin typeface="Comic Sans MS" panose="030F0702030302020204" pitchFamily="66" charset="0"/>
              <a:cs typeface="Arial" panose="020B0604020202020204"/>
            </a:endParaRPr>
          </a:p>
          <a:p>
            <a:pPr marL="477520" marR="1682115" indent="-466090">
              <a:lnSpc>
                <a:spcPct val="118000"/>
              </a:lnSpc>
            </a:pPr>
            <a:r>
              <a:rPr lang="en-US" sz="2400" spc="-5" dirty="0">
                <a:latin typeface="Comic Sans MS" panose="030F0702030302020204" pitchFamily="66" charset="0"/>
                <a:cs typeface="Arial" panose="020B0604020202020204"/>
              </a:rPr>
              <a:t>V100 GPU memory bandwidth 900 GB/s</a:t>
            </a:r>
            <a:endParaRPr sz="2400" spc="-5" dirty="0">
              <a:latin typeface="Comic Sans MS" panose="030F0702030302020204" pitchFamily="66" charset="0"/>
              <a:cs typeface="Arial" panose="020B0604020202020204"/>
            </a:endParaRP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7</a:t>
            </a:fld>
            <a:endParaRPr spc="-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6800" y="114300"/>
            <a:ext cx="9658350" cy="565150"/>
          </a:xfrm>
          <a:prstGeom prst="rect">
            <a:avLst/>
          </a:prstGeom>
        </p:spPr>
        <p:txBody>
          <a:bodyPr vert="horz" wrap="square" lIns="0" tIns="12002" rIns="0" bIns="0" rtlCol="0">
            <a:spAutoFit/>
          </a:bodyPr>
          <a:lstStyle/>
          <a:p>
            <a:pPr marL="11430">
              <a:spcBef>
                <a:spcPts val="95"/>
              </a:spcBef>
            </a:pPr>
            <a:r>
              <a:rPr lang="zh-CN" altLang="en-US" sz="3600" dirty="0">
                <a:latin typeface="Comic Sans MS" panose="030F0702030302020204" pitchFamily="66" charset="0"/>
              </a:rPr>
              <a:t>Reduction #</a:t>
            </a:r>
            <a:r>
              <a:rPr lang="en-US" altLang="en-US" sz="3600" dirty="0">
                <a:latin typeface="Comic Sans MS" panose="030F0702030302020204" pitchFamily="66" charset="0"/>
              </a:rPr>
              <a:t>0</a:t>
            </a:r>
            <a:r>
              <a:rPr lang="zh-CN" altLang="en-US" sz="3600" dirty="0">
                <a:latin typeface="Comic Sans MS" panose="030F0702030302020204" pitchFamily="66" charset="0"/>
              </a:rPr>
              <a:t>: Interleaved Addressing</a:t>
            </a:r>
          </a:p>
        </p:txBody>
      </p:sp>
      <p:sp>
        <p:nvSpPr>
          <p:cNvPr id="4" name="object 4"/>
          <p:cNvSpPr txBox="1"/>
          <p:nvPr/>
        </p:nvSpPr>
        <p:spPr>
          <a:xfrm>
            <a:off x="1579626" y="916001"/>
            <a:ext cx="7107174" cy="4786695"/>
          </a:xfrm>
          <a:prstGeom prst="rect">
            <a:avLst/>
          </a:prstGeom>
        </p:spPr>
        <p:txBody>
          <a:bodyPr vert="horz" wrap="square" lIns="0" tIns="11430" rIns="0" bIns="0" rtlCol="0">
            <a:spAutoFit/>
          </a:bodyPr>
          <a:lstStyle/>
          <a:p>
            <a:pPr marL="238760" marR="1043305" indent="-227965">
              <a:spcBef>
                <a:spcPts val="90"/>
              </a:spcBef>
              <a:tabLst>
                <a:tab pos="238760" algn="l"/>
                <a:tab pos="1127760" algn="l"/>
                <a:tab pos="209550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global</a:t>
            </a:r>
            <a:r>
              <a:rPr sz="1620" b="1" u="heavy" dirty="0">
                <a:solidFill>
                  <a:srgbClr val="0000FF"/>
                </a:solidFill>
                <a:uFill>
                  <a:solidFill>
                    <a:srgbClr val="0000FE"/>
                  </a:solidFill>
                </a:uFill>
                <a:latin typeface="Comic Sans MS" panose="030F0702030302020204" pitchFamily="66" charset="0"/>
                <a:cs typeface="Arial" panose="020B0604020202020204"/>
              </a:rPr>
              <a:t> </a:t>
            </a:r>
            <a:r>
              <a:rPr lang="en-US" sz="1620" b="1" u="heavy" dirty="0">
                <a:solidFill>
                  <a:srgbClr val="0000FF"/>
                </a:solidFill>
                <a:uFill>
                  <a:solidFill>
                    <a:srgbClr val="0000FE"/>
                  </a:solidFill>
                </a:uFill>
                <a:latin typeface="Comic Sans MS" panose="030F0702030302020204" pitchFamily="66" charset="0"/>
                <a:cs typeface="Arial" panose="020B0604020202020204"/>
              </a:rPr>
              <a:t>_</a:t>
            </a:r>
            <a:r>
              <a:rPr lang="en-US" sz="1620" b="1" spc="-14" dirty="0">
                <a:solidFill>
                  <a:srgbClr val="0000FF"/>
                </a:solidFill>
                <a:latin typeface="Comic Sans MS" panose="030F0702030302020204" pitchFamily="66" charset="0"/>
                <a:cs typeface="Arial" panose="020B0604020202020204"/>
              </a:rPr>
              <a:t> v</a:t>
            </a:r>
            <a:r>
              <a:rPr sz="1620" b="1" spc="-14" dirty="0">
                <a:solidFill>
                  <a:srgbClr val="0000FF"/>
                </a:solidFill>
                <a:latin typeface="Comic Sans MS" panose="030F0702030302020204" pitchFamily="66" charset="0"/>
                <a:cs typeface="Arial" panose="020B0604020202020204"/>
              </a:rPr>
              <a:t>oid </a:t>
            </a:r>
            <a:r>
              <a:rPr sz="1620" b="1" spc="-5" dirty="0">
                <a:latin typeface="Comic Sans MS" panose="030F0702030302020204" pitchFamily="66" charset="0"/>
                <a:cs typeface="Arial" panose="020B0604020202020204"/>
              </a:rPr>
              <a:t>reduce0(</a:t>
            </a:r>
            <a:r>
              <a:rPr sz="1620" b="1" spc="-5"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*g_idata, </a:t>
            </a:r>
            <a:r>
              <a:rPr sz="1620" b="1"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*g_odata) {  </a:t>
            </a:r>
            <a:r>
              <a:rPr sz="1620" b="1" u="heavy" spc="-5" dirty="0">
                <a:solidFill>
                  <a:srgbClr val="0000FF"/>
                </a:solidFill>
                <a:uFill>
                  <a:solidFill>
                    <a:srgbClr val="0000FE"/>
                  </a:solidFill>
                </a:uFill>
                <a:latin typeface="Comic Sans MS" panose="030F0702030302020204" pitchFamily="66" charset="0"/>
                <a:cs typeface="Arial" panose="020B0604020202020204"/>
              </a:rPr>
              <a:t> </a:t>
            </a:r>
            <a:endParaRPr lang="en-US" sz="1620" b="1" u="heavy" spc="-5" dirty="0">
              <a:solidFill>
                <a:srgbClr val="0000FF"/>
              </a:solidFill>
              <a:uFill>
                <a:solidFill>
                  <a:srgbClr val="0000FE"/>
                </a:solidFill>
              </a:uFill>
              <a:latin typeface="Comic Sans MS" panose="030F0702030302020204" pitchFamily="66" charset="0"/>
              <a:cs typeface="Arial" panose="020B0604020202020204"/>
            </a:endParaRPr>
          </a:p>
          <a:p>
            <a:pPr marL="238760" marR="1043305" indent="-227965">
              <a:spcBef>
                <a:spcPts val="90"/>
              </a:spcBef>
              <a:tabLst>
                <a:tab pos="238760" algn="l"/>
                <a:tab pos="1127760" algn="l"/>
                <a:tab pos="2095500" algn="l"/>
              </a:tabLst>
            </a:pPr>
            <a:r>
              <a:rPr lang="en-US" sz="1620" b="1" spc="-5" dirty="0">
                <a:solidFill>
                  <a:srgbClr val="808080"/>
                </a:solidFill>
                <a:latin typeface="Comic Sans MS" panose="030F0702030302020204" pitchFamily="66" charset="0"/>
                <a:cs typeface="Arial" panose="020B0604020202020204"/>
              </a:rPr>
              <a:t>// </a:t>
            </a:r>
            <a:r>
              <a:rPr lang="en-US" sz="1620" b="1" spc="-5" dirty="0" err="1">
                <a:solidFill>
                  <a:srgbClr val="808080"/>
                </a:solidFill>
                <a:latin typeface="Comic Sans MS" panose="030F0702030302020204" pitchFamily="66" charset="0"/>
                <a:cs typeface="Arial" panose="020B0604020202020204"/>
              </a:rPr>
              <a:t>g_odata’s</a:t>
            </a:r>
            <a:r>
              <a:rPr lang="en-US" sz="1620" b="1" spc="-5" dirty="0">
                <a:solidFill>
                  <a:srgbClr val="808080"/>
                </a:solidFill>
                <a:latin typeface="Comic Sans MS" panose="030F0702030302020204" pitchFamily="66" charset="0"/>
                <a:cs typeface="Arial" panose="020B0604020202020204"/>
              </a:rPr>
              <a:t> size is the number of blocks, </a:t>
            </a:r>
          </a:p>
          <a:p>
            <a:pPr marL="238760" marR="1043305" indent="-227965">
              <a:spcBef>
                <a:spcPts val="90"/>
              </a:spcBef>
              <a:tabLst>
                <a:tab pos="238760" algn="l"/>
                <a:tab pos="1127760" algn="l"/>
                <a:tab pos="2095500" algn="l"/>
              </a:tabLst>
            </a:pPr>
            <a:r>
              <a:rPr lang="en-US" sz="1620" b="1" spc="-5" dirty="0">
                <a:solidFill>
                  <a:srgbClr val="808080"/>
                </a:solidFill>
                <a:latin typeface="Comic Sans MS" panose="030F0702030302020204" pitchFamily="66" charset="0"/>
                <a:cs typeface="Arial" panose="020B0604020202020204"/>
              </a:rPr>
              <a:t>//</a:t>
            </a:r>
            <a:r>
              <a:rPr lang="en-US" sz="1620" b="1" spc="-5" dirty="0" err="1">
                <a:solidFill>
                  <a:srgbClr val="808080"/>
                </a:solidFill>
                <a:latin typeface="Comic Sans MS" panose="030F0702030302020204" pitchFamily="66" charset="0"/>
                <a:cs typeface="Arial" panose="020B0604020202020204"/>
              </a:rPr>
              <a:t>g_idata’s</a:t>
            </a:r>
            <a:r>
              <a:rPr lang="en-US" sz="1620" b="1" spc="-5" dirty="0">
                <a:solidFill>
                  <a:srgbClr val="808080"/>
                </a:solidFill>
                <a:latin typeface="Comic Sans MS" panose="030F0702030302020204" pitchFamily="66" charset="0"/>
                <a:cs typeface="Arial" panose="020B0604020202020204"/>
              </a:rPr>
              <a:t> size &lt;= number of CUDA threads in grid.</a:t>
            </a:r>
          </a:p>
          <a:p>
            <a:pPr marL="238760" marR="1043305" indent="-227965">
              <a:spcBef>
                <a:spcPts val="90"/>
              </a:spcBef>
              <a:tabLst>
                <a:tab pos="238760" algn="l"/>
                <a:tab pos="1127760" algn="l"/>
                <a:tab pos="2095500" algn="l"/>
              </a:tabLst>
            </a:pPr>
            <a:r>
              <a:rPr lang="en-US" sz="1620" b="1" spc="-5" dirty="0">
                <a:solidFill>
                  <a:srgbClr val="0000FF"/>
                </a:solidFill>
                <a:uFill>
                  <a:solidFill>
                    <a:srgbClr val="0000FE"/>
                  </a:solidFill>
                </a:uFill>
                <a:latin typeface="Comic Sans MS" panose="030F0702030302020204" pitchFamily="66" charset="0"/>
                <a:cs typeface="Arial" panose="020B0604020202020204"/>
              </a:rPr>
              <a:t>    </a:t>
            </a:r>
            <a:r>
              <a:rPr lang="en-US" sz="1620" b="1" u="heavy" spc="-5" dirty="0">
                <a:solidFill>
                  <a:srgbClr val="0000FF"/>
                </a:solidFill>
                <a:uFill>
                  <a:solidFill>
                    <a:srgbClr val="0000FE"/>
                  </a:solidFill>
                </a:uFill>
                <a:latin typeface="Comic Sans MS" panose="030F0702030302020204" pitchFamily="66" charset="0"/>
                <a:cs typeface="Arial" panose="020B0604020202020204"/>
              </a:rPr>
              <a:t>__</a:t>
            </a:r>
            <a:r>
              <a:rPr sz="1620" b="1" spc="-5" dirty="0">
                <a:solidFill>
                  <a:srgbClr val="0000FF"/>
                </a:solidFill>
                <a:latin typeface="Comic Sans MS" panose="030F0702030302020204" pitchFamily="66" charset="0"/>
                <a:cs typeface="Arial" panose="020B0604020202020204"/>
              </a:rPr>
              <a:t>shared</a:t>
            </a:r>
            <a:r>
              <a:rPr lang="en-US" sz="1620" b="1" u="heavy" spc="-5" dirty="0">
                <a:solidFill>
                  <a:srgbClr val="0000FF"/>
                </a:solidFill>
                <a:uFill>
                  <a:solidFill>
                    <a:srgbClr val="0000FE"/>
                  </a:solidFill>
                </a:uFill>
                <a:latin typeface="Comic Sans MS" panose="030F0702030302020204" pitchFamily="66" charset="0"/>
                <a:cs typeface="Arial" panose="020B0604020202020204"/>
              </a:rPr>
              <a:t>__</a:t>
            </a:r>
            <a:r>
              <a:rPr lang="en-US" sz="1620" b="1" dirty="0">
                <a:solidFill>
                  <a:srgbClr val="0000FF"/>
                </a:solidFill>
                <a:latin typeface="Comic Sans MS" panose="030F0702030302020204" pitchFamily="66" charset="0"/>
                <a:cs typeface="Arial" panose="020B0604020202020204"/>
              </a:rPr>
              <a:t> </a:t>
            </a:r>
            <a:r>
              <a:rPr lang="en-US" sz="1620" b="1" dirty="0" err="1">
                <a:solidFill>
                  <a:srgbClr val="0000FF"/>
                </a:solidFill>
                <a:latin typeface="Comic Sans MS" panose="030F0702030302020204" pitchFamily="66" charset="0"/>
                <a:cs typeface="Arial" panose="020B0604020202020204"/>
              </a:rPr>
              <a:t>i</a:t>
            </a:r>
            <a:r>
              <a:rPr sz="1620" b="1" dirty="0" err="1">
                <a:solidFill>
                  <a:srgbClr val="0000FF"/>
                </a:solidFill>
                <a:latin typeface="Comic Sans MS" panose="030F0702030302020204" pitchFamily="66" charset="0"/>
                <a:cs typeface="Arial" panose="020B0604020202020204"/>
              </a:rPr>
              <a:t>nt</a:t>
            </a:r>
            <a:r>
              <a:rPr sz="1620" b="1" spc="-5" dirty="0">
                <a:solidFill>
                  <a:srgbClr val="0000FF"/>
                </a:solidFill>
                <a:latin typeface="Comic Sans MS" panose="030F0702030302020204" pitchFamily="66" charset="0"/>
                <a:cs typeface="Arial" panose="020B0604020202020204"/>
              </a:rPr>
              <a:t> </a:t>
            </a:r>
            <a:r>
              <a:rPr sz="1620" b="1" spc="-5" dirty="0" err="1">
                <a:latin typeface="Comic Sans MS" panose="030F0702030302020204" pitchFamily="66" charset="0"/>
                <a:cs typeface="Arial" panose="020B0604020202020204"/>
              </a:rPr>
              <a:t>sdata</a:t>
            </a:r>
            <a:r>
              <a:rPr sz="1620" b="1" spc="-5" dirty="0">
                <a:latin typeface="Comic Sans MS" panose="030F0702030302020204" pitchFamily="66" charset="0"/>
                <a:cs typeface="Arial" panose="020B0604020202020204"/>
              </a:rPr>
              <a:t>[</a:t>
            </a:r>
            <a:r>
              <a:rPr lang="en-US" sz="1620" b="1" spc="-5" dirty="0">
                <a:latin typeface="Comic Sans MS" panose="030F0702030302020204" pitchFamily="66" charset="0"/>
                <a:cs typeface="Arial" panose="020B0604020202020204"/>
              </a:rPr>
              <a:t>BLOCK_SIZE</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444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each thread </a:t>
            </a:r>
            <a:r>
              <a:rPr sz="1620" b="1" dirty="0">
                <a:solidFill>
                  <a:srgbClr val="808080"/>
                </a:solidFill>
                <a:latin typeface="Comic Sans MS" panose="030F0702030302020204" pitchFamily="66" charset="0"/>
                <a:cs typeface="Arial" panose="020B0604020202020204"/>
              </a:rPr>
              <a:t>loads one </a:t>
            </a:r>
            <a:r>
              <a:rPr sz="1620" b="1" spc="-5" dirty="0">
                <a:solidFill>
                  <a:srgbClr val="808080"/>
                </a:solidFill>
                <a:latin typeface="Comic Sans MS" panose="030F0702030302020204" pitchFamily="66" charset="0"/>
                <a:cs typeface="Arial" panose="020B0604020202020204"/>
              </a:rPr>
              <a:t>element from </a:t>
            </a:r>
            <a:r>
              <a:rPr sz="1620" b="1" dirty="0">
                <a:solidFill>
                  <a:srgbClr val="808080"/>
                </a:solidFill>
                <a:latin typeface="Comic Sans MS" panose="030F0702030302020204" pitchFamily="66" charset="0"/>
                <a:cs typeface="Arial" panose="020B0604020202020204"/>
              </a:rPr>
              <a:t>global to </a:t>
            </a:r>
            <a:r>
              <a:rPr sz="1620" b="1" spc="-5" dirty="0">
                <a:solidFill>
                  <a:srgbClr val="808080"/>
                </a:solidFill>
                <a:latin typeface="Comic Sans MS" panose="030F0702030302020204" pitchFamily="66" charset="0"/>
                <a:cs typeface="Arial" panose="020B0604020202020204"/>
              </a:rPr>
              <a:t>shared mem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723265">
              <a:spcBef>
                <a:spcPts val="5"/>
              </a:spcBef>
            </a:pPr>
            <a:r>
              <a:rPr sz="1620" b="1" dirty="0">
                <a:solidFill>
                  <a:srgbClr val="0000FF"/>
                </a:solidFill>
                <a:latin typeface="Comic Sans MS" panose="030F0702030302020204" pitchFamily="66" charset="0"/>
                <a:cs typeface="Arial" panose="020B0604020202020204"/>
              </a:rPr>
              <a:t>unsigned int i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blockIdx.x</a:t>
            </a:r>
            <a:r>
              <a:rPr sz="1620" b="1" spc="-5" dirty="0">
                <a:latin typeface="Comic Sans MS" panose="030F0702030302020204" pitchFamily="66" charset="0"/>
                <a:cs typeface="Arial" panose="020B0604020202020204"/>
              </a:rPr>
              <a:t>*</a:t>
            </a:r>
            <a:r>
              <a:rPr sz="1620" b="1" spc="-5" dirty="0">
                <a:solidFill>
                  <a:srgbClr val="0000FF"/>
                </a:solidFill>
                <a:latin typeface="Comic Sans MS" panose="030F0702030302020204" pitchFamily="66" charset="0"/>
                <a:cs typeface="Arial" panose="020B0604020202020204"/>
              </a:rPr>
              <a:t>blockDim.x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  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g_idata[i];</a:t>
            </a:r>
            <a:endParaRPr sz="1620" dirty="0">
              <a:latin typeface="Comic Sans MS" panose="030F0702030302020204" pitchFamily="66" charset="0"/>
              <a:cs typeface="Arial" panose="020B0604020202020204"/>
            </a:endParaRPr>
          </a:p>
          <a:p>
            <a:pPr marL="238760">
              <a:tabLst>
                <a:tab pos="46609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a:r>
              <a:rPr sz="1620" b="1" dirty="0">
                <a:solidFill>
                  <a:srgbClr val="808080"/>
                </a:solidFill>
                <a:latin typeface="Comic Sans MS" panose="030F0702030302020204" pitchFamily="66" charset="0"/>
                <a:cs typeface="Arial" panose="020B0604020202020204"/>
              </a:rPr>
              <a:t>// do </a:t>
            </a:r>
            <a:r>
              <a:rPr sz="1620" b="1" spc="-5" dirty="0">
                <a:solidFill>
                  <a:srgbClr val="808080"/>
                </a:solidFill>
                <a:latin typeface="Comic Sans MS" panose="030F0702030302020204" pitchFamily="66" charset="0"/>
                <a:cs typeface="Arial" panose="020B0604020202020204"/>
              </a:rPr>
              <a:t>reduction </a:t>
            </a:r>
            <a:r>
              <a:rPr sz="1620" b="1" dirty="0">
                <a:solidFill>
                  <a:srgbClr val="808080"/>
                </a:solidFill>
                <a:latin typeface="Comic Sans MS" panose="030F0702030302020204" pitchFamily="66" charset="0"/>
                <a:cs typeface="Arial" panose="020B0604020202020204"/>
              </a:rPr>
              <a:t>in </a:t>
            </a:r>
            <a:r>
              <a:rPr sz="1620" b="1" spc="-5" dirty="0">
                <a:solidFill>
                  <a:srgbClr val="808080"/>
                </a:solidFill>
                <a:latin typeface="Comic Sans MS" panose="030F0702030302020204" pitchFamily="66" charset="0"/>
                <a:cs typeface="Arial" panose="020B0604020202020204"/>
              </a:rPr>
              <a:t>shared</a:t>
            </a:r>
            <a:r>
              <a:rPr sz="1620" b="1" spc="-14"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mem</a:t>
            </a:r>
            <a:endParaRPr sz="1620" dirty="0">
              <a:latin typeface="Comic Sans MS" panose="030F0702030302020204" pitchFamily="66" charset="0"/>
              <a:cs typeface="Arial" panose="020B0604020202020204"/>
            </a:endParaRPr>
          </a:p>
          <a:p>
            <a:pPr marL="466090" marR="1461135" indent="-227965"/>
            <a:r>
              <a:rPr sz="1620" b="1" dirty="0">
                <a:solidFill>
                  <a:srgbClr val="0000FF"/>
                </a:solidFill>
                <a:latin typeface="Comic Sans MS" panose="030F0702030302020204" pitchFamily="66" charset="0"/>
                <a:cs typeface="Arial" panose="020B0604020202020204"/>
              </a:rPr>
              <a:t>for</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unsigned int </a:t>
            </a:r>
            <a:r>
              <a:rPr sz="1620" b="1" spc="-5" dirty="0">
                <a:latin typeface="Comic Sans MS" panose="030F0702030302020204" pitchFamily="66" charset="0"/>
                <a:cs typeface="Arial" panose="020B0604020202020204"/>
              </a:rPr>
              <a:t>s=1; s </a:t>
            </a:r>
            <a:r>
              <a:rPr sz="1620" b="1" dirty="0">
                <a:latin typeface="Comic Sans MS" panose="030F0702030302020204" pitchFamily="66" charset="0"/>
                <a:cs typeface="Arial" panose="020B0604020202020204"/>
              </a:rPr>
              <a:t>&lt; </a:t>
            </a:r>
            <a:r>
              <a:rPr sz="1620" b="1" spc="-5" dirty="0">
                <a:solidFill>
                  <a:srgbClr val="0000FF"/>
                </a:solidFill>
                <a:latin typeface="Comic Sans MS" panose="030F0702030302020204" pitchFamily="66" charset="0"/>
                <a:cs typeface="Arial" panose="020B0604020202020204"/>
              </a:rPr>
              <a:t>blockDim.x</a:t>
            </a:r>
            <a:r>
              <a:rPr sz="1620" b="1" spc="-5" dirty="0">
                <a:latin typeface="Comic Sans MS" panose="030F0702030302020204" pitchFamily="66" charset="0"/>
                <a:cs typeface="Arial" panose="020B0604020202020204"/>
              </a:rPr>
              <a:t>; s *= </a:t>
            </a:r>
            <a:r>
              <a:rPr sz="1620" b="1" spc="-9" dirty="0">
                <a:latin typeface="Comic Sans MS" panose="030F0702030302020204" pitchFamily="66" charset="0"/>
                <a:cs typeface="Arial" panose="020B0604020202020204"/>
              </a:rPr>
              <a:t>2) </a:t>
            </a:r>
            <a:r>
              <a:rPr sz="1620" b="1" spc="-5" dirty="0">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a:t>
            </a:r>
            <a:r>
              <a:rPr sz="1620" b="1" spc="-5" dirty="0">
                <a:latin typeface="Comic Sans MS" panose="030F0702030302020204" pitchFamily="66" charset="0"/>
                <a:cs typeface="Arial" panose="020B0604020202020204"/>
              </a:rPr>
              <a:t>% (2*s)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0)</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695960"/>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46609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466090">
              <a:tabLst>
                <a:tab pos="694055"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1758950"/>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write </a:t>
            </a:r>
            <a:r>
              <a:rPr sz="1620" b="1" spc="-5" dirty="0">
                <a:solidFill>
                  <a:srgbClr val="808080"/>
                </a:solidFill>
                <a:latin typeface="Comic Sans MS" panose="030F0702030302020204" pitchFamily="66" charset="0"/>
                <a:cs typeface="Arial" panose="020B0604020202020204"/>
              </a:rPr>
              <a:t>result for </a:t>
            </a:r>
            <a:r>
              <a:rPr sz="1620" b="1" dirty="0">
                <a:solidFill>
                  <a:srgbClr val="808080"/>
                </a:solidFill>
                <a:latin typeface="Comic Sans MS" panose="030F0702030302020204" pitchFamily="66" charset="0"/>
                <a:cs typeface="Arial" panose="020B0604020202020204"/>
              </a:rPr>
              <a:t>this block </a:t>
            </a:r>
            <a:r>
              <a:rPr sz="1620" b="1" spc="-5" dirty="0">
                <a:solidFill>
                  <a:srgbClr val="808080"/>
                </a:solidFill>
                <a:latin typeface="Comic Sans MS" panose="030F0702030302020204" pitchFamily="66" charset="0"/>
                <a:cs typeface="Arial" panose="020B0604020202020204"/>
              </a:rPr>
              <a:t>to </a:t>
            </a:r>
            <a:r>
              <a:rPr sz="1620" b="1" dirty="0">
                <a:solidFill>
                  <a:srgbClr val="808080"/>
                </a:solidFill>
                <a:latin typeface="Comic Sans MS" panose="030F0702030302020204" pitchFamily="66" charset="0"/>
                <a:cs typeface="Arial" panose="020B0604020202020204"/>
              </a:rPr>
              <a:t>global </a:t>
            </a:r>
            <a:r>
              <a:rPr sz="1620" b="1" spc="-5" dirty="0">
                <a:solidFill>
                  <a:srgbClr val="808080"/>
                </a:solidFill>
                <a:latin typeface="Comic Sans MS" panose="030F0702030302020204" pitchFamily="66" charset="0"/>
                <a:cs typeface="Arial" panose="020B0604020202020204"/>
              </a:rPr>
              <a:t>mem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 </a:t>
            </a:r>
            <a:r>
              <a:rPr sz="1620" b="1" spc="-5" dirty="0">
                <a:latin typeface="Comic Sans MS" panose="030F0702030302020204" pitchFamily="66" charset="0"/>
                <a:cs typeface="Arial" panose="020B0604020202020204"/>
              </a:rPr>
              <a:t>0) </a:t>
            </a:r>
            <a:r>
              <a:rPr sz="1620" b="1" dirty="0">
                <a:latin typeface="Comic Sans MS" panose="030F0702030302020204" pitchFamily="66" charset="0"/>
                <a:cs typeface="Arial" panose="020B0604020202020204"/>
              </a:rPr>
              <a:t>g_odata[</a:t>
            </a:r>
            <a:r>
              <a:rPr sz="1620" b="1" dirty="0">
                <a:solidFill>
                  <a:srgbClr val="0000FF"/>
                </a:solidFill>
                <a:latin typeface="Comic Sans MS" panose="030F0702030302020204" pitchFamily="66" charset="0"/>
                <a:cs typeface="Arial" panose="020B0604020202020204"/>
              </a:rPr>
              <a:t>blockIdx.x</a:t>
            </a:r>
            <a:r>
              <a:rPr sz="1620" b="1" dirty="0">
                <a:latin typeface="Comic Sans MS" panose="030F0702030302020204" pitchFamily="66" charset="0"/>
                <a:cs typeface="Arial" panose="020B0604020202020204"/>
              </a:rPr>
              <a:t>] =</a:t>
            </a:r>
            <a:r>
              <a:rPr sz="1620" b="1" spc="-8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sdata[0];</a:t>
            </a:r>
            <a:endParaRPr sz="1620" dirty="0">
              <a:latin typeface="Comic Sans MS" panose="030F0702030302020204" pitchFamily="66" charset="0"/>
              <a:cs typeface="Arial" panose="020B0604020202020204"/>
            </a:endParaRPr>
          </a:p>
          <a:p>
            <a:pPr marL="1143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6"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8</a:t>
            </a:fld>
            <a:endParaRPr spc="-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01775" y="159142"/>
            <a:ext cx="8620760" cy="503408"/>
          </a:xfrm>
          <a:prstGeom prst="rect">
            <a:avLst/>
          </a:prstGeom>
        </p:spPr>
        <p:txBody>
          <a:bodyPr vert="horz" wrap="square" lIns="0" tIns="10859" rIns="0" bIns="0" rtlCol="0">
            <a:spAutoFit/>
          </a:bodyPr>
          <a:lstStyle/>
          <a:p>
            <a:pPr marL="11430">
              <a:spcBef>
                <a:spcPts val="85"/>
              </a:spcBef>
            </a:pPr>
            <a:r>
              <a:rPr sz="3200" b="1" spc="-5" dirty="0">
                <a:latin typeface="Comic Sans MS" panose="030F0702030302020204" pitchFamily="66" charset="0"/>
              </a:rPr>
              <a:t>Parallel Reduction: Interleaved</a:t>
            </a:r>
            <a:r>
              <a:rPr sz="3200" b="1" spc="54" dirty="0">
                <a:latin typeface="Comic Sans MS" panose="030F0702030302020204" pitchFamily="66" charset="0"/>
              </a:rPr>
              <a:t> </a:t>
            </a:r>
            <a:r>
              <a:rPr sz="3200" b="1" spc="-5" dirty="0">
                <a:latin typeface="Comic Sans MS" panose="030F0702030302020204" pitchFamily="66" charset="0"/>
              </a:rPr>
              <a:t>Addressing</a:t>
            </a:r>
            <a:endParaRPr sz="3200" b="1" dirty="0">
              <a:latin typeface="Comic Sans MS" panose="030F0702030302020204" pitchFamily="66" charset="0"/>
            </a:endParaRPr>
          </a:p>
        </p:txBody>
      </p:sp>
      <p:graphicFrame>
        <p:nvGraphicFramePr>
          <p:cNvPr id="4" name="object 4"/>
          <p:cNvGraphicFramePr>
            <a:graphicFrameLocks noGrp="1"/>
          </p:cNvGraphicFramePr>
          <p:nvPr/>
        </p:nvGraphicFramePr>
        <p:xfrm>
          <a:off x="3799046" y="1328794"/>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65"/>
                        </a:spcBef>
                      </a:pPr>
                      <a:r>
                        <a:rPr sz="1300" b="1"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150"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6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150"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1623791" y="1393888"/>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6" name="object 6"/>
          <p:cNvSpPr/>
          <p:nvPr/>
        </p:nvSpPr>
        <p:spPr>
          <a:xfrm>
            <a:off x="3861969" y="1838859"/>
            <a:ext cx="247460" cy="247460"/>
          </a:xfrm>
          <a:custGeom>
            <a:avLst/>
            <a:gdLst/>
            <a:ahLst/>
            <a:cxnLst/>
            <a:rect l="l" t="t" r="r" b="b"/>
            <a:pathLst>
              <a:path w="274955"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7" name="object 7"/>
          <p:cNvSpPr/>
          <p:nvPr/>
        </p:nvSpPr>
        <p:spPr>
          <a:xfrm>
            <a:off x="3861969" y="1838859"/>
            <a:ext cx="247460" cy="247460"/>
          </a:xfrm>
          <a:custGeom>
            <a:avLst/>
            <a:gdLst/>
            <a:ahLst/>
            <a:cxnLst/>
            <a:rect l="l" t="t" r="r" b="b"/>
            <a:pathLst>
              <a:path w="274955"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8" name="object 8"/>
          <p:cNvSpPr txBox="1"/>
          <p:nvPr/>
        </p:nvSpPr>
        <p:spPr>
          <a:xfrm>
            <a:off x="3923919" y="1837486"/>
            <a:ext cx="124587" cy="232564"/>
          </a:xfrm>
          <a:prstGeom prst="rect">
            <a:avLst/>
          </a:prstGeom>
        </p:spPr>
        <p:txBody>
          <a:bodyPr vert="horz" wrap="square" lIns="0" tIns="10859" rIns="0" bIns="0" rtlCol="0">
            <a:spAutoFit/>
          </a:bodyPr>
          <a:lstStyle/>
          <a:p>
            <a:pPr marL="11430">
              <a:spcBef>
                <a:spcPts val="85"/>
              </a:spcBef>
            </a:pPr>
            <a:r>
              <a:rPr sz="1400" b="1" spc="-5" dirty="0">
                <a:latin typeface="Comic Sans MS" panose="030F0702030302020204" pitchFamily="66" charset="0"/>
                <a:cs typeface="Arial" panose="020B0604020202020204"/>
              </a:rPr>
              <a:t>0</a:t>
            </a:r>
            <a:endParaRPr sz="1400">
              <a:latin typeface="Comic Sans MS" panose="030F0702030302020204" pitchFamily="66" charset="0"/>
              <a:cs typeface="Arial" panose="020B0604020202020204"/>
            </a:endParaRPr>
          </a:p>
        </p:txBody>
      </p:sp>
      <p:sp>
        <p:nvSpPr>
          <p:cNvPr id="9" name="object 9"/>
          <p:cNvSpPr/>
          <p:nvPr/>
        </p:nvSpPr>
        <p:spPr>
          <a:xfrm>
            <a:off x="3929405" y="1650148"/>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10" name="object 10"/>
          <p:cNvSpPr/>
          <p:nvPr/>
        </p:nvSpPr>
        <p:spPr>
          <a:xfrm>
            <a:off x="4120515" y="1649921"/>
            <a:ext cx="228600" cy="350330"/>
          </a:xfrm>
          <a:custGeom>
            <a:avLst/>
            <a:gdLst/>
            <a:ahLst/>
            <a:cxnLst/>
            <a:rect l="l" t="t" r="r" b="b"/>
            <a:pathLst>
              <a:path w="254000" h="389255">
                <a:moveTo>
                  <a:pt x="56387" y="266318"/>
                </a:moveTo>
                <a:lnTo>
                  <a:pt x="0" y="347979"/>
                </a:lnTo>
                <a:lnTo>
                  <a:pt x="90424" y="388746"/>
                </a:lnTo>
                <a:lnTo>
                  <a:pt x="77254" y="341375"/>
                </a:lnTo>
                <a:lnTo>
                  <a:pt x="64897" y="341375"/>
                </a:lnTo>
                <a:lnTo>
                  <a:pt x="57531" y="320420"/>
                </a:lnTo>
                <a:lnTo>
                  <a:pt x="70178" y="315924"/>
                </a:lnTo>
                <a:lnTo>
                  <a:pt x="56387" y="266318"/>
                </a:lnTo>
                <a:close/>
              </a:path>
              <a:path w="254000" h="389255">
                <a:moveTo>
                  <a:pt x="70178" y="315924"/>
                </a:moveTo>
                <a:lnTo>
                  <a:pt x="57531" y="320420"/>
                </a:lnTo>
                <a:lnTo>
                  <a:pt x="64897" y="341375"/>
                </a:lnTo>
                <a:lnTo>
                  <a:pt x="76150" y="337404"/>
                </a:lnTo>
                <a:lnTo>
                  <a:pt x="70178" y="315924"/>
                </a:lnTo>
                <a:close/>
              </a:path>
              <a:path w="254000" h="389255">
                <a:moveTo>
                  <a:pt x="76150" y="337404"/>
                </a:moveTo>
                <a:lnTo>
                  <a:pt x="64897" y="341375"/>
                </a:lnTo>
                <a:lnTo>
                  <a:pt x="77254" y="341375"/>
                </a:lnTo>
                <a:lnTo>
                  <a:pt x="76150" y="337404"/>
                </a:lnTo>
                <a:close/>
              </a:path>
              <a:path w="254000" h="389255">
                <a:moveTo>
                  <a:pt x="73886" y="314605"/>
                </a:moveTo>
                <a:lnTo>
                  <a:pt x="70178" y="315924"/>
                </a:lnTo>
                <a:lnTo>
                  <a:pt x="76150" y="337404"/>
                </a:lnTo>
                <a:lnTo>
                  <a:pt x="82931" y="335025"/>
                </a:lnTo>
                <a:lnTo>
                  <a:pt x="111442" y="315467"/>
                </a:lnTo>
                <a:lnTo>
                  <a:pt x="72517" y="315467"/>
                </a:lnTo>
                <a:lnTo>
                  <a:pt x="73886" y="314605"/>
                </a:lnTo>
                <a:close/>
              </a:path>
              <a:path w="254000" h="389255">
                <a:moveTo>
                  <a:pt x="74675" y="314325"/>
                </a:moveTo>
                <a:lnTo>
                  <a:pt x="73886" y="314605"/>
                </a:lnTo>
                <a:lnTo>
                  <a:pt x="72517" y="315467"/>
                </a:lnTo>
                <a:lnTo>
                  <a:pt x="74675" y="314325"/>
                </a:lnTo>
                <a:close/>
              </a:path>
              <a:path w="254000" h="389255">
                <a:moveTo>
                  <a:pt x="112871" y="314325"/>
                </a:moveTo>
                <a:lnTo>
                  <a:pt x="74675" y="314325"/>
                </a:lnTo>
                <a:lnTo>
                  <a:pt x="72517" y="315467"/>
                </a:lnTo>
                <a:lnTo>
                  <a:pt x="111442" y="315467"/>
                </a:lnTo>
                <a:lnTo>
                  <a:pt x="112871" y="314325"/>
                </a:lnTo>
                <a:close/>
              </a:path>
              <a:path w="254000" h="389255">
                <a:moveTo>
                  <a:pt x="231775" y="0"/>
                </a:moveTo>
                <a:lnTo>
                  <a:pt x="228726" y="47878"/>
                </a:lnTo>
                <a:lnTo>
                  <a:pt x="220090" y="94614"/>
                </a:lnTo>
                <a:lnTo>
                  <a:pt x="200533" y="154177"/>
                </a:lnTo>
                <a:lnTo>
                  <a:pt x="173608" y="208533"/>
                </a:lnTo>
                <a:lnTo>
                  <a:pt x="149351" y="244855"/>
                </a:lnTo>
                <a:lnTo>
                  <a:pt x="122174" y="276097"/>
                </a:lnTo>
                <a:lnTo>
                  <a:pt x="92837" y="301878"/>
                </a:lnTo>
                <a:lnTo>
                  <a:pt x="73886" y="314605"/>
                </a:lnTo>
                <a:lnTo>
                  <a:pt x="74675" y="314325"/>
                </a:lnTo>
                <a:lnTo>
                  <a:pt x="112871" y="314325"/>
                </a:lnTo>
                <a:lnTo>
                  <a:pt x="117475" y="310641"/>
                </a:lnTo>
                <a:lnTo>
                  <a:pt x="148208" y="280924"/>
                </a:lnTo>
                <a:lnTo>
                  <a:pt x="176402" y="245363"/>
                </a:lnTo>
                <a:lnTo>
                  <a:pt x="208152" y="191262"/>
                </a:lnTo>
                <a:lnTo>
                  <a:pt x="232663" y="131190"/>
                </a:lnTo>
                <a:lnTo>
                  <a:pt x="245363" y="83312"/>
                </a:lnTo>
                <a:lnTo>
                  <a:pt x="252602" y="33654"/>
                </a:lnTo>
                <a:lnTo>
                  <a:pt x="254000" y="634"/>
                </a:lnTo>
                <a:lnTo>
                  <a:pt x="23177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1" name="object 11"/>
          <p:cNvSpPr/>
          <p:nvPr/>
        </p:nvSpPr>
        <p:spPr>
          <a:xfrm>
            <a:off x="4562056"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12" name="object 12"/>
          <p:cNvSpPr/>
          <p:nvPr/>
        </p:nvSpPr>
        <p:spPr>
          <a:xfrm>
            <a:off x="4562056"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13" name="object 13"/>
          <p:cNvSpPr txBox="1"/>
          <p:nvPr/>
        </p:nvSpPr>
        <p:spPr>
          <a:xfrm>
            <a:off x="4618863"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2</a:t>
            </a:r>
            <a:endParaRPr sz="1600">
              <a:latin typeface="Comic Sans MS" panose="030F0702030302020204" pitchFamily="66" charset="0"/>
              <a:cs typeface="Arial" panose="020B0604020202020204"/>
            </a:endParaRPr>
          </a:p>
        </p:txBody>
      </p:sp>
      <p:sp>
        <p:nvSpPr>
          <p:cNvPr id="14" name="object 14"/>
          <p:cNvSpPr/>
          <p:nvPr/>
        </p:nvSpPr>
        <p:spPr>
          <a:xfrm>
            <a:off x="4629835" y="1650148"/>
            <a:ext cx="114300" cy="177278"/>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15" name="object 15"/>
          <p:cNvSpPr/>
          <p:nvPr/>
        </p:nvSpPr>
        <p:spPr>
          <a:xfrm>
            <a:off x="4820602" y="1649921"/>
            <a:ext cx="230314" cy="350330"/>
          </a:xfrm>
          <a:custGeom>
            <a:avLst/>
            <a:gdLst/>
            <a:ahLst/>
            <a:cxnLst/>
            <a:rect l="l" t="t" r="r" b="b"/>
            <a:pathLst>
              <a:path w="255904" h="389255">
                <a:moveTo>
                  <a:pt x="56641" y="266572"/>
                </a:moveTo>
                <a:lnTo>
                  <a:pt x="0" y="347979"/>
                </a:lnTo>
                <a:lnTo>
                  <a:pt x="90424" y="389000"/>
                </a:lnTo>
                <a:lnTo>
                  <a:pt x="77352" y="341629"/>
                </a:lnTo>
                <a:lnTo>
                  <a:pt x="65024" y="341629"/>
                </a:lnTo>
                <a:lnTo>
                  <a:pt x="57530" y="320675"/>
                </a:lnTo>
                <a:lnTo>
                  <a:pt x="70302" y="316080"/>
                </a:lnTo>
                <a:lnTo>
                  <a:pt x="56641" y="266572"/>
                </a:lnTo>
                <a:close/>
              </a:path>
              <a:path w="255904" h="389255">
                <a:moveTo>
                  <a:pt x="70302" y="316080"/>
                </a:moveTo>
                <a:lnTo>
                  <a:pt x="57530" y="320675"/>
                </a:lnTo>
                <a:lnTo>
                  <a:pt x="65024" y="341629"/>
                </a:lnTo>
                <a:lnTo>
                  <a:pt x="76239" y="337595"/>
                </a:lnTo>
                <a:lnTo>
                  <a:pt x="70302" y="316080"/>
                </a:lnTo>
                <a:close/>
              </a:path>
              <a:path w="255904" h="389255">
                <a:moveTo>
                  <a:pt x="76239" y="337595"/>
                </a:moveTo>
                <a:lnTo>
                  <a:pt x="65024" y="341629"/>
                </a:lnTo>
                <a:lnTo>
                  <a:pt x="77352" y="341629"/>
                </a:lnTo>
                <a:lnTo>
                  <a:pt x="76239" y="337595"/>
                </a:lnTo>
                <a:close/>
              </a:path>
              <a:path w="255904" h="389255">
                <a:moveTo>
                  <a:pt x="73982" y="314757"/>
                </a:moveTo>
                <a:lnTo>
                  <a:pt x="70302" y="316080"/>
                </a:lnTo>
                <a:lnTo>
                  <a:pt x="76239" y="337595"/>
                </a:lnTo>
                <a:lnTo>
                  <a:pt x="82676" y="335279"/>
                </a:lnTo>
                <a:lnTo>
                  <a:pt x="83438" y="335025"/>
                </a:lnTo>
                <a:lnTo>
                  <a:pt x="84074" y="334644"/>
                </a:lnTo>
                <a:lnTo>
                  <a:pt x="84836" y="334263"/>
                </a:lnTo>
                <a:lnTo>
                  <a:pt x="96138" y="327151"/>
                </a:lnTo>
                <a:lnTo>
                  <a:pt x="107314" y="319277"/>
                </a:lnTo>
                <a:lnTo>
                  <a:pt x="112294"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250" y="47878"/>
                </a:lnTo>
                <a:lnTo>
                  <a:pt x="221487" y="94487"/>
                </a:lnTo>
                <a:lnTo>
                  <a:pt x="201929" y="154177"/>
                </a:lnTo>
                <a:lnTo>
                  <a:pt x="174751" y="208533"/>
                </a:lnTo>
                <a:lnTo>
                  <a:pt x="150367" y="244728"/>
                </a:lnTo>
                <a:lnTo>
                  <a:pt x="123062" y="276097"/>
                </a:lnTo>
                <a:lnTo>
                  <a:pt x="93599" y="301751"/>
                </a:lnTo>
                <a:lnTo>
                  <a:pt x="73982" y="314757"/>
                </a:lnTo>
                <a:lnTo>
                  <a:pt x="75184" y="314325"/>
                </a:lnTo>
                <a:lnTo>
                  <a:pt x="113579" y="314325"/>
                </a:lnTo>
                <a:lnTo>
                  <a:pt x="118237" y="310641"/>
                </a:lnTo>
                <a:lnTo>
                  <a:pt x="149225" y="280796"/>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6" name="object 16"/>
          <p:cNvSpPr/>
          <p:nvPr/>
        </p:nvSpPr>
        <p:spPr>
          <a:xfrm>
            <a:off x="5263515"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17" name="object 17"/>
          <p:cNvSpPr/>
          <p:nvPr/>
        </p:nvSpPr>
        <p:spPr>
          <a:xfrm>
            <a:off x="5263515"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00">
              <a:latin typeface="Comic Sans MS" panose="030F0702030302020204" pitchFamily="66" charset="0"/>
            </a:endParaRPr>
          </a:p>
        </p:txBody>
      </p:sp>
      <p:sp>
        <p:nvSpPr>
          <p:cNvPr id="18" name="object 18"/>
          <p:cNvSpPr txBox="1"/>
          <p:nvPr/>
        </p:nvSpPr>
        <p:spPr>
          <a:xfrm>
            <a:off x="5320550"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4</a:t>
            </a:r>
            <a:endParaRPr sz="1600">
              <a:latin typeface="Comic Sans MS" panose="030F0702030302020204" pitchFamily="66" charset="0"/>
              <a:cs typeface="Arial" panose="020B0604020202020204"/>
            </a:endParaRPr>
          </a:p>
        </p:txBody>
      </p:sp>
      <p:sp>
        <p:nvSpPr>
          <p:cNvPr id="19" name="object 19"/>
          <p:cNvSpPr/>
          <p:nvPr/>
        </p:nvSpPr>
        <p:spPr>
          <a:xfrm>
            <a:off x="5331409" y="1650148"/>
            <a:ext cx="114300" cy="177278"/>
          </a:xfrm>
          <a:prstGeom prst="rect">
            <a:avLst/>
          </a:prstGeom>
          <a:blipFill>
            <a:blip r:embed="rId4" cstate="print"/>
            <a:stretch>
              <a:fillRect/>
            </a:stretch>
          </a:blipFill>
        </p:spPr>
        <p:txBody>
          <a:bodyPr wrap="square" lIns="0" tIns="0" rIns="0" bIns="0" rtlCol="0"/>
          <a:lstStyle/>
          <a:p>
            <a:endParaRPr sz="1620">
              <a:latin typeface="Comic Sans MS" panose="030F0702030302020204" pitchFamily="66" charset="0"/>
            </a:endParaRPr>
          </a:p>
        </p:txBody>
      </p:sp>
      <p:sp>
        <p:nvSpPr>
          <p:cNvPr id="20" name="object 20"/>
          <p:cNvSpPr/>
          <p:nvPr/>
        </p:nvSpPr>
        <p:spPr>
          <a:xfrm>
            <a:off x="5522176" y="1649921"/>
            <a:ext cx="230314" cy="350330"/>
          </a:xfrm>
          <a:custGeom>
            <a:avLst/>
            <a:gdLst/>
            <a:ahLst/>
            <a:cxnLst/>
            <a:rect l="l" t="t" r="r" b="b"/>
            <a:pathLst>
              <a:path w="255904" h="389255">
                <a:moveTo>
                  <a:pt x="56514" y="266572"/>
                </a:moveTo>
                <a:lnTo>
                  <a:pt x="0" y="347979"/>
                </a:lnTo>
                <a:lnTo>
                  <a:pt x="90297" y="389000"/>
                </a:lnTo>
                <a:lnTo>
                  <a:pt x="77225" y="341629"/>
                </a:lnTo>
                <a:lnTo>
                  <a:pt x="64897" y="341629"/>
                </a:lnTo>
                <a:lnTo>
                  <a:pt x="57403" y="320675"/>
                </a:lnTo>
                <a:lnTo>
                  <a:pt x="70175" y="316080"/>
                </a:lnTo>
                <a:lnTo>
                  <a:pt x="56514" y="266572"/>
                </a:lnTo>
                <a:close/>
              </a:path>
              <a:path w="255904" h="389255">
                <a:moveTo>
                  <a:pt x="70175" y="316080"/>
                </a:moveTo>
                <a:lnTo>
                  <a:pt x="57403" y="320675"/>
                </a:lnTo>
                <a:lnTo>
                  <a:pt x="64897" y="341629"/>
                </a:lnTo>
                <a:lnTo>
                  <a:pt x="76112" y="337595"/>
                </a:lnTo>
                <a:lnTo>
                  <a:pt x="70175" y="316080"/>
                </a:lnTo>
                <a:close/>
              </a:path>
              <a:path w="255904" h="389255">
                <a:moveTo>
                  <a:pt x="76112" y="337595"/>
                </a:moveTo>
                <a:lnTo>
                  <a:pt x="64897" y="341629"/>
                </a:lnTo>
                <a:lnTo>
                  <a:pt x="77225" y="341629"/>
                </a:lnTo>
                <a:lnTo>
                  <a:pt x="76112" y="337595"/>
                </a:lnTo>
                <a:close/>
              </a:path>
              <a:path w="255904" h="389255">
                <a:moveTo>
                  <a:pt x="73855" y="314757"/>
                </a:moveTo>
                <a:lnTo>
                  <a:pt x="70175" y="316080"/>
                </a:lnTo>
                <a:lnTo>
                  <a:pt x="76112" y="337595"/>
                </a:lnTo>
                <a:lnTo>
                  <a:pt x="82550" y="335279"/>
                </a:lnTo>
                <a:lnTo>
                  <a:pt x="83312" y="335025"/>
                </a:lnTo>
                <a:lnTo>
                  <a:pt x="84074" y="334644"/>
                </a:lnTo>
                <a:lnTo>
                  <a:pt x="96138" y="327151"/>
                </a:lnTo>
                <a:lnTo>
                  <a:pt x="107187" y="319277"/>
                </a:lnTo>
                <a:lnTo>
                  <a:pt x="112167" y="315340"/>
                </a:lnTo>
                <a:lnTo>
                  <a:pt x="72898" y="315340"/>
                </a:lnTo>
                <a:lnTo>
                  <a:pt x="73855" y="314757"/>
                </a:lnTo>
                <a:close/>
              </a:path>
              <a:path w="255904" h="389255">
                <a:moveTo>
                  <a:pt x="75057" y="314325"/>
                </a:moveTo>
                <a:lnTo>
                  <a:pt x="73855" y="314757"/>
                </a:lnTo>
                <a:lnTo>
                  <a:pt x="72898" y="315340"/>
                </a:lnTo>
                <a:lnTo>
                  <a:pt x="75057" y="314325"/>
                </a:lnTo>
                <a:close/>
              </a:path>
              <a:path w="255904" h="389255">
                <a:moveTo>
                  <a:pt x="113452" y="314325"/>
                </a:moveTo>
                <a:lnTo>
                  <a:pt x="75057" y="314325"/>
                </a:lnTo>
                <a:lnTo>
                  <a:pt x="72898" y="315340"/>
                </a:lnTo>
                <a:lnTo>
                  <a:pt x="112167" y="315340"/>
                </a:lnTo>
                <a:lnTo>
                  <a:pt x="113452" y="314325"/>
                </a:lnTo>
                <a:close/>
              </a:path>
              <a:path w="255904" h="389255">
                <a:moveTo>
                  <a:pt x="233425" y="0"/>
                </a:moveTo>
                <a:lnTo>
                  <a:pt x="230250" y="47878"/>
                </a:lnTo>
                <a:lnTo>
                  <a:pt x="221487" y="94487"/>
                </a:lnTo>
                <a:lnTo>
                  <a:pt x="201929" y="154177"/>
                </a:lnTo>
                <a:lnTo>
                  <a:pt x="174751" y="208533"/>
                </a:lnTo>
                <a:lnTo>
                  <a:pt x="150240" y="244728"/>
                </a:lnTo>
                <a:lnTo>
                  <a:pt x="122936" y="276097"/>
                </a:lnTo>
                <a:lnTo>
                  <a:pt x="93472" y="301751"/>
                </a:lnTo>
                <a:lnTo>
                  <a:pt x="73855" y="314757"/>
                </a:lnTo>
                <a:lnTo>
                  <a:pt x="75057" y="314325"/>
                </a:lnTo>
                <a:lnTo>
                  <a:pt x="113452" y="314325"/>
                </a:lnTo>
                <a:lnTo>
                  <a:pt x="118110" y="310641"/>
                </a:lnTo>
                <a:lnTo>
                  <a:pt x="149098" y="280924"/>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1" name="object 21"/>
          <p:cNvSpPr/>
          <p:nvPr/>
        </p:nvSpPr>
        <p:spPr>
          <a:xfrm>
            <a:off x="5965089"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22" name="object 22"/>
          <p:cNvSpPr/>
          <p:nvPr/>
        </p:nvSpPr>
        <p:spPr>
          <a:xfrm>
            <a:off x="5965089"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23" name="object 23"/>
          <p:cNvSpPr txBox="1"/>
          <p:nvPr/>
        </p:nvSpPr>
        <p:spPr>
          <a:xfrm>
            <a:off x="6022009"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6</a:t>
            </a:r>
            <a:endParaRPr sz="1600">
              <a:latin typeface="Comic Sans MS" panose="030F0702030302020204" pitchFamily="66" charset="0"/>
              <a:cs typeface="Arial" panose="020B0604020202020204"/>
            </a:endParaRPr>
          </a:p>
        </p:txBody>
      </p:sp>
      <p:sp>
        <p:nvSpPr>
          <p:cNvPr id="24" name="object 24"/>
          <p:cNvSpPr/>
          <p:nvPr/>
        </p:nvSpPr>
        <p:spPr>
          <a:xfrm>
            <a:off x="6032867" y="1650148"/>
            <a:ext cx="114300" cy="177278"/>
          </a:xfrm>
          <a:prstGeom prst="rect">
            <a:avLst/>
          </a:prstGeom>
          <a:blipFill>
            <a:blip r:embed="rId5" cstate="print"/>
            <a:stretch>
              <a:fillRect/>
            </a:stretch>
          </a:blipFill>
        </p:spPr>
        <p:txBody>
          <a:bodyPr wrap="square" lIns="0" tIns="0" rIns="0" bIns="0" rtlCol="0"/>
          <a:lstStyle/>
          <a:p>
            <a:endParaRPr sz="1620">
              <a:latin typeface="Comic Sans MS" panose="030F0702030302020204" pitchFamily="66" charset="0"/>
            </a:endParaRPr>
          </a:p>
        </p:txBody>
      </p:sp>
      <p:sp>
        <p:nvSpPr>
          <p:cNvPr id="25" name="object 25"/>
          <p:cNvSpPr/>
          <p:nvPr/>
        </p:nvSpPr>
        <p:spPr>
          <a:xfrm>
            <a:off x="6223635" y="1649921"/>
            <a:ext cx="230314" cy="350330"/>
          </a:xfrm>
          <a:custGeom>
            <a:avLst/>
            <a:gdLst/>
            <a:ahLst/>
            <a:cxnLst/>
            <a:rect l="l" t="t" r="r" b="b"/>
            <a:pathLst>
              <a:path w="255904" h="389255">
                <a:moveTo>
                  <a:pt x="56641" y="266572"/>
                </a:moveTo>
                <a:lnTo>
                  <a:pt x="0" y="347979"/>
                </a:lnTo>
                <a:lnTo>
                  <a:pt x="90297" y="389000"/>
                </a:lnTo>
                <a:lnTo>
                  <a:pt x="77274" y="341629"/>
                </a:lnTo>
                <a:lnTo>
                  <a:pt x="64897" y="341629"/>
                </a:lnTo>
                <a:lnTo>
                  <a:pt x="57530" y="320675"/>
                </a:lnTo>
                <a:lnTo>
                  <a:pt x="70256" y="316097"/>
                </a:lnTo>
                <a:lnTo>
                  <a:pt x="56641" y="266572"/>
                </a:lnTo>
                <a:close/>
              </a:path>
              <a:path w="255904" h="389255">
                <a:moveTo>
                  <a:pt x="70256" y="316097"/>
                </a:moveTo>
                <a:lnTo>
                  <a:pt x="57530" y="320675"/>
                </a:lnTo>
                <a:lnTo>
                  <a:pt x="64897" y="341629"/>
                </a:lnTo>
                <a:lnTo>
                  <a:pt x="76168" y="337604"/>
                </a:lnTo>
                <a:lnTo>
                  <a:pt x="70256" y="316097"/>
                </a:lnTo>
                <a:close/>
              </a:path>
              <a:path w="255904" h="389255">
                <a:moveTo>
                  <a:pt x="76168" y="337604"/>
                </a:moveTo>
                <a:lnTo>
                  <a:pt x="64897" y="341629"/>
                </a:lnTo>
                <a:lnTo>
                  <a:pt x="77274" y="341629"/>
                </a:lnTo>
                <a:lnTo>
                  <a:pt x="76168" y="337604"/>
                </a:lnTo>
                <a:close/>
              </a:path>
              <a:path w="255904" h="389255">
                <a:moveTo>
                  <a:pt x="73982" y="314757"/>
                </a:moveTo>
                <a:lnTo>
                  <a:pt x="70256" y="316097"/>
                </a:lnTo>
                <a:lnTo>
                  <a:pt x="76168" y="337604"/>
                </a:lnTo>
                <a:lnTo>
                  <a:pt x="82676" y="335279"/>
                </a:lnTo>
                <a:lnTo>
                  <a:pt x="83438" y="335025"/>
                </a:lnTo>
                <a:lnTo>
                  <a:pt x="84200" y="334644"/>
                </a:lnTo>
                <a:lnTo>
                  <a:pt x="96265" y="327151"/>
                </a:lnTo>
                <a:lnTo>
                  <a:pt x="107314" y="319277"/>
                </a:lnTo>
                <a:lnTo>
                  <a:pt x="112309"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98" y="314325"/>
                </a:moveTo>
                <a:lnTo>
                  <a:pt x="75184" y="314325"/>
                </a:lnTo>
                <a:lnTo>
                  <a:pt x="73025" y="315340"/>
                </a:lnTo>
                <a:lnTo>
                  <a:pt x="112309" y="315340"/>
                </a:lnTo>
                <a:lnTo>
                  <a:pt x="113598" y="314325"/>
                </a:lnTo>
                <a:close/>
              </a:path>
              <a:path w="255904" h="389255">
                <a:moveTo>
                  <a:pt x="233425" y="0"/>
                </a:moveTo>
                <a:lnTo>
                  <a:pt x="230250" y="47878"/>
                </a:lnTo>
                <a:lnTo>
                  <a:pt x="221614" y="94487"/>
                </a:lnTo>
                <a:lnTo>
                  <a:pt x="201929" y="154177"/>
                </a:lnTo>
                <a:lnTo>
                  <a:pt x="174878" y="208533"/>
                </a:lnTo>
                <a:lnTo>
                  <a:pt x="150367" y="244728"/>
                </a:lnTo>
                <a:lnTo>
                  <a:pt x="123062" y="276097"/>
                </a:lnTo>
                <a:lnTo>
                  <a:pt x="93599" y="301878"/>
                </a:lnTo>
                <a:lnTo>
                  <a:pt x="73982" y="314757"/>
                </a:lnTo>
                <a:lnTo>
                  <a:pt x="75184" y="314325"/>
                </a:lnTo>
                <a:lnTo>
                  <a:pt x="113598" y="314325"/>
                </a:lnTo>
                <a:lnTo>
                  <a:pt x="118110" y="310768"/>
                </a:lnTo>
                <a:lnTo>
                  <a:pt x="149225" y="280924"/>
                </a:lnTo>
                <a:lnTo>
                  <a:pt x="177419" y="245363"/>
                </a:lnTo>
                <a:lnTo>
                  <a:pt x="209423" y="191262"/>
                </a:lnTo>
                <a:lnTo>
                  <a:pt x="234061" y="131190"/>
                </a:lnTo>
                <a:lnTo>
                  <a:pt x="247014" y="83184"/>
                </a:lnTo>
                <a:lnTo>
                  <a:pt x="254126"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6" name="object 26"/>
          <p:cNvSpPr/>
          <p:nvPr/>
        </p:nvSpPr>
        <p:spPr>
          <a:xfrm>
            <a:off x="6665176"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27" name="object 27"/>
          <p:cNvSpPr/>
          <p:nvPr/>
        </p:nvSpPr>
        <p:spPr>
          <a:xfrm>
            <a:off x="6665176"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28" name="object 28"/>
          <p:cNvSpPr txBox="1"/>
          <p:nvPr/>
        </p:nvSpPr>
        <p:spPr>
          <a:xfrm>
            <a:off x="6722326"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8</a:t>
            </a:r>
            <a:endParaRPr sz="1600">
              <a:latin typeface="Comic Sans MS" panose="030F0702030302020204" pitchFamily="66" charset="0"/>
              <a:cs typeface="Arial" panose="020B0604020202020204"/>
            </a:endParaRPr>
          </a:p>
        </p:txBody>
      </p:sp>
      <p:sp>
        <p:nvSpPr>
          <p:cNvPr id="29" name="object 29"/>
          <p:cNvSpPr/>
          <p:nvPr/>
        </p:nvSpPr>
        <p:spPr>
          <a:xfrm>
            <a:off x="6733298" y="1650148"/>
            <a:ext cx="114300" cy="177278"/>
          </a:xfrm>
          <a:prstGeom prst="rect">
            <a:avLst/>
          </a:prstGeom>
          <a:blipFill>
            <a:blip r:embed="rId6" cstate="print"/>
            <a:stretch>
              <a:fillRect/>
            </a:stretch>
          </a:blipFill>
        </p:spPr>
        <p:txBody>
          <a:bodyPr wrap="square" lIns="0" tIns="0" rIns="0" bIns="0" rtlCol="0"/>
          <a:lstStyle/>
          <a:p>
            <a:endParaRPr sz="1620">
              <a:latin typeface="Comic Sans MS" panose="030F0702030302020204" pitchFamily="66" charset="0"/>
            </a:endParaRPr>
          </a:p>
        </p:txBody>
      </p:sp>
      <p:sp>
        <p:nvSpPr>
          <p:cNvPr id="30" name="object 30"/>
          <p:cNvSpPr/>
          <p:nvPr/>
        </p:nvSpPr>
        <p:spPr>
          <a:xfrm>
            <a:off x="6923722" y="1649921"/>
            <a:ext cx="230314" cy="350330"/>
          </a:xfrm>
          <a:custGeom>
            <a:avLst/>
            <a:gdLst/>
            <a:ahLst/>
            <a:cxnLst/>
            <a:rect l="l" t="t" r="r" b="b"/>
            <a:pathLst>
              <a:path w="255904" h="389255">
                <a:moveTo>
                  <a:pt x="56641" y="266572"/>
                </a:moveTo>
                <a:lnTo>
                  <a:pt x="0" y="347979"/>
                </a:lnTo>
                <a:lnTo>
                  <a:pt x="90297" y="389000"/>
                </a:lnTo>
                <a:lnTo>
                  <a:pt x="77274" y="341629"/>
                </a:lnTo>
                <a:lnTo>
                  <a:pt x="65024" y="341629"/>
                </a:lnTo>
                <a:lnTo>
                  <a:pt x="57530" y="320675"/>
                </a:lnTo>
                <a:lnTo>
                  <a:pt x="70256" y="316097"/>
                </a:lnTo>
                <a:lnTo>
                  <a:pt x="56641" y="266572"/>
                </a:lnTo>
                <a:close/>
              </a:path>
              <a:path w="255904" h="389255">
                <a:moveTo>
                  <a:pt x="70256" y="316097"/>
                </a:moveTo>
                <a:lnTo>
                  <a:pt x="57530" y="320675"/>
                </a:lnTo>
                <a:lnTo>
                  <a:pt x="65024" y="341629"/>
                </a:lnTo>
                <a:lnTo>
                  <a:pt x="76172" y="337619"/>
                </a:lnTo>
                <a:lnTo>
                  <a:pt x="70256" y="316097"/>
                </a:lnTo>
                <a:close/>
              </a:path>
              <a:path w="255904" h="389255">
                <a:moveTo>
                  <a:pt x="76172" y="337619"/>
                </a:moveTo>
                <a:lnTo>
                  <a:pt x="65024" y="341629"/>
                </a:lnTo>
                <a:lnTo>
                  <a:pt x="77274" y="341629"/>
                </a:lnTo>
                <a:lnTo>
                  <a:pt x="76172" y="337619"/>
                </a:lnTo>
                <a:close/>
              </a:path>
              <a:path w="255904" h="389255">
                <a:moveTo>
                  <a:pt x="73954" y="314767"/>
                </a:moveTo>
                <a:lnTo>
                  <a:pt x="70256" y="316097"/>
                </a:lnTo>
                <a:lnTo>
                  <a:pt x="76172" y="337619"/>
                </a:lnTo>
                <a:lnTo>
                  <a:pt x="82676" y="335279"/>
                </a:lnTo>
                <a:lnTo>
                  <a:pt x="112294" y="315340"/>
                </a:lnTo>
                <a:lnTo>
                  <a:pt x="73025" y="315340"/>
                </a:lnTo>
                <a:lnTo>
                  <a:pt x="73954" y="314767"/>
                </a:lnTo>
                <a:close/>
              </a:path>
              <a:path w="255904" h="389255">
                <a:moveTo>
                  <a:pt x="75184" y="314325"/>
                </a:moveTo>
                <a:lnTo>
                  <a:pt x="73954" y="31476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377" y="47878"/>
                </a:lnTo>
                <a:lnTo>
                  <a:pt x="221614" y="94487"/>
                </a:lnTo>
                <a:lnTo>
                  <a:pt x="202057" y="154177"/>
                </a:lnTo>
                <a:lnTo>
                  <a:pt x="174751" y="208533"/>
                </a:lnTo>
                <a:lnTo>
                  <a:pt x="150367" y="244728"/>
                </a:lnTo>
                <a:lnTo>
                  <a:pt x="123062" y="276097"/>
                </a:lnTo>
                <a:lnTo>
                  <a:pt x="93599" y="301751"/>
                </a:lnTo>
                <a:lnTo>
                  <a:pt x="73954" y="314767"/>
                </a:lnTo>
                <a:lnTo>
                  <a:pt x="75184" y="314325"/>
                </a:lnTo>
                <a:lnTo>
                  <a:pt x="113579" y="314325"/>
                </a:lnTo>
                <a:lnTo>
                  <a:pt x="118237" y="310641"/>
                </a:lnTo>
                <a:lnTo>
                  <a:pt x="149225" y="280924"/>
                </a:lnTo>
                <a:lnTo>
                  <a:pt x="177546" y="245363"/>
                </a:lnTo>
                <a:lnTo>
                  <a:pt x="209550" y="191262"/>
                </a:lnTo>
                <a:lnTo>
                  <a:pt x="234061" y="131190"/>
                </a:lnTo>
                <a:lnTo>
                  <a:pt x="247014" y="83184"/>
                </a:lnTo>
                <a:lnTo>
                  <a:pt x="254253"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1" name="object 31"/>
          <p:cNvSpPr/>
          <p:nvPr/>
        </p:nvSpPr>
        <p:spPr>
          <a:xfrm>
            <a:off x="7366635" y="1838859"/>
            <a:ext cx="247460" cy="247460"/>
          </a:xfrm>
          <a:custGeom>
            <a:avLst/>
            <a:gdLst/>
            <a:ahLst/>
            <a:cxnLst/>
            <a:rect l="l" t="t" r="r" b="b"/>
            <a:pathLst>
              <a:path w="274954" h="274955">
                <a:moveTo>
                  <a:pt x="137286"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6"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6"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32" name="object 32"/>
          <p:cNvSpPr/>
          <p:nvPr/>
        </p:nvSpPr>
        <p:spPr>
          <a:xfrm>
            <a:off x="7366635"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00">
              <a:latin typeface="Comic Sans MS" panose="030F0702030302020204" pitchFamily="66" charset="0"/>
            </a:endParaRPr>
          </a:p>
        </p:txBody>
      </p:sp>
      <p:sp>
        <p:nvSpPr>
          <p:cNvPr id="33" name="object 33"/>
          <p:cNvSpPr txBox="1"/>
          <p:nvPr/>
        </p:nvSpPr>
        <p:spPr>
          <a:xfrm>
            <a:off x="7366178" y="1822400"/>
            <a:ext cx="360273"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10</a:t>
            </a:r>
            <a:endParaRPr sz="1620" dirty="0">
              <a:latin typeface="Comic Sans MS" panose="030F0702030302020204" pitchFamily="66" charset="0"/>
              <a:cs typeface="Arial" panose="020B0604020202020204"/>
            </a:endParaRPr>
          </a:p>
        </p:txBody>
      </p:sp>
      <p:sp>
        <p:nvSpPr>
          <p:cNvPr id="34" name="object 34"/>
          <p:cNvSpPr/>
          <p:nvPr/>
        </p:nvSpPr>
        <p:spPr>
          <a:xfrm>
            <a:off x="7434871" y="1650148"/>
            <a:ext cx="114300" cy="177278"/>
          </a:xfrm>
          <a:prstGeom prst="rect">
            <a:avLst/>
          </a:prstGeom>
          <a:blipFill>
            <a:blip r:embed="rId7" cstate="print"/>
            <a:stretch>
              <a:fillRect/>
            </a:stretch>
          </a:blipFill>
        </p:spPr>
        <p:txBody>
          <a:bodyPr wrap="square" lIns="0" tIns="0" rIns="0" bIns="0" rtlCol="0"/>
          <a:lstStyle/>
          <a:p>
            <a:endParaRPr sz="1620">
              <a:latin typeface="Comic Sans MS" panose="030F0702030302020204" pitchFamily="66" charset="0"/>
            </a:endParaRPr>
          </a:p>
        </p:txBody>
      </p:sp>
      <p:sp>
        <p:nvSpPr>
          <p:cNvPr id="35" name="object 35"/>
          <p:cNvSpPr/>
          <p:nvPr/>
        </p:nvSpPr>
        <p:spPr>
          <a:xfrm>
            <a:off x="7625181" y="1649921"/>
            <a:ext cx="232029" cy="350330"/>
          </a:xfrm>
          <a:custGeom>
            <a:avLst/>
            <a:gdLst/>
            <a:ahLst/>
            <a:cxnLst/>
            <a:rect l="l" t="t" r="r" b="b"/>
            <a:pathLst>
              <a:path w="257809"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809" h="389255">
                <a:moveTo>
                  <a:pt x="70402" y="316256"/>
                </a:moveTo>
                <a:lnTo>
                  <a:pt x="57657" y="320801"/>
                </a:lnTo>
                <a:lnTo>
                  <a:pt x="65024" y="341756"/>
                </a:lnTo>
                <a:lnTo>
                  <a:pt x="76259" y="337749"/>
                </a:lnTo>
                <a:lnTo>
                  <a:pt x="70402" y="316256"/>
                </a:lnTo>
                <a:close/>
              </a:path>
              <a:path w="257809" h="389255">
                <a:moveTo>
                  <a:pt x="76259" y="337749"/>
                </a:moveTo>
                <a:lnTo>
                  <a:pt x="65024" y="341756"/>
                </a:lnTo>
                <a:lnTo>
                  <a:pt x="77351" y="341756"/>
                </a:lnTo>
                <a:lnTo>
                  <a:pt x="76259" y="337749"/>
                </a:lnTo>
                <a:close/>
              </a:path>
              <a:path w="257809" h="389255">
                <a:moveTo>
                  <a:pt x="74631" y="314748"/>
                </a:moveTo>
                <a:lnTo>
                  <a:pt x="70402" y="316256"/>
                </a:lnTo>
                <a:lnTo>
                  <a:pt x="76259" y="337749"/>
                </a:lnTo>
                <a:lnTo>
                  <a:pt x="83184" y="335279"/>
                </a:lnTo>
                <a:lnTo>
                  <a:pt x="83947" y="335025"/>
                </a:lnTo>
                <a:lnTo>
                  <a:pt x="84708" y="334644"/>
                </a:lnTo>
                <a:lnTo>
                  <a:pt x="96900" y="327151"/>
                </a:lnTo>
                <a:lnTo>
                  <a:pt x="107950" y="319277"/>
                </a:lnTo>
                <a:lnTo>
                  <a:pt x="113062" y="315340"/>
                </a:lnTo>
                <a:lnTo>
                  <a:pt x="73659" y="315340"/>
                </a:lnTo>
                <a:lnTo>
                  <a:pt x="74631" y="314748"/>
                </a:lnTo>
                <a:close/>
              </a:path>
              <a:path w="257809" h="389255">
                <a:moveTo>
                  <a:pt x="75819" y="314325"/>
                </a:moveTo>
                <a:lnTo>
                  <a:pt x="74631" y="314748"/>
                </a:lnTo>
                <a:lnTo>
                  <a:pt x="73659" y="315340"/>
                </a:lnTo>
                <a:lnTo>
                  <a:pt x="75819" y="314325"/>
                </a:lnTo>
                <a:close/>
              </a:path>
              <a:path w="257809" h="389255">
                <a:moveTo>
                  <a:pt x="114381" y="314325"/>
                </a:moveTo>
                <a:lnTo>
                  <a:pt x="75819" y="314325"/>
                </a:lnTo>
                <a:lnTo>
                  <a:pt x="73659" y="315340"/>
                </a:lnTo>
                <a:lnTo>
                  <a:pt x="113062" y="315340"/>
                </a:lnTo>
                <a:lnTo>
                  <a:pt x="114381" y="314325"/>
                </a:lnTo>
                <a:close/>
              </a:path>
              <a:path w="257809" h="389255">
                <a:moveTo>
                  <a:pt x="235076" y="0"/>
                </a:moveTo>
                <a:lnTo>
                  <a:pt x="232028" y="47878"/>
                </a:lnTo>
                <a:lnTo>
                  <a:pt x="223139" y="94487"/>
                </a:lnTo>
                <a:lnTo>
                  <a:pt x="203453" y="154050"/>
                </a:lnTo>
                <a:lnTo>
                  <a:pt x="176022" y="208533"/>
                </a:lnTo>
                <a:lnTo>
                  <a:pt x="151510" y="244728"/>
                </a:lnTo>
                <a:lnTo>
                  <a:pt x="123951" y="276097"/>
                </a:lnTo>
                <a:lnTo>
                  <a:pt x="94360" y="301751"/>
                </a:lnTo>
                <a:lnTo>
                  <a:pt x="74631" y="314748"/>
                </a:lnTo>
                <a:lnTo>
                  <a:pt x="75819" y="314325"/>
                </a:lnTo>
                <a:lnTo>
                  <a:pt x="114381" y="314325"/>
                </a:lnTo>
                <a:lnTo>
                  <a:pt x="118999" y="310768"/>
                </a:lnTo>
                <a:lnTo>
                  <a:pt x="150114" y="280924"/>
                </a:lnTo>
                <a:lnTo>
                  <a:pt x="178561" y="245363"/>
                </a:lnTo>
                <a:lnTo>
                  <a:pt x="210820" y="191388"/>
                </a:lnTo>
                <a:lnTo>
                  <a:pt x="235711" y="131190"/>
                </a:lnTo>
                <a:lnTo>
                  <a:pt x="248539" y="83312"/>
                </a:lnTo>
                <a:lnTo>
                  <a:pt x="255904" y="33654"/>
                </a:lnTo>
                <a:lnTo>
                  <a:pt x="257301" y="634"/>
                </a:lnTo>
                <a:lnTo>
                  <a:pt x="2350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6" name="object 36"/>
          <p:cNvSpPr/>
          <p:nvPr/>
        </p:nvSpPr>
        <p:spPr>
          <a:xfrm>
            <a:off x="8068209"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37" name="object 37"/>
          <p:cNvSpPr/>
          <p:nvPr/>
        </p:nvSpPr>
        <p:spPr>
          <a:xfrm>
            <a:off x="8068209"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38" name="object 38"/>
          <p:cNvSpPr txBox="1"/>
          <p:nvPr/>
        </p:nvSpPr>
        <p:spPr>
          <a:xfrm>
            <a:off x="8067865" y="1822400"/>
            <a:ext cx="313350"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12</a:t>
            </a:r>
            <a:endParaRPr sz="1620" dirty="0">
              <a:latin typeface="Comic Sans MS" panose="030F0702030302020204" pitchFamily="66" charset="0"/>
              <a:cs typeface="Arial" panose="020B0604020202020204"/>
            </a:endParaRPr>
          </a:p>
        </p:txBody>
      </p:sp>
      <p:sp>
        <p:nvSpPr>
          <p:cNvPr id="39" name="object 39"/>
          <p:cNvSpPr/>
          <p:nvPr/>
        </p:nvSpPr>
        <p:spPr>
          <a:xfrm>
            <a:off x="8136445" y="1650148"/>
            <a:ext cx="114300" cy="177278"/>
          </a:xfrm>
          <a:prstGeom prst="rect">
            <a:avLst/>
          </a:prstGeom>
          <a:blipFill>
            <a:blip r:embed="rId8" cstate="print"/>
            <a:stretch>
              <a:fillRect/>
            </a:stretch>
          </a:blipFill>
        </p:spPr>
        <p:txBody>
          <a:bodyPr wrap="square" lIns="0" tIns="0" rIns="0" bIns="0" rtlCol="0"/>
          <a:lstStyle/>
          <a:p>
            <a:endParaRPr sz="1620">
              <a:latin typeface="Comic Sans MS" panose="030F0702030302020204" pitchFamily="66" charset="0"/>
            </a:endParaRPr>
          </a:p>
        </p:txBody>
      </p:sp>
      <p:sp>
        <p:nvSpPr>
          <p:cNvPr id="40" name="object 40"/>
          <p:cNvSpPr/>
          <p:nvPr/>
        </p:nvSpPr>
        <p:spPr>
          <a:xfrm>
            <a:off x="8326755" y="1649921"/>
            <a:ext cx="231458" cy="350330"/>
          </a:xfrm>
          <a:custGeom>
            <a:avLst/>
            <a:gdLst/>
            <a:ahLst/>
            <a:cxnLst/>
            <a:rect l="l" t="t" r="r" b="b"/>
            <a:pathLst>
              <a:path w="257175"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175" h="389255">
                <a:moveTo>
                  <a:pt x="70402" y="316256"/>
                </a:moveTo>
                <a:lnTo>
                  <a:pt x="57657" y="320801"/>
                </a:lnTo>
                <a:lnTo>
                  <a:pt x="65024" y="341756"/>
                </a:lnTo>
                <a:lnTo>
                  <a:pt x="76259" y="337749"/>
                </a:lnTo>
                <a:lnTo>
                  <a:pt x="70402" y="316256"/>
                </a:lnTo>
                <a:close/>
              </a:path>
              <a:path w="257175" h="389255">
                <a:moveTo>
                  <a:pt x="76259" y="337749"/>
                </a:moveTo>
                <a:lnTo>
                  <a:pt x="65024" y="341756"/>
                </a:lnTo>
                <a:lnTo>
                  <a:pt x="77351" y="341756"/>
                </a:lnTo>
                <a:lnTo>
                  <a:pt x="76259" y="337749"/>
                </a:lnTo>
                <a:close/>
              </a:path>
              <a:path w="257175" h="389255">
                <a:moveTo>
                  <a:pt x="74603" y="314758"/>
                </a:moveTo>
                <a:lnTo>
                  <a:pt x="70402" y="316256"/>
                </a:lnTo>
                <a:lnTo>
                  <a:pt x="76259" y="337749"/>
                </a:lnTo>
                <a:lnTo>
                  <a:pt x="83184" y="335279"/>
                </a:lnTo>
                <a:lnTo>
                  <a:pt x="83947" y="335025"/>
                </a:lnTo>
                <a:lnTo>
                  <a:pt x="84708" y="334644"/>
                </a:lnTo>
                <a:lnTo>
                  <a:pt x="96774" y="327151"/>
                </a:lnTo>
                <a:lnTo>
                  <a:pt x="107950" y="319277"/>
                </a:lnTo>
                <a:lnTo>
                  <a:pt x="113003" y="315340"/>
                </a:lnTo>
                <a:lnTo>
                  <a:pt x="73659" y="315340"/>
                </a:lnTo>
                <a:lnTo>
                  <a:pt x="74603" y="314758"/>
                </a:lnTo>
                <a:close/>
              </a:path>
              <a:path w="257175" h="389255">
                <a:moveTo>
                  <a:pt x="75819" y="314325"/>
                </a:moveTo>
                <a:lnTo>
                  <a:pt x="74603" y="314758"/>
                </a:lnTo>
                <a:lnTo>
                  <a:pt x="73659" y="315340"/>
                </a:lnTo>
                <a:lnTo>
                  <a:pt x="75819" y="314325"/>
                </a:lnTo>
                <a:close/>
              </a:path>
              <a:path w="257175" h="389255">
                <a:moveTo>
                  <a:pt x="114307" y="314325"/>
                </a:moveTo>
                <a:lnTo>
                  <a:pt x="75819" y="314325"/>
                </a:lnTo>
                <a:lnTo>
                  <a:pt x="73659" y="315340"/>
                </a:lnTo>
                <a:lnTo>
                  <a:pt x="113003" y="315340"/>
                </a:lnTo>
                <a:lnTo>
                  <a:pt x="114307" y="314325"/>
                </a:lnTo>
                <a:close/>
              </a:path>
              <a:path w="257175" h="389255">
                <a:moveTo>
                  <a:pt x="234950" y="0"/>
                </a:moveTo>
                <a:lnTo>
                  <a:pt x="231901" y="47878"/>
                </a:lnTo>
                <a:lnTo>
                  <a:pt x="223011" y="94487"/>
                </a:lnTo>
                <a:lnTo>
                  <a:pt x="203326" y="154050"/>
                </a:lnTo>
                <a:lnTo>
                  <a:pt x="176022" y="208533"/>
                </a:lnTo>
                <a:lnTo>
                  <a:pt x="151383" y="244728"/>
                </a:lnTo>
                <a:lnTo>
                  <a:pt x="123951" y="276097"/>
                </a:lnTo>
                <a:lnTo>
                  <a:pt x="94233" y="301751"/>
                </a:lnTo>
                <a:lnTo>
                  <a:pt x="74603" y="314758"/>
                </a:lnTo>
                <a:lnTo>
                  <a:pt x="75819" y="314325"/>
                </a:lnTo>
                <a:lnTo>
                  <a:pt x="114307" y="314325"/>
                </a:lnTo>
                <a:lnTo>
                  <a:pt x="118872" y="310768"/>
                </a:lnTo>
                <a:lnTo>
                  <a:pt x="150114" y="280924"/>
                </a:lnTo>
                <a:lnTo>
                  <a:pt x="178561" y="245363"/>
                </a:lnTo>
                <a:lnTo>
                  <a:pt x="210820" y="191388"/>
                </a:lnTo>
                <a:lnTo>
                  <a:pt x="235584" y="131190"/>
                </a:lnTo>
                <a:lnTo>
                  <a:pt x="248411" y="83312"/>
                </a:lnTo>
                <a:lnTo>
                  <a:pt x="255777" y="33654"/>
                </a:lnTo>
                <a:lnTo>
                  <a:pt x="257175"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41" name="object 41"/>
          <p:cNvSpPr/>
          <p:nvPr/>
        </p:nvSpPr>
        <p:spPr>
          <a:xfrm>
            <a:off x="8769668" y="1838859"/>
            <a:ext cx="247460" cy="247460"/>
          </a:xfrm>
          <a:custGeom>
            <a:avLst/>
            <a:gdLst/>
            <a:ahLst/>
            <a:cxnLst/>
            <a:rect l="l" t="t" r="r" b="b"/>
            <a:pathLst>
              <a:path w="274954" h="274955">
                <a:moveTo>
                  <a:pt x="137286"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6"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6"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42" name="object 42"/>
          <p:cNvSpPr/>
          <p:nvPr/>
        </p:nvSpPr>
        <p:spPr>
          <a:xfrm>
            <a:off x="8769668"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00">
              <a:latin typeface="Comic Sans MS" panose="030F0702030302020204" pitchFamily="66" charset="0"/>
            </a:endParaRPr>
          </a:p>
        </p:txBody>
      </p:sp>
      <p:sp>
        <p:nvSpPr>
          <p:cNvPr id="43" name="object 43"/>
          <p:cNvSpPr txBox="1"/>
          <p:nvPr/>
        </p:nvSpPr>
        <p:spPr>
          <a:xfrm>
            <a:off x="8769553" y="1822400"/>
            <a:ext cx="318326"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14</a:t>
            </a:r>
            <a:endParaRPr sz="1620" dirty="0">
              <a:latin typeface="Comic Sans MS" panose="030F0702030302020204" pitchFamily="66" charset="0"/>
              <a:cs typeface="Arial" panose="020B0604020202020204"/>
            </a:endParaRPr>
          </a:p>
        </p:txBody>
      </p:sp>
      <p:sp>
        <p:nvSpPr>
          <p:cNvPr id="44" name="object 44"/>
          <p:cNvSpPr/>
          <p:nvPr/>
        </p:nvSpPr>
        <p:spPr>
          <a:xfrm>
            <a:off x="8837904" y="1650148"/>
            <a:ext cx="114300" cy="177278"/>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45" name="object 45"/>
          <p:cNvSpPr/>
          <p:nvPr/>
        </p:nvSpPr>
        <p:spPr>
          <a:xfrm>
            <a:off x="9028329" y="1649921"/>
            <a:ext cx="231458" cy="350330"/>
          </a:xfrm>
          <a:custGeom>
            <a:avLst/>
            <a:gdLst/>
            <a:ahLst/>
            <a:cxnLst/>
            <a:rect l="l" t="t" r="r" b="b"/>
            <a:pathLst>
              <a:path w="257175" h="389255">
                <a:moveTo>
                  <a:pt x="56896" y="266700"/>
                </a:moveTo>
                <a:lnTo>
                  <a:pt x="0" y="347979"/>
                </a:lnTo>
                <a:lnTo>
                  <a:pt x="90170" y="389254"/>
                </a:lnTo>
                <a:lnTo>
                  <a:pt x="77274" y="341756"/>
                </a:lnTo>
                <a:lnTo>
                  <a:pt x="65024" y="341756"/>
                </a:lnTo>
                <a:lnTo>
                  <a:pt x="57530" y="320801"/>
                </a:lnTo>
                <a:lnTo>
                  <a:pt x="70344" y="316232"/>
                </a:lnTo>
                <a:lnTo>
                  <a:pt x="56896" y="266700"/>
                </a:lnTo>
                <a:close/>
              </a:path>
              <a:path w="257175" h="389255">
                <a:moveTo>
                  <a:pt x="70344" y="316232"/>
                </a:moveTo>
                <a:lnTo>
                  <a:pt x="57530" y="320801"/>
                </a:lnTo>
                <a:lnTo>
                  <a:pt x="65024" y="341756"/>
                </a:lnTo>
                <a:lnTo>
                  <a:pt x="76192" y="337773"/>
                </a:lnTo>
                <a:lnTo>
                  <a:pt x="70344" y="316232"/>
                </a:lnTo>
                <a:close/>
              </a:path>
              <a:path w="257175" h="389255">
                <a:moveTo>
                  <a:pt x="76192" y="337773"/>
                </a:moveTo>
                <a:lnTo>
                  <a:pt x="65024" y="341756"/>
                </a:lnTo>
                <a:lnTo>
                  <a:pt x="77274" y="341756"/>
                </a:lnTo>
                <a:lnTo>
                  <a:pt x="76192" y="337773"/>
                </a:lnTo>
                <a:close/>
              </a:path>
              <a:path w="257175" h="389255">
                <a:moveTo>
                  <a:pt x="74504" y="314748"/>
                </a:moveTo>
                <a:lnTo>
                  <a:pt x="70344" y="316232"/>
                </a:lnTo>
                <a:lnTo>
                  <a:pt x="76192" y="337773"/>
                </a:lnTo>
                <a:lnTo>
                  <a:pt x="83184" y="335279"/>
                </a:lnTo>
                <a:lnTo>
                  <a:pt x="112935" y="315340"/>
                </a:lnTo>
                <a:lnTo>
                  <a:pt x="73532" y="315340"/>
                </a:lnTo>
                <a:lnTo>
                  <a:pt x="74504" y="314748"/>
                </a:lnTo>
                <a:close/>
              </a:path>
              <a:path w="257175" h="389255">
                <a:moveTo>
                  <a:pt x="75692" y="314325"/>
                </a:moveTo>
                <a:lnTo>
                  <a:pt x="74504" y="314748"/>
                </a:lnTo>
                <a:lnTo>
                  <a:pt x="73532" y="315340"/>
                </a:lnTo>
                <a:lnTo>
                  <a:pt x="75692" y="314325"/>
                </a:lnTo>
                <a:close/>
              </a:path>
              <a:path w="257175" h="389255">
                <a:moveTo>
                  <a:pt x="114254" y="314325"/>
                </a:moveTo>
                <a:lnTo>
                  <a:pt x="75692" y="314325"/>
                </a:lnTo>
                <a:lnTo>
                  <a:pt x="73532" y="315340"/>
                </a:lnTo>
                <a:lnTo>
                  <a:pt x="112935" y="315340"/>
                </a:lnTo>
                <a:lnTo>
                  <a:pt x="114254" y="314325"/>
                </a:lnTo>
                <a:close/>
              </a:path>
              <a:path w="257175" h="389255">
                <a:moveTo>
                  <a:pt x="234950" y="0"/>
                </a:moveTo>
                <a:lnTo>
                  <a:pt x="231775" y="47878"/>
                </a:lnTo>
                <a:lnTo>
                  <a:pt x="223012" y="94487"/>
                </a:lnTo>
                <a:lnTo>
                  <a:pt x="203326" y="154050"/>
                </a:lnTo>
                <a:lnTo>
                  <a:pt x="175895" y="208533"/>
                </a:lnTo>
                <a:lnTo>
                  <a:pt x="151383" y="244728"/>
                </a:lnTo>
                <a:lnTo>
                  <a:pt x="123825" y="276097"/>
                </a:lnTo>
                <a:lnTo>
                  <a:pt x="94233" y="301751"/>
                </a:lnTo>
                <a:lnTo>
                  <a:pt x="74504" y="314748"/>
                </a:lnTo>
                <a:lnTo>
                  <a:pt x="75692" y="314325"/>
                </a:lnTo>
                <a:lnTo>
                  <a:pt x="114254" y="314325"/>
                </a:lnTo>
                <a:lnTo>
                  <a:pt x="118872" y="310768"/>
                </a:lnTo>
                <a:lnTo>
                  <a:pt x="150114" y="280924"/>
                </a:lnTo>
                <a:lnTo>
                  <a:pt x="178434" y="245363"/>
                </a:lnTo>
                <a:lnTo>
                  <a:pt x="210693" y="191388"/>
                </a:lnTo>
                <a:lnTo>
                  <a:pt x="235457" y="131190"/>
                </a:lnTo>
                <a:lnTo>
                  <a:pt x="248284" y="83312"/>
                </a:lnTo>
                <a:lnTo>
                  <a:pt x="255650" y="33654"/>
                </a:lnTo>
                <a:lnTo>
                  <a:pt x="257048"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46" name="object 46"/>
          <p:cNvGraphicFramePr>
            <a:graphicFrameLocks noGrp="1"/>
          </p:cNvGraphicFramePr>
          <p:nvPr/>
        </p:nvGraphicFramePr>
        <p:xfrm>
          <a:off x="3799046" y="2243194"/>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287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47" name="object 47"/>
          <p:cNvSpPr/>
          <p:nvPr/>
        </p:nvSpPr>
        <p:spPr>
          <a:xfrm>
            <a:off x="3861969" y="2753259"/>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48" name="object 48"/>
          <p:cNvSpPr/>
          <p:nvPr/>
        </p:nvSpPr>
        <p:spPr>
          <a:xfrm>
            <a:off x="3861969" y="2753259"/>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49" name="object 49"/>
          <p:cNvSpPr txBox="1"/>
          <p:nvPr/>
        </p:nvSpPr>
        <p:spPr>
          <a:xfrm>
            <a:off x="3923919" y="2752114"/>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50" name="object 50"/>
          <p:cNvSpPr/>
          <p:nvPr/>
        </p:nvSpPr>
        <p:spPr>
          <a:xfrm>
            <a:off x="3929405" y="2564663"/>
            <a:ext cx="114300" cy="177165"/>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51" name="object 51"/>
          <p:cNvSpPr/>
          <p:nvPr/>
        </p:nvSpPr>
        <p:spPr>
          <a:xfrm>
            <a:off x="4120515" y="2564092"/>
            <a:ext cx="578930" cy="367475"/>
          </a:xfrm>
          <a:custGeom>
            <a:avLst/>
            <a:gdLst/>
            <a:ahLst/>
            <a:cxnLst/>
            <a:rect l="l" t="t" r="r" b="b"/>
            <a:pathLst>
              <a:path w="643254" h="408304">
                <a:moveTo>
                  <a:pt x="73279" y="281432"/>
                </a:moveTo>
                <a:lnTo>
                  <a:pt x="0" y="348234"/>
                </a:lnTo>
                <a:lnTo>
                  <a:pt x="78993" y="408305"/>
                </a:lnTo>
                <a:lnTo>
                  <a:pt x="76659" y="356488"/>
                </a:lnTo>
                <a:lnTo>
                  <a:pt x="64135" y="356488"/>
                </a:lnTo>
                <a:lnTo>
                  <a:pt x="62737" y="334263"/>
                </a:lnTo>
                <a:lnTo>
                  <a:pt x="75622" y="333466"/>
                </a:lnTo>
                <a:lnTo>
                  <a:pt x="73279" y="281432"/>
                </a:lnTo>
                <a:close/>
              </a:path>
              <a:path w="643254" h="408304">
                <a:moveTo>
                  <a:pt x="75622" y="333466"/>
                </a:moveTo>
                <a:lnTo>
                  <a:pt x="62737" y="334263"/>
                </a:lnTo>
                <a:lnTo>
                  <a:pt x="64135" y="356488"/>
                </a:lnTo>
                <a:lnTo>
                  <a:pt x="76623" y="355689"/>
                </a:lnTo>
                <a:lnTo>
                  <a:pt x="75622" y="333466"/>
                </a:lnTo>
                <a:close/>
              </a:path>
              <a:path w="643254" h="408304">
                <a:moveTo>
                  <a:pt x="76623" y="355689"/>
                </a:moveTo>
                <a:lnTo>
                  <a:pt x="64135" y="356488"/>
                </a:lnTo>
                <a:lnTo>
                  <a:pt x="76659" y="356488"/>
                </a:lnTo>
                <a:lnTo>
                  <a:pt x="76623" y="355689"/>
                </a:lnTo>
                <a:close/>
              </a:path>
              <a:path w="643254" h="408304">
                <a:moveTo>
                  <a:pt x="620776" y="0"/>
                </a:moveTo>
                <a:lnTo>
                  <a:pt x="613028" y="46355"/>
                </a:lnTo>
                <a:lnTo>
                  <a:pt x="591058" y="91694"/>
                </a:lnTo>
                <a:lnTo>
                  <a:pt x="555625" y="135889"/>
                </a:lnTo>
                <a:lnTo>
                  <a:pt x="525272" y="164592"/>
                </a:lnTo>
                <a:lnTo>
                  <a:pt x="489965" y="191897"/>
                </a:lnTo>
                <a:lnTo>
                  <a:pt x="450341" y="217678"/>
                </a:lnTo>
                <a:lnTo>
                  <a:pt x="406526" y="241808"/>
                </a:lnTo>
                <a:lnTo>
                  <a:pt x="359410" y="263779"/>
                </a:lnTo>
                <a:lnTo>
                  <a:pt x="309117" y="283337"/>
                </a:lnTo>
                <a:lnTo>
                  <a:pt x="256412" y="300228"/>
                </a:lnTo>
                <a:lnTo>
                  <a:pt x="201422" y="314325"/>
                </a:lnTo>
                <a:lnTo>
                  <a:pt x="144906" y="325247"/>
                </a:lnTo>
                <a:lnTo>
                  <a:pt x="87375" y="332739"/>
                </a:lnTo>
                <a:lnTo>
                  <a:pt x="75622" y="333466"/>
                </a:lnTo>
                <a:lnTo>
                  <a:pt x="76623" y="355689"/>
                </a:lnTo>
                <a:lnTo>
                  <a:pt x="119506" y="351409"/>
                </a:lnTo>
                <a:lnTo>
                  <a:pt x="177926" y="341884"/>
                </a:lnTo>
                <a:lnTo>
                  <a:pt x="234950" y="329057"/>
                </a:lnTo>
                <a:lnTo>
                  <a:pt x="290067" y="313182"/>
                </a:lnTo>
                <a:lnTo>
                  <a:pt x="342900" y="294386"/>
                </a:lnTo>
                <a:lnTo>
                  <a:pt x="393064" y="273050"/>
                </a:lnTo>
                <a:lnTo>
                  <a:pt x="439927" y="249174"/>
                </a:lnTo>
                <a:lnTo>
                  <a:pt x="483108" y="223393"/>
                </a:lnTo>
                <a:lnTo>
                  <a:pt x="522224" y="195580"/>
                </a:lnTo>
                <a:lnTo>
                  <a:pt x="556767" y="166116"/>
                </a:lnTo>
                <a:lnTo>
                  <a:pt x="586232" y="135128"/>
                </a:lnTo>
                <a:lnTo>
                  <a:pt x="610108" y="102870"/>
                </a:lnTo>
                <a:lnTo>
                  <a:pt x="634491" y="52324"/>
                </a:lnTo>
                <a:lnTo>
                  <a:pt x="642874" y="1270"/>
                </a:lnTo>
                <a:lnTo>
                  <a:pt x="6207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2" name="object 52"/>
          <p:cNvSpPr/>
          <p:nvPr/>
        </p:nvSpPr>
        <p:spPr>
          <a:xfrm>
            <a:off x="5263515" y="27532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2" y="93882"/>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3" name="object 53"/>
          <p:cNvSpPr/>
          <p:nvPr/>
        </p:nvSpPr>
        <p:spPr>
          <a:xfrm>
            <a:off x="5263515" y="27532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54" name="object 54"/>
          <p:cNvSpPr txBox="1"/>
          <p:nvPr/>
        </p:nvSpPr>
        <p:spPr>
          <a:xfrm>
            <a:off x="5320550" y="2737027"/>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4</a:t>
            </a:r>
            <a:endParaRPr sz="1620">
              <a:latin typeface="Comic Sans MS" panose="030F0702030302020204" pitchFamily="66" charset="0"/>
              <a:cs typeface="Arial" panose="020B0604020202020204"/>
            </a:endParaRPr>
          </a:p>
        </p:txBody>
      </p:sp>
      <p:sp>
        <p:nvSpPr>
          <p:cNvPr id="55" name="object 55"/>
          <p:cNvSpPr/>
          <p:nvPr/>
        </p:nvSpPr>
        <p:spPr>
          <a:xfrm>
            <a:off x="5331409" y="2564663"/>
            <a:ext cx="114300" cy="177165"/>
          </a:xfrm>
          <a:prstGeom prst="rect">
            <a:avLst/>
          </a:prstGeom>
          <a:blipFill>
            <a:blip r:embed="rId11" cstate="print"/>
            <a:stretch>
              <a:fillRect/>
            </a:stretch>
          </a:blipFill>
        </p:spPr>
        <p:txBody>
          <a:bodyPr wrap="square" lIns="0" tIns="0" rIns="0" bIns="0" rtlCol="0"/>
          <a:lstStyle/>
          <a:p>
            <a:endParaRPr sz="1620">
              <a:latin typeface="Comic Sans MS" panose="030F0702030302020204" pitchFamily="66" charset="0"/>
            </a:endParaRPr>
          </a:p>
        </p:txBody>
      </p:sp>
      <p:sp>
        <p:nvSpPr>
          <p:cNvPr id="56" name="object 56"/>
          <p:cNvSpPr/>
          <p:nvPr/>
        </p:nvSpPr>
        <p:spPr>
          <a:xfrm>
            <a:off x="5522176" y="2564092"/>
            <a:ext cx="580073" cy="367475"/>
          </a:xfrm>
          <a:custGeom>
            <a:avLst/>
            <a:gdLst/>
            <a:ahLst/>
            <a:cxnLst/>
            <a:rect l="l" t="t" r="r" b="b"/>
            <a:pathLst>
              <a:path w="644525" h="408304">
                <a:moveTo>
                  <a:pt x="73278" y="281432"/>
                </a:moveTo>
                <a:lnTo>
                  <a:pt x="0" y="348234"/>
                </a:lnTo>
                <a:lnTo>
                  <a:pt x="78994" y="408305"/>
                </a:lnTo>
                <a:lnTo>
                  <a:pt x="76659" y="356488"/>
                </a:lnTo>
                <a:lnTo>
                  <a:pt x="64135" y="356488"/>
                </a:lnTo>
                <a:lnTo>
                  <a:pt x="62737" y="334391"/>
                </a:lnTo>
                <a:lnTo>
                  <a:pt x="75625" y="333531"/>
                </a:lnTo>
                <a:lnTo>
                  <a:pt x="73278" y="281432"/>
                </a:lnTo>
                <a:close/>
              </a:path>
              <a:path w="644525" h="408304">
                <a:moveTo>
                  <a:pt x="75625" y="333531"/>
                </a:moveTo>
                <a:lnTo>
                  <a:pt x="62737" y="334391"/>
                </a:lnTo>
                <a:lnTo>
                  <a:pt x="64135" y="356488"/>
                </a:lnTo>
                <a:lnTo>
                  <a:pt x="76624" y="355693"/>
                </a:lnTo>
                <a:lnTo>
                  <a:pt x="75625" y="333531"/>
                </a:lnTo>
                <a:close/>
              </a:path>
              <a:path w="644525" h="408304">
                <a:moveTo>
                  <a:pt x="76624" y="355693"/>
                </a:moveTo>
                <a:lnTo>
                  <a:pt x="64135" y="356488"/>
                </a:lnTo>
                <a:lnTo>
                  <a:pt x="76659" y="356488"/>
                </a:lnTo>
                <a:lnTo>
                  <a:pt x="76624" y="355693"/>
                </a:lnTo>
                <a:close/>
              </a:path>
              <a:path w="644525" h="408304">
                <a:moveTo>
                  <a:pt x="622300" y="0"/>
                </a:moveTo>
                <a:lnTo>
                  <a:pt x="614552" y="46355"/>
                </a:lnTo>
                <a:lnTo>
                  <a:pt x="592454" y="91694"/>
                </a:lnTo>
                <a:lnTo>
                  <a:pt x="557022" y="135889"/>
                </a:lnTo>
                <a:lnTo>
                  <a:pt x="526541" y="164592"/>
                </a:lnTo>
                <a:lnTo>
                  <a:pt x="491236" y="191897"/>
                </a:lnTo>
                <a:lnTo>
                  <a:pt x="451358" y="217678"/>
                </a:lnTo>
                <a:lnTo>
                  <a:pt x="407543" y="241808"/>
                </a:lnTo>
                <a:lnTo>
                  <a:pt x="360172" y="263779"/>
                </a:lnTo>
                <a:lnTo>
                  <a:pt x="309879" y="283337"/>
                </a:lnTo>
                <a:lnTo>
                  <a:pt x="256921" y="300228"/>
                </a:lnTo>
                <a:lnTo>
                  <a:pt x="201929" y="314325"/>
                </a:lnTo>
                <a:lnTo>
                  <a:pt x="145287" y="325247"/>
                </a:lnTo>
                <a:lnTo>
                  <a:pt x="87502" y="332739"/>
                </a:lnTo>
                <a:lnTo>
                  <a:pt x="75625" y="333531"/>
                </a:lnTo>
                <a:lnTo>
                  <a:pt x="76624" y="355693"/>
                </a:lnTo>
                <a:lnTo>
                  <a:pt x="119634" y="351409"/>
                </a:lnTo>
                <a:lnTo>
                  <a:pt x="178308" y="341884"/>
                </a:lnTo>
                <a:lnTo>
                  <a:pt x="235458" y="329057"/>
                </a:lnTo>
                <a:lnTo>
                  <a:pt x="290829" y="313182"/>
                </a:lnTo>
                <a:lnTo>
                  <a:pt x="343662" y="294386"/>
                </a:lnTo>
                <a:lnTo>
                  <a:pt x="393953" y="273050"/>
                </a:lnTo>
                <a:lnTo>
                  <a:pt x="440944" y="249174"/>
                </a:lnTo>
                <a:lnTo>
                  <a:pt x="484250" y="223393"/>
                </a:lnTo>
                <a:lnTo>
                  <a:pt x="523494" y="195580"/>
                </a:lnTo>
                <a:lnTo>
                  <a:pt x="558038" y="166116"/>
                </a:lnTo>
                <a:lnTo>
                  <a:pt x="587628" y="135128"/>
                </a:lnTo>
                <a:lnTo>
                  <a:pt x="611632" y="102870"/>
                </a:lnTo>
                <a:lnTo>
                  <a:pt x="636015" y="52324"/>
                </a:lnTo>
                <a:lnTo>
                  <a:pt x="644525" y="1270"/>
                </a:lnTo>
                <a:lnTo>
                  <a:pt x="62230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7" name="object 57"/>
          <p:cNvSpPr/>
          <p:nvPr/>
        </p:nvSpPr>
        <p:spPr>
          <a:xfrm>
            <a:off x="6665176" y="27532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8" name="object 58"/>
          <p:cNvSpPr/>
          <p:nvPr/>
        </p:nvSpPr>
        <p:spPr>
          <a:xfrm>
            <a:off x="6665176" y="27532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59" name="object 59"/>
          <p:cNvSpPr txBox="1"/>
          <p:nvPr/>
        </p:nvSpPr>
        <p:spPr>
          <a:xfrm>
            <a:off x="6722326" y="2737027"/>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8</a:t>
            </a:r>
            <a:endParaRPr sz="1620">
              <a:latin typeface="Comic Sans MS" panose="030F0702030302020204" pitchFamily="66" charset="0"/>
              <a:cs typeface="Arial" panose="020B0604020202020204"/>
            </a:endParaRPr>
          </a:p>
        </p:txBody>
      </p:sp>
      <p:sp>
        <p:nvSpPr>
          <p:cNvPr id="60" name="object 60"/>
          <p:cNvSpPr/>
          <p:nvPr/>
        </p:nvSpPr>
        <p:spPr>
          <a:xfrm>
            <a:off x="6733298" y="2564548"/>
            <a:ext cx="114300" cy="177278"/>
          </a:xfrm>
          <a:prstGeom prst="rect">
            <a:avLst/>
          </a:prstGeom>
          <a:blipFill>
            <a:blip r:embed="rId12" cstate="print"/>
            <a:stretch>
              <a:fillRect/>
            </a:stretch>
          </a:blipFill>
        </p:spPr>
        <p:txBody>
          <a:bodyPr wrap="square" lIns="0" tIns="0" rIns="0" bIns="0" rtlCol="0"/>
          <a:lstStyle/>
          <a:p>
            <a:endParaRPr sz="1620">
              <a:latin typeface="Comic Sans MS" panose="030F0702030302020204" pitchFamily="66" charset="0"/>
            </a:endParaRPr>
          </a:p>
        </p:txBody>
      </p:sp>
      <p:sp>
        <p:nvSpPr>
          <p:cNvPr id="61" name="object 61"/>
          <p:cNvSpPr/>
          <p:nvPr/>
        </p:nvSpPr>
        <p:spPr>
          <a:xfrm>
            <a:off x="6923723" y="2564092"/>
            <a:ext cx="581787" cy="367475"/>
          </a:xfrm>
          <a:custGeom>
            <a:avLst/>
            <a:gdLst/>
            <a:ahLst/>
            <a:cxnLst/>
            <a:rect l="l" t="t" r="r" b="b"/>
            <a:pathLst>
              <a:path w="646429" h="408304">
                <a:moveTo>
                  <a:pt x="73278" y="281432"/>
                </a:moveTo>
                <a:lnTo>
                  <a:pt x="0" y="348234"/>
                </a:lnTo>
                <a:lnTo>
                  <a:pt x="78994" y="408305"/>
                </a:lnTo>
                <a:lnTo>
                  <a:pt x="76659" y="356488"/>
                </a:lnTo>
                <a:lnTo>
                  <a:pt x="64135" y="356488"/>
                </a:lnTo>
                <a:lnTo>
                  <a:pt x="62737" y="334391"/>
                </a:lnTo>
                <a:lnTo>
                  <a:pt x="75626" y="333540"/>
                </a:lnTo>
                <a:lnTo>
                  <a:pt x="73278" y="281432"/>
                </a:lnTo>
                <a:close/>
              </a:path>
              <a:path w="646429" h="408304">
                <a:moveTo>
                  <a:pt x="75626" y="333540"/>
                </a:moveTo>
                <a:lnTo>
                  <a:pt x="62737" y="334391"/>
                </a:lnTo>
                <a:lnTo>
                  <a:pt x="64135" y="356488"/>
                </a:lnTo>
                <a:lnTo>
                  <a:pt x="76624" y="355700"/>
                </a:lnTo>
                <a:lnTo>
                  <a:pt x="75626" y="333540"/>
                </a:lnTo>
                <a:close/>
              </a:path>
              <a:path w="646429" h="408304">
                <a:moveTo>
                  <a:pt x="76624" y="355700"/>
                </a:moveTo>
                <a:lnTo>
                  <a:pt x="64135" y="356488"/>
                </a:lnTo>
                <a:lnTo>
                  <a:pt x="76659" y="356488"/>
                </a:lnTo>
                <a:lnTo>
                  <a:pt x="76624" y="355700"/>
                </a:lnTo>
                <a:close/>
              </a:path>
              <a:path w="646429" h="408304">
                <a:moveTo>
                  <a:pt x="623951" y="0"/>
                </a:moveTo>
                <a:lnTo>
                  <a:pt x="616203" y="46355"/>
                </a:lnTo>
                <a:lnTo>
                  <a:pt x="594105" y="91567"/>
                </a:lnTo>
                <a:lnTo>
                  <a:pt x="558546" y="135889"/>
                </a:lnTo>
                <a:lnTo>
                  <a:pt x="528066" y="164592"/>
                </a:lnTo>
                <a:lnTo>
                  <a:pt x="492505" y="191897"/>
                </a:lnTo>
                <a:lnTo>
                  <a:pt x="452627" y="217678"/>
                </a:lnTo>
                <a:lnTo>
                  <a:pt x="408558" y="241808"/>
                </a:lnTo>
                <a:lnTo>
                  <a:pt x="361188" y="263779"/>
                </a:lnTo>
                <a:lnTo>
                  <a:pt x="310641" y="283210"/>
                </a:lnTo>
                <a:lnTo>
                  <a:pt x="257555" y="300228"/>
                </a:lnTo>
                <a:lnTo>
                  <a:pt x="202437" y="314325"/>
                </a:lnTo>
                <a:lnTo>
                  <a:pt x="145669" y="325247"/>
                </a:lnTo>
                <a:lnTo>
                  <a:pt x="87757" y="332739"/>
                </a:lnTo>
                <a:lnTo>
                  <a:pt x="75626" y="333540"/>
                </a:lnTo>
                <a:lnTo>
                  <a:pt x="76624" y="355700"/>
                </a:lnTo>
                <a:lnTo>
                  <a:pt x="120014" y="351409"/>
                </a:lnTo>
                <a:lnTo>
                  <a:pt x="178815" y="341884"/>
                </a:lnTo>
                <a:lnTo>
                  <a:pt x="236092" y="329057"/>
                </a:lnTo>
                <a:lnTo>
                  <a:pt x="291464" y="313182"/>
                </a:lnTo>
                <a:lnTo>
                  <a:pt x="344550" y="294386"/>
                </a:lnTo>
                <a:lnTo>
                  <a:pt x="394970" y="273050"/>
                </a:lnTo>
                <a:lnTo>
                  <a:pt x="442086" y="249300"/>
                </a:lnTo>
                <a:lnTo>
                  <a:pt x="485521" y="223393"/>
                </a:lnTo>
                <a:lnTo>
                  <a:pt x="524764" y="195707"/>
                </a:lnTo>
                <a:lnTo>
                  <a:pt x="559561" y="166116"/>
                </a:lnTo>
                <a:lnTo>
                  <a:pt x="589152" y="135128"/>
                </a:lnTo>
                <a:lnTo>
                  <a:pt x="613155" y="102997"/>
                </a:lnTo>
                <a:lnTo>
                  <a:pt x="637667" y="52324"/>
                </a:lnTo>
                <a:lnTo>
                  <a:pt x="646176"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62" name="object 62"/>
          <p:cNvSpPr/>
          <p:nvPr/>
        </p:nvSpPr>
        <p:spPr>
          <a:xfrm>
            <a:off x="8068209" y="27532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3" name="object 63"/>
          <p:cNvSpPr/>
          <p:nvPr/>
        </p:nvSpPr>
        <p:spPr>
          <a:xfrm>
            <a:off x="8068209" y="27532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64" name="object 64"/>
          <p:cNvSpPr txBox="1"/>
          <p:nvPr/>
        </p:nvSpPr>
        <p:spPr>
          <a:xfrm>
            <a:off x="8067865" y="2737027"/>
            <a:ext cx="313350"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12</a:t>
            </a:r>
            <a:endParaRPr sz="1620" dirty="0">
              <a:latin typeface="Comic Sans MS" panose="030F0702030302020204" pitchFamily="66" charset="0"/>
              <a:cs typeface="Arial" panose="020B0604020202020204"/>
            </a:endParaRPr>
          </a:p>
        </p:txBody>
      </p:sp>
      <p:sp>
        <p:nvSpPr>
          <p:cNvPr id="65" name="object 65"/>
          <p:cNvSpPr/>
          <p:nvPr/>
        </p:nvSpPr>
        <p:spPr>
          <a:xfrm>
            <a:off x="8136445" y="2564548"/>
            <a:ext cx="114186" cy="177278"/>
          </a:xfrm>
          <a:prstGeom prst="rect">
            <a:avLst/>
          </a:prstGeom>
          <a:blipFill>
            <a:blip r:embed="rId13" cstate="print"/>
            <a:stretch>
              <a:fillRect/>
            </a:stretch>
          </a:blipFill>
        </p:spPr>
        <p:txBody>
          <a:bodyPr wrap="square" lIns="0" tIns="0" rIns="0" bIns="0" rtlCol="0"/>
          <a:lstStyle/>
          <a:p>
            <a:endParaRPr sz="1620">
              <a:latin typeface="Comic Sans MS" panose="030F0702030302020204" pitchFamily="66" charset="0"/>
            </a:endParaRPr>
          </a:p>
        </p:txBody>
      </p:sp>
      <p:sp>
        <p:nvSpPr>
          <p:cNvPr id="66" name="object 66"/>
          <p:cNvSpPr/>
          <p:nvPr/>
        </p:nvSpPr>
        <p:spPr>
          <a:xfrm>
            <a:off x="8326755" y="2564092"/>
            <a:ext cx="581787" cy="367475"/>
          </a:xfrm>
          <a:custGeom>
            <a:avLst/>
            <a:gdLst/>
            <a:ahLst/>
            <a:cxnLst/>
            <a:rect l="l" t="t" r="r" b="b"/>
            <a:pathLst>
              <a:path w="646429" h="408304">
                <a:moveTo>
                  <a:pt x="73405" y="281432"/>
                </a:moveTo>
                <a:lnTo>
                  <a:pt x="0" y="348234"/>
                </a:lnTo>
                <a:lnTo>
                  <a:pt x="78994" y="408305"/>
                </a:lnTo>
                <a:lnTo>
                  <a:pt x="76711" y="356488"/>
                </a:lnTo>
                <a:lnTo>
                  <a:pt x="64261" y="356488"/>
                </a:lnTo>
                <a:lnTo>
                  <a:pt x="62738" y="334391"/>
                </a:lnTo>
                <a:lnTo>
                  <a:pt x="75700" y="333535"/>
                </a:lnTo>
                <a:lnTo>
                  <a:pt x="73405" y="281432"/>
                </a:lnTo>
                <a:close/>
              </a:path>
              <a:path w="646429" h="408304">
                <a:moveTo>
                  <a:pt x="75700" y="333535"/>
                </a:moveTo>
                <a:lnTo>
                  <a:pt x="62738" y="334391"/>
                </a:lnTo>
                <a:lnTo>
                  <a:pt x="64261" y="356488"/>
                </a:lnTo>
                <a:lnTo>
                  <a:pt x="76677" y="355701"/>
                </a:lnTo>
                <a:lnTo>
                  <a:pt x="75700" y="333535"/>
                </a:lnTo>
                <a:close/>
              </a:path>
              <a:path w="646429" h="408304">
                <a:moveTo>
                  <a:pt x="76677" y="355701"/>
                </a:moveTo>
                <a:lnTo>
                  <a:pt x="64261" y="356488"/>
                </a:lnTo>
                <a:lnTo>
                  <a:pt x="76711" y="356488"/>
                </a:lnTo>
                <a:lnTo>
                  <a:pt x="76677" y="355701"/>
                </a:lnTo>
                <a:close/>
              </a:path>
              <a:path w="646429" h="408304">
                <a:moveTo>
                  <a:pt x="623951" y="0"/>
                </a:moveTo>
                <a:lnTo>
                  <a:pt x="616203" y="46355"/>
                </a:lnTo>
                <a:lnTo>
                  <a:pt x="593978" y="91567"/>
                </a:lnTo>
                <a:lnTo>
                  <a:pt x="558419" y="135889"/>
                </a:lnTo>
                <a:lnTo>
                  <a:pt x="527939" y="164592"/>
                </a:lnTo>
                <a:lnTo>
                  <a:pt x="492505" y="191897"/>
                </a:lnTo>
                <a:lnTo>
                  <a:pt x="452500" y="217678"/>
                </a:lnTo>
                <a:lnTo>
                  <a:pt x="408685" y="241808"/>
                </a:lnTo>
                <a:lnTo>
                  <a:pt x="361188" y="263779"/>
                </a:lnTo>
                <a:lnTo>
                  <a:pt x="310769" y="283210"/>
                </a:lnTo>
                <a:lnTo>
                  <a:pt x="257682" y="300228"/>
                </a:lnTo>
                <a:lnTo>
                  <a:pt x="202438" y="314325"/>
                </a:lnTo>
                <a:lnTo>
                  <a:pt x="145669" y="325247"/>
                </a:lnTo>
                <a:lnTo>
                  <a:pt x="87756" y="332739"/>
                </a:lnTo>
                <a:lnTo>
                  <a:pt x="75700" y="333535"/>
                </a:lnTo>
                <a:lnTo>
                  <a:pt x="76677" y="355701"/>
                </a:lnTo>
                <a:lnTo>
                  <a:pt x="120015" y="351409"/>
                </a:lnTo>
                <a:lnTo>
                  <a:pt x="178816" y="341884"/>
                </a:lnTo>
                <a:lnTo>
                  <a:pt x="236093" y="329057"/>
                </a:lnTo>
                <a:lnTo>
                  <a:pt x="291592" y="313182"/>
                </a:lnTo>
                <a:lnTo>
                  <a:pt x="344677" y="294386"/>
                </a:lnTo>
                <a:lnTo>
                  <a:pt x="394970" y="273050"/>
                </a:lnTo>
                <a:lnTo>
                  <a:pt x="442086" y="249174"/>
                </a:lnTo>
                <a:lnTo>
                  <a:pt x="485521" y="223393"/>
                </a:lnTo>
                <a:lnTo>
                  <a:pt x="524891" y="195580"/>
                </a:lnTo>
                <a:lnTo>
                  <a:pt x="559434" y="166116"/>
                </a:lnTo>
                <a:lnTo>
                  <a:pt x="589152" y="135128"/>
                </a:lnTo>
                <a:lnTo>
                  <a:pt x="613155" y="102997"/>
                </a:lnTo>
                <a:lnTo>
                  <a:pt x="637667" y="52324"/>
                </a:lnTo>
                <a:lnTo>
                  <a:pt x="646049"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67" name="object 67"/>
          <p:cNvGraphicFramePr>
            <a:graphicFrameLocks noGrp="1"/>
          </p:cNvGraphicFramePr>
          <p:nvPr/>
        </p:nvGraphicFramePr>
        <p:xfrm>
          <a:off x="3799046" y="3157594"/>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0"/>
                        </a:spcBef>
                      </a:pPr>
                      <a:r>
                        <a:rPr sz="1300" b="1" spc="-5" dirty="0">
                          <a:latin typeface="Arial" panose="020B0604020202020204"/>
                          <a:cs typeface="Arial" panose="020B0604020202020204"/>
                        </a:rPr>
                        <a:t>18</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4</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0"/>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68" name="object 68"/>
          <p:cNvSpPr/>
          <p:nvPr/>
        </p:nvSpPr>
        <p:spPr>
          <a:xfrm>
            <a:off x="3861969" y="3667659"/>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9" name="object 69"/>
          <p:cNvSpPr/>
          <p:nvPr/>
        </p:nvSpPr>
        <p:spPr>
          <a:xfrm>
            <a:off x="3861969" y="3667659"/>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0" name="object 70"/>
          <p:cNvSpPr txBox="1"/>
          <p:nvPr/>
        </p:nvSpPr>
        <p:spPr>
          <a:xfrm>
            <a:off x="3923919" y="3666630"/>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71" name="object 71"/>
          <p:cNvSpPr/>
          <p:nvPr/>
        </p:nvSpPr>
        <p:spPr>
          <a:xfrm>
            <a:off x="3929405" y="3479064"/>
            <a:ext cx="114300" cy="177051"/>
          </a:xfrm>
          <a:prstGeom prst="rect">
            <a:avLst/>
          </a:prstGeom>
          <a:blipFill>
            <a:blip r:embed="rId14" cstate="print"/>
            <a:stretch>
              <a:fillRect/>
            </a:stretch>
          </a:blipFill>
        </p:spPr>
        <p:txBody>
          <a:bodyPr wrap="square" lIns="0" tIns="0" rIns="0" bIns="0" rtlCol="0"/>
          <a:lstStyle/>
          <a:p>
            <a:endParaRPr sz="1620">
              <a:latin typeface="Comic Sans MS" panose="030F0702030302020204" pitchFamily="66" charset="0"/>
            </a:endParaRPr>
          </a:p>
        </p:txBody>
      </p:sp>
      <p:sp>
        <p:nvSpPr>
          <p:cNvPr id="72" name="object 72"/>
          <p:cNvSpPr/>
          <p:nvPr/>
        </p:nvSpPr>
        <p:spPr>
          <a:xfrm>
            <a:off x="4120401" y="3478491"/>
            <a:ext cx="1280732" cy="369761"/>
          </a:xfrm>
          <a:custGeom>
            <a:avLst/>
            <a:gdLst/>
            <a:ahLst/>
            <a:cxnLst/>
            <a:rect l="l" t="t" r="r" b="b"/>
            <a:pathLst>
              <a:path w="1423035" h="410845">
                <a:moveTo>
                  <a:pt x="75564" y="283717"/>
                </a:moveTo>
                <a:lnTo>
                  <a:pt x="0" y="347852"/>
                </a:lnTo>
                <a:lnTo>
                  <a:pt x="76707" y="410717"/>
                </a:lnTo>
                <a:lnTo>
                  <a:pt x="76237" y="358393"/>
                </a:lnTo>
                <a:lnTo>
                  <a:pt x="63753" y="358393"/>
                </a:lnTo>
                <a:lnTo>
                  <a:pt x="63245" y="336168"/>
                </a:lnTo>
                <a:lnTo>
                  <a:pt x="76034" y="335908"/>
                </a:lnTo>
                <a:lnTo>
                  <a:pt x="75564" y="283717"/>
                </a:lnTo>
                <a:close/>
              </a:path>
              <a:path w="1423035" h="410845">
                <a:moveTo>
                  <a:pt x="76034" y="335908"/>
                </a:moveTo>
                <a:lnTo>
                  <a:pt x="63245" y="336168"/>
                </a:lnTo>
                <a:lnTo>
                  <a:pt x="63753" y="358393"/>
                </a:lnTo>
                <a:lnTo>
                  <a:pt x="76234" y="358140"/>
                </a:lnTo>
                <a:lnTo>
                  <a:pt x="76034" y="335908"/>
                </a:lnTo>
                <a:close/>
              </a:path>
              <a:path w="1423035" h="410845">
                <a:moveTo>
                  <a:pt x="76234" y="358140"/>
                </a:moveTo>
                <a:lnTo>
                  <a:pt x="63753" y="358393"/>
                </a:lnTo>
                <a:lnTo>
                  <a:pt x="76237" y="358393"/>
                </a:lnTo>
                <a:lnTo>
                  <a:pt x="76234" y="358140"/>
                </a:lnTo>
                <a:close/>
              </a:path>
              <a:path w="1423035" h="410845">
                <a:moveTo>
                  <a:pt x="1400428" y="0"/>
                </a:moveTo>
                <a:lnTo>
                  <a:pt x="1384300" y="43179"/>
                </a:lnTo>
                <a:lnTo>
                  <a:pt x="1355216" y="73024"/>
                </a:lnTo>
                <a:lnTo>
                  <a:pt x="1323848" y="95884"/>
                </a:lnTo>
                <a:lnTo>
                  <a:pt x="1284859" y="118490"/>
                </a:lnTo>
                <a:lnTo>
                  <a:pt x="1238757" y="140842"/>
                </a:lnTo>
                <a:lnTo>
                  <a:pt x="1185926" y="162432"/>
                </a:lnTo>
                <a:lnTo>
                  <a:pt x="1147190" y="176529"/>
                </a:lnTo>
                <a:lnTo>
                  <a:pt x="1105915" y="190245"/>
                </a:lnTo>
                <a:lnTo>
                  <a:pt x="1062101" y="203580"/>
                </a:lnTo>
                <a:lnTo>
                  <a:pt x="1016000" y="216407"/>
                </a:lnTo>
                <a:lnTo>
                  <a:pt x="967613" y="228853"/>
                </a:lnTo>
                <a:lnTo>
                  <a:pt x="917193" y="240664"/>
                </a:lnTo>
                <a:lnTo>
                  <a:pt x="864869" y="252094"/>
                </a:lnTo>
                <a:lnTo>
                  <a:pt x="810640" y="262889"/>
                </a:lnTo>
                <a:lnTo>
                  <a:pt x="754761" y="273049"/>
                </a:lnTo>
                <a:lnTo>
                  <a:pt x="697229" y="282701"/>
                </a:lnTo>
                <a:lnTo>
                  <a:pt x="638428" y="291591"/>
                </a:lnTo>
                <a:lnTo>
                  <a:pt x="578230" y="299719"/>
                </a:lnTo>
                <a:lnTo>
                  <a:pt x="517016" y="307212"/>
                </a:lnTo>
                <a:lnTo>
                  <a:pt x="454532" y="313943"/>
                </a:lnTo>
                <a:lnTo>
                  <a:pt x="391287" y="319785"/>
                </a:lnTo>
                <a:lnTo>
                  <a:pt x="327278" y="324992"/>
                </a:lnTo>
                <a:lnTo>
                  <a:pt x="262509" y="329056"/>
                </a:lnTo>
                <a:lnTo>
                  <a:pt x="197357" y="332485"/>
                </a:lnTo>
                <a:lnTo>
                  <a:pt x="131825" y="334771"/>
                </a:lnTo>
                <a:lnTo>
                  <a:pt x="76034" y="335908"/>
                </a:lnTo>
                <a:lnTo>
                  <a:pt x="76234" y="358140"/>
                </a:lnTo>
                <a:lnTo>
                  <a:pt x="132587" y="356996"/>
                </a:lnTo>
                <a:lnTo>
                  <a:pt x="198500" y="354583"/>
                </a:lnTo>
                <a:lnTo>
                  <a:pt x="263905" y="351281"/>
                </a:lnTo>
                <a:lnTo>
                  <a:pt x="328929" y="347090"/>
                </a:lnTo>
                <a:lnTo>
                  <a:pt x="393318" y="341883"/>
                </a:lnTo>
                <a:lnTo>
                  <a:pt x="456946" y="336041"/>
                </a:lnTo>
                <a:lnTo>
                  <a:pt x="519684" y="329310"/>
                </a:lnTo>
                <a:lnTo>
                  <a:pt x="581278" y="321817"/>
                </a:lnTo>
                <a:lnTo>
                  <a:pt x="641730" y="313562"/>
                </a:lnTo>
                <a:lnTo>
                  <a:pt x="700913" y="304545"/>
                </a:lnTo>
                <a:lnTo>
                  <a:pt x="758698" y="294893"/>
                </a:lnTo>
                <a:lnTo>
                  <a:pt x="814959" y="284733"/>
                </a:lnTo>
                <a:lnTo>
                  <a:pt x="869568" y="273811"/>
                </a:lnTo>
                <a:lnTo>
                  <a:pt x="922401" y="262381"/>
                </a:lnTo>
                <a:lnTo>
                  <a:pt x="973201" y="250316"/>
                </a:lnTo>
                <a:lnTo>
                  <a:pt x="1021841" y="237870"/>
                </a:lnTo>
                <a:lnTo>
                  <a:pt x="1090929" y="218185"/>
                </a:lnTo>
                <a:lnTo>
                  <a:pt x="1134110" y="204469"/>
                </a:lnTo>
                <a:lnTo>
                  <a:pt x="1174623" y="190372"/>
                </a:lnTo>
                <a:lnTo>
                  <a:pt x="1212723" y="175894"/>
                </a:lnTo>
                <a:lnTo>
                  <a:pt x="1248028" y="161035"/>
                </a:lnTo>
                <a:lnTo>
                  <a:pt x="1295527" y="138048"/>
                </a:lnTo>
                <a:lnTo>
                  <a:pt x="1336293" y="114299"/>
                </a:lnTo>
                <a:lnTo>
                  <a:pt x="1369822" y="89788"/>
                </a:lnTo>
                <a:lnTo>
                  <a:pt x="1402714" y="55625"/>
                </a:lnTo>
                <a:lnTo>
                  <a:pt x="1420367" y="18922"/>
                </a:lnTo>
                <a:lnTo>
                  <a:pt x="1422527" y="1269"/>
                </a:lnTo>
                <a:lnTo>
                  <a:pt x="1400428"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73" name="object 73"/>
          <p:cNvSpPr/>
          <p:nvPr/>
        </p:nvSpPr>
        <p:spPr>
          <a:xfrm>
            <a:off x="6665176" y="36676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74" name="object 74"/>
          <p:cNvSpPr/>
          <p:nvPr/>
        </p:nvSpPr>
        <p:spPr>
          <a:xfrm>
            <a:off x="6665176" y="36676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5" name="object 75"/>
          <p:cNvSpPr txBox="1"/>
          <p:nvPr/>
        </p:nvSpPr>
        <p:spPr>
          <a:xfrm>
            <a:off x="6722326" y="3651542"/>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8</a:t>
            </a:r>
            <a:endParaRPr sz="1620">
              <a:latin typeface="Comic Sans MS" panose="030F0702030302020204" pitchFamily="66" charset="0"/>
              <a:cs typeface="Arial" panose="020B0604020202020204"/>
            </a:endParaRPr>
          </a:p>
        </p:txBody>
      </p:sp>
      <p:sp>
        <p:nvSpPr>
          <p:cNvPr id="76" name="object 76"/>
          <p:cNvSpPr/>
          <p:nvPr/>
        </p:nvSpPr>
        <p:spPr>
          <a:xfrm>
            <a:off x="6733298" y="3479064"/>
            <a:ext cx="114300" cy="177051"/>
          </a:xfrm>
          <a:prstGeom prst="rect">
            <a:avLst/>
          </a:prstGeom>
          <a:blipFill>
            <a:blip r:embed="rId15" cstate="print"/>
            <a:stretch>
              <a:fillRect/>
            </a:stretch>
          </a:blipFill>
        </p:spPr>
        <p:txBody>
          <a:bodyPr wrap="square" lIns="0" tIns="0" rIns="0" bIns="0" rtlCol="0"/>
          <a:lstStyle/>
          <a:p>
            <a:endParaRPr sz="1620">
              <a:latin typeface="Comic Sans MS" panose="030F0702030302020204" pitchFamily="66" charset="0"/>
            </a:endParaRPr>
          </a:p>
        </p:txBody>
      </p:sp>
      <p:sp>
        <p:nvSpPr>
          <p:cNvPr id="77" name="object 77"/>
          <p:cNvSpPr/>
          <p:nvPr/>
        </p:nvSpPr>
        <p:spPr>
          <a:xfrm>
            <a:off x="6923607" y="3478491"/>
            <a:ext cx="1283589" cy="369761"/>
          </a:xfrm>
          <a:custGeom>
            <a:avLst/>
            <a:gdLst/>
            <a:ahLst/>
            <a:cxnLst/>
            <a:rect l="l" t="t" r="r" b="b"/>
            <a:pathLst>
              <a:path w="1426209" h="410845">
                <a:moveTo>
                  <a:pt x="75691" y="283717"/>
                </a:moveTo>
                <a:lnTo>
                  <a:pt x="0" y="347852"/>
                </a:lnTo>
                <a:lnTo>
                  <a:pt x="76835" y="410717"/>
                </a:lnTo>
                <a:lnTo>
                  <a:pt x="76364" y="358393"/>
                </a:lnTo>
                <a:lnTo>
                  <a:pt x="63753" y="358393"/>
                </a:lnTo>
                <a:lnTo>
                  <a:pt x="63373" y="336168"/>
                </a:lnTo>
                <a:lnTo>
                  <a:pt x="76161" y="335909"/>
                </a:lnTo>
                <a:lnTo>
                  <a:pt x="75691" y="283717"/>
                </a:lnTo>
                <a:close/>
              </a:path>
              <a:path w="1426209" h="410845">
                <a:moveTo>
                  <a:pt x="76161" y="335909"/>
                </a:moveTo>
                <a:lnTo>
                  <a:pt x="63373" y="336168"/>
                </a:lnTo>
                <a:lnTo>
                  <a:pt x="63753" y="358393"/>
                </a:lnTo>
                <a:lnTo>
                  <a:pt x="76361" y="358139"/>
                </a:lnTo>
                <a:lnTo>
                  <a:pt x="76161" y="335909"/>
                </a:lnTo>
                <a:close/>
              </a:path>
              <a:path w="1426209" h="410845">
                <a:moveTo>
                  <a:pt x="76361" y="358139"/>
                </a:moveTo>
                <a:lnTo>
                  <a:pt x="63753" y="358393"/>
                </a:lnTo>
                <a:lnTo>
                  <a:pt x="76364" y="358393"/>
                </a:lnTo>
                <a:lnTo>
                  <a:pt x="76361" y="358139"/>
                </a:lnTo>
                <a:close/>
              </a:path>
              <a:path w="1426209" h="410845">
                <a:moveTo>
                  <a:pt x="1403477" y="0"/>
                </a:moveTo>
                <a:lnTo>
                  <a:pt x="1387348" y="43179"/>
                </a:lnTo>
                <a:lnTo>
                  <a:pt x="1358265" y="73024"/>
                </a:lnTo>
                <a:lnTo>
                  <a:pt x="1326769" y="95884"/>
                </a:lnTo>
                <a:lnTo>
                  <a:pt x="1287779" y="118490"/>
                </a:lnTo>
                <a:lnTo>
                  <a:pt x="1241425" y="140842"/>
                </a:lnTo>
                <a:lnTo>
                  <a:pt x="1188593" y="162432"/>
                </a:lnTo>
                <a:lnTo>
                  <a:pt x="1149857" y="176529"/>
                </a:lnTo>
                <a:lnTo>
                  <a:pt x="1108455" y="190245"/>
                </a:lnTo>
                <a:lnTo>
                  <a:pt x="1064513" y="203580"/>
                </a:lnTo>
                <a:lnTo>
                  <a:pt x="1018285" y="216407"/>
                </a:lnTo>
                <a:lnTo>
                  <a:pt x="969772" y="228853"/>
                </a:lnTo>
                <a:lnTo>
                  <a:pt x="919226" y="240664"/>
                </a:lnTo>
                <a:lnTo>
                  <a:pt x="866775" y="252094"/>
                </a:lnTo>
                <a:lnTo>
                  <a:pt x="812419" y="262889"/>
                </a:lnTo>
                <a:lnTo>
                  <a:pt x="756411" y="273049"/>
                </a:lnTo>
                <a:lnTo>
                  <a:pt x="698880" y="282701"/>
                </a:lnTo>
                <a:lnTo>
                  <a:pt x="639952" y="291591"/>
                </a:lnTo>
                <a:lnTo>
                  <a:pt x="579627" y="299719"/>
                </a:lnTo>
                <a:lnTo>
                  <a:pt x="518159" y="307212"/>
                </a:lnTo>
                <a:lnTo>
                  <a:pt x="455549" y="313943"/>
                </a:lnTo>
                <a:lnTo>
                  <a:pt x="392175" y="319785"/>
                </a:lnTo>
                <a:lnTo>
                  <a:pt x="328040" y="324992"/>
                </a:lnTo>
                <a:lnTo>
                  <a:pt x="263143" y="329056"/>
                </a:lnTo>
                <a:lnTo>
                  <a:pt x="197865" y="332485"/>
                </a:lnTo>
                <a:lnTo>
                  <a:pt x="132206" y="334771"/>
                </a:lnTo>
                <a:lnTo>
                  <a:pt x="76161" y="335909"/>
                </a:lnTo>
                <a:lnTo>
                  <a:pt x="76361" y="358139"/>
                </a:lnTo>
                <a:lnTo>
                  <a:pt x="132968" y="356996"/>
                </a:lnTo>
                <a:lnTo>
                  <a:pt x="198881" y="354583"/>
                </a:lnTo>
                <a:lnTo>
                  <a:pt x="264667" y="351281"/>
                </a:lnTo>
                <a:lnTo>
                  <a:pt x="329818" y="347090"/>
                </a:lnTo>
                <a:lnTo>
                  <a:pt x="394334" y="341883"/>
                </a:lnTo>
                <a:lnTo>
                  <a:pt x="457961" y="336041"/>
                </a:lnTo>
                <a:lnTo>
                  <a:pt x="520826" y="329310"/>
                </a:lnTo>
                <a:lnTo>
                  <a:pt x="582549" y="321817"/>
                </a:lnTo>
                <a:lnTo>
                  <a:pt x="643254" y="313562"/>
                </a:lnTo>
                <a:lnTo>
                  <a:pt x="702563" y="304545"/>
                </a:lnTo>
                <a:lnTo>
                  <a:pt x="760476" y="294893"/>
                </a:lnTo>
                <a:lnTo>
                  <a:pt x="816863" y="284733"/>
                </a:lnTo>
                <a:lnTo>
                  <a:pt x="871474" y="273811"/>
                </a:lnTo>
                <a:lnTo>
                  <a:pt x="924305" y="262381"/>
                </a:lnTo>
                <a:lnTo>
                  <a:pt x="975359" y="250443"/>
                </a:lnTo>
                <a:lnTo>
                  <a:pt x="1024127" y="237870"/>
                </a:lnTo>
                <a:lnTo>
                  <a:pt x="1093343" y="218185"/>
                </a:lnTo>
                <a:lnTo>
                  <a:pt x="1136650" y="204469"/>
                </a:lnTo>
                <a:lnTo>
                  <a:pt x="1177290" y="190372"/>
                </a:lnTo>
                <a:lnTo>
                  <a:pt x="1215390" y="175894"/>
                </a:lnTo>
                <a:lnTo>
                  <a:pt x="1250823" y="161035"/>
                </a:lnTo>
                <a:lnTo>
                  <a:pt x="1298321" y="138048"/>
                </a:lnTo>
                <a:lnTo>
                  <a:pt x="1339215" y="114426"/>
                </a:lnTo>
                <a:lnTo>
                  <a:pt x="1372743" y="89788"/>
                </a:lnTo>
                <a:lnTo>
                  <a:pt x="1405762" y="55625"/>
                </a:lnTo>
                <a:lnTo>
                  <a:pt x="1423416" y="19049"/>
                </a:lnTo>
                <a:lnTo>
                  <a:pt x="1425702" y="1269"/>
                </a:lnTo>
                <a:lnTo>
                  <a:pt x="140347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78" name="object 78"/>
          <p:cNvGraphicFramePr>
            <a:graphicFrameLocks noGrp="1"/>
          </p:cNvGraphicFramePr>
          <p:nvPr/>
        </p:nvGraphicFramePr>
        <p:xfrm>
          <a:off x="3799046" y="407188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5"/>
                        </a:spcBef>
                      </a:pPr>
                      <a:r>
                        <a:rPr sz="1300" b="1" spc="-5" dirty="0">
                          <a:latin typeface="Arial" panose="020B0604020202020204"/>
                          <a:cs typeface="Arial" panose="020B0604020202020204"/>
                        </a:rPr>
                        <a:t>24</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79" name="object 79"/>
          <p:cNvSpPr/>
          <p:nvPr/>
        </p:nvSpPr>
        <p:spPr>
          <a:xfrm>
            <a:off x="3861969" y="4581943"/>
            <a:ext cx="247460" cy="247460"/>
          </a:xfrm>
          <a:custGeom>
            <a:avLst/>
            <a:gdLst/>
            <a:ahLst/>
            <a:cxnLst/>
            <a:rect l="l" t="t" r="r" b="b"/>
            <a:pathLst>
              <a:path w="274955" h="274954">
                <a:moveTo>
                  <a:pt x="137287" y="0"/>
                </a:moveTo>
                <a:lnTo>
                  <a:pt x="93894" y="7012"/>
                </a:lnTo>
                <a:lnTo>
                  <a:pt x="56208" y="26533"/>
                </a:lnTo>
                <a:lnTo>
                  <a:pt x="26489" y="56290"/>
                </a:lnTo>
                <a:lnTo>
                  <a:pt x="6999" y="94008"/>
                </a:lnTo>
                <a:lnTo>
                  <a:pt x="0" y="137413"/>
                </a:lnTo>
                <a:lnTo>
                  <a:pt x="6999" y="180806"/>
                </a:lnTo>
                <a:lnTo>
                  <a:pt x="26489" y="218492"/>
                </a:lnTo>
                <a:lnTo>
                  <a:pt x="56208" y="248211"/>
                </a:lnTo>
                <a:lnTo>
                  <a:pt x="93894" y="267701"/>
                </a:lnTo>
                <a:lnTo>
                  <a:pt x="137287" y="274700"/>
                </a:lnTo>
                <a:lnTo>
                  <a:pt x="180679" y="267701"/>
                </a:lnTo>
                <a:lnTo>
                  <a:pt x="218365" y="248211"/>
                </a:lnTo>
                <a:lnTo>
                  <a:pt x="248084" y="218492"/>
                </a:lnTo>
                <a:lnTo>
                  <a:pt x="267574" y="180806"/>
                </a:lnTo>
                <a:lnTo>
                  <a:pt x="274574" y="137413"/>
                </a:lnTo>
                <a:lnTo>
                  <a:pt x="267574" y="94008"/>
                </a:lnTo>
                <a:lnTo>
                  <a:pt x="248084" y="56290"/>
                </a:lnTo>
                <a:lnTo>
                  <a:pt x="218365" y="26533"/>
                </a:lnTo>
                <a:lnTo>
                  <a:pt x="180679" y="7012"/>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80" name="object 80"/>
          <p:cNvSpPr/>
          <p:nvPr/>
        </p:nvSpPr>
        <p:spPr>
          <a:xfrm>
            <a:off x="3861969" y="4581943"/>
            <a:ext cx="247460" cy="247460"/>
          </a:xfrm>
          <a:custGeom>
            <a:avLst/>
            <a:gdLst/>
            <a:ahLst/>
            <a:cxnLst/>
            <a:rect l="l" t="t" r="r" b="b"/>
            <a:pathLst>
              <a:path w="274955" h="274954">
                <a:moveTo>
                  <a:pt x="0" y="137413"/>
                </a:moveTo>
                <a:lnTo>
                  <a:pt x="6999" y="94008"/>
                </a:lnTo>
                <a:lnTo>
                  <a:pt x="26489" y="56290"/>
                </a:lnTo>
                <a:lnTo>
                  <a:pt x="56208" y="26533"/>
                </a:lnTo>
                <a:lnTo>
                  <a:pt x="93894" y="7012"/>
                </a:lnTo>
                <a:lnTo>
                  <a:pt x="137287" y="0"/>
                </a:lnTo>
                <a:lnTo>
                  <a:pt x="180679" y="7012"/>
                </a:lnTo>
                <a:lnTo>
                  <a:pt x="218365" y="26533"/>
                </a:lnTo>
                <a:lnTo>
                  <a:pt x="248084" y="56290"/>
                </a:lnTo>
                <a:lnTo>
                  <a:pt x="267574" y="94008"/>
                </a:lnTo>
                <a:lnTo>
                  <a:pt x="274574" y="137413"/>
                </a:lnTo>
                <a:lnTo>
                  <a:pt x="267574" y="180806"/>
                </a:lnTo>
                <a:lnTo>
                  <a:pt x="248084" y="218492"/>
                </a:lnTo>
                <a:lnTo>
                  <a:pt x="218365" y="248211"/>
                </a:lnTo>
                <a:lnTo>
                  <a:pt x="180679" y="267701"/>
                </a:lnTo>
                <a:lnTo>
                  <a:pt x="137287" y="274700"/>
                </a:lnTo>
                <a:lnTo>
                  <a:pt x="93894" y="267701"/>
                </a:lnTo>
                <a:lnTo>
                  <a:pt x="56208" y="248211"/>
                </a:lnTo>
                <a:lnTo>
                  <a:pt x="26489" y="218492"/>
                </a:lnTo>
                <a:lnTo>
                  <a:pt x="6999" y="180806"/>
                </a:lnTo>
                <a:lnTo>
                  <a:pt x="0" y="137413"/>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81" name="object 81"/>
          <p:cNvSpPr txBox="1"/>
          <p:nvPr/>
        </p:nvSpPr>
        <p:spPr>
          <a:xfrm>
            <a:off x="3923919" y="4581257"/>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82" name="object 82"/>
          <p:cNvSpPr/>
          <p:nvPr/>
        </p:nvSpPr>
        <p:spPr>
          <a:xfrm>
            <a:off x="3929405" y="4393348"/>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83" name="object 83"/>
          <p:cNvSpPr/>
          <p:nvPr/>
        </p:nvSpPr>
        <p:spPr>
          <a:xfrm>
            <a:off x="4120515" y="4392092"/>
            <a:ext cx="2683193" cy="370904"/>
          </a:xfrm>
          <a:custGeom>
            <a:avLst/>
            <a:gdLst/>
            <a:ahLst/>
            <a:cxnLst/>
            <a:rect l="l" t="t" r="r" b="b"/>
            <a:pathLst>
              <a:path w="2981325" h="412114">
                <a:moveTo>
                  <a:pt x="75818" y="285115"/>
                </a:moveTo>
                <a:lnTo>
                  <a:pt x="0" y="349123"/>
                </a:lnTo>
                <a:lnTo>
                  <a:pt x="76707" y="412115"/>
                </a:lnTo>
                <a:lnTo>
                  <a:pt x="76341" y="359791"/>
                </a:lnTo>
                <a:lnTo>
                  <a:pt x="63626" y="359791"/>
                </a:lnTo>
                <a:lnTo>
                  <a:pt x="63500" y="337566"/>
                </a:lnTo>
                <a:lnTo>
                  <a:pt x="76185" y="337475"/>
                </a:lnTo>
                <a:lnTo>
                  <a:pt x="75818" y="285115"/>
                </a:lnTo>
                <a:close/>
              </a:path>
              <a:path w="2981325" h="412114">
                <a:moveTo>
                  <a:pt x="76185" y="337475"/>
                </a:moveTo>
                <a:lnTo>
                  <a:pt x="63500" y="337566"/>
                </a:lnTo>
                <a:lnTo>
                  <a:pt x="63626" y="359791"/>
                </a:lnTo>
                <a:lnTo>
                  <a:pt x="76341" y="359700"/>
                </a:lnTo>
                <a:lnTo>
                  <a:pt x="76185" y="337475"/>
                </a:lnTo>
                <a:close/>
              </a:path>
              <a:path w="2981325" h="412114">
                <a:moveTo>
                  <a:pt x="76341" y="359700"/>
                </a:moveTo>
                <a:lnTo>
                  <a:pt x="63626" y="359791"/>
                </a:lnTo>
                <a:lnTo>
                  <a:pt x="76341" y="359791"/>
                </a:lnTo>
                <a:close/>
              </a:path>
              <a:path w="2981325" h="412114">
                <a:moveTo>
                  <a:pt x="2951757" y="19078"/>
                </a:moveTo>
                <a:lnTo>
                  <a:pt x="2913126" y="48641"/>
                </a:lnTo>
                <a:lnTo>
                  <a:pt x="2862834" y="72136"/>
                </a:lnTo>
                <a:lnTo>
                  <a:pt x="2819654" y="87630"/>
                </a:lnTo>
                <a:lnTo>
                  <a:pt x="2769362" y="103124"/>
                </a:lnTo>
                <a:lnTo>
                  <a:pt x="2712212" y="118364"/>
                </a:lnTo>
                <a:lnTo>
                  <a:pt x="2614041" y="140970"/>
                </a:lnTo>
                <a:lnTo>
                  <a:pt x="2502027" y="162814"/>
                </a:lnTo>
                <a:lnTo>
                  <a:pt x="2420112" y="176911"/>
                </a:lnTo>
                <a:lnTo>
                  <a:pt x="2332736" y="190754"/>
                </a:lnTo>
                <a:lnTo>
                  <a:pt x="2240279" y="203962"/>
                </a:lnTo>
                <a:lnTo>
                  <a:pt x="2142744" y="216916"/>
                </a:lnTo>
                <a:lnTo>
                  <a:pt x="1934210" y="241427"/>
                </a:lnTo>
                <a:lnTo>
                  <a:pt x="1709420" y="263652"/>
                </a:lnTo>
                <a:lnTo>
                  <a:pt x="1470405" y="283464"/>
                </a:lnTo>
                <a:lnTo>
                  <a:pt x="1219327" y="300736"/>
                </a:lnTo>
                <a:lnTo>
                  <a:pt x="825119" y="320929"/>
                </a:lnTo>
                <a:lnTo>
                  <a:pt x="553720" y="330200"/>
                </a:lnTo>
                <a:lnTo>
                  <a:pt x="277875" y="336042"/>
                </a:lnTo>
                <a:lnTo>
                  <a:pt x="76185" y="337475"/>
                </a:lnTo>
                <a:lnTo>
                  <a:pt x="76341" y="359700"/>
                </a:lnTo>
                <a:lnTo>
                  <a:pt x="278384" y="358267"/>
                </a:lnTo>
                <a:lnTo>
                  <a:pt x="554482" y="352425"/>
                </a:lnTo>
                <a:lnTo>
                  <a:pt x="826135" y="343027"/>
                </a:lnTo>
                <a:lnTo>
                  <a:pt x="1220851" y="322834"/>
                </a:lnTo>
                <a:lnTo>
                  <a:pt x="1593341" y="296037"/>
                </a:lnTo>
                <a:lnTo>
                  <a:pt x="1826005" y="274955"/>
                </a:lnTo>
                <a:lnTo>
                  <a:pt x="2043429" y="251460"/>
                </a:lnTo>
                <a:lnTo>
                  <a:pt x="2145665" y="239014"/>
                </a:lnTo>
                <a:lnTo>
                  <a:pt x="2243454" y="226060"/>
                </a:lnTo>
                <a:lnTo>
                  <a:pt x="2336291" y="212598"/>
                </a:lnTo>
                <a:lnTo>
                  <a:pt x="2423922" y="198755"/>
                </a:lnTo>
                <a:lnTo>
                  <a:pt x="2506091" y="184531"/>
                </a:lnTo>
                <a:lnTo>
                  <a:pt x="2582672" y="169925"/>
                </a:lnTo>
                <a:lnTo>
                  <a:pt x="2653284" y="155067"/>
                </a:lnTo>
                <a:lnTo>
                  <a:pt x="2717673" y="139827"/>
                </a:lnTo>
                <a:lnTo>
                  <a:pt x="2775712" y="124460"/>
                </a:lnTo>
                <a:lnTo>
                  <a:pt x="2827020" y="108585"/>
                </a:lnTo>
                <a:lnTo>
                  <a:pt x="2871470" y="92583"/>
                </a:lnTo>
                <a:lnTo>
                  <a:pt x="2908680" y="76200"/>
                </a:lnTo>
                <a:lnTo>
                  <a:pt x="2950972" y="50546"/>
                </a:lnTo>
                <a:lnTo>
                  <a:pt x="2968879" y="33274"/>
                </a:lnTo>
                <a:lnTo>
                  <a:pt x="2969260" y="32893"/>
                </a:lnTo>
                <a:lnTo>
                  <a:pt x="2969514" y="32385"/>
                </a:lnTo>
                <a:lnTo>
                  <a:pt x="2969895" y="32004"/>
                </a:lnTo>
                <a:lnTo>
                  <a:pt x="2975229" y="23875"/>
                </a:lnTo>
                <a:lnTo>
                  <a:pt x="2975991" y="22606"/>
                </a:lnTo>
                <a:lnTo>
                  <a:pt x="2976245" y="21843"/>
                </a:lnTo>
                <a:lnTo>
                  <a:pt x="2977088" y="19685"/>
                </a:lnTo>
                <a:lnTo>
                  <a:pt x="2951353" y="19685"/>
                </a:lnTo>
                <a:lnTo>
                  <a:pt x="2951757" y="19078"/>
                </a:lnTo>
                <a:close/>
              </a:path>
              <a:path w="2981325" h="412114">
                <a:moveTo>
                  <a:pt x="2952369" y="18415"/>
                </a:moveTo>
                <a:lnTo>
                  <a:pt x="2951757" y="19078"/>
                </a:lnTo>
                <a:lnTo>
                  <a:pt x="2951353" y="19685"/>
                </a:lnTo>
                <a:lnTo>
                  <a:pt x="2952369" y="18415"/>
                </a:lnTo>
                <a:close/>
              </a:path>
              <a:path w="2981325" h="412114">
                <a:moveTo>
                  <a:pt x="2977584" y="18415"/>
                </a:moveTo>
                <a:lnTo>
                  <a:pt x="2952369" y="18415"/>
                </a:lnTo>
                <a:lnTo>
                  <a:pt x="2951353" y="19685"/>
                </a:lnTo>
                <a:lnTo>
                  <a:pt x="2977088" y="19685"/>
                </a:lnTo>
                <a:lnTo>
                  <a:pt x="2977584" y="18415"/>
                </a:lnTo>
                <a:close/>
              </a:path>
              <a:path w="2981325" h="412114">
                <a:moveTo>
                  <a:pt x="2980091" y="11684"/>
                </a:moveTo>
                <a:lnTo>
                  <a:pt x="2956687" y="11684"/>
                </a:lnTo>
                <a:lnTo>
                  <a:pt x="2955544" y="13589"/>
                </a:lnTo>
                <a:lnTo>
                  <a:pt x="2951757" y="19078"/>
                </a:lnTo>
                <a:lnTo>
                  <a:pt x="2952369" y="18415"/>
                </a:lnTo>
                <a:lnTo>
                  <a:pt x="2977584" y="18415"/>
                </a:lnTo>
                <a:lnTo>
                  <a:pt x="2979483" y="13589"/>
                </a:lnTo>
                <a:lnTo>
                  <a:pt x="2979801" y="12954"/>
                </a:lnTo>
                <a:lnTo>
                  <a:pt x="2980054" y="11937"/>
                </a:lnTo>
                <a:lnTo>
                  <a:pt x="2980091" y="11684"/>
                </a:lnTo>
                <a:close/>
              </a:path>
              <a:path w="2981325" h="412114">
                <a:moveTo>
                  <a:pt x="2955742" y="13101"/>
                </a:moveTo>
                <a:lnTo>
                  <a:pt x="2955417" y="13589"/>
                </a:lnTo>
                <a:lnTo>
                  <a:pt x="2955742" y="13101"/>
                </a:lnTo>
                <a:close/>
              </a:path>
              <a:path w="2981325" h="412114">
                <a:moveTo>
                  <a:pt x="2956687" y="11684"/>
                </a:moveTo>
                <a:lnTo>
                  <a:pt x="2955742" y="13101"/>
                </a:lnTo>
                <a:lnTo>
                  <a:pt x="2955544" y="13589"/>
                </a:lnTo>
                <a:lnTo>
                  <a:pt x="2956687" y="11684"/>
                </a:lnTo>
                <a:close/>
              </a:path>
              <a:path w="2981325" h="412114">
                <a:moveTo>
                  <a:pt x="2958276" y="6861"/>
                </a:moveTo>
                <a:lnTo>
                  <a:pt x="2955742" y="13101"/>
                </a:lnTo>
                <a:lnTo>
                  <a:pt x="2956687" y="11684"/>
                </a:lnTo>
                <a:lnTo>
                  <a:pt x="2980091" y="11684"/>
                </a:lnTo>
                <a:lnTo>
                  <a:pt x="2980531" y="8255"/>
                </a:lnTo>
                <a:lnTo>
                  <a:pt x="2958084" y="8255"/>
                </a:lnTo>
                <a:lnTo>
                  <a:pt x="2958276" y="6861"/>
                </a:lnTo>
                <a:close/>
              </a:path>
              <a:path w="2981325" h="412114">
                <a:moveTo>
                  <a:pt x="2958846" y="5461"/>
                </a:moveTo>
                <a:lnTo>
                  <a:pt x="2958276" y="6861"/>
                </a:lnTo>
                <a:lnTo>
                  <a:pt x="2958084" y="8255"/>
                </a:lnTo>
                <a:lnTo>
                  <a:pt x="2958846" y="5461"/>
                </a:lnTo>
                <a:close/>
              </a:path>
              <a:path w="2981325" h="412114">
                <a:moveTo>
                  <a:pt x="2980880" y="5461"/>
                </a:moveTo>
                <a:lnTo>
                  <a:pt x="2958846" y="5461"/>
                </a:lnTo>
                <a:lnTo>
                  <a:pt x="2958084" y="8255"/>
                </a:lnTo>
                <a:lnTo>
                  <a:pt x="2980531" y="8255"/>
                </a:lnTo>
                <a:lnTo>
                  <a:pt x="2980880" y="5461"/>
                </a:lnTo>
                <a:close/>
              </a:path>
              <a:path w="2981325" h="412114">
                <a:moveTo>
                  <a:pt x="2959227" y="0"/>
                </a:moveTo>
                <a:lnTo>
                  <a:pt x="2958276" y="6861"/>
                </a:lnTo>
                <a:lnTo>
                  <a:pt x="2958846" y="5461"/>
                </a:lnTo>
                <a:lnTo>
                  <a:pt x="2980880" y="5461"/>
                </a:lnTo>
                <a:lnTo>
                  <a:pt x="2981198" y="2921"/>
                </a:lnTo>
                <a:lnTo>
                  <a:pt x="295922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84" name="object 84"/>
          <p:cNvSpPr/>
          <p:nvPr/>
        </p:nvSpPr>
        <p:spPr>
          <a:xfrm>
            <a:off x="3930206" y="2097405"/>
            <a:ext cx="114300" cy="158648"/>
          </a:xfrm>
          <a:prstGeom prst="rect">
            <a:avLst/>
          </a:prstGeom>
          <a:blipFill>
            <a:blip r:embed="rId16" cstate="print"/>
            <a:stretch>
              <a:fillRect/>
            </a:stretch>
          </a:blipFill>
        </p:spPr>
        <p:txBody>
          <a:bodyPr wrap="square" lIns="0" tIns="0" rIns="0" bIns="0" rtlCol="0"/>
          <a:lstStyle/>
          <a:p>
            <a:endParaRPr sz="1620">
              <a:latin typeface="Comic Sans MS" panose="030F0702030302020204" pitchFamily="66" charset="0"/>
            </a:endParaRPr>
          </a:p>
        </p:txBody>
      </p:sp>
      <p:sp>
        <p:nvSpPr>
          <p:cNvPr id="85" name="object 85"/>
          <p:cNvSpPr/>
          <p:nvPr/>
        </p:nvSpPr>
        <p:spPr>
          <a:xfrm>
            <a:off x="4631436" y="2097405"/>
            <a:ext cx="114300" cy="158648"/>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86" name="object 86"/>
          <p:cNvSpPr/>
          <p:nvPr/>
        </p:nvSpPr>
        <p:spPr>
          <a:xfrm>
            <a:off x="5332895" y="2097405"/>
            <a:ext cx="114300" cy="158648"/>
          </a:xfrm>
          <a:prstGeom prst="rect">
            <a:avLst/>
          </a:prstGeom>
          <a:blipFill>
            <a:blip r:embed="rId18" cstate="print"/>
            <a:stretch>
              <a:fillRect/>
            </a:stretch>
          </a:blipFill>
        </p:spPr>
        <p:txBody>
          <a:bodyPr wrap="square" lIns="0" tIns="0" rIns="0" bIns="0" rtlCol="0"/>
          <a:lstStyle/>
          <a:p>
            <a:endParaRPr sz="1620">
              <a:latin typeface="Comic Sans MS" panose="030F0702030302020204" pitchFamily="66" charset="0"/>
            </a:endParaRPr>
          </a:p>
        </p:txBody>
      </p:sp>
      <p:sp>
        <p:nvSpPr>
          <p:cNvPr id="87" name="object 87"/>
          <p:cNvSpPr/>
          <p:nvPr/>
        </p:nvSpPr>
        <p:spPr>
          <a:xfrm>
            <a:off x="6034469" y="2097405"/>
            <a:ext cx="114300" cy="158648"/>
          </a:xfrm>
          <a:prstGeom prst="rect">
            <a:avLst/>
          </a:prstGeom>
          <a:blipFill>
            <a:blip r:embed="rId19" cstate="print"/>
            <a:stretch>
              <a:fillRect/>
            </a:stretch>
          </a:blipFill>
        </p:spPr>
        <p:txBody>
          <a:bodyPr wrap="square" lIns="0" tIns="0" rIns="0" bIns="0" rtlCol="0"/>
          <a:lstStyle/>
          <a:p>
            <a:endParaRPr sz="1620">
              <a:latin typeface="Comic Sans MS" panose="030F0702030302020204" pitchFamily="66" charset="0"/>
            </a:endParaRPr>
          </a:p>
        </p:txBody>
      </p:sp>
      <p:sp>
        <p:nvSpPr>
          <p:cNvPr id="88" name="object 88"/>
          <p:cNvSpPr/>
          <p:nvPr/>
        </p:nvSpPr>
        <p:spPr>
          <a:xfrm>
            <a:off x="6735698" y="2097405"/>
            <a:ext cx="114300" cy="158648"/>
          </a:xfrm>
          <a:prstGeom prst="rect">
            <a:avLst/>
          </a:prstGeom>
          <a:blipFill>
            <a:blip r:embed="rId20" cstate="print"/>
            <a:stretch>
              <a:fillRect/>
            </a:stretch>
          </a:blipFill>
        </p:spPr>
        <p:txBody>
          <a:bodyPr wrap="square" lIns="0" tIns="0" rIns="0" bIns="0" rtlCol="0"/>
          <a:lstStyle/>
          <a:p>
            <a:endParaRPr sz="1620">
              <a:latin typeface="Comic Sans MS" panose="030F0702030302020204" pitchFamily="66" charset="0"/>
            </a:endParaRPr>
          </a:p>
        </p:txBody>
      </p:sp>
      <p:sp>
        <p:nvSpPr>
          <p:cNvPr id="89" name="object 89"/>
          <p:cNvSpPr/>
          <p:nvPr/>
        </p:nvSpPr>
        <p:spPr>
          <a:xfrm>
            <a:off x="7437157" y="2097405"/>
            <a:ext cx="114300" cy="158648"/>
          </a:xfrm>
          <a:prstGeom prst="rect">
            <a:avLst/>
          </a:prstGeom>
          <a:blipFill>
            <a:blip r:embed="rId21" cstate="print"/>
            <a:stretch>
              <a:fillRect/>
            </a:stretch>
          </a:blipFill>
        </p:spPr>
        <p:txBody>
          <a:bodyPr wrap="square" lIns="0" tIns="0" rIns="0" bIns="0" rtlCol="0"/>
          <a:lstStyle/>
          <a:p>
            <a:endParaRPr sz="1620">
              <a:latin typeface="Comic Sans MS" panose="030F0702030302020204" pitchFamily="66" charset="0"/>
            </a:endParaRPr>
          </a:p>
        </p:txBody>
      </p:sp>
      <p:sp>
        <p:nvSpPr>
          <p:cNvPr id="90" name="object 90"/>
          <p:cNvSpPr/>
          <p:nvPr/>
        </p:nvSpPr>
        <p:spPr>
          <a:xfrm>
            <a:off x="8138731" y="2097405"/>
            <a:ext cx="114300" cy="158648"/>
          </a:xfrm>
          <a:prstGeom prst="rect">
            <a:avLst/>
          </a:prstGeom>
          <a:blipFill>
            <a:blip r:embed="rId22" cstate="print"/>
            <a:stretch>
              <a:fillRect/>
            </a:stretch>
          </a:blipFill>
        </p:spPr>
        <p:txBody>
          <a:bodyPr wrap="square" lIns="0" tIns="0" rIns="0" bIns="0" rtlCol="0"/>
          <a:lstStyle/>
          <a:p>
            <a:endParaRPr sz="1620">
              <a:latin typeface="Comic Sans MS" panose="030F0702030302020204" pitchFamily="66" charset="0"/>
            </a:endParaRPr>
          </a:p>
        </p:txBody>
      </p:sp>
      <p:sp>
        <p:nvSpPr>
          <p:cNvPr id="91" name="object 91"/>
          <p:cNvSpPr/>
          <p:nvPr/>
        </p:nvSpPr>
        <p:spPr>
          <a:xfrm>
            <a:off x="8840190" y="2097405"/>
            <a:ext cx="114300" cy="158648"/>
          </a:xfrm>
          <a:prstGeom prst="rect">
            <a:avLst/>
          </a:prstGeom>
          <a:blipFill>
            <a:blip r:embed="rId23" cstate="print"/>
            <a:stretch>
              <a:fillRect/>
            </a:stretch>
          </a:blipFill>
        </p:spPr>
        <p:txBody>
          <a:bodyPr wrap="square" lIns="0" tIns="0" rIns="0" bIns="0" rtlCol="0"/>
          <a:lstStyle/>
          <a:p>
            <a:endParaRPr sz="1620">
              <a:latin typeface="Comic Sans MS" panose="030F0702030302020204" pitchFamily="66" charset="0"/>
            </a:endParaRPr>
          </a:p>
        </p:txBody>
      </p:sp>
      <p:sp>
        <p:nvSpPr>
          <p:cNvPr id="92" name="object 92"/>
          <p:cNvSpPr/>
          <p:nvPr/>
        </p:nvSpPr>
        <p:spPr>
          <a:xfrm>
            <a:off x="3930206" y="3011805"/>
            <a:ext cx="114300" cy="158648"/>
          </a:xfrm>
          <a:prstGeom prst="rect">
            <a:avLst/>
          </a:prstGeom>
          <a:blipFill>
            <a:blip r:embed="rId24" cstate="print"/>
            <a:stretch>
              <a:fillRect/>
            </a:stretch>
          </a:blipFill>
        </p:spPr>
        <p:txBody>
          <a:bodyPr wrap="square" lIns="0" tIns="0" rIns="0" bIns="0" rtlCol="0"/>
          <a:lstStyle/>
          <a:p>
            <a:endParaRPr sz="1620">
              <a:latin typeface="Comic Sans MS" panose="030F0702030302020204" pitchFamily="66" charset="0"/>
            </a:endParaRPr>
          </a:p>
        </p:txBody>
      </p:sp>
      <p:sp>
        <p:nvSpPr>
          <p:cNvPr id="93" name="object 93"/>
          <p:cNvSpPr/>
          <p:nvPr/>
        </p:nvSpPr>
        <p:spPr>
          <a:xfrm>
            <a:off x="5332895" y="3011805"/>
            <a:ext cx="114300" cy="158648"/>
          </a:xfrm>
          <a:prstGeom prst="rect">
            <a:avLst/>
          </a:prstGeom>
          <a:blipFill>
            <a:blip r:embed="rId25" cstate="print"/>
            <a:stretch>
              <a:fillRect/>
            </a:stretch>
          </a:blipFill>
        </p:spPr>
        <p:txBody>
          <a:bodyPr wrap="square" lIns="0" tIns="0" rIns="0" bIns="0" rtlCol="0"/>
          <a:lstStyle/>
          <a:p>
            <a:endParaRPr sz="1620">
              <a:latin typeface="Comic Sans MS" panose="030F0702030302020204" pitchFamily="66" charset="0"/>
            </a:endParaRPr>
          </a:p>
        </p:txBody>
      </p:sp>
      <p:sp>
        <p:nvSpPr>
          <p:cNvPr id="94" name="object 94"/>
          <p:cNvSpPr/>
          <p:nvPr/>
        </p:nvSpPr>
        <p:spPr>
          <a:xfrm>
            <a:off x="6735698" y="3011805"/>
            <a:ext cx="114300" cy="158648"/>
          </a:xfrm>
          <a:prstGeom prst="rect">
            <a:avLst/>
          </a:prstGeom>
          <a:blipFill>
            <a:blip r:embed="rId26" cstate="print"/>
            <a:stretch>
              <a:fillRect/>
            </a:stretch>
          </a:blipFill>
        </p:spPr>
        <p:txBody>
          <a:bodyPr wrap="square" lIns="0" tIns="0" rIns="0" bIns="0" rtlCol="0"/>
          <a:lstStyle/>
          <a:p>
            <a:endParaRPr sz="1620">
              <a:latin typeface="Comic Sans MS" panose="030F0702030302020204" pitchFamily="66" charset="0"/>
            </a:endParaRPr>
          </a:p>
        </p:txBody>
      </p:sp>
      <p:sp>
        <p:nvSpPr>
          <p:cNvPr id="95" name="object 95"/>
          <p:cNvSpPr/>
          <p:nvPr/>
        </p:nvSpPr>
        <p:spPr>
          <a:xfrm>
            <a:off x="8138731" y="3011805"/>
            <a:ext cx="114300" cy="158648"/>
          </a:xfrm>
          <a:prstGeom prst="rect">
            <a:avLst/>
          </a:prstGeom>
          <a:blipFill>
            <a:blip r:embed="rId27" cstate="print"/>
            <a:stretch>
              <a:fillRect/>
            </a:stretch>
          </a:blipFill>
        </p:spPr>
        <p:txBody>
          <a:bodyPr wrap="square" lIns="0" tIns="0" rIns="0" bIns="0" rtlCol="0"/>
          <a:lstStyle/>
          <a:p>
            <a:endParaRPr sz="1620">
              <a:latin typeface="Comic Sans MS" panose="030F0702030302020204" pitchFamily="66" charset="0"/>
            </a:endParaRPr>
          </a:p>
        </p:txBody>
      </p:sp>
      <p:sp>
        <p:nvSpPr>
          <p:cNvPr id="96" name="object 96"/>
          <p:cNvSpPr/>
          <p:nvPr/>
        </p:nvSpPr>
        <p:spPr>
          <a:xfrm>
            <a:off x="3930206" y="3926206"/>
            <a:ext cx="114300" cy="158534"/>
          </a:xfrm>
          <a:prstGeom prst="rect">
            <a:avLst/>
          </a:prstGeom>
          <a:blipFill>
            <a:blip r:embed="rId28" cstate="print"/>
            <a:stretch>
              <a:fillRect/>
            </a:stretch>
          </a:blipFill>
        </p:spPr>
        <p:txBody>
          <a:bodyPr wrap="square" lIns="0" tIns="0" rIns="0" bIns="0" rtlCol="0"/>
          <a:lstStyle/>
          <a:p>
            <a:endParaRPr sz="1620">
              <a:latin typeface="Comic Sans MS" panose="030F0702030302020204" pitchFamily="66" charset="0"/>
            </a:endParaRPr>
          </a:p>
        </p:txBody>
      </p:sp>
      <p:sp>
        <p:nvSpPr>
          <p:cNvPr id="97" name="object 97"/>
          <p:cNvSpPr/>
          <p:nvPr/>
        </p:nvSpPr>
        <p:spPr>
          <a:xfrm>
            <a:off x="6735698" y="3926090"/>
            <a:ext cx="114300" cy="158648"/>
          </a:xfrm>
          <a:prstGeom prst="rect">
            <a:avLst/>
          </a:prstGeom>
          <a:blipFill>
            <a:blip r:embed="rId29" cstate="print"/>
            <a:stretch>
              <a:fillRect/>
            </a:stretch>
          </a:blipFill>
        </p:spPr>
        <p:txBody>
          <a:bodyPr wrap="square" lIns="0" tIns="0" rIns="0" bIns="0" rtlCol="0"/>
          <a:lstStyle/>
          <a:p>
            <a:endParaRPr sz="1620">
              <a:latin typeface="Comic Sans MS" panose="030F0702030302020204" pitchFamily="66" charset="0"/>
            </a:endParaRPr>
          </a:p>
        </p:txBody>
      </p:sp>
      <p:graphicFrame>
        <p:nvGraphicFramePr>
          <p:cNvPr id="98" name="object 98"/>
          <p:cNvGraphicFramePr>
            <a:graphicFrameLocks noGrp="1"/>
          </p:cNvGraphicFramePr>
          <p:nvPr/>
        </p:nvGraphicFramePr>
        <p:xfrm>
          <a:off x="3799046" y="4974964"/>
          <a:ext cx="5612133" cy="308552"/>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552">
                <a:tc>
                  <a:txBody>
                    <a:bodyPr/>
                    <a:lstStyle/>
                    <a:p>
                      <a:pPr marL="97155">
                        <a:lnSpc>
                          <a:spcPct val="100000"/>
                        </a:lnSpc>
                        <a:spcBef>
                          <a:spcPts val="475"/>
                        </a:spcBef>
                      </a:pPr>
                      <a:r>
                        <a:rPr sz="1300" b="1" spc="-5" dirty="0">
                          <a:latin typeface="Arial" panose="020B0604020202020204"/>
                          <a:cs typeface="Arial" panose="020B0604020202020204"/>
                        </a:rPr>
                        <a:t>41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99" name="object 99"/>
          <p:cNvSpPr/>
          <p:nvPr/>
        </p:nvSpPr>
        <p:spPr>
          <a:xfrm>
            <a:off x="3930206" y="4840605"/>
            <a:ext cx="114300" cy="147218"/>
          </a:xfrm>
          <a:prstGeom prst="rect">
            <a:avLst/>
          </a:prstGeom>
          <a:blipFill>
            <a:blip r:embed="rId30" cstate="print"/>
            <a:stretch>
              <a:fillRect/>
            </a:stretch>
          </a:blipFill>
        </p:spPr>
        <p:txBody>
          <a:bodyPr wrap="square" lIns="0" tIns="0" rIns="0" bIns="0" rtlCol="0"/>
          <a:lstStyle/>
          <a:p>
            <a:endParaRPr sz="1620">
              <a:latin typeface="Comic Sans MS" panose="030F0702030302020204" pitchFamily="66" charset="0"/>
            </a:endParaRPr>
          </a:p>
        </p:txBody>
      </p:sp>
      <p:sp>
        <p:nvSpPr>
          <p:cNvPr id="100" name="object 100"/>
          <p:cNvSpPr txBox="1"/>
          <p:nvPr/>
        </p:nvSpPr>
        <p:spPr>
          <a:xfrm>
            <a:off x="1983149" y="1726387"/>
            <a:ext cx="842231"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dirty="0">
              <a:latin typeface="Comic Sans MS" panose="030F0702030302020204" pitchFamily="66" charset="0"/>
              <a:cs typeface="Arial" panose="020B0604020202020204"/>
            </a:endParaRPr>
          </a:p>
        </p:txBody>
      </p:sp>
      <p:sp>
        <p:nvSpPr>
          <p:cNvPr id="101" name="object 101"/>
          <p:cNvSpPr txBox="1"/>
          <p:nvPr/>
        </p:nvSpPr>
        <p:spPr>
          <a:xfrm>
            <a:off x="1983150" y="2629472"/>
            <a:ext cx="848632"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dirty="0">
              <a:latin typeface="Comic Sans MS" panose="030F0702030302020204" pitchFamily="66" charset="0"/>
              <a:cs typeface="Arial" panose="020B0604020202020204"/>
            </a:endParaRPr>
          </a:p>
        </p:txBody>
      </p:sp>
      <p:sp>
        <p:nvSpPr>
          <p:cNvPr id="102" name="object 102"/>
          <p:cNvSpPr txBox="1"/>
          <p:nvPr/>
        </p:nvSpPr>
        <p:spPr>
          <a:xfrm>
            <a:off x="1983150" y="3543985"/>
            <a:ext cx="866976"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3</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dirty="0">
              <a:latin typeface="Comic Sans MS" panose="030F0702030302020204" pitchFamily="66" charset="0"/>
              <a:cs typeface="Arial" panose="020B0604020202020204"/>
            </a:endParaRPr>
          </a:p>
        </p:txBody>
      </p:sp>
      <p:sp>
        <p:nvSpPr>
          <p:cNvPr id="103" name="object 103"/>
          <p:cNvSpPr txBox="1"/>
          <p:nvPr/>
        </p:nvSpPr>
        <p:spPr>
          <a:xfrm>
            <a:off x="1983150" y="4458614"/>
            <a:ext cx="866976"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8</a:t>
            </a:r>
            <a:endParaRPr sz="1440" dirty="0">
              <a:latin typeface="Comic Sans MS" panose="030F0702030302020204" pitchFamily="66" charset="0"/>
              <a:cs typeface="Arial" panose="020B0604020202020204"/>
            </a:endParaRPr>
          </a:p>
        </p:txBody>
      </p:sp>
      <p:sp>
        <p:nvSpPr>
          <p:cNvPr id="104" name="object 104"/>
          <p:cNvSpPr txBox="1"/>
          <p:nvPr/>
        </p:nvSpPr>
        <p:spPr>
          <a:xfrm>
            <a:off x="2962942" y="1725586"/>
            <a:ext cx="773639" cy="3557930"/>
          </a:xfrm>
          <a:prstGeom prst="rect">
            <a:avLst/>
          </a:prstGeom>
        </p:spPr>
        <p:txBody>
          <a:bodyPr vert="horz" wrap="square" lIns="0" tIns="10859" rIns="0" bIns="0" rtlCol="0">
            <a:spAutoFit/>
          </a:bodyPr>
          <a:lstStyle/>
          <a:p>
            <a:pPr algn="ctr">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a:t>
            </a:r>
            <a:endParaRPr sz="1440" dirty="0">
              <a:latin typeface="Comic Sans MS" panose="030F0702030302020204" pitchFamily="66" charset="0"/>
              <a:cs typeface="Arial" panose="020B0604020202020204"/>
            </a:endParaRPr>
          </a:p>
          <a:p>
            <a:pPr marL="635" algn="ctr"/>
            <a:r>
              <a:rPr sz="1440" b="1" spc="-5" dirty="0">
                <a:latin typeface="Comic Sans MS" panose="030F0702030302020204" pitchFamily="66" charset="0"/>
                <a:cs typeface="Arial" panose="020B0604020202020204"/>
              </a:rPr>
              <a:t>IDs</a:t>
            </a:r>
            <a:endParaRPr sz="1440" dirty="0">
              <a:latin typeface="Comic Sans MS" panose="030F0702030302020204" pitchFamily="66" charset="0"/>
              <a:cs typeface="Arial" panose="020B0604020202020204"/>
            </a:endParaRPr>
          </a:p>
          <a:p>
            <a:pPr algn="ctr">
              <a:spcBef>
                <a:spcPts val="85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3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7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4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90"/>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83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p:txBody>
      </p:sp>
      <p:sp>
        <p:nvSpPr>
          <p:cNvPr id="106"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9</a:t>
            </a:fld>
            <a:endParaRPr spc="-5" dirty="0"/>
          </a:p>
        </p:txBody>
      </p:sp>
      <p:sp>
        <p:nvSpPr>
          <p:cNvPr id="105" name="矩形 104"/>
          <p:cNvSpPr/>
          <p:nvPr/>
        </p:nvSpPr>
        <p:spPr>
          <a:xfrm>
            <a:off x="2971801" y="1699597"/>
            <a:ext cx="6629400"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7" name="矩形 106"/>
          <p:cNvSpPr/>
          <p:nvPr/>
        </p:nvSpPr>
        <p:spPr>
          <a:xfrm>
            <a:off x="3106216" y="2620485"/>
            <a:ext cx="6465093"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8" name="矩形 107"/>
          <p:cNvSpPr/>
          <p:nvPr/>
        </p:nvSpPr>
        <p:spPr>
          <a:xfrm>
            <a:off x="3043751" y="3534143"/>
            <a:ext cx="6527557"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9" name="文本框 108">
            <a:extLst>
              <a:ext uri="{FF2B5EF4-FFF2-40B4-BE49-F238E27FC236}">
                <a16:creationId xmlns:a16="http://schemas.microsoft.com/office/drawing/2014/main" id="{1371F5E2-F5AC-4395-8F3D-98E3B1D38D31}"/>
              </a:ext>
            </a:extLst>
          </p:cNvPr>
          <p:cNvSpPr txBox="1"/>
          <p:nvPr/>
        </p:nvSpPr>
        <p:spPr>
          <a:xfrm>
            <a:off x="730298" y="829807"/>
            <a:ext cx="6579045" cy="338554"/>
          </a:xfrm>
          <a:prstGeom prst="rect">
            <a:avLst/>
          </a:prstGeom>
          <a:noFill/>
        </p:spPr>
        <p:txBody>
          <a:bodyPr wrap="none" rtlCol="0">
            <a:spAutoFit/>
          </a:bodyPr>
          <a:lstStyle/>
          <a:p>
            <a:r>
              <a:rPr lang="en-US" sz="1600" b="1" dirty="0">
                <a:highlight>
                  <a:srgbClr val="FFFF00"/>
                </a:highlight>
                <a:latin typeface="Comic Sans MS" panose="030F0702030302020204" pitchFamily="66" charset="0"/>
              </a:rPr>
              <a:t>Warp 0 Thread ID: 0, 2 , 4, 6, ……, 30, participate computing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71600" y="3154680"/>
            <a:ext cx="8229600" cy="1783080"/>
          </a:xfrm>
          <a:custGeom>
            <a:avLst/>
            <a:gdLst/>
            <a:ahLst/>
            <a:cxnLst/>
            <a:rect l="l" t="t" r="r" b="b"/>
            <a:pathLst>
              <a:path w="9144000" h="1981200">
                <a:moveTo>
                  <a:pt x="9144000" y="0"/>
                </a:moveTo>
                <a:lnTo>
                  <a:pt x="0" y="0"/>
                </a:lnTo>
                <a:lnTo>
                  <a:pt x="0" y="1981200"/>
                </a:lnTo>
                <a:lnTo>
                  <a:pt x="9144000" y="1981200"/>
                </a:lnTo>
                <a:lnTo>
                  <a:pt x="9144000" y="0"/>
                </a:lnTo>
                <a:close/>
              </a:path>
            </a:pathLst>
          </a:custGeom>
          <a:solidFill>
            <a:srgbClr val="76B800">
              <a:alpha val="49018"/>
            </a:srgbClr>
          </a:solidFill>
        </p:spPr>
        <p:txBody>
          <a:bodyPr wrap="square" lIns="0" tIns="0" rIns="0" bIns="0" rtlCol="0"/>
          <a:lstStyle/>
          <a:p>
            <a:endParaRPr sz="1620">
              <a:latin typeface="Comic Sans MS" panose="030F0702030302020204" pitchFamily="66" charset="0"/>
            </a:endParaRPr>
          </a:p>
        </p:txBody>
      </p:sp>
      <p:sp>
        <p:nvSpPr>
          <p:cNvPr id="3" name="object 3"/>
          <p:cNvSpPr/>
          <p:nvPr/>
        </p:nvSpPr>
        <p:spPr>
          <a:xfrm>
            <a:off x="1371600" y="3154680"/>
            <a:ext cx="8229600" cy="1783080"/>
          </a:xfrm>
          <a:custGeom>
            <a:avLst/>
            <a:gdLst/>
            <a:ahLst/>
            <a:cxnLst/>
            <a:rect l="l" t="t" r="r" b="b"/>
            <a:pathLst>
              <a:path w="9144000" h="1981200">
                <a:moveTo>
                  <a:pt x="0" y="1981200"/>
                </a:moveTo>
                <a:lnTo>
                  <a:pt x="9144000" y="1981200"/>
                </a:lnTo>
                <a:lnTo>
                  <a:pt x="9144000" y="0"/>
                </a:lnTo>
                <a:lnTo>
                  <a:pt x="0" y="0"/>
                </a:lnTo>
                <a:lnTo>
                  <a:pt x="0" y="1981200"/>
                </a:lnTo>
                <a:close/>
              </a:path>
            </a:pathLst>
          </a:custGeom>
          <a:ln w="25400">
            <a:solidFill>
              <a:srgbClr val="808080"/>
            </a:solidFill>
          </a:ln>
        </p:spPr>
        <p:txBody>
          <a:bodyPr wrap="square" lIns="0" tIns="0" rIns="0" bIns="0" rtlCol="0"/>
          <a:lstStyle/>
          <a:p>
            <a:endParaRPr sz="1620">
              <a:latin typeface="Comic Sans MS" panose="030F0702030302020204" pitchFamily="66" charset="0"/>
            </a:endParaRPr>
          </a:p>
        </p:txBody>
      </p:sp>
      <p:sp>
        <p:nvSpPr>
          <p:cNvPr id="5" name="object 5"/>
          <p:cNvSpPr txBox="1">
            <a:spLocks noGrp="1"/>
          </p:cNvSpPr>
          <p:nvPr>
            <p:ph type="title"/>
          </p:nvPr>
        </p:nvSpPr>
        <p:spPr>
          <a:xfrm>
            <a:off x="1676146" y="86861"/>
            <a:ext cx="8661654" cy="566117"/>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Reduction </a:t>
            </a:r>
            <a:r>
              <a:rPr sz="3600" b="1" spc="-5" dirty="0">
                <a:latin typeface="Comic Sans MS" panose="030F0702030302020204" pitchFamily="66" charset="0"/>
              </a:rPr>
              <a:t>#1: </a:t>
            </a:r>
            <a:r>
              <a:rPr sz="3200" b="1" spc="-5" dirty="0">
                <a:latin typeface="Comic Sans MS" panose="030F0702030302020204" pitchFamily="66" charset="0"/>
              </a:rPr>
              <a:t>Interleaved</a:t>
            </a:r>
            <a:r>
              <a:rPr sz="3600" b="1" spc="-122" dirty="0">
                <a:latin typeface="Comic Sans MS" panose="030F0702030302020204" pitchFamily="66" charset="0"/>
              </a:rPr>
              <a:t> </a:t>
            </a:r>
            <a:r>
              <a:rPr sz="3600" b="1" dirty="0">
                <a:latin typeface="Comic Sans MS" panose="030F0702030302020204" pitchFamily="66" charset="0"/>
              </a:rPr>
              <a:t>Addressing</a:t>
            </a:r>
          </a:p>
        </p:txBody>
      </p:sp>
      <p:sp>
        <p:nvSpPr>
          <p:cNvPr id="6" name="object 6"/>
          <p:cNvSpPr txBox="1"/>
          <p:nvPr/>
        </p:nvSpPr>
        <p:spPr>
          <a:xfrm>
            <a:off x="1579626" y="916001"/>
            <a:ext cx="6124766" cy="2262158"/>
          </a:xfrm>
          <a:prstGeom prst="rect">
            <a:avLst/>
          </a:prstGeom>
        </p:spPr>
        <p:txBody>
          <a:bodyPr vert="horz" wrap="square" lIns="0" tIns="11430" rIns="0" bIns="0" rtlCol="0">
            <a:spAutoFit/>
          </a:bodyPr>
          <a:lstStyle/>
          <a:p>
            <a:pPr marL="238760" marR="1043305" indent="-227965">
              <a:spcBef>
                <a:spcPts val="90"/>
              </a:spcBef>
              <a:tabLst>
                <a:tab pos="238760" algn="l"/>
                <a:tab pos="1127760" algn="l"/>
                <a:tab pos="209550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global</a:t>
            </a:r>
            <a:r>
              <a:rPr sz="1620" b="1" u="heavy" dirty="0">
                <a:solidFill>
                  <a:srgbClr val="0000FF"/>
                </a:solidFill>
                <a:uFill>
                  <a:solidFill>
                    <a:srgbClr val="0000FE"/>
                  </a:solidFill>
                </a:uFill>
                <a:latin typeface="Comic Sans MS" panose="030F0702030302020204" pitchFamily="66" charset="0"/>
                <a:cs typeface="Arial" panose="020B0604020202020204"/>
              </a:rPr>
              <a:t> 	</a:t>
            </a:r>
            <a:r>
              <a:rPr lang="en-US" sz="1620" b="1" dirty="0">
                <a:solidFill>
                  <a:srgbClr val="0000FF"/>
                </a:solidFill>
                <a:uFill>
                  <a:solidFill>
                    <a:srgbClr val="0000FE"/>
                  </a:solidFill>
                </a:uFill>
                <a:latin typeface="Comic Sans MS" panose="030F0702030302020204" pitchFamily="66" charset="0"/>
                <a:cs typeface="Arial" panose="020B0604020202020204"/>
              </a:rPr>
              <a:t> </a:t>
            </a:r>
            <a:r>
              <a:rPr sz="1620" b="1" spc="-14" dirty="0">
                <a:solidFill>
                  <a:srgbClr val="0000FF"/>
                </a:solidFill>
                <a:latin typeface="Comic Sans MS" panose="030F0702030302020204" pitchFamily="66" charset="0"/>
                <a:cs typeface="Arial" panose="020B0604020202020204"/>
              </a:rPr>
              <a:t>void </a:t>
            </a:r>
            <a:r>
              <a:rPr sz="1620" b="1" spc="-5" dirty="0">
                <a:latin typeface="Comic Sans MS" panose="030F0702030302020204" pitchFamily="66" charset="0"/>
                <a:cs typeface="Arial" panose="020B0604020202020204"/>
              </a:rPr>
              <a:t>reduce1(</a:t>
            </a:r>
            <a:r>
              <a:rPr sz="1620" b="1" spc="-5"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*g_idata, </a:t>
            </a:r>
            <a:r>
              <a:rPr sz="1620" b="1"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*g_odata) {  </a:t>
            </a:r>
            <a:r>
              <a:rPr sz="1620" b="1" u="heavy" spc="-5" dirty="0">
                <a:solidFill>
                  <a:srgbClr val="0000FF"/>
                </a:solidFill>
                <a:uFill>
                  <a:solidFill>
                    <a:srgbClr val="0000FE"/>
                  </a:solidFill>
                </a:uFill>
                <a:latin typeface="Comic Sans MS" panose="030F0702030302020204" pitchFamily="66" charset="0"/>
                <a:cs typeface="Arial" panose="020B0604020202020204"/>
              </a:rPr>
              <a:t> </a:t>
            </a:r>
            <a:r>
              <a:rPr lang="en-US" sz="1620" b="1" u="heavy" spc="-5" dirty="0">
                <a:solidFill>
                  <a:srgbClr val="0000FF"/>
                </a:solidFill>
                <a:uFill>
                  <a:solidFill>
                    <a:srgbClr val="0000FE"/>
                  </a:solidFill>
                </a:uFill>
                <a:latin typeface="Comic Sans MS" panose="030F0702030302020204" pitchFamily="66" charset="0"/>
                <a:cs typeface="Arial" panose="020B0604020202020204"/>
              </a:rPr>
              <a:t>__s</a:t>
            </a:r>
            <a:r>
              <a:rPr sz="1620" b="1" spc="-5" dirty="0">
                <a:solidFill>
                  <a:srgbClr val="0000FF"/>
                </a:solidFill>
                <a:latin typeface="Comic Sans MS" panose="030F0702030302020204" pitchFamily="66" charset="0"/>
                <a:cs typeface="Arial" panose="020B0604020202020204"/>
              </a:rPr>
              <a:t>hared</a:t>
            </a:r>
            <a:r>
              <a:rPr lang="en-US" sz="1620" b="1" spc="-5" dirty="0">
                <a:solidFill>
                  <a:srgbClr val="0000FF"/>
                </a:solidFill>
                <a:latin typeface="Comic Sans MS" panose="030F0702030302020204" pitchFamily="66" charset="0"/>
                <a:cs typeface="Arial" panose="020B0604020202020204"/>
              </a:rPr>
              <a:t>__ </a:t>
            </a:r>
            <a:r>
              <a:rPr sz="1620" b="1" dirty="0">
                <a:solidFill>
                  <a:srgbClr val="0000FF"/>
                </a:solidFill>
                <a:latin typeface="Comic Sans MS" panose="030F0702030302020204" pitchFamily="66" charset="0"/>
                <a:cs typeface="Arial" panose="020B0604020202020204"/>
              </a:rPr>
              <a:t>int</a:t>
            </a:r>
            <a:r>
              <a:rPr sz="1620" b="1" spc="-5" dirty="0">
                <a:solidFill>
                  <a:srgbClr val="0000FF"/>
                </a:solidFill>
                <a:latin typeface="Comic Sans MS" panose="030F0702030302020204" pitchFamily="66" charset="0"/>
                <a:cs typeface="Arial" panose="020B0604020202020204"/>
              </a:rPr>
              <a:t> </a:t>
            </a:r>
            <a:r>
              <a:rPr sz="1620" b="1" spc="-5" dirty="0" err="1">
                <a:latin typeface="Comic Sans MS" panose="030F0702030302020204" pitchFamily="66" charset="0"/>
                <a:cs typeface="Arial" panose="020B0604020202020204"/>
              </a:rPr>
              <a:t>sdata</a:t>
            </a:r>
            <a:r>
              <a:rPr sz="1620" b="1" spc="-5" dirty="0">
                <a:latin typeface="Comic Sans MS" panose="030F0702030302020204" pitchFamily="66" charset="0"/>
                <a:cs typeface="Arial" panose="020B0604020202020204"/>
              </a:rPr>
              <a:t>[</a:t>
            </a:r>
            <a:r>
              <a:rPr lang="en-US" sz="1620" b="1" spc="-5" dirty="0">
                <a:latin typeface="Comic Sans MS" panose="030F0702030302020204" pitchFamily="66" charset="0"/>
                <a:cs typeface="Arial" panose="020B0604020202020204"/>
              </a:rPr>
              <a:t>BLOCK_SIZE</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a:spcBef>
                <a:spcPts val="25"/>
              </a:spcBef>
            </a:pPr>
            <a:endParaRPr sz="1665" dirty="0">
              <a:latin typeface="Comic Sans MS" panose="030F0702030302020204" pitchFamily="66" charset="0"/>
              <a:cs typeface="Arial" panose="020B0604020202020204"/>
            </a:endParaRPr>
          </a:p>
          <a:p>
            <a:pPr marL="238760" marR="444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each thread </a:t>
            </a:r>
            <a:r>
              <a:rPr sz="1620" b="1" dirty="0">
                <a:solidFill>
                  <a:srgbClr val="808080"/>
                </a:solidFill>
                <a:latin typeface="Comic Sans MS" panose="030F0702030302020204" pitchFamily="66" charset="0"/>
                <a:cs typeface="Arial" panose="020B0604020202020204"/>
              </a:rPr>
              <a:t>loads one </a:t>
            </a:r>
            <a:r>
              <a:rPr sz="1620" b="1" spc="-5" dirty="0">
                <a:solidFill>
                  <a:srgbClr val="808080"/>
                </a:solidFill>
                <a:latin typeface="Comic Sans MS" panose="030F0702030302020204" pitchFamily="66" charset="0"/>
                <a:cs typeface="Arial" panose="020B0604020202020204"/>
              </a:rPr>
              <a:t>element from </a:t>
            </a:r>
            <a:r>
              <a:rPr sz="1620" b="1" dirty="0">
                <a:solidFill>
                  <a:srgbClr val="808080"/>
                </a:solidFill>
                <a:latin typeface="Comic Sans MS" panose="030F0702030302020204" pitchFamily="66" charset="0"/>
                <a:cs typeface="Arial" panose="020B0604020202020204"/>
              </a:rPr>
              <a:t>global to </a:t>
            </a:r>
            <a:r>
              <a:rPr sz="1620" b="1" spc="-5" dirty="0">
                <a:solidFill>
                  <a:srgbClr val="808080"/>
                </a:solidFill>
                <a:latin typeface="Comic Sans MS" panose="030F0702030302020204" pitchFamily="66" charset="0"/>
                <a:cs typeface="Arial" panose="020B0604020202020204"/>
              </a:rPr>
              <a:t>shared mem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723265">
              <a:spcBef>
                <a:spcPts val="5"/>
              </a:spcBef>
            </a:pPr>
            <a:r>
              <a:rPr sz="1620" b="1" dirty="0">
                <a:solidFill>
                  <a:srgbClr val="0000FF"/>
                </a:solidFill>
                <a:latin typeface="Comic Sans MS" panose="030F0702030302020204" pitchFamily="66" charset="0"/>
                <a:cs typeface="Arial" panose="020B0604020202020204"/>
              </a:rPr>
              <a:t>unsigned int i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blockIdx.x</a:t>
            </a:r>
            <a:r>
              <a:rPr sz="1620" b="1" spc="-5" dirty="0">
                <a:latin typeface="Comic Sans MS" panose="030F0702030302020204" pitchFamily="66" charset="0"/>
                <a:cs typeface="Arial" panose="020B0604020202020204"/>
              </a:rPr>
              <a:t>*</a:t>
            </a:r>
            <a:r>
              <a:rPr sz="1620" b="1" spc="-5" dirty="0">
                <a:solidFill>
                  <a:srgbClr val="0000FF"/>
                </a:solidFill>
                <a:latin typeface="Comic Sans MS" panose="030F0702030302020204" pitchFamily="66" charset="0"/>
                <a:cs typeface="Arial" panose="020B0604020202020204"/>
              </a:rPr>
              <a:t>blockDim.x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  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g_idata[i];</a:t>
            </a:r>
            <a:endParaRPr sz="1620" dirty="0">
              <a:latin typeface="Comic Sans MS" panose="030F0702030302020204" pitchFamily="66" charset="0"/>
              <a:cs typeface="Arial" panose="020B0604020202020204"/>
            </a:endParaRPr>
          </a:p>
          <a:p>
            <a:pPr marL="238760">
              <a:tabLst>
                <a:tab pos="46609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7" name="object 7"/>
          <p:cNvSpPr txBox="1"/>
          <p:nvPr/>
        </p:nvSpPr>
        <p:spPr>
          <a:xfrm>
            <a:off x="1818741" y="3138563"/>
            <a:ext cx="4886859" cy="1008738"/>
          </a:xfrm>
          <a:prstGeom prst="rect">
            <a:avLst/>
          </a:prstGeom>
        </p:spPr>
        <p:txBody>
          <a:bodyPr vert="horz" wrap="square" lIns="0" tIns="11430" rIns="0" bIns="0" rtlCol="0">
            <a:spAutoFit/>
          </a:bodyPr>
          <a:lstStyle/>
          <a:p>
            <a:pPr>
              <a:spcBef>
                <a:spcPts val="90"/>
              </a:spcBef>
            </a:pPr>
            <a:r>
              <a:rPr sz="1620" b="1" dirty="0">
                <a:solidFill>
                  <a:srgbClr val="808080"/>
                </a:solidFill>
                <a:latin typeface="Comic Sans MS" panose="030F0702030302020204" pitchFamily="66" charset="0"/>
                <a:cs typeface="Arial" panose="020B0604020202020204"/>
              </a:rPr>
              <a:t>// do </a:t>
            </a:r>
            <a:r>
              <a:rPr sz="1620" b="1" spc="-5" dirty="0">
                <a:solidFill>
                  <a:srgbClr val="808080"/>
                </a:solidFill>
                <a:latin typeface="Comic Sans MS" panose="030F0702030302020204" pitchFamily="66" charset="0"/>
                <a:cs typeface="Arial" panose="020B0604020202020204"/>
              </a:rPr>
              <a:t>reduction </a:t>
            </a:r>
            <a:r>
              <a:rPr sz="1620" b="1" dirty="0">
                <a:solidFill>
                  <a:srgbClr val="808080"/>
                </a:solidFill>
                <a:latin typeface="Comic Sans MS" panose="030F0702030302020204" pitchFamily="66" charset="0"/>
                <a:cs typeface="Arial" panose="020B0604020202020204"/>
              </a:rPr>
              <a:t>in </a:t>
            </a:r>
            <a:r>
              <a:rPr sz="1620" b="1" spc="-5" dirty="0">
                <a:solidFill>
                  <a:srgbClr val="808080"/>
                </a:solidFill>
                <a:latin typeface="Comic Sans MS" panose="030F0702030302020204" pitchFamily="66" charset="0"/>
                <a:cs typeface="Arial" panose="020B0604020202020204"/>
              </a:rPr>
              <a:t>shared</a:t>
            </a:r>
            <a:r>
              <a:rPr sz="1620" b="1" spc="-18"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mem</a:t>
            </a:r>
            <a:endParaRPr sz="1620" dirty="0">
              <a:latin typeface="Comic Sans MS" panose="030F0702030302020204" pitchFamily="66" charset="0"/>
              <a:cs typeface="Arial" panose="020B0604020202020204"/>
            </a:endParaRPr>
          </a:p>
          <a:p>
            <a:pPr marL="227330" marR="4445" indent="-227965"/>
            <a:r>
              <a:rPr sz="1620" b="1" spc="-5" dirty="0">
                <a:solidFill>
                  <a:srgbClr val="0000FF"/>
                </a:solidFill>
                <a:latin typeface="Comic Sans MS" panose="030F0702030302020204" pitchFamily="66" charset="0"/>
                <a:cs typeface="Arial" panose="020B0604020202020204"/>
              </a:rPr>
              <a:t>for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unsigned int </a:t>
            </a:r>
            <a:r>
              <a:rPr sz="1620" b="1" spc="-5" dirty="0">
                <a:latin typeface="Comic Sans MS" panose="030F0702030302020204" pitchFamily="66" charset="0"/>
                <a:cs typeface="Arial" panose="020B0604020202020204"/>
              </a:rPr>
              <a:t>s=1; s </a:t>
            </a:r>
            <a:r>
              <a:rPr sz="1620" b="1" dirty="0">
                <a:latin typeface="Comic Sans MS" panose="030F0702030302020204" pitchFamily="66" charset="0"/>
                <a:cs typeface="Arial" panose="020B0604020202020204"/>
              </a:rPr>
              <a:t>&lt; </a:t>
            </a:r>
            <a:r>
              <a:rPr sz="1620" b="1" spc="-5" dirty="0">
                <a:solidFill>
                  <a:srgbClr val="0000FF"/>
                </a:solidFill>
                <a:latin typeface="Comic Sans MS" panose="030F0702030302020204" pitchFamily="66" charset="0"/>
                <a:cs typeface="Arial" panose="020B0604020202020204"/>
              </a:rPr>
              <a:t>blockDim.x</a:t>
            </a:r>
            <a:r>
              <a:rPr sz="1620" b="1" spc="-5" dirty="0">
                <a:latin typeface="Comic Sans MS" panose="030F0702030302020204" pitchFamily="66" charset="0"/>
                <a:cs typeface="Arial" panose="020B0604020202020204"/>
              </a:rPr>
              <a:t>; s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2) {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a:t>
            </a:r>
            <a:r>
              <a:rPr sz="1620" b="1" spc="-5" dirty="0">
                <a:latin typeface="Comic Sans MS" panose="030F0702030302020204" pitchFamily="66" charset="0"/>
                <a:cs typeface="Arial" panose="020B0604020202020204"/>
              </a:rPr>
              <a:t>% (2*s)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0)</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456565"/>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p:txBody>
      </p:sp>
      <p:sp>
        <p:nvSpPr>
          <p:cNvPr id="8" name="object 8"/>
          <p:cNvSpPr txBox="1"/>
          <p:nvPr/>
        </p:nvSpPr>
        <p:spPr>
          <a:xfrm>
            <a:off x="2046428" y="4126115"/>
            <a:ext cx="1653920" cy="510140"/>
          </a:xfrm>
          <a:prstGeom prst="rect">
            <a:avLst/>
          </a:prstGeom>
        </p:spPr>
        <p:txBody>
          <a:bodyPr vert="horz" wrap="square" lIns="0" tIns="11430" rIns="0" bIns="0" rtlCol="0">
            <a:spAutoFit/>
          </a:bodyPr>
          <a:lstStyle/>
          <a:p>
            <a:pPr>
              <a:spcBef>
                <a:spcPts val="90"/>
              </a:spcBef>
            </a:pP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a:p>
            <a:pPr>
              <a:tabLst>
                <a:tab pos="22733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p:txBody>
      </p:sp>
      <p:sp>
        <p:nvSpPr>
          <p:cNvPr id="9" name="object 9"/>
          <p:cNvSpPr txBox="1"/>
          <p:nvPr/>
        </p:nvSpPr>
        <p:spPr>
          <a:xfrm>
            <a:off x="1579626" y="4620234"/>
            <a:ext cx="4370261" cy="1514261"/>
          </a:xfrm>
          <a:prstGeom prst="rect">
            <a:avLst/>
          </a:prstGeom>
        </p:spPr>
        <p:txBody>
          <a:bodyPr vert="horz" wrap="square" lIns="0" tIns="11430" rIns="0" bIns="0" rtlCol="0">
            <a:spAutoFit/>
          </a:bodyPr>
          <a:lstStyle/>
          <a:p>
            <a:pPr marL="238760">
              <a:spcBef>
                <a:spcPts val="90"/>
              </a:spcBef>
            </a:pP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a:p>
            <a:pPr>
              <a:spcBef>
                <a:spcPts val="25"/>
              </a:spcBef>
            </a:pPr>
            <a:endParaRPr sz="1665">
              <a:latin typeface="Comic Sans MS" panose="030F0702030302020204" pitchFamily="66" charset="0"/>
              <a:cs typeface="Arial" panose="020B0604020202020204"/>
            </a:endParaRPr>
          </a:p>
          <a:p>
            <a:pPr marL="238760" marR="444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write </a:t>
            </a:r>
            <a:r>
              <a:rPr sz="1620" b="1" spc="-5" dirty="0">
                <a:solidFill>
                  <a:srgbClr val="808080"/>
                </a:solidFill>
                <a:latin typeface="Comic Sans MS" panose="030F0702030302020204" pitchFamily="66" charset="0"/>
                <a:cs typeface="Arial" panose="020B0604020202020204"/>
              </a:rPr>
              <a:t>result for </a:t>
            </a:r>
            <a:r>
              <a:rPr sz="1620" b="1" dirty="0">
                <a:solidFill>
                  <a:srgbClr val="808080"/>
                </a:solidFill>
                <a:latin typeface="Comic Sans MS" panose="030F0702030302020204" pitchFamily="66" charset="0"/>
                <a:cs typeface="Arial" panose="020B0604020202020204"/>
              </a:rPr>
              <a:t>this block </a:t>
            </a:r>
            <a:r>
              <a:rPr sz="1620" b="1" spc="-5" dirty="0">
                <a:solidFill>
                  <a:srgbClr val="808080"/>
                </a:solidFill>
                <a:latin typeface="Comic Sans MS" panose="030F0702030302020204" pitchFamily="66" charset="0"/>
                <a:cs typeface="Arial" panose="020B0604020202020204"/>
              </a:rPr>
              <a:t>to </a:t>
            </a:r>
            <a:r>
              <a:rPr sz="1620" b="1" dirty="0">
                <a:solidFill>
                  <a:srgbClr val="808080"/>
                </a:solidFill>
                <a:latin typeface="Comic Sans MS" panose="030F0702030302020204" pitchFamily="66" charset="0"/>
                <a:cs typeface="Arial" panose="020B0604020202020204"/>
              </a:rPr>
              <a:t>global </a:t>
            </a:r>
            <a:r>
              <a:rPr sz="1620" b="1" spc="-5" dirty="0">
                <a:solidFill>
                  <a:srgbClr val="808080"/>
                </a:solidFill>
                <a:latin typeface="Comic Sans MS" panose="030F0702030302020204" pitchFamily="66" charset="0"/>
                <a:cs typeface="Arial" panose="020B0604020202020204"/>
              </a:rPr>
              <a:t>mem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 </a:t>
            </a:r>
            <a:r>
              <a:rPr sz="1620" b="1" spc="-5" dirty="0">
                <a:latin typeface="Comic Sans MS" panose="030F0702030302020204" pitchFamily="66" charset="0"/>
                <a:cs typeface="Arial" panose="020B0604020202020204"/>
              </a:rPr>
              <a:t>0) </a:t>
            </a:r>
            <a:r>
              <a:rPr sz="1620" b="1" dirty="0">
                <a:latin typeface="Comic Sans MS" panose="030F0702030302020204" pitchFamily="66" charset="0"/>
                <a:cs typeface="Arial" panose="020B0604020202020204"/>
              </a:rPr>
              <a:t>g_odata[</a:t>
            </a:r>
            <a:r>
              <a:rPr sz="1620" b="1" dirty="0">
                <a:solidFill>
                  <a:srgbClr val="0000FF"/>
                </a:solidFill>
                <a:latin typeface="Comic Sans MS" panose="030F0702030302020204" pitchFamily="66" charset="0"/>
                <a:cs typeface="Arial" panose="020B0604020202020204"/>
              </a:rPr>
              <a:t>blockIdx.x</a:t>
            </a:r>
            <a:r>
              <a:rPr sz="1620" b="1" dirty="0">
                <a:latin typeface="Comic Sans MS" panose="030F0702030302020204" pitchFamily="66" charset="0"/>
                <a:cs typeface="Arial" panose="020B0604020202020204"/>
              </a:rPr>
              <a:t>] =</a:t>
            </a:r>
            <a:r>
              <a:rPr sz="1620" b="1" spc="-8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sdata[0];</a:t>
            </a:r>
            <a:endParaRPr sz="1620">
              <a:latin typeface="Comic Sans MS" panose="030F0702030302020204" pitchFamily="66" charset="0"/>
              <a:cs typeface="Arial" panose="020B0604020202020204"/>
            </a:endParaRPr>
          </a:p>
          <a:p>
            <a:pPr marL="11430">
              <a:spcBef>
                <a:spcPts val="5"/>
              </a:spcBef>
            </a:pP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p:txBody>
      </p:sp>
      <p:sp>
        <p:nvSpPr>
          <p:cNvPr id="11" name="object 11"/>
          <p:cNvSpPr txBox="1"/>
          <p:nvPr/>
        </p:nvSpPr>
        <p:spPr>
          <a:xfrm>
            <a:off x="5744032" y="4001300"/>
            <a:ext cx="3649142" cy="855362"/>
          </a:xfrm>
          <a:prstGeom prst="rect">
            <a:avLst/>
          </a:prstGeom>
        </p:spPr>
        <p:txBody>
          <a:bodyPr vert="horz" wrap="square" lIns="0" tIns="11430" rIns="0" bIns="0" rtlCol="0">
            <a:spAutoFit/>
          </a:bodyPr>
          <a:lstStyle/>
          <a:p>
            <a:pPr marR="4445" algn="ctr">
              <a:spcBef>
                <a:spcPts val="90"/>
              </a:spcBef>
            </a:pPr>
            <a:r>
              <a:rPr lang="en-US" altLang="zh-CN" b="1" dirty="0">
                <a:solidFill>
                  <a:srgbClr val="A40020"/>
                </a:solidFill>
                <a:latin typeface="Comic Sans MS" panose="030F0702030302020204" pitchFamily="66" charset="0"/>
                <a:cs typeface="Arial" panose="020B0604020202020204"/>
              </a:rPr>
              <a:t>Problem: highly</a:t>
            </a:r>
            <a:r>
              <a:rPr lang="en-US" altLang="zh-CN" b="1" spc="-99" dirty="0">
                <a:solidFill>
                  <a:srgbClr val="A40020"/>
                </a:solidFill>
                <a:latin typeface="Comic Sans MS" panose="030F0702030302020204" pitchFamily="66" charset="0"/>
                <a:cs typeface="Arial" panose="020B0604020202020204"/>
              </a:rPr>
              <a:t> </a:t>
            </a:r>
            <a:r>
              <a:rPr lang="en-US" altLang="zh-CN" b="1" spc="-5" dirty="0">
                <a:solidFill>
                  <a:srgbClr val="A40020"/>
                </a:solidFill>
                <a:latin typeface="Comic Sans MS" panose="030F0702030302020204" pitchFamily="66" charset="0"/>
                <a:cs typeface="Arial" panose="020B0604020202020204"/>
              </a:rPr>
              <a:t>divergent</a:t>
            </a:r>
            <a:endParaRPr lang="en-US" altLang="zh-CN" dirty="0">
              <a:latin typeface="Comic Sans MS" panose="030F0702030302020204" pitchFamily="66" charset="0"/>
              <a:cs typeface="Arial" panose="020B0604020202020204"/>
            </a:endParaRPr>
          </a:p>
          <a:p>
            <a:pPr marR="4445" algn="ctr">
              <a:spcBef>
                <a:spcPts val="90"/>
              </a:spcBef>
            </a:pPr>
            <a:r>
              <a:rPr b="1" dirty="0">
                <a:solidFill>
                  <a:srgbClr val="A40020"/>
                </a:solidFill>
                <a:latin typeface="Comic Sans MS" panose="030F0702030302020204" pitchFamily="66" charset="0"/>
                <a:cs typeface="Arial" panose="020B0604020202020204"/>
              </a:rPr>
              <a:t>warps are </a:t>
            </a:r>
            <a:r>
              <a:rPr b="1" spc="-5" dirty="0">
                <a:solidFill>
                  <a:srgbClr val="A40020"/>
                </a:solidFill>
                <a:latin typeface="Comic Sans MS" panose="030F0702030302020204" pitchFamily="66" charset="0"/>
                <a:cs typeface="Arial" panose="020B0604020202020204"/>
              </a:rPr>
              <a:t>very </a:t>
            </a:r>
            <a:r>
              <a:rPr b="1" dirty="0">
                <a:solidFill>
                  <a:srgbClr val="A40020"/>
                </a:solidFill>
                <a:latin typeface="Comic Sans MS" panose="030F0702030302020204" pitchFamily="66" charset="0"/>
                <a:cs typeface="Arial" panose="020B0604020202020204"/>
              </a:rPr>
              <a:t>inefficient,</a:t>
            </a:r>
            <a:r>
              <a:rPr b="1" spc="-149" dirty="0">
                <a:solidFill>
                  <a:srgbClr val="A40020"/>
                </a:solidFill>
                <a:latin typeface="Comic Sans MS" panose="030F0702030302020204" pitchFamily="66" charset="0"/>
                <a:cs typeface="Arial" panose="020B0604020202020204"/>
              </a:rPr>
              <a:t> </a:t>
            </a:r>
            <a:r>
              <a:rPr b="1" dirty="0">
                <a:solidFill>
                  <a:srgbClr val="A40020"/>
                </a:solidFill>
                <a:latin typeface="Comic Sans MS" panose="030F0702030302020204" pitchFamily="66" charset="0"/>
                <a:cs typeface="Arial" panose="020B0604020202020204"/>
              </a:rPr>
              <a:t>and</a:t>
            </a:r>
            <a:endParaRPr dirty="0">
              <a:latin typeface="Comic Sans MS" panose="030F0702030302020204" pitchFamily="66" charset="0"/>
              <a:cs typeface="Arial" panose="020B0604020202020204"/>
            </a:endParaRPr>
          </a:p>
          <a:p>
            <a:pPr marR="8255" algn="ctr">
              <a:spcBef>
                <a:spcPts val="5"/>
              </a:spcBef>
            </a:pPr>
            <a:r>
              <a:rPr b="1" spc="5" dirty="0">
                <a:solidFill>
                  <a:srgbClr val="A40020"/>
                </a:solidFill>
                <a:latin typeface="Comic Sans MS" panose="030F0702030302020204" pitchFamily="66" charset="0"/>
                <a:cs typeface="Arial" panose="020B0604020202020204"/>
              </a:rPr>
              <a:t>% </a:t>
            </a:r>
            <a:r>
              <a:rPr b="1" dirty="0">
                <a:solidFill>
                  <a:srgbClr val="A40020"/>
                </a:solidFill>
                <a:latin typeface="Comic Sans MS" panose="030F0702030302020204" pitchFamily="66" charset="0"/>
                <a:cs typeface="Arial" panose="020B0604020202020204"/>
              </a:rPr>
              <a:t>operator is </a:t>
            </a:r>
            <a:r>
              <a:rPr b="1" spc="-5" dirty="0">
                <a:solidFill>
                  <a:srgbClr val="A40020"/>
                </a:solidFill>
                <a:latin typeface="Comic Sans MS" panose="030F0702030302020204" pitchFamily="66" charset="0"/>
                <a:cs typeface="Arial" panose="020B0604020202020204"/>
              </a:rPr>
              <a:t>very</a:t>
            </a:r>
            <a:r>
              <a:rPr b="1" spc="-99" dirty="0">
                <a:solidFill>
                  <a:srgbClr val="A40020"/>
                </a:solidFill>
                <a:latin typeface="Comic Sans MS" panose="030F0702030302020204" pitchFamily="66" charset="0"/>
                <a:cs typeface="Arial" panose="020B0604020202020204"/>
              </a:rPr>
              <a:t> </a:t>
            </a:r>
            <a:r>
              <a:rPr b="1" spc="-5" dirty="0">
                <a:solidFill>
                  <a:srgbClr val="A40020"/>
                </a:solidFill>
                <a:latin typeface="Comic Sans MS" panose="030F0702030302020204" pitchFamily="66" charset="0"/>
                <a:cs typeface="Arial" panose="020B0604020202020204"/>
              </a:rPr>
              <a:t>slow</a:t>
            </a:r>
            <a:endParaRPr dirty="0">
              <a:latin typeface="Comic Sans MS" panose="030F0702030302020204" pitchFamily="66" charset="0"/>
              <a:cs typeface="Arial" panose="020B0604020202020204"/>
            </a:endParaRPr>
          </a:p>
        </p:txBody>
      </p:sp>
      <p:sp>
        <p:nvSpPr>
          <p:cNvPr id="12" name="object 12"/>
          <p:cNvSpPr/>
          <p:nvPr/>
        </p:nvSpPr>
        <p:spPr>
          <a:xfrm>
            <a:off x="4251960" y="3715321"/>
            <a:ext cx="1167003" cy="138303"/>
          </a:xfrm>
          <a:custGeom>
            <a:avLst/>
            <a:gdLst/>
            <a:ahLst/>
            <a:cxnLst/>
            <a:rect l="l" t="t" r="r" b="b"/>
            <a:pathLst>
              <a:path w="1296670" h="153670">
                <a:moveTo>
                  <a:pt x="97914" y="54274"/>
                </a:moveTo>
                <a:lnTo>
                  <a:pt x="85598" y="67944"/>
                </a:lnTo>
                <a:lnTo>
                  <a:pt x="96136" y="82840"/>
                </a:lnTo>
                <a:lnTo>
                  <a:pt x="1294511" y="153288"/>
                </a:lnTo>
                <a:lnTo>
                  <a:pt x="1296289" y="124840"/>
                </a:lnTo>
                <a:lnTo>
                  <a:pt x="97914" y="54274"/>
                </a:lnTo>
                <a:close/>
              </a:path>
              <a:path w="1296670" h="153670">
                <a:moveTo>
                  <a:pt x="146812" y="0"/>
                </a:moveTo>
                <a:lnTo>
                  <a:pt x="0" y="62864"/>
                </a:lnTo>
                <a:lnTo>
                  <a:pt x="138429" y="142620"/>
                </a:lnTo>
                <a:lnTo>
                  <a:pt x="96136" y="82840"/>
                </a:lnTo>
                <a:lnTo>
                  <a:pt x="84709" y="82168"/>
                </a:lnTo>
                <a:lnTo>
                  <a:pt x="86360" y="53593"/>
                </a:lnTo>
                <a:lnTo>
                  <a:pt x="98527" y="53593"/>
                </a:lnTo>
                <a:lnTo>
                  <a:pt x="146812" y="0"/>
                </a:lnTo>
                <a:close/>
              </a:path>
              <a:path w="1296670" h="153670">
                <a:moveTo>
                  <a:pt x="86360" y="53593"/>
                </a:moveTo>
                <a:lnTo>
                  <a:pt x="84709" y="82168"/>
                </a:lnTo>
                <a:lnTo>
                  <a:pt x="96136" y="82840"/>
                </a:lnTo>
                <a:lnTo>
                  <a:pt x="85598" y="67944"/>
                </a:lnTo>
                <a:lnTo>
                  <a:pt x="97914" y="54274"/>
                </a:lnTo>
                <a:lnTo>
                  <a:pt x="86360" y="53593"/>
                </a:lnTo>
                <a:close/>
              </a:path>
              <a:path w="1296670" h="153670">
                <a:moveTo>
                  <a:pt x="98527" y="53593"/>
                </a:moveTo>
                <a:lnTo>
                  <a:pt x="86360" y="53593"/>
                </a:lnTo>
                <a:lnTo>
                  <a:pt x="97914" y="54274"/>
                </a:lnTo>
                <a:lnTo>
                  <a:pt x="98527" y="53593"/>
                </a:lnTo>
                <a:close/>
              </a:path>
            </a:pathLst>
          </a:custGeom>
          <a:solidFill>
            <a:srgbClr val="993300"/>
          </a:solidFill>
        </p:spPr>
        <p:txBody>
          <a:bodyPr wrap="square" lIns="0" tIns="0" rIns="0" bIns="0" rtlCol="0"/>
          <a:lstStyle/>
          <a:p>
            <a:endParaRPr sz="1620">
              <a:latin typeface="Comic Sans MS" panose="030F0702030302020204" pitchFamily="66" charset="0"/>
            </a:endParaRPr>
          </a:p>
        </p:txBody>
      </p:sp>
      <p:sp>
        <p:nvSpPr>
          <p:cNvPr id="14"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10</a:t>
            </a:fld>
            <a:endParaRPr spc="-5" dirty="0">
              <a:latin typeface="Comic Sans MS" panose="030F07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71600" y="145098"/>
            <a:ext cx="9175750"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graphicFrame>
        <p:nvGraphicFramePr>
          <p:cNvPr id="5" name="object 5"/>
          <p:cNvGraphicFramePr>
            <a:graphicFrameLocks noGrp="1"/>
          </p:cNvGraphicFramePr>
          <p:nvPr/>
        </p:nvGraphicFramePr>
        <p:xfrm>
          <a:off x="1691640" y="2490138"/>
          <a:ext cx="6766560" cy="1122083"/>
        </p:xfrm>
        <a:graphic>
          <a:graphicData uri="http://schemas.openxmlformats.org/drawingml/2006/table">
            <a:tbl>
              <a:tblPr firstRow="1" bandRow="1">
                <a:tableStyleId>{2D5ABB26-0587-4C30-8999-92F81FD0307C}</a:tableStyleId>
              </a:tblPr>
              <a:tblGrid>
                <a:gridCol w="2519997">
                  <a:extLst>
                    <a:ext uri="{9D8B030D-6E8A-4147-A177-3AD203B41FA5}">
                      <a16:colId xmlns:a16="http://schemas.microsoft.com/office/drawing/2014/main" val="20000"/>
                    </a:ext>
                  </a:extLst>
                </a:gridCol>
                <a:gridCol w="2062634">
                  <a:extLst>
                    <a:ext uri="{9D8B030D-6E8A-4147-A177-3AD203B41FA5}">
                      <a16:colId xmlns:a16="http://schemas.microsoft.com/office/drawing/2014/main" val="20001"/>
                    </a:ext>
                  </a:extLst>
                </a:gridCol>
                <a:gridCol w="2183929">
                  <a:extLst>
                    <a:ext uri="{9D8B030D-6E8A-4147-A177-3AD203B41FA5}">
                      <a16:colId xmlns:a16="http://schemas.microsoft.com/office/drawing/2014/main" val="20002"/>
                    </a:ext>
                  </a:extLst>
                </a:gridCol>
              </a:tblGrid>
              <a:tr h="1122083">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dirty="0">
                        <a:latin typeface="Arial" panose="020B0604020202020204"/>
                        <a:cs typeface="Arial" panose="020B0604020202020204"/>
                      </a:endParaRPr>
                    </a:p>
                    <a:p>
                      <a:pPr marL="91440" marR="457835">
                        <a:lnSpc>
                          <a:spcPct val="100000"/>
                        </a:lnSpc>
                        <a:spcBef>
                          <a:spcPts val="20"/>
                        </a:spcBef>
                      </a:pPr>
                      <a:r>
                        <a:rPr sz="1400" b="1" spc="-5" dirty="0">
                          <a:latin typeface="Arial" panose="020B0604020202020204"/>
                          <a:cs typeface="Arial" panose="020B0604020202020204"/>
                        </a:rPr>
                        <a:t>interleaved 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divergent</a:t>
                      </a:r>
                      <a:r>
                        <a:rPr sz="1400" b="1" spc="-55" dirty="0">
                          <a:latin typeface="Arial" panose="020B0604020202020204"/>
                          <a:cs typeface="Arial" panose="020B0604020202020204"/>
                        </a:rPr>
                        <a:t> </a:t>
                      </a:r>
                      <a:r>
                        <a:rPr sz="1400" b="1" spc="-5" dirty="0">
                          <a:latin typeface="Arial" panose="020B0604020202020204"/>
                          <a:cs typeface="Arial" panose="020B0604020202020204"/>
                        </a:rPr>
                        <a:t>branching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L="465455">
                        <a:lnSpc>
                          <a:spcPct val="100000"/>
                        </a:lnSpc>
                        <a:spcBef>
                          <a:spcPts val="305"/>
                        </a:spcBef>
                      </a:pPr>
                      <a:r>
                        <a:rPr sz="1800" b="1" dirty="0">
                          <a:latin typeface="Arial" panose="020B0604020202020204"/>
                          <a:cs typeface="Arial" panose="020B0604020202020204"/>
                        </a:rPr>
                        <a:t>8.054</a:t>
                      </a:r>
                      <a:r>
                        <a:rPr sz="1800" b="1" spc="-50" dirty="0">
                          <a:latin typeface="Arial" panose="020B0604020202020204"/>
                          <a:cs typeface="Arial" panose="020B0604020202020204"/>
                        </a:rPr>
                        <a:t> </a:t>
                      </a:r>
                      <a:r>
                        <a:rPr sz="1800" b="1" dirty="0">
                          <a:latin typeface="Arial" panose="020B0604020202020204"/>
                          <a:cs typeface="Arial" panose="020B0604020202020204"/>
                        </a:rPr>
                        <a:t>ms</a:t>
                      </a:r>
                      <a:endParaRPr sz="1800" dirty="0">
                        <a:latin typeface="Arial" panose="020B0604020202020204"/>
                        <a:cs typeface="Arial" panose="020B0604020202020204"/>
                      </a:endParaRPr>
                    </a:p>
                  </a:txBody>
                  <a:tcPr marL="0" marR="0" marT="34862" marB="0">
                    <a:solidFill>
                      <a:srgbClr val="76B800">
                        <a:alpha val="50195"/>
                      </a:srgbClr>
                    </a:solidFill>
                  </a:tcPr>
                </a:tc>
                <a:tc>
                  <a:txBody>
                    <a:bodyPr/>
                    <a:lstStyle/>
                    <a:p>
                      <a:pPr marL="836295">
                        <a:lnSpc>
                          <a:spcPct val="100000"/>
                        </a:lnSpc>
                        <a:spcBef>
                          <a:spcPts val="305"/>
                        </a:spcBef>
                      </a:pPr>
                      <a:r>
                        <a:rPr sz="1800" b="1" dirty="0">
                          <a:latin typeface="Arial" panose="020B0604020202020204"/>
                          <a:cs typeface="Arial" panose="020B0604020202020204"/>
                        </a:rPr>
                        <a:t>2.083</a:t>
                      </a:r>
                      <a:r>
                        <a:rPr sz="1800" b="1" spc="-70" dirty="0">
                          <a:latin typeface="Arial" panose="020B0604020202020204"/>
                          <a:cs typeface="Arial" panose="020B0604020202020204"/>
                        </a:rPr>
                        <a:t> </a:t>
                      </a:r>
                      <a:r>
                        <a:rPr sz="1800" b="1" dirty="0">
                          <a:latin typeface="Arial" panose="020B0604020202020204"/>
                          <a:cs typeface="Arial" panose="020B0604020202020204"/>
                        </a:rPr>
                        <a:t>GB/s</a:t>
                      </a:r>
                      <a:endParaRPr sz="1800" dirty="0">
                        <a:latin typeface="Arial" panose="020B0604020202020204"/>
                        <a:cs typeface="Arial" panose="020B0604020202020204"/>
                      </a:endParaRPr>
                    </a:p>
                  </a:txBody>
                  <a:tcPr marL="0" marR="0" marT="34862" marB="0">
                    <a:solidFill>
                      <a:srgbClr val="76B800">
                        <a:alpha val="50195"/>
                      </a:srgbClr>
                    </a:solidFill>
                  </a:tcPr>
                </a:tc>
                <a:extLst>
                  <a:ext uri="{0D108BD9-81ED-4DB2-BD59-A6C34878D82A}">
                    <a16:rowId xmlns:a16="http://schemas.microsoft.com/office/drawing/2014/main" val="10000"/>
                  </a:ext>
                </a:extLst>
              </a:tr>
            </a:tbl>
          </a:graphicData>
        </a:graphic>
      </p:graphicFrame>
      <p:sp>
        <p:nvSpPr>
          <p:cNvPr id="6" name="object 6"/>
          <p:cNvSpPr txBox="1"/>
          <p:nvPr/>
        </p:nvSpPr>
        <p:spPr>
          <a:xfrm>
            <a:off x="3276600" y="3737956"/>
            <a:ext cx="4472940" cy="565539"/>
          </a:xfrm>
          <a:prstGeom prst="rect">
            <a:avLst/>
          </a:prstGeom>
        </p:spPr>
        <p:txBody>
          <a:bodyPr vert="horz" wrap="square" lIns="0" tIns="11430" rIns="0" bIns="0" rtlCol="0">
            <a:spAutoFit/>
          </a:bodyPr>
          <a:lstStyle/>
          <a:p>
            <a:pPr marL="11430">
              <a:spcBef>
                <a:spcPts val="90"/>
              </a:spcBef>
            </a:pPr>
            <a:r>
              <a:rPr spc="-5" dirty="0">
                <a:latin typeface="Comic Sans MS" panose="030F0702030302020204" pitchFamily="66" charset="0"/>
                <a:cs typeface="Arial" panose="020B0604020202020204"/>
              </a:rPr>
              <a:t>Note: Block Size </a:t>
            </a:r>
            <a:r>
              <a:rPr dirty="0">
                <a:latin typeface="Comic Sans MS" panose="030F0702030302020204" pitchFamily="66" charset="0"/>
                <a:cs typeface="Arial" panose="020B0604020202020204"/>
              </a:rPr>
              <a:t>= </a:t>
            </a:r>
            <a:r>
              <a:rPr spc="-5" dirty="0">
                <a:latin typeface="Comic Sans MS" panose="030F0702030302020204" pitchFamily="66" charset="0"/>
                <a:cs typeface="Arial" panose="020B0604020202020204"/>
              </a:rPr>
              <a:t>128 threads </a:t>
            </a:r>
            <a:r>
              <a:rPr dirty="0">
                <a:latin typeface="Comic Sans MS" panose="030F0702030302020204" pitchFamily="66" charset="0"/>
                <a:cs typeface="Arial" panose="020B0604020202020204"/>
              </a:rPr>
              <a:t>for </a:t>
            </a:r>
            <a:r>
              <a:rPr spc="-5" dirty="0">
                <a:latin typeface="Comic Sans MS" panose="030F0702030302020204" pitchFamily="66" charset="0"/>
                <a:cs typeface="Arial" panose="020B0604020202020204"/>
              </a:rPr>
              <a:t>all</a:t>
            </a:r>
            <a:r>
              <a:rPr spc="5" dirty="0">
                <a:latin typeface="Comic Sans MS" panose="030F0702030302020204" pitchFamily="66" charset="0"/>
                <a:cs typeface="Arial" panose="020B0604020202020204"/>
              </a:rPr>
              <a:t> </a:t>
            </a:r>
            <a:r>
              <a:rPr dirty="0">
                <a:latin typeface="Comic Sans MS" panose="030F0702030302020204" pitchFamily="66" charset="0"/>
                <a:cs typeface="Arial" panose="020B0604020202020204"/>
              </a:rPr>
              <a:t>tests</a:t>
            </a:r>
          </a:p>
        </p:txBody>
      </p:sp>
      <p:sp>
        <p:nvSpPr>
          <p:cNvPr id="7" name="object 7"/>
          <p:cNvSpPr txBox="1"/>
          <p:nvPr/>
        </p:nvSpPr>
        <p:spPr>
          <a:xfrm>
            <a:off x="6717524" y="2171700"/>
            <a:ext cx="1359676" cy="288541"/>
          </a:xfrm>
          <a:prstGeom prst="rect">
            <a:avLst/>
          </a:prstGeom>
        </p:spPr>
        <p:txBody>
          <a:bodyPr vert="horz" wrap="square" lIns="0" tIns="11430" rIns="0" bIns="0" rtlCol="0">
            <a:spAutoFit/>
          </a:bodyPr>
          <a:lstStyle/>
          <a:p>
            <a:pPr marL="11430">
              <a:spcBef>
                <a:spcPts val="90"/>
              </a:spcBef>
            </a:pPr>
            <a:r>
              <a:rPr b="1" spc="-5" dirty="0">
                <a:latin typeface="Comic Sans MS" panose="030F0702030302020204" pitchFamily="66" charset="0"/>
                <a:cs typeface="Arial" panose="020B0604020202020204"/>
              </a:rPr>
              <a:t>B</a:t>
            </a:r>
            <a:r>
              <a:rPr b="1" spc="-14" dirty="0">
                <a:latin typeface="Comic Sans MS" panose="030F0702030302020204" pitchFamily="66" charset="0"/>
                <a:cs typeface="Arial" panose="020B0604020202020204"/>
              </a:rPr>
              <a:t>a</a:t>
            </a:r>
            <a:r>
              <a:rPr b="1" dirty="0">
                <a:latin typeface="Comic Sans MS" panose="030F0702030302020204" pitchFamily="66" charset="0"/>
                <a:cs typeface="Arial" panose="020B0604020202020204"/>
              </a:rPr>
              <a:t>n</a:t>
            </a:r>
            <a:r>
              <a:rPr b="1" spc="5" dirty="0">
                <a:latin typeface="Comic Sans MS" panose="030F0702030302020204" pitchFamily="66" charset="0"/>
                <a:cs typeface="Arial" panose="020B0604020202020204"/>
              </a:rPr>
              <a:t>d</a:t>
            </a:r>
            <a:r>
              <a:rPr b="1" spc="32" dirty="0">
                <a:latin typeface="Comic Sans MS" panose="030F0702030302020204" pitchFamily="66" charset="0"/>
                <a:cs typeface="Arial" panose="020B0604020202020204"/>
              </a:rPr>
              <a:t>w</a:t>
            </a:r>
            <a:r>
              <a:rPr b="1" spc="-9" dirty="0">
                <a:latin typeface="Comic Sans MS" panose="030F0702030302020204" pitchFamily="66" charset="0"/>
                <a:cs typeface="Arial" panose="020B0604020202020204"/>
              </a:rPr>
              <a:t>i</a:t>
            </a:r>
            <a:r>
              <a:rPr b="1" dirty="0">
                <a:latin typeface="Comic Sans MS" panose="030F0702030302020204" pitchFamily="66" charset="0"/>
                <a:cs typeface="Arial" panose="020B0604020202020204"/>
              </a:rPr>
              <a:t>dth</a:t>
            </a:r>
            <a:endParaRPr dirty="0">
              <a:latin typeface="Comic Sans MS" panose="030F0702030302020204" pitchFamily="66" charset="0"/>
              <a:cs typeface="Arial" panose="020B0604020202020204"/>
            </a:endParaRPr>
          </a:p>
        </p:txBody>
      </p:sp>
      <p:sp>
        <p:nvSpPr>
          <p:cNvPr id="8" name="object 8"/>
          <p:cNvSpPr txBox="1"/>
          <p:nvPr/>
        </p:nvSpPr>
        <p:spPr>
          <a:xfrm>
            <a:off x="4191000" y="2171700"/>
            <a:ext cx="1676400" cy="288541"/>
          </a:xfrm>
          <a:prstGeom prst="rect">
            <a:avLst/>
          </a:prstGeom>
        </p:spPr>
        <p:txBody>
          <a:bodyPr vert="horz" wrap="square" lIns="0" tIns="11430" rIns="0" bIns="0" rtlCol="0">
            <a:spAutoFit/>
          </a:bodyPr>
          <a:lstStyle/>
          <a:p>
            <a:pPr marL="34290">
              <a:spcBef>
                <a:spcPts val="90"/>
              </a:spcBef>
            </a:pPr>
            <a:r>
              <a:rPr b="1" spc="-9" dirty="0">
                <a:latin typeface="Comic Sans MS" panose="030F0702030302020204" pitchFamily="66" charset="0"/>
                <a:cs typeface="Arial" panose="020B0604020202020204"/>
              </a:rPr>
              <a:t>Time </a:t>
            </a:r>
            <a:r>
              <a:rPr b="1" spc="-5" dirty="0">
                <a:latin typeface="Comic Sans MS" panose="030F0702030302020204" pitchFamily="66" charset="0"/>
                <a:cs typeface="Arial" panose="020B0604020202020204"/>
              </a:rPr>
              <a:t>(2</a:t>
            </a:r>
            <a:r>
              <a:rPr b="1" spc="-6" baseline="25000" dirty="0">
                <a:latin typeface="Comic Sans MS" panose="030F0702030302020204" pitchFamily="66" charset="0"/>
                <a:cs typeface="Arial" panose="020B0604020202020204"/>
              </a:rPr>
              <a:t>22</a:t>
            </a:r>
            <a:r>
              <a:rPr b="1" spc="-94" baseline="25000"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ints)</a:t>
            </a:r>
            <a:endParaRPr dirty="0">
              <a:latin typeface="Comic Sans MS" panose="030F0702030302020204" pitchFamily="66" charset="0"/>
              <a:cs typeface="Arial" panose="020B0604020202020204"/>
            </a:endParaRPr>
          </a:p>
        </p:txBody>
      </p:sp>
      <p:sp>
        <p:nvSpPr>
          <p:cNvPr id="10"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11</a:t>
            </a:fld>
            <a:endParaRPr spc="-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98014" y="1293657"/>
            <a:ext cx="5831586" cy="1515992"/>
          </a:xfrm>
          <a:prstGeom prst="rect">
            <a:avLst/>
          </a:prstGeom>
          <a:solidFill>
            <a:srgbClr val="99CCFF">
              <a:alpha val="49018"/>
            </a:srgbClr>
          </a:solidFill>
          <a:ln w="28575">
            <a:solidFill>
              <a:srgbClr val="000000"/>
            </a:solidFill>
          </a:ln>
        </p:spPr>
        <p:txBody>
          <a:bodyPr vert="horz" wrap="square" lIns="0" tIns="20003" rIns="0" bIns="0" rtlCol="0">
            <a:spAutoFit/>
          </a:bodyPr>
          <a:lstStyle/>
          <a:p>
            <a:pPr marL="332105" marR="87630" indent="-227965">
              <a:spcBef>
                <a:spcPts val="160"/>
              </a:spcBef>
              <a:tabLst>
                <a:tab pos="4556760" algn="l"/>
              </a:tabLst>
            </a:pPr>
            <a:r>
              <a:rPr sz="1620" b="1" spc="-5" dirty="0">
                <a:solidFill>
                  <a:srgbClr val="0000FF"/>
                </a:solidFill>
                <a:latin typeface="Comic Sans MS" panose="030F0702030302020204" pitchFamily="66" charset="0"/>
                <a:cs typeface="Arial" panose="020B0604020202020204"/>
              </a:rPr>
              <a:t>for</a:t>
            </a:r>
            <a:r>
              <a:rPr sz="1620" b="1" spc="-9" dirty="0">
                <a:solidFill>
                  <a:srgbClr val="0000FF"/>
                </a:solidFill>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sig</a:t>
            </a:r>
            <a:r>
              <a:rPr sz="1620" b="1" spc="5" dirty="0">
                <a:solidFill>
                  <a:srgbClr val="0000FF"/>
                </a:solidFill>
                <a:latin typeface="Comic Sans MS" panose="030F0702030302020204" pitchFamily="66" charset="0"/>
                <a:cs typeface="Arial" panose="020B0604020202020204"/>
              </a:rPr>
              <a:t>n</a:t>
            </a:r>
            <a:r>
              <a:rPr sz="1620" b="1" spc="-5" dirty="0">
                <a:solidFill>
                  <a:srgbClr val="0000FF"/>
                </a:solidFill>
                <a:latin typeface="Comic Sans MS" panose="030F0702030302020204" pitchFamily="66" charset="0"/>
                <a:cs typeface="Arial" panose="020B0604020202020204"/>
              </a:rPr>
              <a:t>ed</a:t>
            </a:r>
            <a:r>
              <a:rPr sz="1620" b="1" spc="-9" dirty="0">
                <a:solidFill>
                  <a:srgbClr val="0000FF"/>
                </a:solid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t </a:t>
            </a:r>
            <a:r>
              <a:rPr sz="1620" b="1" spc="-5" dirty="0">
                <a:latin typeface="Comic Sans MS" panose="030F0702030302020204" pitchFamily="66" charset="0"/>
                <a:cs typeface="Arial" panose="020B0604020202020204"/>
              </a:rPr>
              <a:t>s=1;</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spc="-9"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&lt; </a:t>
            </a:r>
            <a:r>
              <a:rPr sz="1620" b="1" dirty="0">
                <a:solidFill>
                  <a:srgbClr val="0000FF"/>
                </a:solidFill>
                <a:latin typeface="Comic Sans MS" panose="030F0702030302020204" pitchFamily="66" charset="0"/>
                <a:cs typeface="Arial" panose="020B0604020202020204"/>
              </a:rPr>
              <a:t>b</a:t>
            </a:r>
            <a:r>
              <a:rPr sz="1620" b="1" spc="5" dirty="0">
                <a:solidFill>
                  <a:srgbClr val="0000FF"/>
                </a:solidFill>
                <a:latin typeface="Comic Sans MS" panose="030F0702030302020204" pitchFamily="66" charset="0"/>
                <a:cs typeface="Arial" panose="020B0604020202020204"/>
              </a:rPr>
              <a:t>l</a:t>
            </a:r>
            <a:r>
              <a:rPr sz="1620" b="1" spc="-5" dirty="0">
                <a:solidFill>
                  <a:srgbClr val="0000FF"/>
                </a:solidFill>
                <a:latin typeface="Comic Sans MS" panose="030F0702030302020204" pitchFamily="66" charset="0"/>
                <a:cs typeface="Arial" panose="020B0604020202020204"/>
              </a:rPr>
              <a:t>oc</a:t>
            </a:r>
            <a:r>
              <a:rPr sz="1620" b="1" spc="-14" dirty="0">
                <a:solidFill>
                  <a:srgbClr val="0000FF"/>
                </a:solidFill>
                <a:latin typeface="Comic Sans MS" panose="030F0702030302020204" pitchFamily="66" charset="0"/>
                <a:cs typeface="Arial" panose="020B0604020202020204"/>
              </a:rPr>
              <a:t>k</a:t>
            </a:r>
            <a:r>
              <a:rPr sz="1620" b="1" spc="-5" dirty="0">
                <a:solidFill>
                  <a:srgbClr val="0000FF"/>
                </a:solidFill>
                <a:latin typeface="Comic Sans MS" panose="030F0702030302020204" pitchFamily="66" charset="0"/>
                <a:cs typeface="Arial" panose="020B0604020202020204"/>
              </a:rPr>
              <a:t>Dim.</a:t>
            </a:r>
            <a:r>
              <a:rPr sz="1620" b="1" spc="-9" dirty="0">
                <a:solidFill>
                  <a:srgbClr val="0000FF"/>
                </a:solidFill>
                <a:latin typeface="Comic Sans MS" panose="030F0702030302020204" pitchFamily="66" charset="0"/>
                <a:cs typeface="Arial" panose="020B0604020202020204"/>
              </a:rPr>
              <a:t>x</a:t>
            </a:r>
            <a:r>
              <a:rPr sz="1620" b="1" dirty="0">
                <a:latin typeface="Comic Sans MS" panose="030F0702030302020204" pitchFamily="66" charset="0"/>
                <a:cs typeface="Arial" panose="020B0604020202020204"/>
              </a:rPr>
              <a:t>;</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dirty="0">
                <a:latin typeface="Comic Sans MS" panose="030F0702030302020204" pitchFamily="66" charset="0"/>
                <a:cs typeface="Arial" panose="020B0604020202020204"/>
              </a:rPr>
              <a:t> </a:t>
            </a:r>
            <a:r>
              <a:rPr sz="1620" b="1" spc="-14" dirty="0">
                <a:latin typeface="Comic Sans MS" panose="030F0702030302020204" pitchFamily="66" charset="0"/>
                <a:cs typeface="Arial" panose="020B0604020202020204"/>
              </a:rPr>
              <a:t>*</a:t>
            </a:r>
            <a:r>
              <a:rPr sz="1620" b="1" dirty="0">
                <a:latin typeface="Comic Sans MS" panose="030F0702030302020204" pitchFamily="66" charset="0"/>
                <a:cs typeface="Arial" panose="020B0604020202020204"/>
              </a:rPr>
              <a:t>=</a:t>
            </a:r>
            <a:r>
              <a:rPr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2)</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a:t>
            </a:r>
            <a:r>
              <a:rPr sz="1620" b="1" spc="-5" dirty="0">
                <a:latin typeface="Comic Sans MS" panose="030F0702030302020204" pitchFamily="66" charset="0"/>
                <a:cs typeface="Arial" panose="020B0604020202020204"/>
              </a:rPr>
              <a:t>% (2*s)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0)</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560705"/>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332105">
              <a:spcBef>
                <a:spcPts val="5"/>
              </a:spcBef>
            </a:pPr>
            <a:r>
              <a:rPr sz="1620" b="1"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32105">
              <a:tabLst>
                <a:tab pos="559435"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10414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3" name="object 3"/>
          <p:cNvSpPr txBox="1"/>
          <p:nvPr/>
        </p:nvSpPr>
        <p:spPr>
          <a:xfrm>
            <a:off x="2365664" y="3473623"/>
            <a:ext cx="5940136" cy="2546338"/>
          </a:xfrm>
          <a:prstGeom prst="rect">
            <a:avLst/>
          </a:prstGeom>
          <a:solidFill>
            <a:srgbClr val="76B800">
              <a:alpha val="49018"/>
            </a:srgbClr>
          </a:solidFill>
          <a:ln w="28575">
            <a:solidFill>
              <a:srgbClr val="000000"/>
            </a:solidFill>
          </a:ln>
        </p:spPr>
        <p:txBody>
          <a:bodyPr vert="horz" wrap="square" lIns="0" tIns="20574" rIns="0" bIns="0" rtlCol="0">
            <a:spAutoFit/>
          </a:bodyPr>
          <a:lstStyle/>
          <a:p>
            <a:pPr marL="332105" marR="87630" indent="-227965">
              <a:spcBef>
                <a:spcPts val="160"/>
              </a:spcBef>
              <a:tabLst>
                <a:tab pos="4556760" algn="l"/>
              </a:tabLst>
            </a:pPr>
            <a:r>
              <a:rPr sz="1620" b="1" spc="-5" dirty="0">
                <a:solidFill>
                  <a:srgbClr val="0000FF"/>
                </a:solidFill>
                <a:latin typeface="Comic Sans MS" panose="030F0702030302020204" pitchFamily="66" charset="0"/>
                <a:cs typeface="Arial" panose="020B0604020202020204"/>
              </a:rPr>
              <a:t>for</a:t>
            </a:r>
            <a:r>
              <a:rPr sz="1620" b="1" spc="-9" dirty="0">
                <a:solidFill>
                  <a:srgbClr val="0000FF"/>
                </a:solidFill>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sig</a:t>
            </a:r>
            <a:r>
              <a:rPr sz="1620" b="1" spc="5" dirty="0">
                <a:solidFill>
                  <a:srgbClr val="0000FF"/>
                </a:solidFill>
                <a:latin typeface="Comic Sans MS" panose="030F0702030302020204" pitchFamily="66" charset="0"/>
                <a:cs typeface="Arial" panose="020B0604020202020204"/>
              </a:rPr>
              <a:t>n</a:t>
            </a:r>
            <a:r>
              <a:rPr sz="1620" b="1" spc="-5" dirty="0">
                <a:solidFill>
                  <a:srgbClr val="0000FF"/>
                </a:solidFill>
                <a:latin typeface="Comic Sans MS" panose="030F0702030302020204" pitchFamily="66" charset="0"/>
                <a:cs typeface="Arial" panose="020B0604020202020204"/>
              </a:rPr>
              <a:t>ed</a:t>
            </a:r>
            <a:r>
              <a:rPr sz="1620" b="1" spc="-9" dirty="0">
                <a:solidFill>
                  <a:srgbClr val="0000FF"/>
                </a:solid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t </a:t>
            </a:r>
            <a:r>
              <a:rPr sz="1620" b="1" spc="-5" dirty="0">
                <a:latin typeface="Comic Sans MS" panose="030F0702030302020204" pitchFamily="66" charset="0"/>
                <a:cs typeface="Arial" panose="020B0604020202020204"/>
              </a:rPr>
              <a:t>s=1;</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spc="-9"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&lt; </a:t>
            </a:r>
            <a:r>
              <a:rPr sz="1620" b="1" dirty="0">
                <a:solidFill>
                  <a:srgbClr val="0000FF"/>
                </a:solidFill>
                <a:latin typeface="Comic Sans MS" panose="030F0702030302020204" pitchFamily="66" charset="0"/>
                <a:cs typeface="Arial" panose="020B0604020202020204"/>
              </a:rPr>
              <a:t>b</a:t>
            </a:r>
            <a:r>
              <a:rPr sz="1620" b="1" spc="5" dirty="0">
                <a:solidFill>
                  <a:srgbClr val="0000FF"/>
                </a:solidFill>
                <a:latin typeface="Comic Sans MS" panose="030F0702030302020204" pitchFamily="66" charset="0"/>
                <a:cs typeface="Arial" panose="020B0604020202020204"/>
              </a:rPr>
              <a:t>l</a:t>
            </a:r>
            <a:r>
              <a:rPr sz="1620" b="1" spc="-5" dirty="0">
                <a:solidFill>
                  <a:srgbClr val="0000FF"/>
                </a:solidFill>
                <a:latin typeface="Comic Sans MS" panose="030F0702030302020204" pitchFamily="66" charset="0"/>
                <a:cs typeface="Arial" panose="020B0604020202020204"/>
              </a:rPr>
              <a:t>oc</a:t>
            </a:r>
            <a:r>
              <a:rPr sz="1620" b="1" spc="-14" dirty="0">
                <a:solidFill>
                  <a:srgbClr val="0000FF"/>
                </a:solidFill>
                <a:latin typeface="Comic Sans MS" panose="030F0702030302020204" pitchFamily="66" charset="0"/>
                <a:cs typeface="Arial" panose="020B0604020202020204"/>
              </a:rPr>
              <a:t>k</a:t>
            </a:r>
            <a:r>
              <a:rPr sz="1620" b="1" spc="-5" dirty="0">
                <a:solidFill>
                  <a:srgbClr val="0000FF"/>
                </a:solidFill>
                <a:latin typeface="Comic Sans MS" panose="030F0702030302020204" pitchFamily="66" charset="0"/>
                <a:cs typeface="Arial" panose="020B0604020202020204"/>
              </a:rPr>
              <a:t>Dim.</a:t>
            </a:r>
            <a:r>
              <a:rPr sz="1620" b="1" spc="-5" dirty="0">
                <a:latin typeface="Comic Sans MS" panose="030F0702030302020204" pitchFamily="66" charset="0"/>
                <a:cs typeface="Arial" panose="020B0604020202020204"/>
              </a:rPr>
              <a:t>x;</a:t>
            </a:r>
            <a:r>
              <a:rPr sz="1620" b="1" spc="-14"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dirty="0">
                <a:latin typeface="Comic Sans MS" panose="030F0702030302020204" pitchFamily="66" charset="0"/>
                <a:cs typeface="Arial" panose="020B0604020202020204"/>
              </a:rPr>
              <a:t> </a:t>
            </a:r>
            <a:r>
              <a:rPr sz="1620" b="1" spc="-14" dirty="0">
                <a:latin typeface="Comic Sans MS" panose="030F0702030302020204" pitchFamily="66" charset="0"/>
                <a:cs typeface="Arial" panose="020B0604020202020204"/>
              </a:rPr>
              <a:t>*</a:t>
            </a:r>
            <a:r>
              <a:rPr sz="1620" b="1" dirty="0">
                <a:latin typeface="Comic Sans MS" panose="030F0702030302020204" pitchFamily="66" charset="0"/>
                <a:cs typeface="Arial" panose="020B0604020202020204"/>
              </a:rPr>
              <a:t>=</a:t>
            </a:r>
            <a:r>
              <a:rPr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2)</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  </a:t>
            </a:r>
            <a:endParaRPr lang="en-US" sz="1620" b="1" spc="-5" dirty="0">
              <a:latin typeface="Comic Sans MS" panose="030F0702030302020204" pitchFamily="66" charset="0"/>
              <a:cs typeface="Arial" panose="020B0604020202020204"/>
            </a:endParaRPr>
          </a:p>
          <a:p>
            <a:pPr marL="332105" marR="87630" indent="-227965">
              <a:spcBef>
                <a:spcPts val="160"/>
              </a:spcBef>
              <a:tabLst>
                <a:tab pos="4556760" algn="l"/>
              </a:tabLst>
            </a:pPr>
            <a:r>
              <a:rPr lang="en-US" sz="1620" b="1" spc="-5" dirty="0">
                <a:solidFill>
                  <a:srgbClr val="0000FF"/>
                </a:solid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int </a:t>
            </a:r>
            <a:r>
              <a:rPr sz="1620" b="1" dirty="0">
                <a:latin typeface="Comic Sans MS" panose="030F0702030302020204" pitchFamily="66" charset="0"/>
                <a:cs typeface="Arial" panose="020B0604020202020204"/>
              </a:rPr>
              <a:t>index = </a:t>
            </a:r>
            <a:r>
              <a:rPr sz="1620" b="1" spc="-5" dirty="0">
                <a:latin typeface="Comic Sans MS" panose="030F0702030302020204" pitchFamily="66" charset="0"/>
                <a:cs typeface="Arial" panose="020B0604020202020204"/>
              </a:rPr>
              <a:t>2 * s *</a:t>
            </a:r>
            <a:r>
              <a:rPr sz="1620" b="1" spc="-23"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tid;</a:t>
            </a:r>
            <a:endParaRPr sz="1620" dirty="0">
              <a:latin typeface="Comic Sans MS" panose="030F0702030302020204" pitchFamily="66" charset="0"/>
              <a:cs typeface="Arial" panose="020B0604020202020204"/>
            </a:endParaRPr>
          </a:p>
          <a:p>
            <a:pPr>
              <a:spcBef>
                <a:spcPts val="30"/>
              </a:spcBef>
            </a:pPr>
            <a:endParaRPr sz="1665" dirty="0">
              <a:latin typeface="Comic Sans MS" panose="030F0702030302020204" pitchFamily="66" charset="0"/>
              <a:cs typeface="Arial" panose="020B0604020202020204"/>
            </a:endParaRPr>
          </a:p>
          <a:p>
            <a:pPr marL="332105"/>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(index &lt; </a:t>
            </a:r>
            <a:r>
              <a:rPr sz="1620" b="1" spc="-5" dirty="0">
                <a:solidFill>
                  <a:srgbClr val="0000FF"/>
                </a:solidFill>
                <a:latin typeface="Comic Sans MS" panose="030F0702030302020204" pitchFamily="66" charset="0"/>
                <a:cs typeface="Arial" panose="020B0604020202020204"/>
              </a:rPr>
              <a:t>blockDim.</a:t>
            </a:r>
            <a:r>
              <a:rPr sz="1620" b="1" spc="-5" dirty="0">
                <a:latin typeface="Comic Sans MS" panose="030F0702030302020204" pitchFamily="66" charset="0"/>
                <a:cs typeface="Arial" panose="020B0604020202020204"/>
              </a:rPr>
              <a:t>x)</a:t>
            </a:r>
            <a:r>
              <a:rPr sz="1620" b="1" spc="-23"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lang="en-US" sz="1620" b="1" dirty="0">
                <a:latin typeface="Comic Sans MS" panose="030F0702030302020204" pitchFamily="66" charset="0"/>
                <a:cs typeface="Arial" panose="020B0604020202020204"/>
              </a:rPr>
              <a:t> </a:t>
            </a:r>
          </a:p>
          <a:p>
            <a:pPr marL="332105"/>
            <a:r>
              <a:rPr lang="en-US" sz="1620" b="1" dirty="0">
                <a:latin typeface="Comic Sans MS" panose="030F0702030302020204" pitchFamily="66" charset="0"/>
                <a:cs typeface="Arial" panose="020B0604020202020204"/>
              </a:rPr>
              <a:t>// warps are non-divergent,</a:t>
            </a:r>
            <a:r>
              <a:rPr lang="zh-CN" altLang="en-US" sz="1620" b="1" dirty="0">
                <a:latin typeface="Comic Sans MS" panose="030F0702030302020204" pitchFamily="66" charset="0"/>
                <a:cs typeface="Arial" panose="020B0604020202020204"/>
              </a:rPr>
              <a:t> </a:t>
            </a:r>
            <a:r>
              <a:rPr lang="en-US" altLang="zh-CN" sz="1620" b="1" dirty="0">
                <a:latin typeface="Comic Sans MS" panose="030F0702030302020204" pitchFamily="66" charset="0"/>
                <a:cs typeface="Arial" panose="020B0604020202020204"/>
              </a:rPr>
              <a:t>either</a:t>
            </a:r>
            <a:r>
              <a:rPr lang="zh-CN" altLang="en-US" sz="1620" b="1" dirty="0">
                <a:latin typeface="Comic Sans MS" panose="030F0702030302020204" pitchFamily="66" charset="0"/>
                <a:cs typeface="Arial" panose="020B0604020202020204"/>
              </a:rPr>
              <a:t> </a:t>
            </a:r>
            <a:r>
              <a:rPr lang="en-US" altLang="zh-CN" sz="1620" b="1" dirty="0">
                <a:latin typeface="Comic Sans MS" panose="030F0702030302020204" pitchFamily="66" charset="0"/>
                <a:cs typeface="Arial" panose="020B0604020202020204"/>
              </a:rPr>
              <a:t>a warp of 32 threads doing </a:t>
            </a:r>
            <a:r>
              <a:rPr lang="en-US" altLang="zh-CN" sz="1620" b="1" dirty="0">
                <a:solidFill>
                  <a:srgbClr val="0000FF"/>
                </a:solidFill>
                <a:latin typeface="Comic Sans MS" panose="030F0702030302020204" pitchFamily="66" charset="0"/>
                <a:cs typeface="Arial" panose="020B0604020202020204"/>
              </a:rPr>
              <a:t>if</a:t>
            </a:r>
            <a:r>
              <a:rPr lang="en-US" altLang="zh-CN" sz="1620" b="1" dirty="0">
                <a:latin typeface="Comic Sans MS" panose="030F0702030302020204" pitchFamily="66" charset="0"/>
                <a:cs typeface="Arial" panose="020B0604020202020204"/>
              </a:rPr>
              <a:t> code block, or skipping </a:t>
            </a:r>
            <a:r>
              <a:rPr lang="en-US" altLang="zh-CN" sz="1620" b="1" dirty="0">
                <a:solidFill>
                  <a:srgbClr val="0000FF"/>
                </a:solidFill>
                <a:latin typeface="Comic Sans MS" panose="030F0702030302020204" pitchFamily="66" charset="0"/>
                <a:cs typeface="Arial" panose="020B0604020202020204"/>
              </a:rPr>
              <a:t>if</a:t>
            </a:r>
            <a:r>
              <a:rPr lang="en-US" altLang="zh-CN" sz="1620" b="1"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560705"/>
            <a:r>
              <a:rPr sz="1620" b="1" spc="-5" dirty="0">
                <a:latin typeface="Comic Sans MS" panose="030F0702030302020204" pitchFamily="66" charset="0"/>
                <a:cs typeface="Arial" panose="020B0604020202020204"/>
              </a:rPr>
              <a:t>sdata[index]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sdata[index </a:t>
            </a:r>
            <a:r>
              <a:rPr sz="1620" b="1" dirty="0">
                <a:latin typeface="Comic Sans MS" panose="030F0702030302020204" pitchFamily="66" charset="0"/>
                <a:cs typeface="Arial" panose="020B0604020202020204"/>
              </a:rPr>
              <a:t>+</a:t>
            </a:r>
            <a:r>
              <a:rPr sz="1620" b="1" spc="-5" dirty="0">
                <a:latin typeface="Comic Sans MS" panose="030F0702030302020204" pitchFamily="66" charset="0"/>
                <a:cs typeface="Arial" panose="020B0604020202020204"/>
              </a:rPr>
              <a:t> s];</a:t>
            </a:r>
            <a:endParaRPr sz="1620" dirty="0">
              <a:latin typeface="Comic Sans MS" panose="030F0702030302020204" pitchFamily="66" charset="0"/>
              <a:cs typeface="Arial" panose="020B0604020202020204"/>
            </a:endParaRPr>
          </a:p>
          <a:p>
            <a:pPr marL="332105"/>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32105">
              <a:tabLst>
                <a:tab pos="559435"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a:p>
            <a:pPr marL="10414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5" name="object 5"/>
          <p:cNvSpPr txBox="1">
            <a:spLocks noGrp="1"/>
          </p:cNvSpPr>
          <p:nvPr>
            <p:ph type="title"/>
          </p:nvPr>
        </p:nvSpPr>
        <p:spPr>
          <a:xfrm>
            <a:off x="1371600" y="144594"/>
            <a:ext cx="9144635"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Reduction </a:t>
            </a:r>
            <a:r>
              <a:rPr sz="3200" b="1" spc="-5" dirty="0">
                <a:latin typeface="Comic Sans MS" panose="030F0702030302020204" pitchFamily="66" charset="0"/>
              </a:rPr>
              <a:t>#2: Interleaved</a:t>
            </a:r>
            <a:r>
              <a:rPr sz="3200" b="1" spc="-122" dirty="0">
                <a:latin typeface="Comic Sans MS" panose="030F0702030302020204" pitchFamily="66" charset="0"/>
              </a:rPr>
              <a:t> </a:t>
            </a:r>
            <a:r>
              <a:rPr sz="3200" b="1" dirty="0">
                <a:latin typeface="Comic Sans MS" panose="030F0702030302020204" pitchFamily="66" charset="0"/>
              </a:rPr>
              <a:t>Addressing</a:t>
            </a:r>
          </a:p>
        </p:txBody>
      </p:sp>
      <p:sp>
        <p:nvSpPr>
          <p:cNvPr id="6" name="object 6"/>
          <p:cNvSpPr txBox="1"/>
          <p:nvPr/>
        </p:nvSpPr>
        <p:spPr>
          <a:xfrm>
            <a:off x="2057400" y="836685"/>
            <a:ext cx="6627114"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Just replace </a:t>
            </a:r>
            <a:r>
              <a:rPr lang="en-US" altLang="zh-CN" sz="2160" b="1" spc="-5" dirty="0">
                <a:solidFill>
                  <a:srgbClr val="FF0000"/>
                </a:solidFill>
                <a:latin typeface="Comic Sans MS" panose="030F0702030302020204" pitchFamily="66" charset="0"/>
                <a:cs typeface="Arial" panose="020B0604020202020204"/>
              </a:rPr>
              <a:t>warp </a:t>
            </a:r>
            <a:r>
              <a:rPr sz="2160" b="1" dirty="0">
                <a:solidFill>
                  <a:srgbClr val="FF0000"/>
                </a:solidFill>
                <a:latin typeface="Comic Sans MS" panose="030F0702030302020204" pitchFamily="66" charset="0"/>
                <a:cs typeface="Arial" panose="020B0604020202020204"/>
              </a:rPr>
              <a:t>divergent </a:t>
            </a:r>
            <a:r>
              <a:rPr sz="2160" b="1" spc="-5" dirty="0">
                <a:solidFill>
                  <a:srgbClr val="FF0000"/>
                </a:solidFill>
                <a:latin typeface="Comic Sans MS" panose="030F0702030302020204" pitchFamily="66" charset="0"/>
                <a:cs typeface="Arial" panose="020B0604020202020204"/>
              </a:rPr>
              <a:t>branch</a:t>
            </a:r>
            <a:r>
              <a:rPr sz="2160" b="1" spc="-5"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in </a:t>
            </a:r>
            <a:r>
              <a:rPr sz="2160" b="1" spc="-5" dirty="0">
                <a:latin typeface="Comic Sans MS" panose="030F0702030302020204" pitchFamily="66" charset="0"/>
                <a:cs typeface="Arial" panose="020B0604020202020204"/>
              </a:rPr>
              <a:t>inner</a:t>
            </a:r>
            <a:r>
              <a:rPr sz="2160" b="1" spc="9"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loop:</a:t>
            </a:r>
            <a:endParaRPr sz="2160" dirty="0">
              <a:latin typeface="Comic Sans MS" panose="030F0702030302020204" pitchFamily="66" charset="0"/>
              <a:cs typeface="Arial" panose="020B0604020202020204"/>
            </a:endParaRPr>
          </a:p>
        </p:txBody>
      </p:sp>
      <p:sp>
        <p:nvSpPr>
          <p:cNvPr id="7" name="object 7"/>
          <p:cNvSpPr txBox="1"/>
          <p:nvPr/>
        </p:nvSpPr>
        <p:spPr>
          <a:xfrm>
            <a:off x="1957822" y="3050234"/>
            <a:ext cx="7057156"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With </a:t>
            </a:r>
            <a:r>
              <a:rPr sz="2160" b="1" dirty="0">
                <a:latin typeface="Comic Sans MS" panose="030F0702030302020204" pitchFamily="66" charset="0"/>
                <a:cs typeface="Arial" panose="020B0604020202020204"/>
              </a:rPr>
              <a:t>strided </a:t>
            </a:r>
            <a:r>
              <a:rPr sz="2160" b="1" spc="-5" dirty="0">
                <a:latin typeface="Comic Sans MS" panose="030F0702030302020204" pitchFamily="66" charset="0"/>
                <a:cs typeface="Arial" panose="020B0604020202020204"/>
              </a:rPr>
              <a:t>index and </a:t>
            </a:r>
            <a:r>
              <a:rPr lang="en-US" altLang="zh-CN" sz="2160" b="1" spc="-5" dirty="0">
                <a:solidFill>
                  <a:srgbClr val="FF0000"/>
                </a:solidFill>
                <a:latin typeface="Comic Sans MS" panose="030F0702030302020204" pitchFamily="66" charset="0"/>
                <a:cs typeface="Arial" panose="020B0604020202020204"/>
              </a:rPr>
              <a:t>warp</a:t>
            </a:r>
            <a:r>
              <a:rPr lang="en-US" altLang="zh-CN" sz="2160" b="1" spc="-5" dirty="0">
                <a:latin typeface="Comic Sans MS" panose="030F0702030302020204" pitchFamily="66" charset="0"/>
                <a:cs typeface="Arial" panose="020B0604020202020204"/>
              </a:rPr>
              <a:t> </a:t>
            </a:r>
            <a:r>
              <a:rPr sz="2160" b="1" spc="-5" dirty="0">
                <a:solidFill>
                  <a:srgbClr val="FF0000"/>
                </a:solidFill>
                <a:latin typeface="Comic Sans MS" panose="030F0702030302020204" pitchFamily="66" charset="0"/>
                <a:cs typeface="Arial" panose="020B0604020202020204"/>
              </a:rPr>
              <a:t>non-divergent</a:t>
            </a:r>
            <a:r>
              <a:rPr sz="2160" b="1" spc="-45" dirty="0">
                <a:solidFill>
                  <a:srgbClr val="FF0000"/>
                </a:solidFill>
                <a:latin typeface="Comic Sans MS" panose="030F0702030302020204" pitchFamily="66" charset="0"/>
                <a:cs typeface="Arial" panose="020B0604020202020204"/>
              </a:rPr>
              <a:t> </a:t>
            </a:r>
            <a:r>
              <a:rPr sz="2160" b="1" spc="-5" dirty="0">
                <a:solidFill>
                  <a:srgbClr val="FF0000"/>
                </a:solidFill>
                <a:latin typeface="Comic Sans MS" panose="030F0702030302020204" pitchFamily="66" charset="0"/>
                <a:cs typeface="Arial" panose="020B0604020202020204"/>
              </a:rPr>
              <a:t>branch</a:t>
            </a:r>
            <a:r>
              <a:rPr sz="2160" b="1" spc="-5" dirty="0">
                <a:latin typeface="Comic Sans MS" panose="030F0702030302020204" pitchFamily="66" charset="0"/>
                <a:cs typeface="Arial" panose="020B0604020202020204"/>
              </a:rPr>
              <a:t>:</a:t>
            </a:r>
            <a:endParaRPr sz="2160" dirty="0">
              <a:latin typeface="Comic Sans MS" panose="030F0702030302020204" pitchFamily="66" charset="0"/>
              <a:cs typeface="Arial" panose="020B0604020202020204"/>
            </a:endParaRPr>
          </a:p>
        </p:txBody>
      </p:sp>
      <p:sp>
        <p:nvSpPr>
          <p:cNvPr id="9"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12</a:t>
            </a:fld>
            <a:endParaRPr spc="-5" dirty="0">
              <a:latin typeface="Comic Sans MS" panose="030F0702030302020204" pitchFamily="66"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99587" y="190491"/>
            <a:ext cx="8240490" cy="379730"/>
          </a:xfrm>
          <a:prstGeom prst="rect">
            <a:avLst/>
          </a:prstGeom>
        </p:spPr>
        <p:txBody>
          <a:bodyPr vert="horz" wrap="square" lIns="0" tIns="10859" rIns="0" bIns="0" rtlCol="0">
            <a:spAutoFit/>
          </a:bodyPr>
          <a:lstStyle/>
          <a:p>
            <a:pPr marL="11430">
              <a:spcBef>
                <a:spcPts val="85"/>
              </a:spcBef>
            </a:pPr>
            <a:r>
              <a:rPr sz="2400" b="1" spc="-5" dirty="0">
                <a:latin typeface="Comic Sans MS" panose="030F0702030302020204" pitchFamily="66" charset="0"/>
              </a:rPr>
              <a:t>Parallel Reduction: Interleaved</a:t>
            </a:r>
            <a:r>
              <a:rPr sz="2400" b="1" spc="54" dirty="0">
                <a:latin typeface="Comic Sans MS" panose="030F0702030302020204" pitchFamily="66" charset="0"/>
              </a:rPr>
              <a:t> </a:t>
            </a:r>
            <a:r>
              <a:rPr sz="2400" b="1" spc="-5" dirty="0">
                <a:latin typeface="Comic Sans MS" panose="030F0702030302020204" pitchFamily="66" charset="0"/>
              </a:rPr>
              <a:t>Addressing</a:t>
            </a:r>
            <a:endParaRPr sz="2400" b="1" dirty="0">
              <a:latin typeface="Comic Sans MS" panose="030F0702030302020204" pitchFamily="66" charset="0"/>
            </a:endParaRPr>
          </a:p>
        </p:txBody>
      </p:sp>
      <p:graphicFrame>
        <p:nvGraphicFramePr>
          <p:cNvPr id="4" name="object 4"/>
          <p:cNvGraphicFramePr>
            <a:graphicFrameLocks noGrp="1"/>
          </p:cNvGraphicFramePr>
          <p:nvPr/>
        </p:nvGraphicFramePr>
        <p:xfrm>
          <a:off x="2362200" y="133350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65"/>
                        </a:spcBef>
                      </a:pPr>
                      <a:r>
                        <a:rPr sz="1300" b="1"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150"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6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150"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186945" y="1398594"/>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6" name="object 6"/>
          <p:cNvSpPr/>
          <p:nvPr/>
        </p:nvSpPr>
        <p:spPr>
          <a:xfrm>
            <a:off x="2425123" y="1843565"/>
            <a:ext cx="247460" cy="247460"/>
          </a:xfrm>
          <a:custGeom>
            <a:avLst/>
            <a:gdLst/>
            <a:ahLst/>
            <a:cxnLst/>
            <a:rect l="l" t="t" r="r" b="b"/>
            <a:pathLst>
              <a:path w="274955"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7" name="object 7"/>
          <p:cNvSpPr/>
          <p:nvPr/>
        </p:nvSpPr>
        <p:spPr>
          <a:xfrm>
            <a:off x="2425123" y="1843565"/>
            <a:ext cx="247460" cy="247460"/>
          </a:xfrm>
          <a:custGeom>
            <a:avLst/>
            <a:gdLst/>
            <a:ahLst/>
            <a:cxnLst/>
            <a:rect l="l" t="t" r="r" b="b"/>
            <a:pathLst>
              <a:path w="274955"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8" name="object 8"/>
          <p:cNvSpPr txBox="1"/>
          <p:nvPr/>
        </p:nvSpPr>
        <p:spPr>
          <a:xfrm>
            <a:off x="2487073" y="1842192"/>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9" name="object 9"/>
          <p:cNvSpPr/>
          <p:nvPr/>
        </p:nvSpPr>
        <p:spPr>
          <a:xfrm>
            <a:off x="2492559" y="1654854"/>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10" name="object 10"/>
          <p:cNvSpPr/>
          <p:nvPr/>
        </p:nvSpPr>
        <p:spPr>
          <a:xfrm>
            <a:off x="2683669" y="1654627"/>
            <a:ext cx="228600" cy="350330"/>
          </a:xfrm>
          <a:custGeom>
            <a:avLst/>
            <a:gdLst/>
            <a:ahLst/>
            <a:cxnLst/>
            <a:rect l="l" t="t" r="r" b="b"/>
            <a:pathLst>
              <a:path w="254000" h="389255">
                <a:moveTo>
                  <a:pt x="56387" y="266318"/>
                </a:moveTo>
                <a:lnTo>
                  <a:pt x="0" y="347979"/>
                </a:lnTo>
                <a:lnTo>
                  <a:pt x="90424" y="388746"/>
                </a:lnTo>
                <a:lnTo>
                  <a:pt x="77254" y="341375"/>
                </a:lnTo>
                <a:lnTo>
                  <a:pt x="64897" y="341375"/>
                </a:lnTo>
                <a:lnTo>
                  <a:pt x="57531" y="320420"/>
                </a:lnTo>
                <a:lnTo>
                  <a:pt x="70178" y="315924"/>
                </a:lnTo>
                <a:lnTo>
                  <a:pt x="56387" y="266318"/>
                </a:lnTo>
                <a:close/>
              </a:path>
              <a:path w="254000" h="389255">
                <a:moveTo>
                  <a:pt x="70178" y="315924"/>
                </a:moveTo>
                <a:lnTo>
                  <a:pt x="57531" y="320420"/>
                </a:lnTo>
                <a:lnTo>
                  <a:pt x="64897" y="341375"/>
                </a:lnTo>
                <a:lnTo>
                  <a:pt x="76150" y="337404"/>
                </a:lnTo>
                <a:lnTo>
                  <a:pt x="70178" y="315924"/>
                </a:lnTo>
                <a:close/>
              </a:path>
              <a:path w="254000" h="389255">
                <a:moveTo>
                  <a:pt x="76150" y="337404"/>
                </a:moveTo>
                <a:lnTo>
                  <a:pt x="64897" y="341375"/>
                </a:lnTo>
                <a:lnTo>
                  <a:pt x="77254" y="341375"/>
                </a:lnTo>
                <a:lnTo>
                  <a:pt x="76150" y="337404"/>
                </a:lnTo>
                <a:close/>
              </a:path>
              <a:path w="254000" h="389255">
                <a:moveTo>
                  <a:pt x="73886" y="314605"/>
                </a:moveTo>
                <a:lnTo>
                  <a:pt x="70178" y="315924"/>
                </a:lnTo>
                <a:lnTo>
                  <a:pt x="76150" y="337404"/>
                </a:lnTo>
                <a:lnTo>
                  <a:pt x="82931" y="335025"/>
                </a:lnTo>
                <a:lnTo>
                  <a:pt x="111442" y="315467"/>
                </a:lnTo>
                <a:lnTo>
                  <a:pt x="72517" y="315467"/>
                </a:lnTo>
                <a:lnTo>
                  <a:pt x="73886" y="314605"/>
                </a:lnTo>
                <a:close/>
              </a:path>
              <a:path w="254000" h="389255">
                <a:moveTo>
                  <a:pt x="74675" y="314325"/>
                </a:moveTo>
                <a:lnTo>
                  <a:pt x="73886" y="314605"/>
                </a:lnTo>
                <a:lnTo>
                  <a:pt x="72517" y="315467"/>
                </a:lnTo>
                <a:lnTo>
                  <a:pt x="74675" y="314325"/>
                </a:lnTo>
                <a:close/>
              </a:path>
              <a:path w="254000" h="389255">
                <a:moveTo>
                  <a:pt x="112871" y="314325"/>
                </a:moveTo>
                <a:lnTo>
                  <a:pt x="74675" y="314325"/>
                </a:lnTo>
                <a:lnTo>
                  <a:pt x="72517" y="315467"/>
                </a:lnTo>
                <a:lnTo>
                  <a:pt x="111442" y="315467"/>
                </a:lnTo>
                <a:lnTo>
                  <a:pt x="112871" y="314325"/>
                </a:lnTo>
                <a:close/>
              </a:path>
              <a:path w="254000" h="389255">
                <a:moveTo>
                  <a:pt x="231775" y="0"/>
                </a:moveTo>
                <a:lnTo>
                  <a:pt x="228726" y="47878"/>
                </a:lnTo>
                <a:lnTo>
                  <a:pt x="220090" y="94614"/>
                </a:lnTo>
                <a:lnTo>
                  <a:pt x="200533" y="154177"/>
                </a:lnTo>
                <a:lnTo>
                  <a:pt x="173608" y="208533"/>
                </a:lnTo>
                <a:lnTo>
                  <a:pt x="149351" y="244855"/>
                </a:lnTo>
                <a:lnTo>
                  <a:pt x="122174" y="276097"/>
                </a:lnTo>
                <a:lnTo>
                  <a:pt x="92837" y="301878"/>
                </a:lnTo>
                <a:lnTo>
                  <a:pt x="73886" y="314605"/>
                </a:lnTo>
                <a:lnTo>
                  <a:pt x="74675" y="314325"/>
                </a:lnTo>
                <a:lnTo>
                  <a:pt x="112871" y="314325"/>
                </a:lnTo>
                <a:lnTo>
                  <a:pt x="117475" y="310641"/>
                </a:lnTo>
                <a:lnTo>
                  <a:pt x="148208" y="280924"/>
                </a:lnTo>
                <a:lnTo>
                  <a:pt x="176402" y="245363"/>
                </a:lnTo>
                <a:lnTo>
                  <a:pt x="208152" y="191262"/>
                </a:lnTo>
                <a:lnTo>
                  <a:pt x="232663" y="131190"/>
                </a:lnTo>
                <a:lnTo>
                  <a:pt x="245363" y="83312"/>
                </a:lnTo>
                <a:lnTo>
                  <a:pt x="252602" y="33654"/>
                </a:lnTo>
                <a:lnTo>
                  <a:pt x="254000" y="634"/>
                </a:lnTo>
                <a:lnTo>
                  <a:pt x="23177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1" name="object 11"/>
          <p:cNvSpPr/>
          <p:nvPr/>
        </p:nvSpPr>
        <p:spPr>
          <a:xfrm>
            <a:off x="3125210"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2" name="object 12"/>
          <p:cNvSpPr/>
          <p:nvPr/>
        </p:nvSpPr>
        <p:spPr>
          <a:xfrm>
            <a:off x="3125210"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13" name="object 13"/>
          <p:cNvSpPr txBox="1"/>
          <p:nvPr/>
        </p:nvSpPr>
        <p:spPr>
          <a:xfrm>
            <a:off x="3182017"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1</a:t>
            </a:r>
            <a:endParaRPr sz="1620">
              <a:latin typeface="Comic Sans MS" panose="030F0702030302020204" pitchFamily="66" charset="0"/>
              <a:cs typeface="Arial" panose="020B0604020202020204"/>
            </a:endParaRPr>
          </a:p>
        </p:txBody>
      </p:sp>
      <p:sp>
        <p:nvSpPr>
          <p:cNvPr id="14" name="object 14"/>
          <p:cNvSpPr/>
          <p:nvPr/>
        </p:nvSpPr>
        <p:spPr>
          <a:xfrm>
            <a:off x="3192989" y="1654854"/>
            <a:ext cx="114300" cy="177278"/>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15" name="object 15"/>
          <p:cNvSpPr/>
          <p:nvPr/>
        </p:nvSpPr>
        <p:spPr>
          <a:xfrm>
            <a:off x="3383756" y="1654627"/>
            <a:ext cx="230314" cy="350330"/>
          </a:xfrm>
          <a:custGeom>
            <a:avLst/>
            <a:gdLst/>
            <a:ahLst/>
            <a:cxnLst/>
            <a:rect l="l" t="t" r="r" b="b"/>
            <a:pathLst>
              <a:path w="255904" h="389255">
                <a:moveTo>
                  <a:pt x="56641" y="266572"/>
                </a:moveTo>
                <a:lnTo>
                  <a:pt x="0" y="347979"/>
                </a:lnTo>
                <a:lnTo>
                  <a:pt x="90424" y="389000"/>
                </a:lnTo>
                <a:lnTo>
                  <a:pt x="77352" y="341629"/>
                </a:lnTo>
                <a:lnTo>
                  <a:pt x="65024" y="341629"/>
                </a:lnTo>
                <a:lnTo>
                  <a:pt x="57530" y="320675"/>
                </a:lnTo>
                <a:lnTo>
                  <a:pt x="70302" y="316080"/>
                </a:lnTo>
                <a:lnTo>
                  <a:pt x="56641" y="266572"/>
                </a:lnTo>
                <a:close/>
              </a:path>
              <a:path w="255904" h="389255">
                <a:moveTo>
                  <a:pt x="70302" y="316080"/>
                </a:moveTo>
                <a:lnTo>
                  <a:pt x="57530" y="320675"/>
                </a:lnTo>
                <a:lnTo>
                  <a:pt x="65024" y="341629"/>
                </a:lnTo>
                <a:lnTo>
                  <a:pt x="76239" y="337595"/>
                </a:lnTo>
                <a:lnTo>
                  <a:pt x="70302" y="316080"/>
                </a:lnTo>
                <a:close/>
              </a:path>
              <a:path w="255904" h="389255">
                <a:moveTo>
                  <a:pt x="76239" y="337595"/>
                </a:moveTo>
                <a:lnTo>
                  <a:pt x="65024" y="341629"/>
                </a:lnTo>
                <a:lnTo>
                  <a:pt x="77352" y="341629"/>
                </a:lnTo>
                <a:lnTo>
                  <a:pt x="76239" y="337595"/>
                </a:lnTo>
                <a:close/>
              </a:path>
              <a:path w="255904" h="389255">
                <a:moveTo>
                  <a:pt x="73982" y="314757"/>
                </a:moveTo>
                <a:lnTo>
                  <a:pt x="70302" y="316080"/>
                </a:lnTo>
                <a:lnTo>
                  <a:pt x="76239" y="337595"/>
                </a:lnTo>
                <a:lnTo>
                  <a:pt x="82676" y="335279"/>
                </a:lnTo>
                <a:lnTo>
                  <a:pt x="83438" y="335025"/>
                </a:lnTo>
                <a:lnTo>
                  <a:pt x="84074" y="334644"/>
                </a:lnTo>
                <a:lnTo>
                  <a:pt x="84836" y="334263"/>
                </a:lnTo>
                <a:lnTo>
                  <a:pt x="96138" y="327151"/>
                </a:lnTo>
                <a:lnTo>
                  <a:pt x="107314" y="319277"/>
                </a:lnTo>
                <a:lnTo>
                  <a:pt x="112294"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250" y="47878"/>
                </a:lnTo>
                <a:lnTo>
                  <a:pt x="221487" y="94487"/>
                </a:lnTo>
                <a:lnTo>
                  <a:pt x="201929" y="154177"/>
                </a:lnTo>
                <a:lnTo>
                  <a:pt x="174751" y="208533"/>
                </a:lnTo>
                <a:lnTo>
                  <a:pt x="150367" y="244728"/>
                </a:lnTo>
                <a:lnTo>
                  <a:pt x="123062" y="276097"/>
                </a:lnTo>
                <a:lnTo>
                  <a:pt x="93599" y="301751"/>
                </a:lnTo>
                <a:lnTo>
                  <a:pt x="73982" y="314757"/>
                </a:lnTo>
                <a:lnTo>
                  <a:pt x="75184" y="314325"/>
                </a:lnTo>
                <a:lnTo>
                  <a:pt x="113579" y="314325"/>
                </a:lnTo>
                <a:lnTo>
                  <a:pt x="118237" y="310641"/>
                </a:lnTo>
                <a:lnTo>
                  <a:pt x="149225" y="280796"/>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6" name="object 16"/>
          <p:cNvSpPr/>
          <p:nvPr/>
        </p:nvSpPr>
        <p:spPr>
          <a:xfrm>
            <a:off x="3826669"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7" name="object 17"/>
          <p:cNvSpPr/>
          <p:nvPr/>
        </p:nvSpPr>
        <p:spPr>
          <a:xfrm>
            <a:off x="3826669"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18" name="object 18"/>
          <p:cNvSpPr txBox="1"/>
          <p:nvPr/>
        </p:nvSpPr>
        <p:spPr>
          <a:xfrm>
            <a:off x="3883704"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2</a:t>
            </a:r>
            <a:endParaRPr sz="1620">
              <a:latin typeface="Comic Sans MS" panose="030F0702030302020204" pitchFamily="66" charset="0"/>
              <a:cs typeface="Arial" panose="020B0604020202020204"/>
            </a:endParaRPr>
          </a:p>
        </p:txBody>
      </p:sp>
      <p:sp>
        <p:nvSpPr>
          <p:cNvPr id="19" name="object 19"/>
          <p:cNvSpPr/>
          <p:nvPr/>
        </p:nvSpPr>
        <p:spPr>
          <a:xfrm>
            <a:off x="3894563" y="1654854"/>
            <a:ext cx="114300" cy="177278"/>
          </a:xfrm>
          <a:prstGeom prst="rect">
            <a:avLst/>
          </a:prstGeom>
          <a:blipFill>
            <a:blip r:embed="rId4" cstate="print"/>
            <a:stretch>
              <a:fillRect/>
            </a:stretch>
          </a:blipFill>
        </p:spPr>
        <p:txBody>
          <a:bodyPr wrap="square" lIns="0" tIns="0" rIns="0" bIns="0" rtlCol="0"/>
          <a:lstStyle/>
          <a:p>
            <a:endParaRPr sz="1620">
              <a:latin typeface="Comic Sans MS" panose="030F0702030302020204" pitchFamily="66" charset="0"/>
            </a:endParaRPr>
          </a:p>
        </p:txBody>
      </p:sp>
      <p:sp>
        <p:nvSpPr>
          <p:cNvPr id="20" name="object 20"/>
          <p:cNvSpPr/>
          <p:nvPr/>
        </p:nvSpPr>
        <p:spPr>
          <a:xfrm>
            <a:off x="4085330" y="1654627"/>
            <a:ext cx="230314" cy="350330"/>
          </a:xfrm>
          <a:custGeom>
            <a:avLst/>
            <a:gdLst/>
            <a:ahLst/>
            <a:cxnLst/>
            <a:rect l="l" t="t" r="r" b="b"/>
            <a:pathLst>
              <a:path w="255904" h="389255">
                <a:moveTo>
                  <a:pt x="56514" y="266572"/>
                </a:moveTo>
                <a:lnTo>
                  <a:pt x="0" y="347979"/>
                </a:lnTo>
                <a:lnTo>
                  <a:pt x="90297" y="389000"/>
                </a:lnTo>
                <a:lnTo>
                  <a:pt x="77225" y="341629"/>
                </a:lnTo>
                <a:lnTo>
                  <a:pt x="64897" y="341629"/>
                </a:lnTo>
                <a:lnTo>
                  <a:pt x="57403" y="320675"/>
                </a:lnTo>
                <a:lnTo>
                  <a:pt x="70175" y="316080"/>
                </a:lnTo>
                <a:lnTo>
                  <a:pt x="56514" y="266572"/>
                </a:lnTo>
                <a:close/>
              </a:path>
              <a:path w="255904" h="389255">
                <a:moveTo>
                  <a:pt x="70175" y="316080"/>
                </a:moveTo>
                <a:lnTo>
                  <a:pt x="57403" y="320675"/>
                </a:lnTo>
                <a:lnTo>
                  <a:pt x="64897" y="341629"/>
                </a:lnTo>
                <a:lnTo>
                  <a:pt x="76112" y="337595"/>
                </a:lnTo>
                <a:lnTo>
                  <a:pt x="70175" y="316080"/>
                </a:lnTo>
                <a:close/>
              </a:path>
              <a:path w="255904" h="389255">
                <a:moveTo>
                  <a:pt x="76112" y="337595"/>
                </a:moveTo>
                <a:lnTo>
                  <a:pt x="64897" y="341629"/>
                </a:lnTo>
                <a:lnTo>
                  <a:pt x="77225" y="341629"/>
                </a:lnTo>
                <a:lnTo>
                  <a:pt x="76112" y="337595"/>
                </a:lnTo>
                <a:close/>
              </a:path>
              <a:path w="255904" h="389255">
                <a:moveTo>
                  <a:pt x="73855" y="314757"/>
                </a:moveTo>
                <a:lnTo>
                  <a:pt x="70175" y="316080"/>
                </a:lnTo>
                <a:lnTo>
                  <a:pt x="76112" y="337595"/>
                </a:lnTo>
                <a:lnTo>
                  <a:pt x="82550" y="335279"/>
                </a:lnTo>
                <a:lnTo>
                  <a:pt x="83312" y="335025"/>
                </a:lnTo>
                <a:lnTo>
                  <a:pt x="84074" y="334644"/>
                </a:lnTo>
                <a:lnTo>
                  <a:pt x="96138" y="327151"/>
                </a:lnTo>
                <a:lnTo>
                  <a:pt x="107187" y="319277"/>
                </a:lnTo>
                <a:lnTo>
                  <a:pt x="112167" y="315340"/>
                </a:lnTo>
                <a:lnTo>
                  <a:pt x="72898" y="315340"/>
                </a:lnTo>
                <a:lnTo>
                  <a:pt x="73855" y="314757"/>
                </a:lnTo>
                <a:close/>
              </a:path>
              <a:path w="255904" h="389255">
                <a:moveTo>
                  <a:pt x="75057" y="314325"/>
                </a:moveTo>
                <a:lnTo>
                  <a:pt x="73855" y="314757"/>
                </a:lnTo>
                <a:lnTo>
                  <a:pt x="72898" y="315340"/>
                </a:lnTo>
                <a:lnTo>
                  <a:pt x="75057" y="314325"/>
                </a:lnTo>
                <a:close/>
              </a:path>
              <a:path w="255904" h="389255">
                <a:moveTo>
                  <a:pt x="113452" y="314325"/>
                </a:moveTo>
                <a:lnTo>
                  <a:pt x="75057" y="314325"/>
                </a:lnTo>
                <a:lnTo>
                  <a:pt x="72898" y="315340"/>
                </a:lnTo>
                <a:lnTo>
                  <a:pt x="112167" y="315340"/>
                </a:lnTo>
                <a:lnTo>
                  <a:pt x="113452" y="314325"/>
                </a:lnTo>
                <a:close/>
              </a:path>
              <a:path w="255904" h="389255">
                <a:moveTo>
                  <a:pt x="233425" y="0"/>
                </a:moveTo>
                <a:lnTo>
                  <a:pt x="230250" y="47878"/>
                </a:lnTo>
                <a:lnTo>
                  <a:pt x="221487" y="94487"/>
                </a:lnTo>
                <a:lnTo>
                  <a:pt x="201929" y="154177"/>
                </a:lnTo>
                <a:lnTo>
                  <a:pt x="174751" y="208533"/>
                </a:lnTo>
                <a:lnTo>
                  <a:pt x="150240" y="244728"/>
                </a:lnTo>
                <a:lnTo>
                  <a:pt x="122936" y="276097"/>
                </a:lnTo>
                <a:lnTo>
                  <a:pt x="93472" y="301751"/>
                </a:lnTo>
                <a:lnTo>
                  <a:pt x="73855" y="314757"/>
                </a:lnTo>
                <a:lnTo>
                  <a:pt x="75057" y="314325"/>
                </a:lnTo>
                <a:lnTo>
                  <a:pt x="113452" y="314325"/>
                </a:lnTo>
                <a:lnTo>
                  <a:pt x="118110" y="310641"/>
                </a:lnTo>
                <a:lnTo>
                  <a:pt x="149098" y="280924"/>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1" name="object 21"/>
          <p:cNvSpPr/>
          <p:nvPr/>
        </p:nvSpPr>
        <p:spPr>
          <a:xfrm>
            <a:off x="4528243"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22" name="object 22"/>
          <p:cNvSpPr/>
          <p:nvPr/>
        </p:nvSpPr>
        <p:spPr>
          <a:xfrm>
            <a:off x="4528243"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23" name="object 23"/>
          <p:cNvSpPr txBox="1"/>
          <p:nvPr/>
        </p:nvSpPr>
        <p:spPr>
          <a:xfrm>
            <a:off x="4585163"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3</a:t>
            </a:r>
            <a:endParaRPr sz="1620">
              <a:latin typeface="Comic Sans MS" panose="030F0702030302020204" pitchFamily="66" charset="0"/>
              <a:cs typeface="Arial" panose="020B0604020202020204"/>
            </a:endParaRPr>
          </a:p>
        </p:txBody>
      </p:sp>
      <p:sp>
        <p:nvSpPr>
          <p:cNvPr id="24" name="object 24"/>
          <p:cNvSpPr/>
          <p:nvPr/>
        </p:nvSpPr>
        <p:spPr>
          <a:xfrm>
            <a:off x="4596021" y="1654854"/>
            <a:ext cx="114300" cy="177278"/>
          </a:xfrm>
          <a:prstGeom prst="rect">
            <a:avLst/>
          </a:prstGeom>
          <a:blipFill>
            <a:blip r:embed="rId5" cstate="print"/>
            <a:stretch>
              <a:fillRect/>
            </a:stretch>
          </a:blipFill>
        </p:spPr>
        <p:txBody>
          <a:bodyPr wrap="square" lIns="0" tIns="0" rIns="0" bIns="0" rtlCol="0"/>
          <a:lstStyle/>
          <a:p>
            <a:endParaRPr sz="1620">
              <a:latin typeface="Comic Sans MS" panose="030F0702030302020204" pitchFamily="66" charset="0"/>
            </a:endParaRPr>
          </a:p>
        </p:txBody>
      </p:sp>
      <p:sp>
        <p:nvSpPr>
          <p:cNvPr id="25" name="object 25"/>
          <p:cNvSpPr/>
          <p:nvPr/>
        </p:nvSpPr>
        <p:spPr>
          <a:xfrm>
            <a:off x="4786789" y="1654627"/>
            <a:ext cx="230314" cy="350330"/>
          </a:xfrm>
          <a:custGeom>
            <a:avLst/>
            <a:gdLst/>
            <a:ahLst/>
            <a:cxnLst/>
            <a:rect l="l" t="t" r="r" b="b"/>
            <a:pathLst>
              <a:path w="255904" h="389255">
                <a:moveTo>
                  <a:pt x="56641" y="266572"/>
                </a:moveTo>
                <a:lnTo>
                  <a:pt x="0" y="347979"/>
                </a:lnTo>
                <a:lnTo>
                  <a:pt x="90297" y="389000"/>
                </a:lnTo>
                <a:lnTo>
                  <a:pt x="77274" y="341629"/>
                </a:lnTo>
                <a:lnTo>
                  <a:pt x="64897" y="341629"/>
                </a:lnTo>
                <a:lnTo>
                  <a:pt x="57530" y="320675"/>
                </a:lnTo>
                <a:lnTo>
                  <a:pt x="70256" y="316097"/>
                </a:lnTo>
                <a:lnTo>
                  <a:pt x="56641" y="266572"/>
                </a:lnTo>
                <a:close/>
              </a:path>
              <a:path w="255904" h="389255">
                <a:moveTo>
                  <a:pt x="70256" y="316097"/>
                </a:moveTo>
                <a:lnTo>
                  <a:pt x="57530" y="320675"/>
                </a:lnTo>
                <a:lnTo>
                  <a:pt x="64897" y="341629"/>
                </a:lnTo>
                <a:lnTo>
                  <a:pt x="76168" y="337604"/>
                </a:lnTo>
                <a:lnTo>
                  <a:pt x="70256" y="316097"/>
                </a:lnTo>
                <a:close/>
              </a:path>
              <a:path w="255904" h="389255">
                <a:moveTo>
                  <a:pt x="76168" y="337604"/>
                </a:moveTo>
                <a:lnTo>
                  <a:pt x="64897" y="341629"/>
                </a:lnTo>
                <a:lnTo>
                  <a:pt x="77274" y="341629"/>
                </a:lnTo>
                <a:lnTo>
                  <a:pt x="76168" y="337604"/>
                </a:lnTo>
                <a:close/>
              </a:path>
              <a:path w="255904" h="389255">
                <a:moveTo>
                  <a:pt x="73982" y="314757"/>
                </a:moveTo>
                <a:lnTo>
                  <a:pt x="70256" y="316097"/>
                </a:lnTo>
                <a:lnTo>
                  <a:pt x="76168" y="337604"/>
                </a:lnTo>
                <a:lnTo>
                  <a:pt x="82676" y="335279"/>
                </a:lnTo>
                <a:lnTo>
                  <a:pt x="83438" y="335025"/>
                </a:lnTo>
                <a:lnTo>
                  <a:pt x="84200" y="334644"/>
                </a:lnTo>
                <a:lnTo>
                  <a:pt x="96265" y="327151"/>
                </a:lnTo>
                <a:lnTo>
                  <a:pt x="107314" y="319277"/>
                </a:lnTo>
                <a:lnTo>
                  <a:pt x="112309"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98" y="314325"/>
                </a:moveTo>
                <a:lnTo>
                  <a:pt x="75184" y="314325"/>
                </a:lnTo>
                <a:lnTo>
                  <a:pt x="73025" y="315340"/>
                </a:lnTo>
                <a:lnTo>
                  <a:pt x="112309" y="315340"/>
                </a:lnTo>
                <a:lnTo>
                  <a:pt x="113598" y="314325"/>
                </a:lnTo>
                <a:close/>
              </a:path>
              <a:path w="255904" h="389255">
                <a:moveTo>
                  <a:pt x="233425" y="0"/>
                </a:moveTo>
                <a:lnTo>
                  <a:pt x="230250" y="47878"/>
                </a:lnTo>
                <a:lnTo>
                  <a:pt x="221614" y="94487"/>
                </a:lnTo>
                <a:lnTo>
                  <a:pt x="201929" y="154177"/>
                </a:lnTo>
                <a:lnTo>
                  <a:pt x="174878" y="208533"/>
                </a:lnTo>
                <a:lnTo>
                  <a:pt x="150367" y="244728"/>
                </a:lnTo>
                <a:lnTo>
                  <a:pt x="123062" y="276097"/>
                </a:lnTo>
                <a:lnTo>
                  <a:pt x="93599" y="301878"/>
                </a:lnTo>
                <a:lnTo>
                  <a:pt x="73982" y="314757"/>
                </a:lnTo>
                <a:lnTo>
                  <a:pt x="75184" y="314325"/>
                </a:lnTo>
                <a:lnTo>
                  <a:pt x="113598" y="314325"/>
                </a:lnTo>
                <a:lnTo>
                  <a:pt x="118110" y="310768"/>
                </a:lnTo>
                <a:lnTo>
                  <a:pt x="149225" y="280924"/>
                </a:lnTo>
                <a:lnTo>
                  <a:pt x="177419" y="245363"/>
                </a:lnTo>
                <a:lnTo>
                  <a:pt x="209423" y="191262"/>
                </a:lnTo>
                <a:lnTo>
                  <a:pt x="234061" y="131190"/>
                </a:lnTo>
                <a:lnTo>
                  <a:pt x="247014" y="83184"/>
                </a:lnTo>
                <a:lnTo>
                  <a:pt x="254126"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6" name="object 26"/>
          <p:cNvSpPr/>
          <p:nvPr/>
        </p:nvSpPr>
        <p:spPr>
          <a:xfrm>
            <a:off x="5228330"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27" name="object 27"/>
          <p:cNvSpPr/>
          <p:nvPr/>
        </p:nvSpPr>
        <p:spPr>
          <a:xfrm>
            <a:off x="5228330"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28" name="object 28"/>
          <p:cNvSpPr txBox="1"/>
          <p:nvPr/>
        </p:nvSpPr>
        <p:spPr>
          <a:xfrm>
            <a:off x="5285480"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4</a:t>
            </a:r>
            <a:endParaRPr sz="1620">
              <a:latin typeface="Comic Sans MS" panose="030F0702030302020204" pitchFamily="66" charset="0"/>
              <a:cs typeface="Arial" panose="020B0604020202020204"/>
            </a:endParaRPr>
          </a:p>
        </p:txBody>
      </p:sp>
      <p:sp>
        <p:nvSpPr>
          <p:cNvPr id="29" name="object 29"/>
          <p:cNvSpPr/>
          <p:nvPr/>
        </p:nvSpPr>
        <p:spPr>
          <a:xfrm>
            <a:off x="5296452" y="1654854"/>
            <a:ext cx="114300" cy="177278"/>
          </a:xfrm>
          <a:prstGeom prst="rect">
            <a:avLst/>
          </a:prstGeom>
          <a:blipFill>
            <a:blip r:embed="rId6" cstate="print"/>
            <a:stretch>
              <a:fillRect/>
            </a:stretch>
          </a:blipFill>
        </p:spPr>
        <p:txBody>
          <a:bodyPr wrap="square" lIns="0" tIns="0" rIns="0" bIns="0" rtlCol="0"/>
          <a:lstStyle/>
          <a:p>
            <a:endParaRPr sz="1620">
              <a:latin typeface="Comic Sans MS" panose="030F0702030302020204" pitchFamily="66" charset="0"/>
            </a:endParaRPr>
          </a:p>
        </p:txBody>
      </p:sp>
      <p:sp>
        <p:nvSpPr>
          <p:cNvPr id="30" name="object 30"/>
          <p:cNvSpPr/>
          <p:nvPr/>
        </p:nvSpPr>
        <p:spPr>
          <a:xfrm>
            <a:off x="5486876" y="1654627"/>
            <a:ext cx="230314" cy="350330"/>
          </a:xfrm>
          <a:custGeom>
            <a:avLst/>
            <a:gdLst/>
            <a:ahLst/>
            <a:cxnLst/>
            <a:rect l="l" t="t" r="r" b="b"/>
            <a:pathLst>
              <a:path w="255904" h="389255">
                <a:moveTo>
                  <a:pt x="56641" y="266572"/>
                </a:moveTo>
                <a:lnTo>
                  <a:pt x="0" y="347979"/>
                </a:lnTo>
                <a:lnTo>
                  <a:pt x="90297" y="389000"/>
                </a:lnTo>
                <a:lnTo>
                  <a:pt x="77274" y="341629"/>
                </a:lnTo>
                <a:lnTo>
                  <a:pt x="65024" y="341629"/>
                </a:lnTo>
                <a:lnTo>
                  <a:pt x="57530" y="320675"/>
                </a:lnTo>
                <a:lnTo>
                  <a:pt x="70256" y="316097"/>
                </a:lnTo>
                <a:lnTo>
                  <a:pt x="56641" y="266572"/>
                </a:lnTo>
                <a:close/>
              </a:path>
              <a:path w="255904" h="389255">
                <a:moveTo>
                  <a:pt x="70256" y="316097"/>
                </a:moveTo>
                <a:lnTo>
                  <a:pt x="57530" y="320675"/>
                </a:lnTo>
                <a:lnTo>
                  <a:pt x="65024" y="341629"/>
                </a:lnTo>
                <a:lnTo>
                  <a:pt x="76172" y="337619"/>
                </a:lnTo>
                <a:lnTo>
                  <a:pt x="70256" y="316097"/>
                </a:lnTo>
                <a:close/>
              </a:path>
              <a:path w="255904" h="389255">
                <a:moveTo>
                  <a:pt x="76172" y="337619"/>
                </a:moveTo>
                <a:lnTo>
                  <a:pt x="65024" y="341629"/>
                </a:lnTo>
                <a:lnTo>
                  <a:pt x="77274" y="341629"/>
                </a:lnTo>
                <a:lnTo>
                  <a:pt x="76172" y="337619"/>
                </a:lnTo>
                <a:close/>
              </a:path>
              <a:path w="255904" h="389255">
                <a:moveTo>
                  <a:pt x="73954" y="314767"/>
                </a:moveTo>
                <a:lnTo>
                  <a:pt x="70256" y="316097"/>
                </a:lnTo>
                <a:lnTo>
                  <a:pt x="76172" y="337619"/>
                </a:lnTo>
                <a:lnTo>
                  <a:pt x="82676" y="335279"/>
                </a:lnTo>
                <a:lnTo>
                  <a:pt x="112294" y="315340"/>
                </a:lnTo>
                <a:lnTo>
                  <a:pt x="73025" y="315340"/>
                </a:lnTo>
                <a:lnTo>
                  <a:pt x="73954" y="314767"/>
                </a:lnTo>
                <a:close/>
              </a:path>
              <a:path w="255904" h="389255">
                <a:moveTo>
                  <a:pt x="75184" y="314325"/>
                </a:moveTo>
                <a:lnTo>
                  <a:pt x="73954" y="31476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377" y="47878"/>
                </a:lnTo>
                <a:lnTo>
                  <a:pt x="221614" y="94487"/>
                </a:lnTo>
                <a:lnTo>
                  <a:pt x="202057" y="154177"/>
                </a:lnTo>
                <a:lnTo>
                  <a:pt x="174751" y="208533"/>
                </a:lnTo>
                <a:lnTo>
                  <a:pt x="150367" y="244728"/>
                </a:lnTo>
                <a:lnTo>
                  <a:pt x="123062" y="276097"/>
                </a:lnTo>
                <a:lnTo>
                  <a:pt x="93599" y="301751"/>
                </a:lnTo>
                <a:lnTo>
                  <a:pt x="73954" y="314767"/>
                </a:lnTo>
                <a:lnTo>
                  <a:pt x="75184" y="314325"/>
                </a:lnTo>
                <a:lnTo>
                  <a:pt x="113579" y="314325"/>
                </a:lnTo>
                <a:lnTo>
                  <a:pt x="118237" y="310641"/>
                </a:lnTo>
                <a:lnTo>
                  <a:pt x="149225" y="280924"/>
                </a:lnTo>
                <a:lnTo>
                  <a:pt x="177546" y="245363"/>
                </a:lnTo>
                <a:lnTo>
                  <a:pt x="209550" y="191262"/>
                </a:lnTo>
                <a:lnTo>
                  <a:pt x="234061" y="131190"/>
                </a:lnTo>
                <a:lnTo>
                  <a:pt x="247014" y="83184"/>
                </a:lnTo>
                <a:lnTo>
                  <a:pt x="254253"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1" name="object 31"/>
          <p:cNvSpPr/>
          <p:nvPr/>
        </p:nvSpPr>
        <p:spPr>
          <a:xfrm>
            <a:off x="5929789" y="1843565"/>
            <a:ext cx="247460" cy="247460"/>
          </a:xfrm>
          <a:custGeom>
            <a:avLst/>
            <a:gdLst/>
            <a:ahLst/>
            <a:cxnLst/>
            <a:rect l="l" t="t" r="r" b="b"/>
            <a:pathLst>
              <a:path w="274954" h="274955">
                <a:moveTo>
                  <a:pt x="137286"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6"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6"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32" name="object 32"/>
          <p:cNvSpPr/>
          <p:nvPr/>
        </p:nvSpPr>
        <p:spPr>
          <a:xfrm>
            <a:off x="5929789"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33" name="object 33"/>
          <p:cNvSpPr txBox="1"/>
          <p:nvPr/>
        </p:nvSpPr>
        <p:spPr>
          <a:xfrm>
            <a:off x="5986939"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5</a:t>
            </a:r>
            <a:endParaRPr sz="1620">
              <a:latin typeface="Comic Sans MS" panose="030F0702030302020204" pitchFamily="66" charset="0"/>
              <a:cs typeface="Arial" panose="020B0604020202020204"/>
            </a:endParaRPr>
          </a:p>
        </p:txBody>
      </p:sp>
      <p:sp>
        <p:nvSpPr>
          <p:cNvPr id="34" name="object 34"/>
          <p:cNvSpPr/>
          <p:nvPr/>
        </p:nvSpPr>
        <p:spPr>
          <a:xfrm>
            <a:off x="5998025" y="1654854"/>
            <a:ext cx="114300" cy="177278"/>
          </a:xfrm>
          <a:prstGeom prst="rect">
            <a:avLst/>
          </a:prstGeom>
          <a:blipFill>
            <a:blip r:embed="rId7" cstate="print"/>
            <a:stretch>
              <a:fillRect/>
            </a:stretch>
          </a:blipFill>
        </p:spPr>
        <p:txBody>
          <a:bodyPr wrap="square" lIns="0" tIns="0" rIns="0" bIns="0" rtlCol="0"/>
          <a:lstStyle/>
          <a:p>
            <a:endParaRPr sz="1620">
              <a:latin typeface="Comic Sans MS" panose="030F0702030302020204" pitchFamily="66" charset="0"/>
            </a:endParaRPr>
          </a:p>
        </p:txBody>
      </p:sp>
      <p:sp>
        <p:nvSpPr>
          <p:cNvPr id="35" name="object 35"/>
          <p:cNvSpPr/>
          <p:nvPr/>
        </p:nvSpPr>
        <p:spPr>
          <a:xfrm>
            <a:off x="6188335" y="1654627"/>
            <a:ext cx="232029" cy="350330"/>
          </a:xfrm>
          <a:custGeom>
            <a:avLst/>
            <a:gdLst/>
            <a:ahLst/>
            <a:cxnLst/>
            <a:rect l="l" t="t" r="r" b="b"/>
            <a:pathLst>
              <a:path w="257809"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809" h="389255">
                <a:moveTo>
                  <a:pt x="70402" y="316256"/>
                </a:moveTo>
                <a:lnTo>
                  <a:pt x="57657" y="320801"/>
                </a:lnTo>
                <a:lnTo>
                  <a:pt x="65024" y="341756"/>
                </a:lnTo>
                <a:lnTo>
                  <a:pt x="76259" y="337749"/>
                </a:lnTo>
                <a:lnTo>
                  <a:pt x="70402" y="316256"/>
                </a:lnTo>
                <a:close/>
              </a:path>
              <a:path w="257809" h="389255">
                <a:moveTo>
                  <a:pt x="76259" y="337749"/>
                </a:moveTo>
                <a:lnTo>
                  <a:pt x="65024" y="341756"/>
                </a:lnTo>
                <a:lnTo>
                  <a:pt x="77351" y="341756"/>
                </a:lnTo>
                <a:lnTo>
                  <a:pt x="76259" y="337749"/>
                </a:lnTo>
                <a:close/>
              </a:path>
              <a:path w="257809" h="389255">
                <a:moveTo>
                  <a:pt x="74631" y="314748"/>
                </a:moveTo>
                <a:lnTo>
                  <a:pt x="70402" y="316256"/>
                </a:lnTo>
                <a:lnTo>
                  <a:pt x="76259" y="337749"/>
                </a:lnTo>
                <a:lnTo>
                  <a:pt x="83184" y="335279"/>
                </a:lnTo>
                <a:lnTo>
                  <a:pt x="83947" y="335025"/>
                </a:lnTo>
                <a:lnTo>
                  <a:pt x="84708" y="334644"/>
                </a:lnTo>
                <a:lnTo>
                  <a:pt x="96900" y="327151"/>
                </a:lnTo>
                <a:lnTo>
                  <a:pt x="107950" y="319277"/>
                </a:lnTo>
                <a:lnTo>
                  <a:pt x="113062" y="315340"/>
                </a:lnTo>
                <a:lnTo>
                  <a:pt x="73659" y="315340"/>
                </a:lnTo>
                <a:lnTo>
                  <a:pt x="74631" y="314748"/>
                </a:lnTo>
                <a:close/>
              </a:path>
              <a:path w="257809" h="389255">
                <a:moveTo>
                  <a:pt x="75819" y="314325"/>
                </a:moveTo>
                <a:lnTo>
                  <a:pt x="74631" y="314748"/>
                </a:lnTo>
                <a:lnTo>
                  <a:pt x="73659" y="315340"/>
                </a:lnTo>
                <a:lnTo>
                  <a:pt x="75819" y="314325"/>
                </a:lnTo>
                <a:close/>
              </a:path>
              <a:path w="257809" h="389255">
                <a:moveTo>
                  <a:pt x="114381" y="314325"/>
                </a:moveTo>
                <a:lnTo>
                  <a:pt x="75819" y="314325"/>
                </a:lnTo>
                <a:lnTo>
                  <a:pt x="73659" y="315340"/>
                </a:lnTo>
                <a:lnTo>
                  <a:pt x="113062" y="315340"/>
                </a:lnTo>
                <a:lnTo>
                  <a:pt x="114381" y="314325"/>
                </a:lnTo>
                <a:close/>
              </a:path>
              <a:path w="257809" h="389255">
                <a:moveTo>
                  <a:pt x="235076" y="0"/>
                </a:moveTo>
                <a:lnTo>
                  <a:pt x="232028" y="47878"/>
                </a:lnTo>
                <a:lnTo>
                  <a:pt x="223139" y="94487"/>
                </a:lnTo>
                <a:lnTo>
                  <a:pt x="203453" y="154050"/>
                </a:lnTo>
                <a:lnTo>
                  <a:pt x="176022" y="208533"/>
                </a:lnTo>
                <a:lnTo>
                  <a:pt x="151510" y="244728"/>
                </a:lnTo>
                <a:lnTo>
                  <a:pt x="123951" y="276097"/>
                </a:lnTo>
                <a:lnTo>
                  <a:pt x="94360" y="301751"/>
                </a:lnTo>
                <a:lnTo>
                  <a:pt x="74631" y="314748"/>
                </a:lnTo>
                <a:lnTo>
                  <a:pt x="75819" y="314325"/>
                </a:lnTo>
                <a:lnTo>
                  <a:pt x="114381" y="314325"/>
                </a:lnTo>
                <a:lnTo>
                  <a:pt x="118999" y="310768"/>
                </a:lnTo>
                <a:lnTo>
                  <a:pt x="150114" y="280924"/>
                </a:lnTo>
                <a:lnTo>
                  <a:pt x="178561" y="245363"/>
                </a:lnTo>
                <a:lnTo>
                  <a:pt x="210820" y="191388"/>
                </a:lnTo>
                <a:lnTo>
                  <a:pt x="235711" y="131190"/>
                </a:lnTo>
                <a:lnTo>
                  <a:pt x="248539" y="83312"/>
                </a:lnTo>
                <a:lnTo>
                  <a:pt x="255904" y="33654"/>
                </a:lnTo>
                <a:lnTo>
                  <a:pt x="257301" y="634"/>
                </a:lnTo>
                <a:lnTo>
                  <a:pt x="2350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6" name="object 36"/>
          <p:cNvSpPr/>
          <p:nvPr/>
        </p:nvSpPr>
        <p:spPr>
          <a:xfrm>
            <a:off x="6631363"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37" name="object 37"/>
          <p:cNvSpPr/>
          <p:nvPr/>
        </p:nvSpPr>
        <p:spPr>
          <a:xfrm>
            <a:off x="6631363"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38" name="object 38"/>
          <p:cNvSpPr txBox="1"/>
          <p:nvPr/>
        </p:nvSpPr>
        <p:spPr>
          <a:xfrm>
            <a:off x="6688627"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6</a:t>
            </a:r>
            <a:endParaRPr sz="1620">
              <a:latin typeface="Comic Sans MS" panose="030F0702030302020204" pitchFamily="66" charset="0"/>
              <a:cs typeface="Arial" panose="020B0604020202020204"/>
            </a:endParaRPr>
          </a:p>
        </p:txBody>
      </p:sp>
      <p:sp>
        <p:nvSpPr>
          <p:cNvPr id="39" name="object 39"/>
          <p:cNvSpPr/>
          <p:nvPr/>
        </p:nvSpPr>
        <p:spPr>
          <a:xfrm>
            <a:off x="6699599" y="1654854"/>
            <a:ext cx="114300" cy="177278"/>
          </a:xfrm>
          <a:prstGeom prst="rect">
            <a:avLst/>
          </a:prstGeom>
          <a:blipFill>
            <a:blip r:embed="rId8" cstate="print"/>
            <a:stretch>
              <a:fillRect/>
            </a:stretch>
          </a:blipFill>
        </p:spPr>
        <p:txBody>
          <a:bodyPr wrap="square" lIns="0" tIns="0" rIns="0" bIns="0" rtlCol="0"/>
          <a:lstStyle/>
          <a:p>
            <a:endParaRPr sz="1620">
              <a:latin typeface="Comic Sans MS" panose="030F0702030302020204" pitchFamily="66" charset="0"/>
            </a:endParaRPr>
          </a:p>
        </p:txBody>
      </p:sp>
      <p:sp>
        <p:nvSpPr>
          <p:cNvPr id="40" name="object 40"/>
          <p:cNvSpPr/>
          <p:nvPr/>
        </p:nvSpPr>
        <p:spPr>
          <a:xfrm>
            <a:off x="9835283" y="739820"/>
            <a:ext cx="1070681" cy="494820"/>
          </a:xfrm>
          <a:custGeom>
            <a:avLst/>
            <a:gdLst/>
            <a:ahLst/>
            <a:cxnLst/>
            <a:rect l="l" t="t" r="r" b="b"/>
            <a:pathLst>
              <a:path w="257175"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175" h="389255">
                <a:moveTo>
                  <a:pt x="70402" y="316256"/>
                </a:moveTo>
                <a:lnTo>
                  <a:pt x="57657" y="320801"/>
                </a:lnTo>
                <a:lnTo>
                  <a:pt x="65024" y="341756"/>
                </a:lnTo>
                <a:lnTo>
                  <a:pt x="76259" y="337749"/>
                </a:lnTo>
                <a:lnTo>
                  <a:pt x="70402" y="316256"/>
                </a:lnTo>
                <a:close/>
              </a:path>
              <a:path w="257175" h="389255">
                <a:moveTo>
                  <a:pt x="76259" y="337749"/>
                </a:moveTo>
                <a:lnTo>
                  <a:pt x="65024" y="341756"/>
                </a:lnTo>
                <a:lnTo>
                  <a:pt x="77351" y="341756"/>
                </a:lnTo>
                <a:lnTo>
                  <a:pt x="76259" y="337749"/>
                </a:lnTo>
                <a:close/>
              </a:path>
              <a:path w="257175" h="389255">
                <a:moveTo>
                  <a:pt x="74603" y="314758"/>
                </a:moveTo>
                <a:lnTo>
                  <a:pt x="70402" y="316256"/>
                </a:lnTo>
                <a:lnTo>
                  <a:pt x="76259" y="337749"/>
                </a:lnTo>
                <a:lnTo>
                  <a:pt x="83184" y="335279"/>
                </a:lnTo>
                <a:lnTo>
                  <a:pt x="83947" y="335025"/>
                </a:lnTo>
                <a:lnTo>
                  <a:pt x="84708" y="334644"/>
                </a:lnTo>
                <a:lnTo>
                  <a:pt x="96774" y="327151"/>
                </a:lnTo>
                <a:lnTo>
                  <a:pt x="107950" y="319277"/>
                </a:lnTo>
                <a:lnTo>
                  <a:pt x="113003" y="315340"/>
                </a:lnTo>
                <a:lnTo>
                  <a:pt x="73659" y="315340"/>
                </a:lnTo>
                <a:lnTo>
                  <a:pt x="74603" y="314758"/>
                </a:lnTo>
                <a:close/>
              </a:path>
              <a:path w="257175" h="389255">
                <a:moveTo>
                  <a:pt x="75819" y="314325"/>
                </a:moveTo>
                <a:lnTo>
                  <a:pt x="74603" y="314758"/>
                </a:lnTo>
                <a:lnTo>
                  <a:pt x="73659" y="315340"/>
                </a:lnTo>
                <a:lnTo>
                  <a:pt x="75819" y="314325"/>
                </a:lnTo>
                <a:close/>
              </a:path>
              <a:path w="257175" h="389255">
                <a:moveTo>
                  <a:pt x="114307" y="314325"/>
                </a:moveTo>
                <a:lnTo>
                  <a:pt x="75819" y="314325"/>
                </a:lnTo>
                <a:lnTo>
                  <a:pt x="73659" y="315340"/>
                </a:lnTo>
                <a:lnTo>
                  <a:pt x="113003" y="315340"/>
                </a:lnTo>
                <a:lnTo>
                  <a:pt x="114307" y="314325"/>
                </a:lnTo>
                <a:close/>
              </a:path>
              <a:path w="257175" h="389255">
                <a:moveTo>
                  <a:pt x="234950" y="0"/>
                </a:moveTo>
                <a:lnTo>
                  <a:pt x="231901" y="47878"/>
                </a:lnTo>
                <a:lnTo>
                  <a:pt x="223011" y="94487"/>
                </a:lnTo>
                <a:lnTo>
                  <a:pt x="203326" y="154050"/>
                </a:lnTo>
                <a:lnTo>
                  <a:pt x="176022" y="208533"/>
                </a:lnTo>
                <a:lnTo>
                  <a:pt x="151383" y="244728"/>
                </a:lnTo>
                <a:lnTo>
                  <a:pt x="123951" y="276097"/>
                </a:lnTo>
                <a:lnTo>
                  <a:pt x="94233" y="301751"/>
                </a:lnTo>
                <a:lnTo>
                  <a:pt x="74603" y="314758"/>
                </a:lnTo>
                <a:lnTo>
                  <a:pt x="75819" y="314325"/>
                </a:lnTo>
                <a:lnTo>
                  <a:pt x="114307" y="314325"/>
                </a:lnTo>
                <a:lnTo>
                  <a:pt x="118872" y="310768"/>
                </a:lnTo>
                <a:lnTo>
                  <a:pt x="150114" y="280924"/>
                </a:lnTo>
                <a:lnTo>
                  <a:pt x="178561" y="245363"/>
                </a:lnTo>
                <a:lnTo>
                  <a:pt x="210820" y="191388"/>
                </a:lnTo>
                <a:lnTo>
                  <a:pt x="235584" y="131190"/>
                </a:lnTo>
                <a:lnTo>
                  <a:pt x="248411" y="83312"/>
                </a:lnTo>
                <a:lnTo>
                  <a:pt x="255777" y="33654"/>
                </a:lnTo>
                <a:lnTo>
                  <a:pt x="257175"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42" name="object 42"/>
          <p:cNvSpPr/>
          <p:nvPr/>
        </p:nvSpPr>
        <p:spPr>
          <a:xfrm>
            <a:off x="8292217" y="1107362"/>
            <a:ext cx="1581493"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solidFill>
            <a:schemeClr val="accent2"/>
          </a:solidFill>
          <a:ln w="25399">
            <a:solidFill>
              <a:srgbClr val="000000"/>
            </a:solidFill>
          </a:ln>
        </p:spPr>
        <p:txBody>
          <a:bodyPr wrap="square" lIns="0" tIns="0" rIns="0" bIns="0" rtlCol="0"/>
          <a:lstStyle/>
          <a:p>
            <a:endParaRPr sz="1620" dirty="0">
              <a:latin typeface="Comic Sans MS" panose="030F0702030302020204" pitchFamily="66" charset="0"/>
            </a:endParaRPr>
          </a:p>
        </p:txBody>
      </p:sp>
      <p:sp>
        <p:nvSpPr>
          <p:cNvPr id="43" name="object 43"/>
          <p:cNvSpPr txBox="1"/>
          <p:nvPr/>
        </p:nvSpPr>
        <p:spPr>
          <a:xfrm>
            <a:off x="8806911" y="1070232"/>
            <a:ext cx="646213" cy="260841"/>
          </a:xfrm>
          <a:prstGeom prst="rect">
            <a:avLst/>
          </a:prstGeom>
        </p:spPr>
        <p:txBody>
          <a:bodyPr vert="horz" wrap="square" lIns="0" tIns="11430" rIns="0" bIns="0" rtlCol="0">
            <a:spAutoFit/>
          </a:bodyPr>
          <a:lstStyle/>
          <a:p>
            <a:pPr marL="11430">
              <a:spcBef>
                <a:spcPts val="90"/>
              </a:spcBef>
            </a:pPr>
            <a:r>
              <a:rPr lang="en-US" altLang="zh-CN" sz="1620" b="1" spc="-5" dirty="0">
                <a:latin typeface="Comic Sans MS" panose="030F0702030302020204" pitchFamily="66" charset="0"/>
                <a:cs typeface="Arial" panose="020B0604020202020204"/>
              </a:rPr>
              <a:t>warp0</a:t>
            </a:r>
            <a:endParaRPr sz="1620" dirty="0">
              <a:latin typeface="Comic Sans MS" panose="030F0702030302020204" pitchFamily="66" charset="0"/>
              <a:cs typeface="Arial" panose="020B0604020202020204"/>
            </a:endParaRPr>
          </a:p>
        </p:txBody>
      </p:sp>
      <p:sp>
        <p:nvSpPr>
          <p:cNvPr id="44" name="object 44"/>
          <p:cNvSpPr/>
          <p:nvPr/>
        </p:nvSpPr>
        <p:spPr>
          <a:xfrm>
            <a:off x="7401058" y="1654854"/>
            <a:ext cx="114300" cy="177278"/>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45" name="object 45"/>
          <p:cNvSpPr/>
          <p:nvPr/>
        </p:nvSpPr>
        <p:spPr>
          <a:xfrm>
            <a:off x="7591483" y="1654627"/>
            <a:ext cx="231458" cy="350330"/>
          </a:xfrm>
          <a:custGeom>
            <a:avLst/>
            <a:gdLst/>
            <a:ahLst/>
            <a:cxnLst/>
            <a:rect l="l" t="t" r="r" b="b"/>
            <a:pathLst>
              <a:path w="257175" h="389255">
                <a:moveTo>
                  <a:pt x="56896" y="266700"/>
                </a:moveTo>
                <a:lnTo>
                  <a:pt x="0" y="347979"/>
                </a:lnTo>
                <a:lnTo>
                  <a:pt x="90170" y="389254"/>
                </a:lnTo>
                <a:lnTo>
                  <a:pt x="77274" y="341756"/>
                </a:lnTo>
                <a:lnTo>
                  <a:pt x="65024" y="341756"/>
                </a:lnTo>
                <a:lnTo>
                  <a:pt x="57530" y="320801"/>
                </a:lnTo>
                <a:lnTo>
                  <a:pt x="70344" y="316232"/>
                </a:lnTo>
                <a:lnTo>
                  <a:pt x="56896" y="266700"/>
                </a:lnTo>
                <a:close/>
              </a:path>
              <a:path w="257175" h="389255">
                <a:moveTo>
                  <a:pt x="70344" y="316232"/>
                </a:moveTo>
                <a:lnTo>
                  <a:pt x="57530" y="320801"/>
                </a:lnTo>
                <a:lnTo>
                  <a:pt x="65024" y="341756"/>
                </a:lnTo>
                <a:lnTo>
                  <a:pt x="76192" y="337773"/>
                </a:lnTo>
                <a:lnTo>
                  <a:pt x="70344" y="316232"/>
                </a:lnTo>
                <a:close/>
              </a:path>
              <a:path w="257175" h="389255">
                <a:moveTo>
                  <a:pt x="76192" y="337773"/>
                </a:moveTo>
                <a:lnTo>
                  <a:pt x="65024" y="341756"/>
                </a:lnTo>
                <a:lnTo>
                  <a:pt x="77274" y="341756"/>
                </a:lnTo>
                <a:lnTo>
                  <a:pt x="76192" y="337773"/>
                </a:lnTo>
                <a:close/>
              </a:path>
              <a:path w="257175" h="389255">
                <a:moveTo>
                  <a:pt x="74504" y="314748"/>
                </a:moveTo>
                <a:lnTo>
                  <a:pt x="70344" y="316232"/>
                </a:lnTo>
                <a:lnTo>
                  <a:pt x="76192" y="337773"/>
                </a:lnTo>
                <a:lnTo>
                  <a:pt x="83184" y="335279"/>
                </a:lnTo>
                <a:lnTo>
                  <a:pt x="112935" y="315340"/>
                </a:lnTo>
                <a:lnTo>
                  <a:pt x="73532" y="315340"/>
                </a:lnTo>
                <a:lnTo>
                  <a:pt x="74504" y="314748"/>
                </a:lnTo>
                <a:close/>
              </a:path>
              <a:path w="257175" h="389255">
                <a:moveTo>
                  <a:pt x="75692" y="314325"/>
                </a:moveTo>
                <a:lnTo>
                  <a:pt x="74504" y="314748"/>
                </a:lnTo>
                <a:lnTo>
                  <a:pt x="73532" y="315340"/>
                </a:lnTo>
                <a:lnTo>
                  <a:pt x="75692" y="314325"/>
                </a:lnTo>
                <a:close/>
              </a:path>
              <a:path w="257175" h="389255">
                <a:moveTo>
                  <a:pt x="114254" y="314325"/>
                </a:moveTo>
                <a:lnTo>
                  <a:pt x="75692" y="314325"/>
                </a:lnTo>
                <a:lnTo>
                  <a:pt x="73532" y="315340"/>
                </a:lnTo>
                <a:lnTo>
                  <a:pt x="112935" y="315340"/>
                </a:lnTo>
                <a:lnTo>
                  <a:pt x="114254" y="314325"/>
                </a:lnTo>
                <a:close/>
              </a:path>
              <a:path w="257175" h="389255">
                <a:moveTo>
                  <a:pt x="234950" y="0"/>
                </a:moveTo>
                <a:lnTo>
                  <a:pt x="231775" y="47878"/>
                </a:lnTo>
                <a:lnTo>
                  <a:pt x="223012" y="94487"/>
                </a:lnTo>
                <a:lnTo>
                  <a:pt x="203326" y="154050"/>
                </a:lnTo>
                <a:lnTo>
                  <a:pt x="175895" y="208533"/>
                </a:lnTo>
                <a:lnTo>
                  <a:pt x="151383" y="244728"/>
                </a:lnTo>
                <a:lnTo>
                  <a:pt x="123825" y="276097"/>
                </a:lnTo>
                <a:lnTo>
                  <a:pt x="94233" y="301751"/>
                </a:lnTo>
                <a:lnTo>
                  <a:pt x="74504" y="314748"/>
                </a:lnTo>
                <a:lnTo>
                  <a:pt x="75692" y="314325"/>
                </a:lnTo>
                <a:lnTo>
                  <a:pt x="114254" y="314325"/>
                </a:lnTo>
                <a:lnTo>
                  <a:pt x="118872" y="310768"/>
                </a:lnTo>
                <a:lnTo>
                  <a:pt x="150114" y="280924"/>
                </a:lnTo>
                <a:lnTo>
                  <a:pt x="178434" y="245363"/>
                </a:lnTo>
                <a:lnTo>
                  <a:pt x="210693" y="191388"/>
                </a:lnTo>
                <a:lnTo>
                  <a:pt x="235457" y="131190"/>
                </a:lnTo>
                <a:lnTo>
                  <a:pt x="248284" y="83312"/>
                </a:lnTo>
                <a:lnTo>
                  <a:pt x="255650" y="33654"/>
                </a:lnTo>
                <a:lnTo>
                  <a:pt x="257048"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46" name="object 46"/>
          <p:cNvGraphicFramePr>
            <a:graphicFrameLocks noGrp="1"/>
          </p:cNvGraphicFramePr>
          <p:nvPr/>
        </p:nvGraphicFramePr>
        <p:xfrm>
          <a:off x="2362200" y="224790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287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47" name="object 47"/>
          <p:cNvSpPr/>
          <p:nvPr/>
        </p:nvSpPr>
        <p:spPr>
          <a:xfrm>
            <a:off x="2425123" y="2757965"/>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48" name="object 48"/>
          <p:cNvSpPr/>
          <p:nvPr/>
        </p:nvSpPr>
        <p:spPr>
          <a:xfrm>
            <a:off x="2425123" y="2757965"/>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49" name="object 49"/>
          <p:cNvSpPr txBox="1"/>
          <p:nvPr/>
        </p:nvSpPr>
        <p:spPr>
          <a:xfrm>
            <a:off x="2487073" y="2756820"/>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50" name="object 50"/>
          <p:cNvSpPr/>
          <p:nvPr/>
        </p:nvSpPr>
        <p:spPr>
          <a:xfrm>
            <a:off x="2492559" y="2569369"/>
            <a:ext cx="114300" cy="177165"/>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51" name="object 51"/>
          <p:cNvSpPr/>
          <p:nvPr/>
        </p:nvSpPr>
        <p:spPr>
          <a:xfrm>
            <a:off x="2683669" y="2568798"/>
            <a:ext cx="578930" cy="367475"/>
          </a:xfrm>
          <a:custGeom>
            <a:avLst/>
            <a:gdLst/>
            <a:ahLst/>
            <a:cxnLst/>
            <a:rect l="l" t="t" r="r" b="b"/>
            <a:pathLst>
              <a:path w="643254" h="408304">
                <a:moveTo>
                  <a:pt x="73279" y="281432"/>
                </a:moveTo>
                <a:lnTo>
                  <a:pt x="0" y="348234"/>
                </a:lnTo>
                <a:lnTo>
                  <a:pt x="78993" y="408305"/>
                </a:lnTo>
                <a:lnTo>
                  <a:pt x="76659" y="356488"/>
                </a:lnTo>
                <a:lnTo>
                  <a:pt x="64135" y="356488"/>
                </a:lnTo>
                <a:lnTo>
                  <a:pt x="62737" y="334263"/>
                </a:lnTo>
                <a:lnTo>
                  <a:pt x="75622" y="333466"/>
                </a:lnTo>
                <a:lnTo>
                  <a:pt x="73279" y="281432"/>
                </a:lnTo>
                <a:close/>
              </a:path>
              <a:path w="643254" h="408304">
                <a:moveTo>
                  <a:pt x="75622" y="333466"/>
                </a:moveTo>
                <a:lnTo>
                  <a:pt x="62737" y="334263"/>
                </a:lnTo>
                <a:lnTo>
                  <a:pt x="64135" y="356488"/>
                </a:lnTo>
                <a:lnTo>
                  <a:pt x="76623" y="355689"/>
                </a:lnTo>
                <a:lnTo>
                  <a:pt x="75622" y="333466"/>
                </a:lnTo>
                <a:close/>
              </a:path>
              <a:path w="643254" h="408304">
                <a:moveTo>
                  <a:pt x="76623" y="355689"/>
                </a:moveTo>
                <a:lnTo>
                  <a:pt x="64135" y="356488"/>
                </a:lnTo>
                <a:lnTo>
                  <a:pt x="76659" y="356488"/>
                </a:lnTo>
                <a:lnTo>
                  <a:pt x="76623" y="355689"/>
                </a:lnTo>
                <a:close/>
              </a:path>
              <a:path w="643254" h="408304">
                <a:moveTo>
                  <a:pt x="620776" y="0"/>
                </a:moveTo>
                <a:lnTo>
                  <a:pt x="613028" y="46355"/>
                </a:lnTo>
                <a:lnTo>
                  <a:pt x="591058" y="91694"/>
                </a:lnTo>
                <a:lnTo>
                  <a:pt x="555625" y="135889"/>
                </a:lnTo>
                <a:lnTo>
                  <a:pt x="525272" y="164592"/>
                </a:lnTo>
                <a:lnTo>
                  <a:pt x="489965" y="191897"/>
                </a:lnTo>
                <a:lnTo>
                  <a:pt x="450341" y="217678"/>
                </a:lnTo>
                <a:lnTo>
                  <a:pt x="406526" y="241808"/>
                </a:lnTo>
                <a:lnTo>
                  <a:pt x="359410" y="263779"/>
                </a:lnTo>
                <a:lnTo>
                  <a:pt x="309117" y="283337"/>
                </a:lnTo>
                <a:lnTo>
                  <a:pt x="256412" y="300228"/>
                </a:lnTo>
                <a:lnTo>
                  <a:pt x="201422" y="314325"/>
                </a:lnTo>
                <a:lnTo>
                  <a:pt x="144906" y="325247"/>
                </a:lnTo>
                <a:lnTo>
                  <a:pt x="87375" y="332739"/>
                </a:lnTo>
                <a:lnTo>
                  <a:pt x="75622" y="333466"/>
                </a:lnTo>
                <a:lnTo>
                  <a:pt x="76623" y="355689"/>
                </a:lnTo>
                <a:lnTo>
                  <a:pt x="119506" y="351409"/>
                </a:lnTo>
                <a:lnTo>
                  <a:pt x="177926" y="341884"/>
                </a:lnTo>
                <a:lnTo>
                  <a:pt x="234950" y="329057"/>
                </a:lnTo>
                <a:lnTo>
                  <a:pt x="290067" y="313182"/>
                </a:lnTo>
                <a:lnTo>
                  <a:pt x="342900" y="294386"/>
                </a:lnTo>
                <a:lnTo>
                  <a:pt x="393064" y="273050"/>
                </a:lnTo>
                <a:lnTo>
                  <a:pt x="439927" y="249174"/>
                </a:lnTo>
                <a:lnTo>
                  <a:pt x="483108" y="223393"/>
                </a:lnTo>
                <a:lnTo>
                  <a:pt x="522224" y="195580"/>
                </a:lnTo>
                <a:lnTo>
                  <a:pt x="556767" y="166116"/>
                </a:lnTo>
                <a:lnTo>
                  <a:pt x="586232" y="135128"/>
                </a:lnTo>
                <a:lnTo>
                  <a:pt x="610108" y="102870"/>
                </a:lnTo>
                <a:lnTo>
                  <a:pt x="634491" y="52324"/>
                </a:lnTo>
                <a:lnTo>
                  <a:pt x="642874" y="1270"/>
                </a:lnTo>
                <a:lnTo>
                  <a:pt x="6207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2" name="object 52"/>
          <p:cNvSpPr/>
          <p:nvPr/>
        </p:nvSpPr>
        <p:spPr>
          <a:xfrm>
            <a:off x="3826669" y="27579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2" y="93882"/>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3" name="object 53"/>
          <p:cNvSpPr/>
          <p:nvPr/>
        </p:nvSpPr>
        <p:spPr>
          <a:xfrm>
            <a:off x="3826669" y="27579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54" name="object 54"/>
          <p:cNvSpPr txBox="1"/>
          <p:nvPr/>
        </p:nvSpPr>
        <p:spPr>
          <a:xfrm>
            <a:off x="3883704" y="2741733"/>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1</a:t>
            </a:r>
            <a:endParaRPr sz="1620">
              <a:latin typeface="Comic Sans MS" panose="030F0702030302020204" pitchFamily="66" charset="0"/>
              <a:cs typeface="Arial" panose="020B0604020202020204"/>
            </a:endParaRPr>
          </a:p>
        </p:txBody>
      </p:sp>
      <p:sp>
        <p:nvSpPr>
          <p:cNvPr id="55" name="object 55"/>
          <p:cNvSpPr/>
          <p:nvPr/>
        </p:nvSpPr>
        <p:spPr>
          <a:xfrm>
            <a:off x="3894563" y="2569369"/>
            <a:ext cx="114300" cy="177165"/>
          </a:xfrm>
          <a:prstGeom prst="rect">
            <a:avLst/>
          </a:prstGeom>
          <a:blipFill>
            <a:blip r:embed="rId11" cstate="print"/>
            <a:stretch>
              <a:fillRect/>
            </a:stretch>
          </a:blipFill>
        </p:spPr>
        <p:txBody>
          <a:bodyPr wrap="square" lIns="0" tIns="0" rIns="0" bIns="0" rtlCol="0"/>
          <a:lstStyle/>
          <a:p>
            <a:endParaRPr sz="1620">
              <a:latin typeface="Comic Sans MS" panose="030F0702030302020204" pitchFamily="66" charset="0"/>
            </a:endParaRPr>
          </a:p>
        </p:txBody>
      </p:sp>
      <p:sp>
        <p:nvSpPr>
          <p:cNvPr id="56" name="object 56"/>
          <p:cNvSpPr/>
          <p:nvPr/>
        </p:nvSpPr>
        <p:spPr>
          <a:xfrm>
            <a:off x="4085330" y="2568798"/>
            <a:ext cx="580073" cy="367475"/>
          </a:xfrm>
          <a:custGeom>
            <a:avLst/>
            <a:gdLst/>
            <a:ahLst/>
            <a:cxnLst/>
            <a:rect l="l" t="t" r="r" b="b"/>
            <a:pathLst>
              <a:path w="644525" h="408304">
                <a:moveTo>
                  <a:pt x="73278" y="281432"/>
                </a:moveTo>
                <a:lnTo>
                  <a:pt x="0" y="348234"/>
                </a:lnTo>
                <a:lnTo>
                  <a:pt x="78994" y="408305"/>
                </a:lnTo>
                <a:lnTo>
                  <a:pt x="76659" y="356488"/>
                </a:lnTo>
                <a:lnTo>
                  <a:pt x="64135" y="356488"/>
                </a:lnTo>
                <a:lnTo>
                  <a:pt x="62737" y="334391"/>
                </a:lnTo>
                <a:lnTo>
                  <a:pt x="75625" y="333531"/>
                </a:lnTo>
                <a:lnTo>
                  <a:pt x="73278" y="281432"/>
                </a:lnTo>
                <a:close/>
              </a:path>
              <a:path w="644525" h="408304">
                <a:moveTo>
                  <a:pt x="75625" y="333531"/>
                </a:moveTo>
                <a:lnTo>
                  <a:pt x="62737" y="334391"/>
                </a:lnTo>
                <a:lnTo>
                  <a:pt x="64135" y="356488"/>
                </a:lnTo>
                <a:lnTo>
                  <a:pt x="76624" y="355693"/>
                </a:lnTo>
                <a:lnTo>
                  <a:pt x="75625" y="333531"/>
                </a:lnTo>
                <a:close/>
              </a:path>
              <a:path w="644525" h="408304">
                <a:moveTo>
                  <a:pt x="76624" y="355693"/>
                </a:moveTo>
                <a:lnTo>
                  <a:pt x="64135" y="356488"/>
                </a:lnTo>
                <a:lnTo>
                  <a:pt x="76659" y="356488"/>
                </a:lnTo>
                <a:lnTo>
                  <a:pt x="76624" y="355693"/>
                </a:lnTo>
                <a:close/>
              </a:path>
              <a:path w="644525" h="408304">
                <a:moveTo>
                  <a:pt x="622300" y="0"/>
                </a:moveTo>
                <a:lnTo>
                  <a:pt x="614552" y="46355"/>
                </a:lnTo>
                <a:lnTo>
                  <a:pt x="592454" y="91694"/>
                </a:lnTo>
                <a:lnTo>
                  <a:pt x="557022" y="135889"/>
                </a:lnTo>
                <a:lnTo>
                  <a:pt x="526541" y="164592"/>
                </a:lnTo>
                <a:lnTo>
                  <a:pt x="491236" y="191897"/>
                </a:lnTo>
                <a:lnTo>
                  <a:pt x="451358" y="217678"/>
                </a:lnTo>
                <a:lnTo>
                  <a:pt x="407543" y="241808"/>
                </a:lnTo>
                <a:lnTo>
                  <a:pt x="360172" y="263779"/>
                </a:lnTo>
                <a:lnTo>
                  <a:pt x="309879" y="283337"/>
                </a:lnTo>
                <a:lnTo>
                  <a:pt x="256921" y="300228"/>
                </a:lnTo>
                <a:lnTo>
                  <a:pt x="201929" y="314325"/>
                </a:lnTo>
                <a:lnTo>
                  <a:pt x="145287" y="325247"/>
                </a:lnTo>
                <a:lnTo>
                  <a:pt x="87502" y="332739"/>
                </a:lnTo>
                <a:lnTo>
                  <a:pt x="75625" y="333531"/>
                </a:lnTo>
                <a:lnTo>
                  <a:pt x="76624" y="355693"/>
                </a:lnTo>
                <a:lnTo>
                  <a:pt x="119634" y="351409"/>
                </a:lnTo>
                <a:lnTo>
                  <a:pt x="178308" y="341884"/>
                </a:lnTo>
                <a:lnTo>
                  <a:pt x="235458" y="329057"/>
                </a:lnTo>
                <a:lnTo>
                  <a:pt x="290829" y="313182"/>
                </a:lnTo>
                <a:lnTo>
                  <a:pt x="343662" y="294386"/>
                </a:lnTo>
                <a:lnTo>
                  <a:pt x="393953" y="273050"/>
                </a:lnTo>
                <a:lnTo>
                  <a:pt x="440944" y="249174"/>
                </a:lnTo>
                <a:lnTo>
                  <a:pt x="484250" y="223393"/>
                </a:lnTo>
                <a:lnTo>
                  <a:pt x="523494" y="195580"/>
                </a:lnTo>
                <a:lnTo>
                  <a:pt x="558038" y="166116"/>
                </a:lnTo>
                <a:lnTo>
                  <a:pt x="587628" y="135128"/>
                </a:lnTo>
                <a:lnTo>
                  <a:pt x="611632" y="102870"/>
                </a:lnTo>
                <a:lnTo>
                  <a:pt x="636015" y="52324"/>
                </a:lnTo>
                <a:lnTo>
                  <a:pt x="644525" y="1270"/>
                </a:lnTo>
                <a:lnTo>
                  <a:pt x="62230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7" name="object 57"/>
          <p:cNvSpPr/>
          <p:nvPr/>
        </p:nvSpPr>
        <p:spPr>
          <a:xfrm>
            <a:off x="5228330" y="27579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8" name="object 58"/>
          <p:cNvSpPr/>
          <p:nvPr/>
        </p:nvSpPr>
        <p:spPr>
          <a:xfrm>
            <a:off x="5228330" y="27579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59" name="object 59"/>
          <p:cNvSpPr txBox="1"/>
          <p:nvPr/>
        </p:nvSpPr>
        <p:spPr>
          <a:xfrm>
            <a:off x="5285480" y="2741733"/>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2</a:t>
            </a:r>
            <a:endParaRPr sz="1620">
              <a:latin typeface="Comic Sans MS" panose="030F0702030302020204" pitchFamily="66" charset="0"/>
              <a:cs typeface="Arial" panose="020B0604020202020204"/>
            </a:endParaRPr>
          </a:p>
        </p:txBody>
      </p:sp>
      <p:sp>
        <p:nvSpPr>
          <p:cNvPr id="60" name="object 60"/>
          <p:cNvSpPr/>
          <p:nvPr/>
        </p:nvSpPr>
        <p:spPr>
          <a:xfrm>
            <a:off x="5296452" y="2569254"/>
            <a:ext cx="114300" cy="177278"/>
          </a:xfrm>
          <a:prstGeom prst="rect">
            <a:avLst/>
          </a:prstGeom>
          <a:blipFill>
            <a:blip r:embed="rId12" cstate="print"/>
            <a:stretch>
              <a:fillRect/>
            </a:stretch>
          </a:blipFill>
        </p:spPr>
        <p:txBody>
          <a:bodyPr wrap="square" lIns="0" tIns="0" rIns="0" bIns="0" rtlCol="0"/>
          <a:lstStyle/>
          <a:p>
            <a:endParaRPr sz="1620">
              <a:latin typeface="Comic Sans MS" panose="030F0702030302020204" pitchFamily="66" charset="0"/>
            </a:endParaRPr>
          </a:p>
        </p:txBody>
      </p:sp>
      <p:sp>
        <p:nvSpPr>
          <p:cNvPr id="61" name="object 61"/>
          <p:cNvSpPr/>
          <p:nvPr/>
        </p:nvSpPr>
        <p:spPr>
          <a:xfrm>
            <a:off x="5486877" y="2568798"/>
            <a:ext cx="581787" cy="367475"/>
          </a:xfrm>
          <a:custGeom>
            <a:avLst/>
            <a:gdLst/>
            <a:ahLst/>
            <a:cxnLst/>
            <a:rect l="l" t="t" r="r" b="b"/>
            <a:pathLst>
              <a:path w="646429" h="408304">
                <a:moveTo>
                  <a:pt x="73278" y="281432"/>
                </a:moveTo>
                <a:lnTo>
                  <a:pt x="0" y="348234"/>
                </a:lnTo>
                <a:lnTo>
                  <a:pt x="78994" y="408305"/>
                </a:lnTo>
                <a:lnTo>
                  <a:pt x="76659" y="356488"/>
                </a:lnTo>
                <a:lnTo>
                  <a:pt x="64135" y="356488"/>
                </a:lnTo>
                <a:lnTo>
                  <a:pt x="62737" y="334391"/>
                </a:lnTo>
                <a:lnTo>
                  <a:pt x="75626" y="333540"/>
                </a:lnTo>
                <a:lnTo>
                  <a:pt x="73278" y="281432"/>
                </a:lnTo>
                <a:close/>
              </a:path>
              <a:path w="646429" h="408304">
                <a:moveTo>
                  <a:pt x="75626" y="333540"/>
                </a:moveTo>
                <a:lnTo>
                  <a:pt x="62737" y="334391"/>
                </a:lnTo>
                <a:lnTo>
                  <a:pt x="64135" y="356488"/>
                </a:lnTo>
                <a:lnTo>
                  <a:pt x="76624" y="355700"/>
                </a:lnTo>
                <a:lnTo>
                  <a:pt x="75626" y="333540"/>
                </a:lnTo>
                <a:close/>
              </a:path>
              <a:path w="646429" h="408304">
                <a:moveTo>
                  <a:pt x="76624" y="355700"/>
                </a:moveTo>
                <a:lnTo>
                  <a:pt x="64135" y="356488"/>
                </a:lnTo>
                <a:lnTo>
                  <a:pt x="76659" y="356488"/>
                </a:lnTo>
                <a:lnTo>
                  <a:pt x="76624" y="355700"/>
                </a:lnTo>
                <a:close/>
              </a:path>
              <a:path w="646429" h="408304">
                <a:moveTo>
                  <a:pt x="623951" y="0"/>
                </a:moveTo>
                <a:lnTo>
                  <a:pt x="616203" y="46355"/>
                </a:lnTo>
                <a:lnTo>
                  <a:pt x="594105" y="91567"/>
                </a:lnTo>
                <a:lnTo>
                  <a:pt x="558546" y="135889"/>
                </a:lnTo>
                <a:lnTo>
                  <a:pt x="528066" y="164592"/>
                </a:lnTo>
                <a:lnTo>
                  <a:pt x="492505" y="191897"/>
                </a:lnTo>
                <a:lnTo>
                  <a:pt x="452627" y="217678"/>
                </a:lnTo>
                <a:lnTo>
                  <a:pt x="408558" y="241808"/>
                </a:lnTo>
                <a:lnTo>
                  <a:pt x="361188" y="263779"/>
                </a:lnTo>
                <a:lnTo>
                  <a:pt x="310641" y="283210"/>
                </a:lnTo>
                <a:lnTo>
                  <a:pt x="257555" y="300228"/>
                </a:lnTo>
                <a:lnTo>
                  <a:pt x="202437" y="314325"/>
                </a:lnTo>
                <a:lnTo>
                  <a:pt x="145669" y="325247"/>
                </a:lnTo>
                <a:lnTo>
                  <a:pt x="87757" y="332739"/>
                </a:lnTo>
                <a:lnTo>
                  <a:pt x="75626" y="333540"/>
                </a:lnTo>
                <a:lnTo>
                  <a:pt x="76624" y="355700"/>
                </a:lnTo>
                <a:lnTo>
                  <a:pt x="120014" y="351409"/>
                </a:lnTo>
                <a:lnTo>
                  <a:pt x="178815" y="341884"/>
                </a:lnTo>
                <a:lnTo>
                  <a:pt x="236092" y="329057"/>
                </a:lnTo>
                <a:lnTo>
                  <a:pt x="291464" y="313182"/>
                </a:lnTo>
                <a:lnTo>
                  <a:pt x="344550" y="294386"/>
                </a:lnTo>
                <a:lnTo>
                  <a:pt x="394970" y="273050"/>
                </a:lnTo>
                <a:lnTo>
                  <a:pt x="442086" y="249300"/>
                </a:lnTo>
                <a:lnTo>
                  <a:pt x="485521" y="223393"/>
                </a:lnTo>
                <a:lnTo>
                  <a:pt x="524764" y="195707"/>
                </a:lnTo>
                <a:lnTo>
                  <a:pt x="559561" y="166116"/>
                </a:lnTo>
                <a:lnTo>
                  <a:pt x="589152" y="135128"/>
                </a:lnTo>
                <a:lnTo>
                  <a:pt x="613155" y="102997"/>
                </a:lnTo>
                <a:lnTo>
                  <a:pt x="637667" y="52324"/>
                </a:lnTo>
                <a:lnTo>
                  <a:pt x="646176"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62" name="object 62"/>
          <p:cNvSpPr/>
          <p:nvPr/>
        </p:nvSpPr>
        <p:spPr>
          <a:xfrm>
            <a:off x="6631363" y="27579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3" name="object 63"/>
          <p:cNvSpPr/>
          <p:nvPr/>
        </p:nvSpPr>
        <p:spPr>
          <a:xfrm>
            <a:off x="6631363" y="27579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64" name="object 64"/>
          <p:cNvSpPr txBox="1"/>
          <p:nvPr/>
        </p:nvSpPr>
        <p:spPr>
          <a:xfrm>
            <a:off x="6688627" y="2741733"/>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3</a:t>
            </a:r>
            <a:endParaRPr sz="1620">
              <a:latin typeface="Comic Sans MS" panose="030F0702030302020204" pitchFamily="66" charset="0"/>
              <a:cs typeface="Arial" panose="020B0604020202020204"/>
            </a:endParaRPr>
          </a:p>
        </p:txBody>
      </p:sp>
      <p:sp>
        <p:nvSpPr>
          <p:cNvPr id="65" name="object 65"/>
          <p:cNvSpPr/>
          <p:nvPr/>
        </p:nvSpPr>
        <p:spPr>
          <a:xfrm>
            <a:off x="6699599" y="2569254"/>
            <a:ext cx="114186" cy="177278"/>
          </a:xfrm>
          <a:prstGeom prst="rect">
            <a:avLst/>
          </a:prstGeom>
          <a:blipFill>
            <a:blip r:embed="rId13" cstate="print"/>
            <a:stretch>
              <a:fillRect/>
            </a:stretch>
          </a:blipFill>
        </p:spPr>
        <p:txBody>
          <a:bodyPr wrap="square" lIns="0" tIns="0" rIns="0" bIns="0" rtlCol="0"/>
          <a:lstStyle/>
          <a:p>
            <a:endParaRPr sz="1620">
              <a:latin typeface="Comic Sans MS" panose="030F0702030302020204" pitchFamily="66" charset="0"/>
            </a:endParaRPr>
          </a:p>
        </p:txBody>
      </p:sp>
      <p:sp>
        <p:nvSpPr>
          <p:cNvPr id="66" name="object 66"/>
          <p:cNvSpPr/>
          <p:nvPr/>
        </p:nvSpPr>
        <p:spPr>
          <a:xfrm>
            <a:off x="6889909" y="2568798"/>
            <a:ext cx="581787" cy="367475"/>
          </a:xfrm>
          <a:custGeom>
            <a:avLst/>
            <a:gdLst/>
            <a:ahLst/>
            <a:cxnLst/>
            <a:rect l="l" t="t" r="r" b="b"/>
            <a:pathLst>
              <a:path w="646429" h="408304">
                <a:moveTo>
                  <a:pt x="73405" y="281432"/>
                </a:moveTo>
                <a:lnTo>
                  <a:pt x="0" y="348234"/>
                </a:lnTo>
                <a:lnTo>
                  <a:pt x="78994" y="408305"/>
                </a:lnTo>
                <a:lnTo>
                  <a:pt x="76711" y="356488"/>
                </a:lnTo>
                <a:lnTo>
                  <a:pt x="64261" y="356488"/>
                </a:lnTo>
                <a:lnTo>
                  <a:pt x="62738" y="334391"/>
                </a:lnTo>
                <a:lnTo>
                  <a:pt x="75700" y="333535"/>
                </a:lnTo>
                <a:lnTo>
                  <a:pt x="73405" y="281432"/>
                </a:lnTo>
                <a:close/>
              </a:path>
              <a:path w="646429" h="408304">
                <a:moveTo>
                  <a:pt x="75700" y="333535"/>
                </a:moveTo>
                <a:lnTo>
                  <a:pt x="62738" y="334391"/>
                </a:lnTo>
                <a:lnTo>
                  <a:pt x="64261" y="356488"/>
                </a:lnTo>
                <a:lnTo>
                  <a:pt x="76677" y="355701"/>
                </a:lnTo>
                <a:lnTo>
                  <a:pt x="75700" y="333535"/>
                </a:lnTo>
                <a:close/>
              </a:path>
              <a:path w="646429" h="408304">
                <a:moveTo>
                  <a:pt x="76677" y="355701"/>
                </a:moveTo>
                <a:lnTo>
                  <a:pt x="64261" y="356488"/>
                </a:lnTo>
                <a:lnTo>
                  <a:pt x="76711" y="356488"/>
                </a:lnTo>
                <a:lnTo>
                  <a:pt x="76677" y="355701"/>
                </a:lnTo>
                <a:close/>
              </a:path>
              <a:path w="646429" h="408304">
                <a:moveTo>
                  <a:pt x="623951" y="0"/>
                </a:moveTo>
                <a:lnTo>
                  <a:pt x="616203" y="46355"/>
                </a:lnTo>
                <a:lnTo>
                  <a:pt x="593978" y="91567"/>
                </a:lnTo>
                <a:lnTo>
                  <a:pt x="558419" y="135889"/>
                </a:lnTo>
                <a:lnTo>
                  <a:pt x="527939" y="164592"/>
                </a:lnTo>
                <a:lnTo>
                  <a:pt x="492505" y="191897"/>
                </a:lnTo>
                <a:lnTo>
                  <a:pt x="452500" y="217678"/>
                </a:lnTo>
                <a:lnTo>
                  <a:pt x="408685" y="241808"/>
                </a:lnTo>
                <a:lnTo>
                  <a:pt x="361188" y="263779"/>
                </a:lnTo>
                <a:lnTo>
                  <a:pt x="310769" y="283210"/>
                </a:lnTo>
                <a:lnTo>
                  <a:pt x="257682" y="300228"/>
                </a:lnTo>
                <a:lnTo>
                  <a:pt x="202438" y="314325"/>
                </a:lnTo>
                <a:lnTo>
                  <a:pt x="145669" y="325247"/>
                </a:lnTo>
                <a:lnTo>
                  <a:pt x="87756" y="332739"/>
                </a:lnTo>
                <a:lnTo>
                  <a:pt x="75700" y="333535"/>
                </a:lnTo>
                <a:lnTo>
                  <a:pt x="76677" y="355701"/>
                </a:lnTo>
                <a:lnTo>
                  <a:pt x="120015" y="351409"/>
                </a:lnTo>
                <a:lnTo>
                  <a:pt x="178816" y="341884"/>
                </a:lnTo>
                <a:lnTo>
                  <a:pt x="236093" y="329057"/>
                </a:lnTo>
                <a:lnTo>
                  <a:pt x="291592" y="313182"/>
                </a:lnTo>
                <a:lnTo>
                  <a:pt x="344677" y="294386"/>
                </a:lnTo>
                <a:lnTo>
                  <a:pt x="394970" y="273050"/>
                </a:lnTo>
                <a:lnTo>
                  <a:pt x="442086" y="249174"/>
                </a:lnTo>
                <a:lnTo>
                  <a:pt x="485521" y="223393"/>
                </a:lnTo>
                <a:lnTo>
                  <a:pt x="524891" y="195580"/>
                </a:lnTo>
                <a:lnTo>
                  <a:pt x="559434" y="166116"/>
                </a:lnTo>
                <a:lnTo>
                  <a:pt x="589152" y="135128"/>
                </a:lnTo>
                <a:lnTo>
                  <a:pt x="613155" y="102997"/>
                </a:lnTo>
                <a:lnTo>
                  <a:pt x="637667" y="52324"/>
                </a:lnTo>
                <a:lnTo>
                  <a:pt x="646049"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67" name="object 67"/>
          <p:cNvGraphicFramePr>
            <a:graphicFrameLocks noGrp="1"/>
          </p:cNvGraphicFramePr>
          <p:nvPr/>
        </p:nvGraphicFramePr>
        <p:xfrm>
          <a:off x="2362200" y="316230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0"/>
                        </a:spcBef>
                      </a:pPr>
                      <a:r>
                        <a:rPr sz="1300" b="1" spc="-5" dirty="0">
                          <a:latin typeface="Arial" panose="020B0604020202020204"/>
                          <a:cs typeface="Arial" panose="020B0604020202020204"/>
                        </a:rPr>
                        <a:t>18</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4</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0"/>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68" name="object 68"/>
          <p:cNvSpPr/>
          <p:nvPr/>
        </p:nvSpPr>
        <p:spPr>
          <a:xfrm>
            <a:off x="2425123" y="3672365"/>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9" name="object 69"/>
          <p:cNvSpPr/>
          <p:nvPr/>
        </p:nvSpPr>
        <p:spPr>
          <a:xfrm>
            <a:off x="2425123" y="3672365"/>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0" name="object 70"/>
          <p:cNvSpPr txBox="1"/>
          <p:nvPr/>
        </p:nvSpPr>
        <p:spPr>
          <a:xfrm>
            <a:off x="2487073" y="3671336"/>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71" name="object 71"/>
          <p:cNvSpPr/>
          <p:nvPr/>
        </p:nvSpPr>
        <p:spPr>
          <a:xfrm>
            <a:off x="2492559" y="3483770"/>
            <a:ext cx="114300" cy="177051"/>
          </a:xfrm>
          <a:prstGeom prst="rect">
            <a:avLst/>
          </a:prstGeom>
          <a:blipFill>
            <a:blip r:embed="rId14" cstate="print"/>
            <a:stretch>
              <a:fillRect/>
            </a:stretch>
          </a:blipFill>
        </p:spPr>
        <p:txBody>
          <a:bodyPr wrap="square" lIns="0" tIns="0" rIns="0" bIns="0" rtlCol="0"/>
          <a:lstStyle/>
          <a:p>
            <a:endParaRPr sz="1620">
              <a:latin typeface="Comic Sans MS" panose="030F0702030302020204" pitchFamily="66" charset="0"/>
            </a:endParaRPr>
          </a:p>
        </p:txBody>
      </p:sp>
      <p:sp>
        <p:nvSpPr>
          <p:cNvPr id="72" name="object 72"/>
          <p:cNvSpPr/>
          <p:nvPr/>
        </p:nvSpPr>
        <p:spPr>
          <a:xfrm>
            <a:off x="2683555" y="3483197"/>
            <a:ext cx="1280732" cy="369761"/>
          </a:xfrm>
          <a:custGeom>
            <a:avLst/>
            <a:gdLst/>
            <a:ahLst/>
            <a:cxnLst/>
            <a:rect l="l" t="t" r="r" b="b"/>
            <a:pathLst>
              <a:path w="1423035" h="410845">
                <a:moveTo>
                  <a:pt x="75564" y="283717"/>
                </a:moveTo>
                <a:lnTo>
                  <a:pt x="0" y="347852"/>
                </a:lnTo>
                <a:lnTo>
                  <a:pt x="76707" y="410717"/>
                </a:lnTo>
                <a:lnTo>
                  <a:pt x="76237" y="358393"/>
                </a:lnTo>
                <a:lnTo>
                  <a:pt x="63753" y="358393"/>
                </a:lnTo>
                <a:lnTo>
                  <a:pt x="63245" y="336168"/>
                </a:lnTo>
                <a:lnTo>
                  <a:pt x="76034" y="335908"/>
                </a:lnTo>
                <a:lnTo>
                  <a:pt x="75564" y="283717"/>
                </a:lnTo>
                <a:close/>
              </a:path>
              <a:path w="1423035" h="410845">
                <a:moveTo>
                  <a:pt x="76034" y="335908"/>
                </a:moveTo>
                <a:lnTo>
                  <a:pt x="63245" y="336168"/>
                </a:lnTo>
                <a:lnTo>
                  <a:pt x="63753" y="358393"/>
                </a:lnTo>
                <a:lnTo>
                  <a:pt x="76234" y="358140"/>
                </a:lnTo>
                <a:lnTo>
                  <a:pt x="76034" y="335908"/>
                </a:lnTo>
                <a:close/>
              </a:path>
              <a:path w="1423035" h="410845">
                <a:moveTo>
                  <a:pt x="76234" y="358140"/>
                </a:moveTo>
                <a:lnTo>
                  <a:pt x="63753" y="358393"/>
                </a:lnTo>
                <a:lnTo>
                  <a:pt x="76237" y="358393"/>
                </a:lnTo>
                <a:lnTo>
                  <a:pt x="76234" y="358140"/>
                </a:lnTo>
                <a:close/>
              </a:path>
              <a:path w="1423035" h="410845">
                <a:moveTo>
                  <a:pt x="1400428" y="0"/>
                </a:moveTo>
                <a:lnTo>
                  <a:pt x="1384300" y="43179"/>
                </a:lnTo>
                <a:lnTo>
                  <a:pt x="1355216" y="73024"/>
                </a:lnTo>
                <a:lnTo>
                  <a:pt x="1323848" y="95884"/>
                </a:lnTo>
                <a:lnTo>
                  <a:pt x="1284859" y="118490"/>
                </a:lnTo>
                <a:lnTo>
                  <a:pt x="1238757" y="140842"/>
                </a:lnTo>
                <a:lnTo>
                  <a:pt x="1185926" y="162432"/>
                </a:lnTo>
                <a:lnTo>
                  <a:pt x="1147190" y="176529"/>
                </a:lnTo>
                <a:lnTo>
                  <a:pt x="1105915" y="190245"/>
                </a:lnTo>
                <a:lnTo>
                  <a:pt x="1062101" y="203580"/>
                </a:lnTo>
                <a:lnTo>
                  <a:pt x="1016000" y="216407"/>
                </a:lnTo>
                <a:lnTo>
                  <a:pt x="967613" y="228853"/>
                </a:lnTo>
                <a:lnTo>
                  <a:pt x="917193" y="240664"/>
                </a:lnTo>
                <a:lnTo>
                  <a:pt x="864869" y="252094"/>
                </a:lnTo>
                <a:lnTo>
                  <a:pt x="810640" y="262889"/>
                </a:lnTo>
                <a:lnTo>
                  <a:pt x="754761" y="273049"/>
                </a:lnTo>
                <a:lnTo>
                  <a:pt x="697229" y="282701"/>
                </a:lnTo>
                <a:lnTo>
                  <a:pt x="638428" y="291591"/>
                </a:lnTo>
                <a:lnTo>
                  <a:pt x="578230" y="299719"/>
                </a:lnTo>
                <a:lnTo>
                  <a:pt x="517016" y="307212"/>
                </a:lnTo>
                <a:lnTo>
                  <a:pt x="454532" y="313943"/>
                </a:lnTo>
                <a:lnTo>
                  <a:pt x="391287" y="319785"/>
                </a:lnTo>
                <a:lnTo>
                  <a:pt x="327278" y="324992"/>
                </a:lnTo>
                <a:lnTo>
                  <a:pt x="262509" y="329056"/>
                </a:lnTo>
                <a:lnTo>
                  <a:pt x="197357" y="332485"/>
                </a:lnTo>
                <a:lnTo>
                  <a:pt x="131825" y="334771"/>
                </a:lnTo>
                <a:lnTo>
                  <a:pt x="76034" y="335908"/>
                </a:lnTo>
                <a:lnTo>
                  <a:pt x="76234" y="358140"/>
                </a:lnTo>
                <a:lnTo>
                  <a:pt x="132587" y="356996"/>
                </a:lnTo>
                <a:lnTo>
                  <a:pt x="198500" y="354583"/>
                </a:lnTo>
                <a:lnTo>
                  <a:pt x="263905" y="351281"/>
                </a:lnTo>
                <a:lnTo>
                  <a:pt x="328929" y="347090"/>
                </a:lnTo>
                <a:lnTo>
                  <a:pt x="393318" y="341883"/>
                </a:lnTo>
                <a:lnTo>
                  <a:pt x="456946" y="336041"/>
                </a:lnTo>
                <a:lnTo>
                  <a:pt x="519684" y="329310"/>
                </a:lnTo>
                <a:lnTo>
                  <a:pt x="581278" y="321817"/>
                </a:lnTo>
                <a:lnTo>
                  <a:pt x="641730" y="313562"/>
                </a:lnTo>
                <a:lnTo>
                  <a:pt x="700913" y="304545"/>
                </a:lnTo>
                <a:lnTo>
                  <a:pt x="758698" y="294893"/>
                </a:lnTo>
                <a:lnTo>
                  <a:pt x="814959" y="284733"/>
                </a:lnTo>
                <a:lnTo>
                  <a:pt x="869568" y="273811"/>
                </a:lnTo>
                <a:lnTo>
                  <a:pt x="922401" y="262381"/>
                </a:lnTo>
                <a:lnTo>
                  <a:pt x="973201" y="250316"/>
                </a:lnTo>
                <a:lnTo>
                  <a:pt x="1021841" y="237870"/>
                </a:lnTo>
                <a:lnTo>
                  <a:pt x="1090929" y="218185"/>
                </a:lnTo>
                <a:lnTo>
                  <a:pt x="1134110" y="204469"/>
                </a:lnTo>
                <a:lnTo>
                  <a:pt x="1174623" y="190372"/>
                </a:lnTo>
                <a:lnTo>
                  <a:pt x="1212723" y="175894"/>
                </a:lnTo>
                <a:lnTo>
                  <a:pt x="1248028" y="161035"/>
                </a:lnTo>
                <a:lnTo>
                  <a:pt x="1295527" y="138048"/>
                </a:lnTo>
                <a:lnTo>
                  <a:pt x="1336293" y="114299"/>
                </a:lnTo>
                <a:lnTo>
                  <a:pt x="1369822" y="89788"/>
                </a:lnTo>
                <a:lnTo>
                  <a:pt x="1402714" y="55625"/>
                </a:lnTo>
                <a:lnTo>
                  <a:pt x="1420367" y="18922"/>
                </a:lnTo>
                <a:lnTo>
                  <a:pt x="1422527" y="1269"/>
                </a:lnTo>
                <a:lnTo>
                  <a:pt x="1400428"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73" name="object 73"/>
          <p:cNvSpPr/>
          <p:nvPr/>
        </p:nvSpPr>
        <p:spPr>
          <a:xfrm>
            <a:off x="5228330" y="36723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74" name="object 74"/>
          <p:cNvSpPr/>
          <p:nvPr/>
        </p:nvSpPr>
        <p:spPr>
          <a:xfrm>
            <a:off x="5228330" y="36723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5" name="object 75"/>
          <p:cNvSpPr txBox="1"/>
          <p:nvPr/>
        </p:nvSpPr>
        <p:spPr>
          <a:xfrm>
            <a:off x="5285480" y="3656248"/>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1</a:t>
            </a:r>
            <a:endParaRPr sz="1620">
              <a:latin typeface="Comic Sans MS" panose="030F0702030302020204" pitchFamily="66" charset="0"/>
              <a:cs typeface="Arial" panose="020B0604020202020204"/>
            </a:endParaRPr>
          </a:p>
        </p:txBody>
      </p:sp>
      <p:sp>
        <p:nvSpPr>
          <p:cNvPr id="76" name="object 76"/>
          <p:cNvSpPr/>
          <p:nvPr/>
        </p:nvSpPr>
        <p:spPr>
          <a:xfrm>
            <a:off x="5296452" y="3483770"/>
            <a:ext cx="114300" cy="177051"/>
          </a:xfrm>
          <a:prstGeom prst="rect">
            <a:avLst/>
          </a:prstGeom>
          <a:blipFill>
            <a:blip r:embed="rId15" cstate="print"/>
            <a:stretch>
              <a:fillRect/>
            </a:stretch>
          </a:blipFill>
        </p:spPr>
        <p:txBody>
          <a:bodyPr wrap="square" lIns="0" tIns="0" rIns="0" bIns="0" rtlCol="0"/>
          <a:lstStyle/>
          <a:p>
            <a:endParaRPr sz="1620">
              <a:latin typeface="Comic Sans MS" panose="030F0702030302020204" pitchFamily="66" charset="0"/>
            </a:endParaRPr>
          </a:p>
        </p:txBody>
      </p:sp>
      <p:sp>
        <p:nvSpPr>
          <p:cNvPr id="77" name="object 77"/>
          <p:cNvSpPr/>
          <p:nvPr/>
        </p:nvSpPr>
        <p:spPr>
          <a:xfrm>
            <a:off x="5486761" y="3483197"/>
            <a:ext cx="1283589" cy="369761"/>
          </a:xfrm>
          <a:custGeom>
            <a:avLst/>
            <a:gdLst/>
            <a:ahLst/>
            <a:cxnLst/>
            <a:rect l="l" t="t" r="r" b="b"/>
            <a:pathLst>
              <a:path w="1426209" h="410845">
                <a:moveTo>
                  <a:pt x="75691" y="283717"/>
                </a:moveTo>
                <a:lnTo>
                  <a:pt x="0" y="347852"/>
                </a:lnTo>
                <a:lnTo>
                  <a:pt x="76835" y="410717"/>
                </a:lnTo>
                <a:lnTo>
                  <a:pt x="76364" y="358393"/>
                </a:lnTo>
                <a:lnTo>
                  <a:pt x="63753" y="358393"/>
                </a:lnTo>
                <a:lnTo>
                  <a:pt x="63373" y="336168"/>
                </a:lnTo>
                <a:lnTo>
                  <a:pt x="76161" y="335909"/>
                </a:lnTo>
                <a:lnTo>
                  <a:pt x="75691" y="283717"/>
                </a:lnTo>
                <a:close/>
              </a:path>
              <a:path w="1426209" h="410845">
                <a:moveTo>
                  <a:pt x="76161" y="335909"/>
                </a:moveTo>
                <a:lnTo>
                  <a:pt x="63373" y="336168"/>
                </a:lnTo>
                <a:lnTo>
                  <a:pt x="63753" y="358393"/>
                </a:lnTo>
                <a:lnTo>
                  <a:pt x="76361" y="358139"/>
                </a:lnTo>
                <a:lnTo>
                  <a:pt x="76161" y="335909"/>
                </a:lnTo>
                <a:close/>
              </a:path>
              <a:path w="1426209" h="410845">
                <a:moveTo>
                  <a:pt x="76361" y="358139"/>
                </a:moveTo>
                <a:lnTo>
                  <a:pt x="63753" y="358393"/>
                </a:lnTo>
                <a:lnTo>
                  <a:pt x="76364" y="358393"/>
                </a:lnTo>
                <a:lnTo>
                  <a:pt x="76361" y="358139"/>
                </a:lnTo>
                <a:close/>
              </a:path>
              <a:path w="1426209" h="410845">
                <a:moveTo>
                  <a:pt x="1403477" y="0"/>
                </a:moveTo>
                <a:lnTo>
                  <a:pt x="1387348" y="43179"/>
                </a:lnTo>
                <a:lnTo>
                  <a:pt x="1358265" y="73024"/>
                </a:lnTo>
                <a:lnTo>
                  <a:pt x="1326769" y="95884"/>
                </a:lnTo>
                <a:lnTo>
                  <a:pt x="1287779" y="118490"/>
                </a:lnTo>
                <a:lnTo>
                  <a:pt x="1241425" y="140842"/>
                </a:lnTo>
                <a:lnTo>
                  <a:pt x="1188593" y="162432"/>
                </a:lnTo>
                <a:lnTo>
                  <a:pt x="1149857" y="176529"/>
                </a:lnTo>
                <a:lnTo>
                  <a:pt x="1108455" y="190245"/>
                </a:lnTo>
                <a:lnTo>
                  <a:pt x="1064513" y="203580"/>
                </a:lnTo>
                <a:lnTo>
                  <a:pt x="1018285" y="216407"/>
                </a:lnTo>
                <a:lnTo>
                  <a:pt x="969772" y="228853"/>
                </a:lnTo>
                <a:lnTo>
                  <a:pt x="919226" y="240664"/>
                </a:lnTo>
                <a:lnTo>
                  <a:pt x="866775" y="252094"/>
                </a:lnTo>
                <a:lnTo>
                  <a:pt x="812419" y="262889"/>
                </a:lnTo>
                <a:lnTo>
                  <a:pt x="756411" y="273049"/>
                </a:lnTo>
                <a:lnTo>
                  <a:pt x="698880" y="282701"/>
                </a:lnTo>
                <a:lnTo>
                  <a:pt x="639952" y="291591"/>
                </a:lnTo>
                <a:lnTo>
                  <a:pt x="579627" y="299719"/>
                </a:lnTo>
                <a:lnTo>
                  <a:pt x="518159" y="307212"/>
                </a:lnTo>
                <a:lnTo>
                  <a:pt x="455549" y="313943"/>
                </a:lnTo>
                <a:lnTo>
                  <a:pt x="392175" y="319785"/>
                </a:lnTo>
                <a:lnTo>
                  <a:pt x="328040" y="324992"/>
                </a:lnTo>
                <a:lnTo>
                  <a:pt x="263143" y="329056"/>
                </a:lnTo>
                <a:lnTo>
                  <a:pt x="197865" y="332485"/>
                </a:lnTo>
                <a:lnTo>
                  <a:pt x="132206" y="334771"/>
                </a:lnTo>
                <a:lnTo>
                  <a:pt x="76161" y="335909"/>
                </a:lnTo>
                <a:lnTo>
                  <a:pt x="76361" y="358139"/>
                </a:lnTo>
                <a:lnTo>
                  <a:pt x="132968" y="356996"/>
                </a:lnTo>
                <a:lnTo>
                  <a:pt x="198881" y="354583"/>
                </a:lnTo>
                <a:lnTo>
                  <a:pt x="264667" y="351281"/>
                </a:lnTo>
                <a:lnTo>
                  <a:pt x="329818" y="347090"/>
                </a:lnTo>
                <a:lnTo>
                  <a:pt x="394334" y="341883"/>
                </a:lnTo>
                <a:lnTo>
                  <a:pt x="457961" y="336041"/>
                </a:lnTo>
                <a:lnTo>
                  <a:pt x="520826" y="329310"/>
                </a:lnTo>
                <a:lnTo>
                  <a:pt x="582549" y="321817"/>
                </a:lnTo>
                <a:lnTo>
                  <a:pt x="643254" y="313562"/>
                </a:lnTo>
                <a:lnTo>
                  <a:pt x="702563" y="304545"/>
                </a:lnTo>
                <a:lnTo>
                  <a:pt x="760476" y="294893"/>
                </a:lnTo>
                <a:lnTo>
                  <a:pt x="816863" y="284733"/>
                </a:lnTo>
                <a:lnTo>
                  <a:pt x="871474" y="273811"/>
                </a:lnTo>
                <a:lnTo>
                  <a:pt x="924305" y="262381"/>
                </a:lnTo>
                <a:lnTo>
                  <a:pt x="975359" y="250443"/>
                </a:lnTo>
                <a:lnTo>
                  <a:pt x="1024127" y="237870"/>
                </a:lnTo>
                <a:lnTo>
                  <a:pt x="1093343" y="218185"/>
                </a:lnTo>
                <a:lnTo>
                  <a:pt x="1136650" y="204469"/>
                </a:lnTo>
                <a:lnTo>
                  <a:pt x="1177290" y="190372"/>
                </a:lnTo>
                <a:lnTo>
                  <a:pt x="1215390" y="175894"/>
                </a:lnTo>
                <a:lnTo>
                  <a:pt x="1250823" y="161035"/>
                </a:lnTo>
                <a:lnTo>
                  <a:pt x="1298321" y="138048"/>
                </a:lnTo>
                <a:lnTo>
                  <a:pt x="1339215" y="114426"/>
                </a:lnTo>
                <a:lnTo>
                  <a:pt x="1372743" y="89788"/>
                </a:lnTo>
                <a:lnTo>
                  <a:pt x="1405762" y="55625"/>
                </a:lnTo>
                <a:lnTo>
                  <a:pt x="1423416" y="19049"/>
                </a:lnTo>
                <a:lnTo>
                  <a:pt x="1425702" y="1269"/>
                </a:lnTo>
                <a:lnTo>
                  <a:pt x="140347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78" name="object 78"/>
          <p:cNvGraphicFramePr>
            <a:graphicFrameLocks noGrp="1"/>
          </p:cNvGraphicFramePr>
          <p:nvPr/>
        </p:nvGraphicFramePr>
        <p:xfrm>
          <a:off x="2362200" y="4076586"/>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5"/>
                        </a:spcBef>
                      </a:pPr>
                      <a:r>
                        <a:rPr sz="1300" b="1" spc="-5" dirty="0">
                          <a:latin typeface="Arial" panose="020B0604020202020204"/>
                          <a:cs typeface="Arial" panose="020B0604020202020204"/>
                        </a:rPr>
                        <a:t>24</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79" name="object 79"/>
          <p:cNvSpPr/>
          <p:nvPr/>
        </p:nvSpPr>
        <p:spPr>
          <a:xfrm>
            <a:off x="2425123" y="4586649"/>
            <a:ext cx="247460" cy="247460"/>
          </a:xfrm>
          <a:custGeom>
            <a:avLst/>
            <a:gdLst/>
            <a:ahLst/>
            <a:cxnLst/>
            <a:rect l="l" t="t" r="r" b="b"/>
            <a:pathLst>
              <a:path w="274955" h="274954">
                <a:moveTo>
                  <a:pt x="137287" y="0"/>
                </a:moveTo>
                <a:lnTo>
                  <a:pt x="93894" y="7012"/>
                </a:lnTo>
                <a:lnTo>
                  <a:pt x="56208" y="26533"/>
                </a:lnTo>
                <a:lnTo>
                  <a:pt x="26489" y="56290"/>
                </a:lnTo>
                <a:lnTo>
                  <a:pt x="6999" y="94008"/>
                </a:lnTo>
                <a:lnTo>
                  <a:pt x="0" y="137413"/>
                </a:lnTo>
                <a:lnTo>
                  <a:pt x="6999" y="180806"/>
                </a:lnTo>
                <a:lnTo>
                  <a:pt x="26489" y="218492"/>
                </a:lnTo>
                <a:lnTo>
                  <a:pt x="56208" y="248211"/>
                </a:lnTo>
                <a:lnTo>
                  <a:pt x="93894" y="267701"/>
                </a:lnTo>
                <a:lnTo>
                  <a:pt x="137287" y="274700"/>
                </a:lnTo>
                <a:lnTo>
                  <a:pt x="180679" y="267701"/>
                </a:lnTo>
                <a:lnTo>
                  <a:pt x="218365" y="248211"/>
                </a:lnTo>
                <a:lnTo>
                  <a:pt x="248084" y="218492"/>
                </a:lnTo>
                <a:lnTo>
                  <a:pt x="267574" y="180806"/>
                </a:lnTo>
                <a:lnTo>
                  <a:pt x="274574" y="137413"/>
                </a:lnTo>
                <a:lnTo>
                  <a:pt x="267574" y="94008"/>
                </a:lnTo>
                <a:lnTo>
                  <a:pt x="248084" y="56290"/>
                </a:lnTo>
                <a:lnTo>
                  <a:pt x="218365" y="26533"/>
                </a:lnTo>
                <a:lnTo>
                  <a:pt x="180679" y="7012"/>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80" name="object 80"/>
          <p:cNvSpPr/>
          <p:nvPr/>
        </p:nvSpPr>
        <p:spPr>
          <a:xfrm>
            <a:off x="2425123" y="4586649"/>
            <a:ext cx="247460" cy="247460"/>
          </a:xfrm>
          <a:custGeom>
            <a:avLst/>
            <a:gdLst/>
            <a:ahLst/>
            <a:cxnLst/>
            <a:rect l="l" t="t" r="r" b="b"/>
            <a:pathLst>
              <a:path w="274955" h="274954">
                <a:moveTo>
                  <a:pt x="0" y="137413"/>
                </a:moveTo>
                <a:lnTo>
                  <a:pt x="6999" y="94008"/>
                </a:lnTo>
                <a:lnTo>
                  <a:pt x="26489" y="56290"/>
                </a:lnTo>
                <a:lnTo>
                  <a:pt x="56208" y="26533"/>
                </a:lnTo>
                <a:lnTo>
                  <a:pt x="93894" y="7012"/>
                </a:lnTo>
                <a:lnTo>
                  <a:pt x="137287" y="0"/>
                </a:lnTo>
                <a:lnTo>
                  <a:pt x="180679" y="7012"/>
                </a:lnTo>
                <a:lnTo>
                  <a:pt x="218365" y="26533"/>
                </a:lnTo>
                <a:lnTo>
                  <a:pt x="248084" y="56290"/>
                </a:lnTo>
                <a:lnTo>
                  <a:pt x="267574" y="94008"/>
                </a:lnTo>
                <a:lnTo>
                  <a:pt x="274574" y="137413"/>
                </a:lnTo>
                <a:lnTo>
                  <a:pt x="267574" y="180806"/>
                </a:lnTo>
                <a:lnTo>
                  <a:pt x="248084" y="218492"/>
                </a:lnTo>
                <a:lnTo>
                  <a:pt x="218365" y="248211"/>
                </a:lnTo>
                <a:lnTo>
                  <a:pt x="180679" y="267701"/>
                </a:lnTo>
                <a:lnTo>
                  <a:pt x="137287" y="274700"/>
                </a:lnTo>
                <a:lnTo>
                  <a:pt x="93894" y="267701"/>
                </a:lnTo>
                <a:lnTo>
                  <a:pt x="56208" y="248211"/>
                </a:lnTo>
                <a:lnTo>
                  <a:pt x="26489" y="218492"/>
                </a:lnTo>
                <a:lnTo>
                  <a:pt x="6999" y="180806"/>
                </a:lnTo>
                <a:lnTo>
                  <a:pt x="0" y="137413"/>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81" name="object 81"/>
          <p:cNvSpPr txBox="1"/>
          <p:nvPr/>
        </p:nvSpPr>
        <p:spPr>
          <a:xfrm>
            <a:off x="2487073" y="4585963"/>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82" name="object 82"/>
          <p:cNvSpPr/>
          <p:nvPr/>
        </p:nvSpPr>
        <p:spPr>
          <a:xfrm>
            <a:off x="2492559" y="4398054"/>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83" name="object 83"/>
          <p:cNvSpPr/>
          <p:nvPr/>
        </p:nvSpPr>
        <p:spPr>
          <a:xfrm>
            <a:off x="2683669" y="4396798"/>
            <a:ext cx="2683193" cy="370904"/>
          </a:xfrm>
          <a:custGeom>
            <a:avLst/>
            <a:gdLst/>
            <a:ahLst/>
            <a:cxnLst/>
            <a:rect l="l" t="t" r="r" b="b"/>
            <a:pathLst>
              <a:path w="2981325" h="412114">
                <a:moveTo>
                  <a:pt x="75818" y="285115"/>
                </a:moveTo>
                <a:lnTo>
                  <a:pt x="0" y="349123"/>
                </a:lnTo>
                <a:lnTo>
                  <a:pt x="76707" y="412115"/>
                </a:lnTo>
                <a:lnTo>
                  <a:pt x="76341" y="359791"/>
                </a:lnTo>
                <a:lnTo>
                  <a:pt x="63626" y="359791"/>
                </a:lnTo>
                <a:lnTo>
                  <a:pt x="63500" y="337566"/>
                </a:lnTo>
                <a:lnTo>
                  <a:pt x="76185" y="337475"/>
                </a:lnTo>
                <a:lnTo>
                  <a:pt x="75818" y="285115"/>
                </a:lnTo>
                <a:close/>
              </a:path>
              <a:path w="2981325" h="412114">
                <a:moveTo>
                  <a:pt x="76185" y="337475"/>
                </a:moveTo>
                <a:lnTo>
                  <a:pt x="63500" y="337566"/>
                </a:lnTo>
                <a:lnTo>
                  <a:pt x="63626" y="359791"/>
                </a:lnTo>
                <a:lnTo>
                  <a:pt x="76341" y="359700"/>
                </a:lnTo>
                <a:lnTo>
                  <a:pt x="76185" y="337475"/>
                </a:lnTo>
                <a:close/>
              </a:path>
              <a:path w="2981325" h="412114">
                <a:moveTo>
                  <a:pt x="76341" y="359700"/>
                </a:moveTo>
                <a:lnTo>
                  <a:pt x="63626" y="359791"/>
                </a:lnTo>
                <a:lnTo>
                  <a:pt x="76341" y="359791"/>
                </a:lnTo>
                <a:close/>
              </a:path>
              <a:path w="2981325" h="412114">
                <a:moveTo>
                  <a:pt x="2951757" y="19078"/>
                </a:moveTo>
                <a:lnTo>
                  <a:pt x="2913126" y="48641"/>
                </a:lnTo>
                <a:lnTo>
                  <a:pt x="2862834" y="72136"/>
                </a:lnTo>
                <a:lnTo>
                  <a:pt x="2819654" y="87630"/>
                </a:lnTo>
                <a:lnTo>
                  <a:pt x="2769362" y="103124"/>
                </a:lnTo>
                <a:lnTo>
                  <a:pt x="2712212" y="118364"/>
                </a:lnTo>
                <a:lnTo>
                  <a:pt x="2614041" y="140970"/>
                </a:lnTo>
                <a:lnTo>
                  <a:pt x="2502027" y="162814"/>
                </a:lnTo>
                <a:lnTo>
                  <a:pt x="2420112" y="176911"/>
                </a:lnTo>
                <a:lnTo>
                  <a:pt x="2332736" y="190754"/>
                </a:lnTo>
                <a:lnTo>
                  <a:pt x="2240279" y="203962"/>
                </a:lnTo>
                <a:lnTo>
                  <a:pt x="2142744" y="216916"/>
                </a:lnTo>
                <a:lnTo>
                  <a:pt x="1934210" y="241427"/>
                </a:lnTo>
                <a:lnTo>
                  <a:pt x="1709420" y="263652"/>
                </a:lnTo>
                <a:lnTo>
                  <a:pt x="1470405" y="283464"/>
                </a:lnTo>
                <a:lnTo>
                  <a:pt x="1219327" y="300736"/>
                </a:lnTo>
                <a:lnTo>
                  <a:pt x="825119" y="320929"/>
                </a:lnTo>
                <a:lnTo>
                  <a:pt x="553720" y="330200"/>
                </a:lnTo>
                <a:lnTo>
                  <a:pt x="277875" y="336042"/>
                </a:lnTo>
                <a:lnTo>
                  <a:pt x="76185" y="337475"/>
                </a:lnTo>
                <a:lnTo>
                  <a:pt x="76341" y="359700"/>
                </a:lnTo>
                <a:lnTo>
                  <a:pt x="278384" y="358267"/>
                </a:lnTo>
                <a:lnTo>
                  <a:pt x="554482" y="352425"/>
                </a:lnTo>
                <a:lnTo>
                  <a:pt x="826135" y="343027"/>
                </a:lnTo>
                <a:lnTo>
                  <a:pt x="1220851" y="322834"/>
                </a:lnTo>
                <a:lnTo>
                  <a:pt x="1593341" y="296037"/>
                </a:lnTo>
                <a:lnTo>
                  <a:pt x="1826005" y="274955"/>
                </a:lnTo>
                <a:lnTo>
                  <a:pt x="2043429" y="251460"/>
                </a:lnTo>
                <a:lnTo>
                  <a:pt x="2145665" y="239014"/>
                </a:lnTo>
                <a:lnTo>
                  <a:pt x="2243454" y="226060"/>
                </a:lnTo>
                <a:lnTo>
                  <a:pt x="2336291" y="212598"/>
                </a:lnTo>
                <a:lnTo>
                  <a:pt x="2423922" y="198755"/>
                </a:lnTo>
                <a:lnTo>
                  <a:pt x="2506091" y="184531"/>
                </a:lnTo>
                <a:lnTo>
                  <a:pt x="2582672" y="169925"/>
                </a:lnTo>
                <a:lnTo>
                  <a:pt x="2653284" y="155067"/>
                </a:lnTo>
                <a:lnTo>
                  <a:pt x="2717673" y="139827"/>
                </a:lnTo>
                <a:lnTo>
                  <a:pt x="2775712" y="124460"/>
                </a:lnTo>
                <a:lnTo>
                  <a:pt x="2827020" y="108585"/>
                </a:lnTo>
                <a:lnTo>
                  <a:pt x="2871470" y="92583"/>
                </a:lnTo>
                <a:lnTo>
                  <a:pt x="2908680" y="76200"/>
                </a:lnTo>
                <a:lnTo>
                  <a:pt x="2950972" y="50546"/>
                </a:lnTo>
                <a:lnTo>
                  <a:pt x="2968879" y="33274"/>
                </a:lnTo>
                <a:lnTo>
                  <a:pt x="2969260" y="32893"/>
                </a:lnTo>
                <a:lnTo>
                  <a:pt x="2969514" y="32385"/>
                </a:lnTo>
                <a:lnTo>
                  <a:pt x="2969895" y="32004"/>
                </a:lnTo>
                <a:lnTo>
                  <a:pt x="2975229" y="23875"/>
                </a:lnTo>
                <a:lnTo>
                  <a:pt x="2975991" y="22606"/>
                </a:lnTo>
                <a:lnTo>
                  <a:pt x="2976245" y="21843"/>
                </a:lnTo>
                <a:lnTo>
                  <a:pt x="2977088" y="19685"/>
                </a:lnTo>
                <a:lnTo>
                  <a:pt x="2951353" y="19685"/>
                </a:lnTo>
                <a:lnTo>
                  <a:pt x="2951757" y="19078"/>
                </a:lnTo>
                <a:close/>
              </a:path>
              <a:path w="2981325" h="412114">
                <a:moveTo>
                  <a:pt x="2952369" y="18415"/>
                </a:moveTo>
                <a:lnTo>
                  <a:pt x="2951757" y="19078"/>
                </a:lnTo>
                <a:lnTo>
                  <a:pt x="2951353" y="19685"/>
                </a:lnTo>
                <a:lnTo>
                  <a:pt x="2952369" y="18415"/>
                </a:lnTo>
                <a:close/>
              </a:path>
              <a:path w="2981325" h="412114">
                <a:moveTo>
                  <a:pt x="2977584" y="18415"/>
                </a:moveTo>
                <a:lnTo>
                  <a:pt x="2952369" y="18415"/>
                </a:lnTo>
                <a:lnTo>
                  <a:pt x="2951353" y="19685"/>
                </a:lnTo>
                <a:lnTo>
                  <a:pt x="2977088" y="19685"/>
                </a:lnTo>
                <a:lnTo>
                  <a:pt x="2977584" y="18415"/>
                </a:lnTo>
                <a:close/>
              </a:path>
              <a:path w="2981325" h="412114">
                <a:moveTo>
                  <a:pt x="2980091" y="11684"/>
                </a:moveTo>
                <a:lnTo>
                  <a:pt x="2956687" y="11684"/>
                </a:lnTo>
                <a:lnTo>
                  <a:pt x="2955544" y="13589"/>
                </a:lnTo>
                <a:lnTo>
                  <a:pt x="2951757" y="19078"/>
                </a:lnTo>
                <a:lnTo>
                  <a:pt x="2952369" y="18415"/>
                </a:lnTo>
                <a:lnTo>
                  <a:pt x="2977584" y="18415"/>
                </a:lnTo>
                <a:lnTo>
                  <a:pt x="2979483" y="13589"/>
                </a:lnTo>
                <a:lnTo>
                  <a:pt x="2979801" y="12954"/>
                </a:lnTo>
                <a:lnTo>
                  <a:pt x="2980054" y="11937"/>
                </a:lnTo>
                <a:lnTo>
                  <a:pt x="2980091" y="11684"/>
                </a:lnTo>
                <a:close/>
              </a:path>
              <a:path w="2981325" h="412114">
                <a:moveTo>
                  <a:pt x="2955742" y="13101"/>
                </a:moveTo>
                <a:lnTo>
                  <a:pt x="2955417" y="13589"/>
                </a:lnTo>
                <a:lnTo>
                  <a:pt x="2955742" y="13101"/>
                </a:lnTo>
                <a:close/>
              </a:path>
              <a:path w="2981325" h="412114">
                <a:moveTo>
                  <a:pt x="2956687" y="11684"/>
                </a:moveTo>
                <a:lnTo>
                  <a:pt x="2955742" y="13101"/>
                </a:lnTo>
                <a:lnTo>
                  <a:pt x="2955544" y="13589"/>
                </a:lnTo>
                <a:lnTo>
                  <a:pt x="2956687" y="11684"/>
                </a:lnTo>
                <a:close/>
              </a:path>
              <a:path w="2981325" h="412114">
                <a:moveTo>
                  <a:pt x="2958276" y="6861"/>
                </a:moveTo>
                <a:lnTo>
                  <a:pt x="2955742" y="13101"/>
                </a:lnTo>
                <a:lnTo>
                  <a:pt x="2956687" y="11684"/>
                </a:lnTo>
                <a:lnTo>
                  <a:pt x="2980091" y="11684"/>
                </a:lnTo>
                <a:lnTo>
                  <a:pt x="2980531" y="8255"/>
                </a:lnTo>
                <a:lnTo>
                  <a:pt x="2958084" y="8255"/>
                </a:lnTo>
                <a:lnTo>
                  <a:pt x="2958276" y="6861"/>
                </a:lnTo>
                <a:close/>
              </a:path>
              <a:path w="2981325" h="412114">
                <a:moveTo>
                  <a:pt x="2958846" y="5461"/>
                </a:moveTo>
                <a:lnTo>
                  <a:pt x="2958276" y="6861"/>
                </a:lnTo>
                <a:lnTo>
                  <a:pt x="2958084" y="8255"/>
                </a:lnTo>
                <a:lnTo>
                  <a:pt x="2958846" y="5461"/>
                </a:lnTo>
                <a:close/>
              </a:path>
              <a:path w="2981325" h="412114">
                <a:moveTo>
                  <a:pt x="2980880" y="5461"/>
                </a:moveTo>
                <a:lnTo>
                  <a:pt x="2958846" y="5461"/>
                </a:lnTo>
                <a:lnTo>
                  <a:pt x="2958084" y="8255"/>
                </a:lnTo>
                <a:lnTo>
                  <a:pt x="2980531" y="8255"/>
                </a:lnTo>
                <a:lnTo>
                  <a:pt x="2980880" y="5461"/>
                </a:lnTo>
                <a:close/>
              </a:path>
              <a:path w="2981325" h="412114">
                <a:moveTo>
                  <a:pt x="2959227" y="0"/>
                </a:moveTo>
                <a:lnTo>
                  <a:pt x="2958276" y="6861"/>
                </a:lnTo>
                <a:lnTo>
                  <a:pt x="2958846" y="5461"/>
                </a:lnTo>
                <a:lnTo>
                  <a:pt x="2980880" y="5461"/>
                </a:lnTo>
                <a:lnTo>
                  <a:pt x="2981198" y="2921"/>
                </a:lnTo>
                <a:lnTo>
                  <a:pt x="295922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84" name="object 84"/>
          <p:cNvSpPr/>
          <p:nvPr/>
        </p:nvSpPr>
        <p:spPr>
          <a:xfrm>
            <a:off x="2493360" y="2102111"/>
            <a:ext cx="114300" cy="158648"/>
          </a:xfrm>
          <a:prstGeom prst="rect">
            <a:avLst/>
          </a:prstGeom>
          <a:blipFill>
            <a:blip r:embed="rId16" cstate="print"/>
            <a:stretch>
              <a:fillRect/>
            </a:stretch>
          </a:blipFill>
        </p:spPr>
        <p:txBody>
          <a:bodyPr wrap="square" lIns="0" tIns="0" rIns="0" bIns="0" rtlCol="0"/>
          <a:lstStyle/>
          <a:p>
            <a:endParaRPr sz="1620">
              <a:latin typeface="Comic Sans MS" panose="030F0702030302020204" pitchFamily="66" charset="0"/>
            </a:endParaRPr>
          </a:p>
        </p:txBody>
      </p:sp>
      <p:sp>
        <p:nvSpPr>
          <p:cNvPr id="85" name="object 85"/>
          <p:cNvSpPr/>
          <p:nvPr/>
        </p:nvSpPr>
        <p:spPr>
          <a:xfrm>
            <a:off x="3194590" y="2102111"/>
            <a:ext cx="114300" cy="158648"/>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86" name="object 86"/>
          <p:cNvSpPr/>
          <p:nvPr/>
        </p:nvSpPr>
        <p:spPr>
          <a:xfrm>
            <a:off x="3896049" y="2102111"/>
            <a:ext cx="114300" cy="158648"/>
          </a:xfrm>
          <a:prstGeom prst="rect">
            <a:avLst/>
          </a:prstGeom>
          <a:blipFill>
            <a:blip r:embed="rId18" cstate="print"/>
            <a:stretch>
              <a:fillRect/>
            </a:stretch>
          </a:blipFill>
        </p:spPr>
        <p:txBody>
          <a:bodyPr wrap="square" lIns="0" tIns="0" rIns="0" bIns="0" rtlCol="0"/>
          <a:lstStyle/>
          <a:p>
            <a:endParaRPr sz="1620">
              <a:latin typeface="Comic Sans MS" panose="030F0702030302020204" pitchFamily="66" charset="0"/>
            </a:endParaRPr>
          </a:p>
        </p:txBody>
      </p:sp>
      <p:sp>
        <p:nvSpPr>
          <p:cNvPr id="87" name="object 87"/>
          <p:cNvSpPr/>
          <p:nvPr/>
        </p:nvSpPr>
        <p:spPr>
          <a:xfrm>
            <a:off x="4597623" y="2102111"/>
            <a:ext cx="114300" cy="158648"/>
          </a:xfrm>
          <a:prstGeom prst="rect">
            <a:avLst/>
          </a:prstGeom>
          <a:blipFill>
            <a:blip r:embed="rId19" cstate="print"/>
            <a:stretch>
              <a:fillRect/>
            </a:stretch>
          </a:blipFill>
        </p:spPr>
        <p:txBody>
          <a:bodyPr wrap="square" lIns="0" tIns="0" rIns="0" bIns="0" rtlCol="0"/>
          <a:lstStyle/>
          <a:p>
            <a:endParaRPr sz="1620">
              <a:latin typeface="Comic Sans MS" panose="030F0702030302020204" pitchFamily="66" charset="0"/>
            </a:endParaRPr>
          </a:p>
        </p:txBody>
      </p:sp>
      <p:sp>
        <p:nvSpPr>
          <p:cNvPr id="88" name="object 88"/>
          <p:cNvSpPr/>
          <p:nvPr/>
        </p:nvSpPr>
        <p:spPr>
          <a:xfrm>
            <a:off x="5298852" y="2102111"/>
            <a:ext cx="114300" cy="158648"/>
          </a:xfrm>
          <a:prstGeom prst="rect">
            <a:avLst/>
          </a:prstGeom>
          <a:blipFill>
            <a:blip r:embed="rId20" cstate="print"/>
            <a:stretch>
              <a:fillRect/>
            </a:stretch>
          </a:blipFill>
        </p:spPr>
        <p:txBody>
          <a:bodyPr wrap="square" lIns="0" tIns="0" rIns="0" bIns="0" rtlCol="0"/>
          <a:lstStyle/>
          <a:p>
            <a:endParaRPr sz="1620">
              <a:latin typeface="Comic Sans MS" panose="030F0702030302020204" pitchFamily="66" charset="0"/>
            </a:endParaRPr>
          </a:p>
        </p:txBody>
      </p:sp>
      <p:sp>
        <p:nvSpPr>
          <p:cNvPr id="89" name="object 89"/>
          <p:cNvSpPr/>
          <p:nvPr/>
        </p:nvSpPr>
        <p:spPr>
          <a:xfrm>
            <a:off x="6000311" y="2102111"/>
            <a:ext cx="114300" cy="158648"/>
          </a:xfrm>
          <a:prstGeom prst="rect">
            <a:avLst/>
          </a:prstGeom>
          <a:blipFill>
            <a:blip r:embed="rId21" cstate="print"/>
            <a:stretch>
              <a:fillRect/>
            </a:stretch>
          </a:blipFill>
        </p:spPr>
        <p:txBody>
          <a:bodyPr wrap="square" lIns="0" tIns="0" rIns="0" bIns="0" rtlCol="0"/>
          <a:lstStyle/>
          <a:p>
            <a:endParaRPr sz="1620">
              <a:latin typeface="Comic Sans MS" panose="030F0702030302020204" pitchFamily="66" charset="0"/>
            </a:endParaRPr>
          </a:p>
        </p:txBody>
      </p:sp>
      <p:sp>
        <p:nvSpPr>
          <p:cNvPr id="90" name="object 90"/>
          <p:cNvSpPr/>
          <p:nvPr/>
        </p:nvSpPr>
        <p:spPr>
          <a:xfrm>
            <a:off x="6701885" y="2102111"/>
            <a:ext cx="114300" cy="158648"/>
          </a:xfrm>
          <a:prstGeom prst="rect">
            <a:avLst/>
          </a:prstGeom>
          <a:blipFill>
            <a:blip r:embed="rId22" cstate="print"/>
            <a:stretch>
              <a:fillRect/>
            </a:stretch>
          </a:blipFill>
        </p:spPr>
        <p:txBody>
          <a:bodyPr wrap="square" lIns="0" tIns="0" rIns="0" bIns="0" rtlCol="0"/>
          <a:lstStyle/>
          <a:p>
            <a:endParaRPr sz="1620">
              <a:latin typeface="Comic Sans MS" panose="030F0702030302020204" pitchFamily="66" charset="0"/>
            </a:endParaRPr>
          </a:p>
        </p:txBody>
      </p:sp>
      <p:sp>
        <p:nvSpPr>
          <p:cNvPr id="91" name="object 91"/>
          <p:cNvSpPr/>
          <p:nvPr/>
        </p:nvSpPr>
        <p:spPr>
          <a:xfrm>
            <a:off x="7403344" y="2102111"/>
            <a:ext cx="114300" cy="158648"/>
          </a:xfrm>
          <a:prstGeom prst="rect">
            <a:avLst/>
          </a:prstGeom>
          <a:blipFill>
            <a:blip r:embed="rId23" cstate="print"/>
            <a:stretch>
              <a:fillRect/>
            </a:stretch>
          </a:blipFill>
        </p:spPr>
        <p:txBody>
          <a:bodyPr wrap="square" lIns="0" tIns="0" rIns="0" bIns="0" rtlCol="0"/>
          <a:lstStyle/>
          <a:p>
            <a:endParaRPr sz="1620">
              <a:latin typeface="Comic Sans MS" panose="030F0702030302020204" pitchFamily="66" charset="0"/>
            </a:endParaRPr>
          </a:p>
        </p:txBody>
      </p:sp>
      <p:sp>
        <p:nvSpPr>
          <p:cNvPr id="92" name="object 92"/>
          <p:cNvSpPr/>
          <p:nvPr/>
        </p:nvSpPr>
        <p:spPr>
          <a:xfrm>
            <a:off x="2493360" y="3016511"/>
            <a:ext cx="114300" cy="158648"/>
          </a:xfrm>
          <a:prstGeom prst="rect">
            <a:avLst/>
          </a:prstGeom>
          <a:blipFill>
            <a:blip r:embed="rId24" cstate="print"/>
            <a:stretch>
              <a:fillRect/>
            </a:stretch>
          </a:blipFill>
        </p:spPr>
        <p:txBody>
          <a:bodyPr wrap="square" lIns="0" tIns="0" rIns="0" bIns="0" rtlCol="0"/>
          <a:lstStyle/>
          <a:p>
            <a:endParaRPr sz="1620">
              <a:latin typeface="Comic Sans MS" panose="030F0702030302020204" pitchFamily="66" charset="0"/>
            </a:endParaRPr>
          </a:p>
        </p:txBody>
      </p:sp>
      <p:sp>
        <p:nvSpPr>
          <p:cNvPr id="93" name="object 93"/>
          <p:cNvSpPr/>
          <p:nvPr/>
        </p:nvSpPr>
        <p:spPr>
          <a:xfrm>
            <a:off x="3896049" y="3016511"/>
            <a:ext cx="114300" cy="158648"/>
          </a:xfrm>
          <a:prstGeom prst="rect">
            <a:avLst/>
          </a:prstGeom>
          <a:blipFill>
            <a:blip r:embed="rId25" cstate="print"/>
            <a:stretch>
              <a:fillRect/>
            </a:stretch>
          </a:blipFill>
        </p:spPr>
        <p:txBody>
          <a:bodyPr wrap="square" lIns="0" tIns="0" rIns="0" bIns="0" rtlCol="0"/>
          <a:lstStyle/>
          <a:p>
            <a:endParaRPr sz="1620">
              <a:latin typeface="Comic Sans MS" panose="030F0702030302020204" pitchFamily="66" charset="0"/>
            </a:endParaRPr>
          </a:p>
        </p:txBody>
      </p:sp>
      <p:sp>
        <p:nvSpPr>
          <p:cNvPr id="94" name="object 94"/>
          <p:cNvSpPr/>
          <p:nvPr/>
        </p:nvSpPr>
        <p:spPr>
          <a:xfrm>
            <a:off x="5298852" y="3016511"/>
            <a:ext cx="114300" cy="158648"/>
          </a:xfrm>
          <a:prstGeom prst="rect">
            <a:avLst/>
          </a:prstGeom>
          <a:blipFill>
            <a:blip r:embed="rId26" cstate="print"/>
            <a:stretch>
              <a:fillRect/>
            </a:stretch>
          </a:blipFill>
        </p:spPr>
        <p:txBody>
          <a:bodyPr wrap="square" lIns="0" tIns="0" rIns="0" bIns="0" rtlCol="0"/>
          <a:lstStyle/>
          <a:p>
            <a:endParaRPr sz="1620">
              <a:latin typeface="Comic Sans MS" panose="030F0702030302020204" pitchFamily="66" charset="0"/>
            </a:endParaRPr>
          </a:p>
        </p:txBody>
      </p:sp>
      <p:sp>
        <p:nvSpPr>
          <p:cNvPr id="95" name="object 95"/>
          <p:cNvSpPr/>
          <p:nvPr/>
        </p:nvSpPr>
        <p:spPr>
          <a:xfrm>
            <a:off x="6701885" y="3016511"/>
            <a:ext cx="114300" cy="158648"/>
          </a:xfrm>
          <a:prstGeom prst="rect">
            <a:avLst/>
          </a:prstGeom>
          <a:blipFill>
            <a:blip r:embed="rId27" cstate="print"/>
            <a:stretch>
              <a:fillRect/>
            </a:stretch>
          </a:blipFill>
        </p:spPr>
        <p:txBody>
          <a:bodyPr wrap="square" lIns="0" tIns="0" rIns="0" bIns="0" rtlCol="0"/>
          <a:lstStyle/>
          <a:p>
            <a:endParaRPr sz="1620">
              <a:latin typeface="Comic Sans MS" panose="030F0702030302020204" pitchFamily="66" charset="0"/>
            </a:endParaRPr>
          </a:p>
        </p:txBody>
      </p:sp>
      <p:sp>
        <p:nvSpPr>
          <p:cNvPr id="96" name="object 96"/>
          <p:cNvSpPr/>
          <p:nvPr/>
        </p:nvSpPr>
        <p:spPr>
          <a:xfrm>
            <a:off x="2493360" y="3930912"/>
            <a:ext cx="114300" cy="158534"/>
          </a:xfrm>
          <a:prstGeom prst="rect">
            <a:avLst/>
          </a:prstGeom>
          <a:blipFill>
            <a:blip r:embed="rId28" cstate="print"/>
            <a:stretch>
              <a:fillRect/>
            </a:stretch>
          </a:blipFill>
        </p:spPr>
        <p:txBody>
          <a:bodyPr wrap="square" lIns="0" tIns="0" rIns="0" bIns="0" rtlCol="0"/>
          <a:lstStyle/>
          <a:p>
            <a:endParaRPr sz="1620">
              <a:latin typeface="Comic Sans MS" panose="030F0702030302020204" pitchFamily="66" charset="0"/>
            </a:endParaRPr>
          </a:p>
        </p:txBody>
      </p:sp>
      <p:sp>
        <p:nvSpPr>
          <p:cNvPr id="97" name="object 97"/>
          <p:cNvSpPr/>
          <p:nvPr/>
        </p:nvSpPr>
        <p:spPr>
          <a:xfrm>
            <a:off x="5298852" y="3930796"/>
            <a:ext cx="114300" cy="158648"/>
          </a:xfrm>
          <a:prstGeom prst="rect">
            <a:avLst/>
          </a:prstGeom>
          <a:blipFill>
            <a:blip r:embed="rId29" cstate="print"/>
            <a:stretch>
              <a:fillRect/>
            </a:stretch>
          </a:blipFill>
        </p:spPr>
        <p:txBody>
          <a:bodyPr wrap="square" lIns="0" tIns="0" rIns="0" bIns="0" rtlCol="0"/>
          <a:lstStyle/>
          <a:p>
            <a:endParaRPr sz="1620">
              <a:latin typeface="Comic Sans MS" panose="030F0702030302020204" pitchFamily="66" charset="0"/>
            </a:endParaRPr>
          </a:p>
        </p:txBody>
      </p:sp>
      <p:graphicFrame>
        <p:nvGraphicFramePr>
          <p:cNvPr id="98" name="object 98"/>
          <p:cNvGraphicFramePr>
            <a:graphicFrameLocks noGrp="1"/>
          </p:cNvGraphicFramePr>
          <p:nvPr/>
        </p:nvGraphicFramePr>
        <p:xfrm>
          <a:off x="2362200" y="4979670"/>
          <a:ext cx="5612133" cy="308552"/>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552">
                <a:tc>
                  <a:txBody>
                    <a:bodyPr/>
                    <a:lstStyle/>
                    <a:p>
                      <a:pPr marL="97155">
                        <a:lnSpc>
                          <a:spcPct val="100000"/>
                        </a:lnSpc>
                        <a:spcBef>
                          <a:spcPts val="475"/>
                        </a:spcBef>
                      </a:pPr>
                      <a:r>
                        <a:rPr sz="1300" b="1" spc="-5" dirty="0">
                          <a:latin typeface="Arial" panose="020B0604020202020204"/>
                          <a:cs typeface="Arial" panose="020B0604020202020204"/>
                        </a:rPr>
                        <a:t>41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99" name="object 99"/>
          <p:cNvSpPr/>
          <p:nvPr/>
        </p:nvSpPr>
        <p:spPr>
          <a:xfrm>
            <a:off x="2493360" y="4845311"/>
            <a:ext cx="114300" cy="147218"/>
          </a:xfrm>
          <a:prstGeom prst="rect">
            <a:avLst/>
          </a:prstGeom>
          <a:blipFill>
            <a:blip r:embed="rId30" cstate="print"/>
            <a:stretch>
              <a:fillRect/>
            </a:stretch>
          </a:blipFill>
        </p:spPr>
        <p:txBody>
          <a:bodyPr wrap="square" lIns="0" tIns="0" rIns="0" bIns="0" rtlCol="0"/>
          <a:lstStyle/>
          <a:p>
            <a:endParaRPr sz="1620">
              <a:latin typeface="Comic Sans MS" panose="030F0702030302020204" pitchFamily="66" charset="0"/>
            </a:endParaRPr>
          </a:p>
        </p:txBody>
      </p:sp>
      <p:sp>
        <p:nvSpPr>
          <p:cNvPr id="100" name="object 100"/>
          <p:cNvSpPr txBox="1"/>
          <p:nvPr/>
        </p:nvSpPr>
        <p:spPr>
          <a:xfrm>
            <a:off x="434628" y="1731093"/>
            <a:ext cx="804906"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dirty="0">
              <a:latin typeface="Comic Sans MS" panose="030F0702030302020204" pitchFamily="66" charset="0"/>
              <a:cs typeface="Arial" panose="020B0604020202020204"/>
            </a:endParaRPr>
          </a:p>
        </p:txBody>
      </p:sp>
      <p:sp>
        <p:nvSpPr>
          <p:cNvPr id="101" name="object 101"/>
          <p:cNvSpPr txBox="1"/>
          <p:nvPr/>
        </p:nvSpPr>
        <p:spPr>
          <a:xfrm>
            <a:off x="467360" y="2634178"/>
            <a:ext cx="772745"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dirty="0">
              <a:latin typeface="Comic Sans MS" panose="030F0702030302020204" pitchFamily="66" charset="0"/>
              <a:cs typeface="Arial" panose="020B0604020202020204"/>
            </a:endParaRPr>
          </a:p>
        </p:txBody>
      </p:sp>
      <p:sp>
        <p:nvSpPr>
          <p:cNvPr id="102" name="object 102"/>
          <p:cNvSpPr txBox="1"/>
          <p:nvPr/>
        </p:nvSpPr>
        <p:spPr>
          <a:xfrm>
            <a:off x="321876" y="3548691"/>
            <a:ext cx="918229"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3</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dirty="0">
              <a:latin typeface="Comic Sans MS" panose="030F0702030302020204" pitchFamily="66" charset="0"/>
              <a:cs typeface="Arial" panose="020B0604020202020204"/>
            </a:endParaRPr>
          </a:p>
        </p:txBody>
      </p:sp>
      <p:sp>
        <p:nvSpPr>
          <p:cNvPr id="103" name="object 103"/>
          <p:cNvSpPr txBox="1"/>
          <p:nvPr/>
        </p:nvSpPr>
        <p:spPr>
          <a:xfrm>
            <a:off x="321305" y="4463320"/>
            <a:ext cx="918229"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8</a:t>
            </a:r>
            <a:endParaRPr sz="1440" dirty="0">
              <a:latin typeface="Comic Sans MS" panose="030F0702030302020204" pitchFamily="66" charset="0"/>
              <a:cs typeface="Arial" panose="020B0604020202020204"/>
            </a:endParaRPr>
          </a:p>
        </p:txBody>
      </p:sp>
      <p:sp>
        <p:nvSpPr>
          <p:cNvPr id="104" name="object 104"/>
          <p:cNvSpPr txBox="1"/>
          <p:nvPr/>
        </p:nvSpPr>
        <p:spPr>
          <a:xfrm>
            <a:off x="1381506" y="1730292"/>
            <a:ext cx="918229" cy="3542188"/>
          </a:xfrm>
          <a:prstGeom prst="rect">
            <a:avLst/>
          </a:prstGeom>
        </p:spPr>
        <p:txBody>
          <a:bodyPr vert="horz" wrap="square" lIns="0" tIns="10859" rIns="0" bIns="0" rtlCol="0">
            <a:spAutoFit/>
          </a:bodyPr>
          <a:lstStyle/>
          <a:p>
            <a:pPr algn="ctr">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a:t>
            </a:r>
            <a:endParaRPr sz="1440" dirty="0">
              <a:latin typeface="Comic Sans MS" panose="030F0702030302020204" pitchFamily="66" charset="0"/>
              <a:cs typeface="Arial" panose="020B0604020202020204"/>
            </a:endParaRPr>
          </a:p>
          <a:p>
            <a:pPr marL="635" algn="ctr"/>
            <a:r>
              <a:rPr sz="1440" b="1" spc="-5" dirty="0">
                <a:latin typeface="Comic Sans MS" panose="030F0702030302020204" pitchFamily="66" charset="0"/>
                <a:cs typeface="Arial" panose="020B0604020202020204"/>
              </a:rPr>
              <a:t>IDs</a:t>
            </a:r>
            <a:endParaRPr sz="1440" dirty="0">
              <a:latin typeface="Comic Sans MS" panose="030F0702030302020204" pitchFamily="66" charset="0"/>
              <a:cs typeface="Arial" panose="020B0604020202020204"/>
            </a:endParaRPr>
          </a:p>
          <a:p>
            <a:pPr algn="ctr">
              <a:spcBef>
                <a:spcPts val="85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3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7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4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90"/>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83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p:txBody>
      </p:sp>
      <p:sp>
        <p:nvSpPr>
          <p:cNvPr id="105" name="object 105"/>
          <p:cNvSpPr txBox="1"/>
          <p:nvPr/>
        </p:nvSpPr>
        <p:spPr>
          <a:xfrm>
            <a:off x="1169194" y="5613979"/>
            <a:ext cx="5623560" cy="313356"/>
          </a:xfrm>
          <a:prstGeom prst="rect">
            <a:avLst/>
          </a:prstGeom>
          <a:solidFill>
            <a:srgbClr val="99CCFF"/>
          </a:solidFill>
          <a:ln w="28575">
            <a:solidFill>
              <a:srgbClr val="000000"/>
            </a:solidFill>
          </a:ln>
        </p:spPr>
        <p:txBody>
          <a:bodyPr vert="horz" wrap="square" lIns="0" tIns="36005" rIns="0" bIns="0" rtlCol="0">
            <a:spAutoFit/>
          </a:bodyPr>
          <a:lstStyle/>
          <a:p>
            <a:pPr marL="328930">
              <a:spcBef>
                <a:spcPts val="285"/>
              </a:spcBef>
            </a:pPr>
            <a:r>
              <a:rPr b="1" dirty="0">
                <a:solidFill>
                  <a:srgbClr val="A40020"/>
                </a:solidFill>
                <a:latin typeface="Comic Sans MS" panose="030F0702030302020204" pitchFamily="66" charset="0"/>
                <a:cs typeface="Arial" panose="020B0604020202020204"/>
              </a:rPr>
              <a:t>New </a:t>
            </a:r>
            <a:r>
              <a:rPr b="1" spc="-5" dirty="0">
                <a:solidFill>
                  <a:srgbClr val="A40020"/>
                </a:solidFill>
                <a:latin typeface="Comic Sans MS" panose="030F0702030302020204" pitchFamily="66" charset="0"/>
                <a:cs typeface="Arial" panose="020B0604020202020204"/>
              </a:rPr>
              <a:t>Problem: </a:t>
            </a:r>
            <a:r>
              <a:rPr b="1" dirty="0">
                <a:solidFill>
                  <a:srgbClr val="A40020"/>
                </a:solidFill>
                <a:latin typeface="Comic Sans MS" panose="030F0702030302020204" pitchFamily="66" charset="0"/>
                <a:cs typeface="Arial" panose="020B0604020202020204"/>
              </a:rPr>
              <a:t>Shared Memory Bank</a:t>
            </a:r>
            <a:r>
              <a:rPr b="1" spc="-95" dirty="0">
                <a:solidFill>
                  <a:srgbClr val="A40020"/>
                </a:solidFill>
                <a:latin typeface="Comic Sans MS" panose="030F0702030302020204" pitchFamily="66" charset="0"/>
                <a:cs typeface="Arial" panose="020B0604020202020204"/>
              </a:rPr>
              <a:t> </a:t>
            </a:r>
            <a:r>
              <a:rPr b="1" dirty="0">
                <a:solidFill>
                  <a:srgbClr val="A40020"/>
                </a:solidFill>
                <a:latin typeface="Comic Sans MS" panose="030F0702030302020204" pitchFamily="66" charset="0"/>
                <a:cs typeface="Arial" panose="020B0604020202020204"/>
              </a:rPr>
              <a:t>Conflicts</a:t>
            </a:r>
            <a:endParaRPr>
              <a:latin typeface="Comic Sans MS" panose="030F0702030302020204" pitchFamily="66" charset="0"/>
              <a:cs typeface="Arial" panose="020B0604020202020204"/>
            </a:endParaRPr>
          </a:p>
        </p:txBody>
      </p:sp>
      <p:sp>
        <p:nvSpPr>
          <p:cNvPr id="107" name="object 34"/>
          <p:cNvSpPr txBox="1">
            <a:spLocks noGrp="1"/>
          </p:cNvSpPr>
          <p:nvPr>
            <p:ph type="sldNum" sz="quarter" idx="12"/>
          </p:nvPr>
        </p:nvSpPr>
        <p:spPr>
          <a:xfrm>
            <a:off x="8164354" y="5751438"/>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13</a:t>
            </a:fld>
            <a:endParaRPr spc="-5" dirty="0">
              <a:latin typeface="Comic Sans MS" panose="030F0702030302020204" pitchFamily="66" charset="0"/>
            </a:endParaRPr>
          </a:p>
        </p:txBody>
      </p:sp>
      <p:sp>
        <p:nvSpPr>
          <p:cNvPr id="2" name="矩形 1"/>
          <p:cNvSpPr/>
          <p:nvPr/>
        </p:nvSpPr>
        <p:spPr>
          <a:xfrm>
            <a:off x="1470443" y="1704304"/>
            <a:ext cx="6504903"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9" name="矩形 108"/>
          <p:cNvSpPr/>
          <p:nvPr/>
        </p:nvSpPr>
        <p:spPr>
          <a:xfrm>
            <a:off x="1523252" y="2637878"/>
            <a:ext cx="6504902"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10" name="矩形 109"/>
          <p:cNvSpPr/>
          <p:nvPr/>
        </p:nvSpPr>
        <p:spPr>
          <a:xfrm>
            <a:off x="1450442" y="3557871"/>
            <a:ext cx="6519757"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6" name="矩形 105"/>
          <p:cNvSpPr/>
          <p:nvPr/>
        </p:nvSpPr>
        <p:spPr>
          <a:xfrm>
            <a:off x="9618443" y="414063"/>
            <a:ext cx="1383288"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omic Sans MS" panose="030F0702030302020204" pitchFamily="66" charset="0"/>
              </a:rPr>
              <a:t>32</a:t>
            </a:r>
            <a:r>
              <a:rPr lang="en-US" altLang="zh-CN" dirty="0">
                <a:latin typeface="Comic Sans MS" panose="030F0702030302020204" pitchFamily="66" charset="0"/>
              </a:rPr>
              <a:t>-64</a:t>
            </a:r>
            <a:endParaRPr lang="en-US" dirty="0">
              <a:latin typeface="Comic Sans MS" panose="030F0702030302020204" pitchFamily="66" charset="0"/>
            </a:endParaRPr>
          </a:p>
        </p:txBody>
      </p:sp>
      <p:sp>
        <p:nvSpPr>
          <p:cNvPr id="112" name="矩形 111"/>
          <p:cNvSpPr/>
          <p:nvPr/>
        </p:nvSpPr>
        <p:spPr>
          <a:xfrm>
            <a:off x="8253801" y="414063"/>
            <a:ext cx="1383288"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omic Sans MS" panose="030F0702030302020204" pitchFamily="66" charset="0"/>
              </a:rPr>
              <a:t>0</a:t>
            </a:r>
            <a:r>
              <a:rPr lang="en-US" altLang="zh-CN" dirty="0">
                <a:latin typeface="Comic Sans MS" panose="030F0702030302020204" pitchFamily="66" charset="0"/>
              </a:rPr>
              <a:t>-31</a:t>
            </a:r>
            <a:endParaRPr lang="en-US" dirty="0">
              <a:latin typeface="Comic Sans MS" panose="030F0702030302020204" pitchFamily="66" charset="0"/>
            </a:endParaRPr>
          </a:p>
        </p:txBody>
      </p:sp>
      <p:sp>
        <p:nvSpPr>
          <p:cNvPr id="113" name="object 5"/>
          <p:cNvSpPr txBox="1"/>
          <p:nvPr/>
        </p:nvSpPr>
        <p:spPr>
          <a:xfrm>
            <a:off x="8502110" y="141809"/>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115" name="object 36"/>
          <p:cNvSpPr/>
          <p:nvPr/>
        </p:nvSpPr>
        <p:spPr>
          <a:xfrm>
            <a:off x="7315200" y="1848040"/>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16" name="object 37"/>
          <p:cNvSpPr/>
          <p:nvPr/>
        </p:nvSpPr>
        <p:spPr>
          <a:xfrm>
            <a:off x="7315200" y="1848040"/>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117" name="object 38"/>
          <p:cNvSpPr txBox="1"/>
          <p:nvPr/>
        </p:nvSpPr>
        <p:spPr>
          <a:xfrm>
            <a:off x="7372464" y="1831581"/>
            <a:ext cx="137732" cy="260841"/>
          </a:xfrm>
          <a:prstGeom prst="rect">
            <a:avLst/>
          </a:prstGeom>
        </p:spPr>
        <p:txBody>
          <a:bodyPr vert="horz" wrap="square" lIns="0" tIns="11430" rIns="0" bIns="0" rtlCol="0">
            <a:spAutoFit/>
          </a:bodyPr>
          <a:lstStyle/>
          <a:p>
            <a:pPr marL="11430">
              <a:spcBef>
                <a:spcPts val="90"/>
              </a:spcBef>
            </a:pPr>
            <a:r>
              <a:rPr lang="en-US" sz="1620" b="1" spc="-5" dirty="0">
                <a:latin typeface="Comic Sans MS" panose="030F0702030302020204" pitchFamily="66" charset="0"/>
                <a:cs typeface="Arial" panose="020B0604020202020204"/>
              </a:rPr>
              <a:t>7</a:t>
            </a:r>
            <a:endParaRPr sz="1620" dirty="0">
              <a:latin typeface="Comic Sans MS" panose="030F0702030302020204" pitchFamily="66" charset="0"/>
              <a:cs typeface="Arial" panose="020B0604020202020204"/>
            </a:endParaRPr>
          </a:p>
        </p:txBody>
      </p:sp>
      <p:sp>
        <p:nvSpPr>
          <p:cNvPr id="118" name="object 44"/>
          <p:cNvSpPr/>
          <p:nvPr/>
        </p:nvSpPr>
        <p:spPr>
          <a:xfrm>
            <a:off x="8930735" y="744360"/>
            <a:ext cx="91440" cy="365760"/>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cxnSp>
        <p:nvCxnSpPr>
          <p:cNvPr id="119" name="直接连接符 118"/>
          <p:cNvCxnSpPr>
            <a:cxnSpLocks/>
            <a:endCxn id="112" idx="1"/>
          </p:cNvCxnSpPr>
          <p:nvPr/>
        </p:nvCxnSpPr>
        <p:spPr>
          <a:xfrm flipV="1">
            <a:off x="7933561" y="576942"/>
            <a:ext cx="320240" cy="71600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0" name="直接连接符 119"/>
          <p:cNvCxnSpPr/>
          <p:nvPr/>
        </p:nvCxnSpPr>
        <p:spPr>
          <a:xfrm flipV="1">
            <a:off x="8242858" y="1065578"/>
            <a:ext cx="2577008" cy="80397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4" name="object 40"/>
          <p:cNvSpPr/>
          <p:nvPr/>
        </p:nvSpPr>
        <p:spPr>
          <a:xfrm>
            <a:off x="9388502" y="2464805"/>
            <a:ext cx="470025" cy="519622"/>
          </a:xfrm>
          <a:custGeom>
            <a:avLst/>
            <a:gdLst/>
            <a:ahLst/>
            <a:cxnLst/>
            <a:rect l="l" t="t" r="r" b="b"/>
            <a:pathLst>
              <a:path w="257175"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175" h="389255">
                <a:moveTo>
                  <a:pt x="70402" y="316256"/>
                </a:moveTo>
                <a:lnTo>
                  <a:pt x="57657" y="320801"/>
                </a:lnTo>
                <a:lnTo>
                  <a:pt x="65024" y="341756"/>
                </a:lnTo>
                <a:lnTo>
                  <a:pt x="76259" y="337749"/>
                </a:lnTo>
                <a:lnTo>
                  <a:pt x="70402" y="316256"/>
                </a:lnTo>
                <a:close/>
              </a:path>
              <a:path w="257175" h="389255">
                <a:moveTo>
                  <a:pt x="76259" y="337749"/>
                </a:moveTo>
                <a:lnTo>
                  <a:pt x="65024" y="341756"/>
                </a:lnTo>
                <a:lnTo>
                  <a:pt x="77351" y="341756"/>
                </a:lnTo>
                <a:lnTo>
                  <a:pt x="76259" y="337749"/>
                </a:lnTo>
                <a:close/>
              </a:path>
              <a:path w="257175" h="389255">
                <a:moveTo>
                  <a:pt x="74603" y="314758"/>
                </a:moveTo>
                <a:lnTo>
                  <a:pt x="70402" y="316256"/>
                </a:lnTo>
                <a:lnTo>
                  <a:pt x="76259" y="337749"/>
                </a:lnTo>
                <a:lnTo>
                  <a:pt x="83184" y="335279"/>
                </a:lnTo>
                <a:lnTo>
                  <a:pt x="83947" y="335025"/>
                </a:lnTo>
                <a:lnTo>
                  <a:pt x="84708" y="334644"/>
                </a:lnTo>
                <a:lnTo>
                  <a:pt x="96774" y="327151"/>
                </a:lnTo>
                <a:lnTo>
                  <a:pt x="107950" y="319277"/>
                </a:lnTo>
                <a:lnTo>
                  <a:pt x="113003" y="315340"/>
                </a:lnTo>
                <a:lnTo>
                  <a:pt x="73659" y="315340"/>
                </a:lnTo>
                <a:lnTo>
                  <a:pt x="74603" y="314758"/>
                </a:lnTo>
                <a:close/>
              </a:path>
              <a:path w="257175" h="389255">
                <a:moveTo>
                  <a:pt x="75819" y="314325"/>
                </a:moveTo>
                <a:lnTo>
                  <a:pt x="74603" y="314758"/>
                </a:lnTo>
                <a:lnTo>
                  <a:pt x="73659" y="315340"/>
                </a:lnTo>
                <a:lnTo>
                  <a:pt x="75819" y="314325"/>
                </a:lnTo>
                <a:close/>
              </a:path>
              <a:path w="257175" h="389255">
                <a:moveTo>
                  <a:pt x="114307" y="314325"/>
                </a:moveTo>
                <a:lnTo>
                  <a:pt x="75819" y="314325"/>
                </a:lnTo>
                <a:lnTo>
                  <a:pt x="73659" y="315340"/>
                </a:lnTo>
                <a:lnTo>
                  <a:pt x="113003" y="315340"/>
                </a:lnTo>
                <a:lnTo>
                  <a:pt x="114307" y="314325"/>
                </a:lnTo>
                <a:close/>
              </a:path>
              <a:path w="257175" h="389255">
                <a:moveTo>
                  <a:pt x="234950" y="0"/>
                </a:moveTo>
                <a:lnTo>
                  <a:pt x="231901" y="47878"/>
                </a:lnTo>
                <a:lnTo>
                  <a:pt x="223011" y="94487"/>
                </a:lnTo>
                <a:lnTo>
                  <a:pt x="203326" y="154050"/>
                </a:lnTo>
                <a:lnTo>
                  <a:pt x="176022" y="208533"/>
                </a:lnTo>
                <a:lnTo>
                  <a:pt x="151383" y="244728"/>
                </a:lnTo>
                <a:lnTo>
                  <a:pt x="123951" y="276097"/>
                </a:lnTo>
                <a:lnTo>
                  <a:pt x="94233" y="301751"/>
                </a:lnTo>
                <a:lnTo>
                  <a:pt x="74603" y="314758"/>
                </a:lnTo>
                <a:lnTo>
                  <a:pt x="75819" y="314325"/>
                </a:lnTo>
                <a:lnTo>
                  <a:pt x="114307" y="314325"/>
                </a:lnTo>
                <a:lnTo>
                  <a:pt x="118872" y="310768"/>
                </a:lnTo>
                <a:lnTo>
                  <a:pt x="150114" y="280924"/>
                </a:lnTo>
                <a:lnTo>
                  <a:pt x="178561" y="245363"/>
                </a:lnTo>
                <a:lnTo>
                  <a:pt x="210820" y="191388"/>
                </a:lnTo>
                <a:lnTo>
                  <a:pt x="235584" y="131190"/>
                </a:lnTo>
                <a:lnTo>
                  <a:pt x="248411" y="83312"/>
                </a:lnTo>
                <a:lnTo>
                  <a:pt x="255777" y="33654"/>
                </a:lnTo>
                <a:lnTo>
                  <a:pt x="257175"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25" name="object 42"/>
          <p:cNvSpPr/>
          <p:nvPr/>
        </p:nvSpPr>
        <p:spPr>
          <a:xfrm>
            <a:off x="8242858" y="2972066"/>
            <a:ext cx="1581493"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solidFill>
            <a:schemeClr val="accent2"/>
          </a:solidFill>
          <a:ln w="25399">
            <a:solidFill>
              <a:srgbClr val="000000"/>
            </a:solidFill>
          </a:ln>
        </p:spPr>
        <p:txBody>
          <a:bodyPr wrap="square" lIns="0" tIns="0" rIns="0" bIns="0" rtlCol="0"/>
          <a:lstStyle/>
          <a:p>
            <a:endParaRPr sz="1620" dirty="0">
              <a:latin typeface="Comic Sans MS" panose="030F0702030302020204" pitchFamily="66" charset="0"/>
            </a:endParaRPr>
          </a:p>
        </p:txBody>
      </p:sp>
      <p:sp>
        <p:nvSpPr>
          <p:cNvPr id="126" name="object 43"/>
          <p:cNvSpPr txBox="1"/>
          <p:nvPr/>
        </p:nvSpPr>
        <p:spPr>
          <a:xfrm>
            <a:off x="8824663" y="2922495"/>
            <a:ext cx="646213" cy="260841"/>
          </a:xfrm>
          <a:prstGeom prst="rect">
            <a:avLst/>
          </a:prstGeom>
        </p:spPr>
        <p:txBody>
          <a:bodyPr vert="horz" wrap="square" lIns="0" tIns="11430" rIns="0" bIns="0" rtlCol="0">
            <a:spAutoFit/>
          </a:bodyPr>
          <a:lstStyle/>
          <a:p>
            <a:pPr marL="11430">
              <a:spcBef>
                <a:spcPts val="90"/>
              </a:spcBef>
            </a:pPr>
            <a:r>
              <a:rPr lang="en-US" altLang="zh-CN" sz="1620" b="1" spc="-5" dirty="0">
                <a:latin typeface="Comic Sans MS" panose="030F0702030302020204" pitchFamily="66" charset="0"/>
                <a:cs typeface="Arial" panose="020B0604020202020204"/>
              </a:rPr>
              <a:t>warp0</a:t>
            </a:r>
            <a:endParaRPr sz="1620" dirty="0">
              <a:latin typeface="Comic Sans MS" panose="030F0702030302020204" pitchFamily="66" charset="0"/>
              <a:cs typeface="Arial" panose="020B0604020202020204"/>
            </a:endParaRPr>
          </a:p>
        </p:txBody>
      </p:sp>
      <p:sp>
        <p:nvSpPr>
          <p:cNvPr id="128" name="矩形 127"/>
          <p:cNvSpPr/>
          <p:nvPr/>
        </p:nvSpPr>
        <p:spPr>
          <a:xfrm>
            <a:off x="8271553" y="2266326"/>
            <a:ext cx="649658"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omic Sans MS" panose="030F0702030302020204" pitchFamily="66" charset="0"/>
              </a:rPr>
              <a:t>0</a:t>
            </a:r>
            <a:r>
              <a:rPr lang="en-US" altLang="zh-CN" sz="1600" dirty="0">
                <a:latin typeface="Comic Sans MS" panose="030F0702030302020204" pitchFamily="66" charset="0"/>
              </a:rPr>
              <a:t>-31</a:t>
            </a:r>
            <a:endParaRPr lang="en-US" sz="1600" dirty="0">
              <a:latin typeface="Comic Sans MS" panose="030F0702030302020204" pitchFamily="66" charset="0"/>
            </a:endParaRPr>
          </a:p>
        </p:txBody>
      </p:sp>
      <p:sp>
        <p:nvSpPr>
          <p:cNvPr id="129" name="object 5"/>
          <p:cNvSpPr txBox="1"/>
          <p:nvPr/>
        </p:nvSpPr>
        <p:spPr>
          <a:xfrm>
            <a:off x="8519862" y="1994072"/>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130" name="object 44"/>
          <p:cNvSpPr/>
          <p:nvPr/>
        </p:nvSpPr>
        <p:spPr>
          <a:xfrm>
            <a:off x="8647404" y="2628900"/>
            <a:ext cx="91440" cy="365760"/>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134" name="矩形 133"/>
          <p:cNvSpPr/>
          <p:nvPr/>
        </p:nvSpPr>
        <p:spPr>
          <a:xfrm>
            <a:off x="8921211" y="2266326"/>
            <a:ext cx="676766"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mic Sans MS" panose="030F0702030302020204" pitchFamily="66" charset="0"/>
              </a:rPr>
              <a:t>32-63</a:t>
            </a:r>
            <a:endParaRPr lang="en-US" sz="1600" dirty="0">
              <a:latin typeface="Comic Sans MS" panose="030F0702030302020204" pitchFamily="66" charset="0"/>
            </a:endParaRPr>
          </a:p>
        </p:txBody>
      </p:sp>
      <p:sp>
        <p:nvSpPr>
          <p:cNvPr id="135" name="矩形 134"/>
          <p:cNvSpPr/>
          <p:nvPr/>
        </p:nvSpPr>
        <p:spPr>
          <a:xfrm>
            <a:off x="9542795" y="2266326"/>
            <a:ext cx="758241"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mic Sans MS" panose="030F0702030302020204" pitchFamily="66" charset="0"/>
              </a:rPr>
              <a:t>64-95</a:t>
            </a:r>
            <a:endParaRPr lang="en-US" sz="1600" dirty="0">
              <a:latin typeface="Comic Sans MS" panose="030F0702030302020204" pitchFamily="66" charset="0"/>
            </a:endParaRPr>
          </a:p>
        </p:txBody>
      </p:sp>
      <p:sp>
        <p:nvSpPr>
          <p:cNvPr id="136" name="矩形 135"/>
          <p:cNvSpPr/>
          <p:nvPr/>
        </p:nvSpPr>
        <p:spPr>
          <a:xfrm>
            <a:off x="10192453" y="2266326"/>
            <a:ext cx="807411"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mic Sans MS" panose="030F0702030302020204" pitchFamily="66" charset="0"/>
              </a:rPr>
              <a:t>96-128</a:t>
            </a:r>
            <a:endParaRPr lang="en-US" sz="1600" dirty="0">
              <a:latin typeface="Comic Sans MS" panose="030F0702030302020204" pitchFamily="66" charset="0"/>
            </a:endParaRPr>
          </a:p>
        </p:txBody>
      </p:sp>
      <p:sp>
        <p:nvSpPr>
          <p:cNvPr id="140" name="文本框 139"/>
          <p:cNvSpPr txBox="1"/>
          <p:nvPr/>
        </p:nvSpPr>
        <p:spPr>
          <a:xfrm>
            <a:off x="8650850" y="3403894"/>
            <a:ext cx="707245" cy="523220"/>
          </a:xfrm>
          <a:prstGeom prst="rect">
            <a:avLst/>
          </a:prstGeom>
          <a:noFill/>
        </p:spPr>
        <p:txBody>
          <a:bodyPr wrap="none" rtlCol="0">
            <a:spAutoFit/>
          </a:bodyPr>
          <a:lstStyle/>
          <a:p>
            <a:r>
              <a:rPr lang="en-US" sz="2800" dirty="0">
                <a:latin typeface="Comic Sans MS" panose="030F0702030302020204" pitchFamily="66" charset="0"/>
              </a:rPr>
              <a:t>…...</a:t>
            </a:r>
          </a:p>
        </p:txBody>
      </p:sp>
      <p:sp>
        <p:nvSpPr>
          <p:cNvPr id="108" name="文本框 107">
            <a:extLst>
              <a:ext uri="{FF2B5EF4-FFF2-40B4-BE49-F238E27FC236}">
                <a16:creationId xmlns:a16="http://schemas.microsoft.com/office/drawing/2014/main" id="{0EAEEBB7-ED52-4182-A135-EC7F05366F0A}"/>
              </a:ext>
            </a:extLst>
          </p:cNvPr>
          <p:cNvSpPr txBox="1"/>
          <p:nvPr/>
        </p:nvSpPr>
        <p:spPr>
          <a:xfrm>
            <a:off x="730298" y="829807"/>
            <a:ext cx="7402989" cy="338554"/>
          </a:xfrm>
          <a:prstGeom prst="rect">
            <a:avLst/>
          </a:prstGeom>
          <a:noFill/>
        </p:spPr>
        <p:txBody>
          <a:bodyPr wrap="none" rtlCol="0">
            <a:spAutoFit/>
          </a:bodyPr>
          <a:lstStyle/>
          <a:p>
            <a:r>
              <a:rPr lang="en-US" sz="1600" b="1" dirty="0">
                <a:highlight>
                  <a:srgbClr val="FFFF00"/>
                </a:highlight>
                <a:latin typeface="Comic Sans MS" panose="030F0702030302020204" pitchFamily="66" charset="0"/>
              </a:rPr>
              <a:t>Warp 0 Thread ID: </a:t>
            </a:r>
            <a:r>
              <a:rPr lang="en-US" sz="1600" b="1">
                <a:highlight>
                  <a:srgbClr val="FFFF00"/>
                </a:highlight>
                <a:latin typeface="Comic Sans MS" panose="030F0702030302020204" pitchFamily="66" charset="0"/>
              </a:rPr>
              <a:t>0, 1, 2</a:t>
            </a:r>
            <a:r>
              <a:rPr lang="en-US" sz="1600" b="1" dirty="0">
                <a:highlight>
                  <a:srgbClr val="FFFF00"/>
                </a:highlight>
                <a:latin typeface="Comic Sans MS" panose="030F0702030302020204" pitchFamily="66" charset="0"/>
              </a:rPr>
              <a:t>, 3, 4, 5, 6, ……, 31, participate computing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19200" y="221298"/>
            <a:ext cx="942530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graphicFrame>
        <p:nvGraphicFramePr>
          <p:cNvPr id="4" name="object 4"/>
          <p:cNvGraphicFramePr>
            <a:graphicFrameLocks noGrp="1"/>
          </p:cNvGraphicFramePr>
          <p:nvPr/>
        </p:nvGraphicFramePr>
        <p:xfrm>
          <a:off x="1783080" y="1440180"/>
          <a:ext cx="7475220" cy="3093720"/>
        </p:xfrm>
        <a:graphic>
          <a:graphicData uri="http://schemas.openxmlformats.org/drawingml/2006/table">
            <a:tbl>
              <a:tblPr firstRow="1" bandRow="1">
                <a:tableStyleId>{2D5ABB26-0587-4C30-8999-92F81FD0307C}</a:tableStyleId>
              </a:tblPr>
              <a:tblGrid>
                <a:gridCol w="2116836">
                  <a:extLst>
                    <a:ext uri="{9D8B030D-6E8A-4147-A177-3AD203B41FA5}">
                      <a16:colId xmlns:a16="http://schemas.microsoft.com/office/drawing/2014/main" val="20000"/>
                    </a:ext>
                  </a:extLst>
                </a:gridCol>
                <a:gridCol w="1536763">
                  <a:extLst>
                    <a:ext uri="{9D8B030D-6E8A-4147-A177-3AD203B41FA5}">
                      <a16:colId xmlns:a16="http://schemas.microsoft.com/office/drawing/2014/main" val="20001"/>
                    </a:ext>
                  </a:extLst>
                </a:gridCol>
                <a:gridCol w="1565338">
                  <a:extLst>
                    <a:ext uri="{9D8B030D-6E8A-4147-A177-3AD203B41FA5}">
                      <a16:colId xmlns:a16="http://schemas.microsoft.com/office/drawing/2014/main" val="20002"/>
                    </a:ext>
                  </a:extLst>
                </a:gridCol>
                <a:gridCol w="1200722">
                  <a:extLst>
                    <a:ext uri="{9D8B030D-6E8A-4147-A177-3AD203B41FA5}">
                      <a16:colId xmlns:a16="http://schemas.microsoft.com/office/drawing/2014/main" val="20003"/>
                    </a:ext>
                  </a:extLst>
                </a:gridCol>
                <a:gridCol w="1055561">
                  <a:extLst>
                    <a:ext uri="{9D8B030D-6E8A-4147-A177-3AD203B41FA5}">
                      <a16:colId xmlns:a16="http://schemas.microsoft.com/office/drawing/2014/main" val="20004"/>
                    </a:ext>
                  </a:extLst>
                </a:gridCol>
              </a:tblGrid>
              <a:tr h="154686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dirty="0">
                        <a:latin typeface="Arial" panose="020B0604020202020204"/>
                        <a:cs typeface="Arial" panose="020B0604020202020204"/>
                      </a:endParaRPr>
                    </a:p>
                    <a:p>
                      <a:pPr marL="91440" marR="440055">
                        <a:lnSpc>
                          <a:spcPct val="100000"/>
                        </a:lnSpc>
                        <a:spcBef>
                          <a:spcPts val="20"/>
                        </a:spcBef>
                      </a:pPr>
                      <a:r>
                        <a:rPr sz="1400" b="1" spc="-5" dirty="0">
                          <a:latin typeface="Arial" panose="020B0604020202020204"/>
                          <a:cs typeface="Arial" panose="020B0604020202020204"/>
                        </a:rPr>
                        <a:t>interleaved 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divergent</a:t>
                      </a:r>
                      <a:r>
                        <a:rPr sz="1400" b="1" spc="-55" dirty="0">
                          <a:latin typeface="Arial" panose="020B0604020202020204"/>
                          <a:cs typeface="Arial" panose="020B0604020202020204"/>
                        </a:rPr>
                        <a:t> </a:t>
                      </a:r>
                      <a:r>
                        <a:rPr sz="1400" b="1" spc="-5" dirty="0">
                          <a:latin typeface="Arial" panose="020B0604020202020204"/>
                          <a:cs typeface="Arial" panose="020B0604020202020204"/>
                        </a:rPr>
                        <a:t>branching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2.083</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154686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dirty="0">
                        <a:latin typeface="Arial" panose="020B0604020202020204"/>
                        <a:cs typeface="Arial" panose="020B0604020202020204"/>
                      </a:endParaRPr>
                    </a:p>
                    <a:p>
                      <a:pPr marL="91440" marR="594360">
                        <a:lnSpc>
                          <a:spcPct val="100000"/>
                        </a:lnSpc>
                        <a:spcBef>
                          <a:spcPts val="25"/>
                        </a:spcBef>
                      </a:pPr>
                      <a:r>
                        <a:rPr sz="1400" b="1" spc="-5" dirty="0">
                          <a:latin typeface="Arial" panose="020B0604020202020204"/>
                          <a:cs typeface="Arial" panose="020B0604020202020204"/>
                        </a:rPr>
                        <a:t>interleaved</a:t>
                      </a:r>
                      <a:r>
                        <a:rPr sz="1400" b="1" spc="-40" dirty="0">
                          <a:latin typeface="Arial" panose="020B0604020202020204"/>
                          <a:cs typeface="Arial" panose="020B0604020202020204"/>
                        </a:rPr>
                        <a:t> </a:t>
                      </a:r>
                      <a:r>
                        <a:rPr sz="1400" b="1" spc="-5" dirty="0">
                          <a:latin typeface="Arial" panose="020B0604020202020204"/>
                          <a:cs typeface="Arial" panose="020B0604020202020204"/>
                        </a:rPr>
                        <a:t>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bank</a:t>
                      </a:r>
                      <a:r>
                        <a:rPr sz="1400" b="1" spc="-35" dirty="0">
                          <a:latin typeface="Arial" panose="020B0604020202020204"/>
                          <a:cs typeface="Arial" panose="020B0604020202020204"/>
                        </a:rPr>
                        <a:t> </a:t>
                      </a:r>
                      <a:r>
                        <a:rPr sz="1400" b="1" spc="-5" dirty="0">
                          <a:latin typeface="Arial" panose="020B0604020202020204"/>
                          <a:cs typeface="Arial" panose="020B0604020202020204"/>
                        </a:rPr>
                        <a:t>conflicts</a:t>
                      </a:r>
                      <a:endParaRPr sz="1400" dirty="0">
                        <a:latin typeface="Arial" panose="020B0604020202020204"/>
                        <a:cs typeface="Arial" panose="020B0604020202020204"/>
                      </a:endParaRPr>
                    </a:p>
                  </a:txBody>
                  <a:tcPr marL="0" marR="0" marT="34862" marB="0">
                    <a:solidFill>
                      <a:srgbClr val="99CCFF">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4.854</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252730">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443230">
                        <a:lnSpc>
                          <a:spcPct val="100000"/>
                        </a:lnSpc>
                        <a:spcBef>
                          <a:spcPts val="1745"/>
                        </a:spcBef>
                      </a:pPr>
                      <a:r>
                        <a:rPr sz="1800" b="1" dirty="0">
                          <a:latin typeface="Arial" panose="020B0604020202020204"/>
                          <a:cs typeface="Arial" panose="020B0604020202020204"/>
                        </a:rPr>
                        <a:t>2.33x</a:t>
                      </a:r>
                      <a:endParaRPr sz="1800" dirty="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bl>
          </a:graphicData>
        </a:graphic>
      </p:graphicFrame>
      <p:sp>
        <p:nvSpPr>
          <p:cNvPr id="5" name="object 5"/>
          <p:cNvSpPr txBox="1"/>
          <p:nvPr/>
        </p:nvSpPr>
        <p:spPr>
          <a:xfrm>
            <a:off x="6993331" y="916000"/>
            <a:ext cx="892112" cy="510140"/>
          </a:xfrm>
          <a:prstGeom prst="rect">
            <a:avLst/>
          </a:prstGeom>
        </p:spPr>
        <p:txBody>
          <a:bodyPr vert="horz" wrap="square" lIns="0" tIns="11430" rIns="0" bIns="0" rtlCol="0">
            <a:spAutoFit/>
          </a:bodyPr>
          <a:lstStyle/>
          <a:p>
            <a:pPr marL="11430" marR="4445" indent="210820">
              <a:spcBef>
                <a:spcPts val="90"/>
              </a:spcBef>
            </a:pPr>
            <a:r>
              <a:rPr sz="1620" b="1" spc="-5" dirty="0">
                <a:latin typeface="Comic Sans MS" panose="030F0702030302020204" pitchFamily="66" charset="0"/>
                <a:cs typeface="Arial" panose="020B0604020202020204"/>
              </a:rPr>
              <a:t>Step  Spe</a:t>
            </a:r>
            <a:r>
              <a:rPr sz="1620" b="1" spc="-14" dirty="0">
                <a:latin typeface="Comic Sans MS" panose="030F0702030302020204" pitchFamily="66" charset="0"/>
                <a:cs typeface="Arial" panose="020B0604020202020204"/>
              </a:rPr>
              <a:t>e</a:t>
            </a:r>
            <a:r>
              <a:rPr sz="1620" b="1" spc="-5" dirty="0">
                <a:latin typeface="Comic Sans MS" panose="030F0702030302020204" pitchFamily="66" charset="0"/>
                <a:cs typeface="Arial" panose="020B0604020202020204"/>
              </a:rPr>
              <a:t>d</a:t>
            </a:r>
            <a:r>
              <a:rPr sz="1620" b="1" dirty="0">
                <a:latin typeface="Comic Sans MS" panose="030F0702030302020204" pitchFamily="66" charset="0"/>
                <a:cs typeface="Arial" panose="020B0604020202020204"/>
              </a:rPr>
              <a:t>u</a:t>
            </a:r>
            <a:r>
              <a:rPr sz="1620" b="1" spc="-5" dirty="0">
                <a:latin typeface="Comic Sans MS" panose="030F0702030302020204" pitchFamily="66" charset="0"/>
                <a:cs typeface="Arial" panose="020B0604020202020204"/>
              </a:rPr>
              <a:t>p</a:t>
            </a:r>
            <a:endParaRPr sz="1620">
              <a:latin typeface="Comic Sans MS" panose="030F0702030302020204" pitchFamily="66" charset="0"/>
              <a:cs typeface="Arial" panose="020B0604020202020204"/>
            </a:endParaRPr>
          </a:p>
        </p:txBody>
      </p:sp>
      <p:sp>
        <p:nvSpPr>
          <p:cNvPr id="6" name="object 6"/>
          <p:cNvSpPr txBox="1"/>
          <p:nvPr/>
        </p:nvSpPr>
        <p:spPr>
          <a:xfrm>
            <a:off x="5642877" y="1121741"/>
            <a:ext cx="1077849"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B</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n</a:t>
            </a:r>
            <a:r>
              <a:rPr sz="1620" b="1" spc="5" dirty="0">
                <a:latin typeface="Comic Sans MS" panose="030F0702030302020204" pitchFamily="66" charset="0"/>
                <a:cs typeface="Arial" panose="020B0604020202020204"/>
              </a:rPr>
              <a:t>d</a:t>
            </a:r>
            <a:r>
              <a:rPr sz="1620" b="1" spc="32" dirty="0">
                <a:latin typeface="Comic Sans MS" panose="030F0702030302020204" pitchFamily="66" charset="0"/>
                <a:cs typeface="Arial" panose="020B0604020202020204"/>
              </a:rPr>
              <a:t>w</a:t>
            </a:r>
            <a:r>
              <a:rPr sz="1620" b="1" spc="-9" dirty="0">
                <a:latin typeface="Comic Sans MS" panose="030F0702030302020204" pitchFamily="66" charset="0"/>
                <a:cs typeface="Arial" panose="020B0604020202020204"/>
              </a:rPr>
              <a:t>i</a:t>
            </a:r>
            <a:r>
              <a:rPr sz="1620" b="1" dirty="0">
                <a:latin typeface="Comic Sans MS" panose="030F0702030302020204" pitchFamily="66" charset="0"/>
                <a:cs typeface="Arial" panose="020B0604020202020204"/>
              </a:rPr>
              <a:t>dth</a:t>
            </a:r>
            <a:endParaRPr sz="1620">
              <a:latin typeface="Comic Sans MS" panose="030F0702030302020204" pitchFamily="66" charset="0"/>
              <a:cs typeface="Arial" panose="020B0604020202020204"/>
            </a:endParaRPr>
          </a:p>
        </p:txBody>
      </p:sp>
      <p:sp>
        <p:nvSpPr>
          <p:cNvPr id="7" name="object 7"/>
          <p:cNvSpPr txBox="1"/>
          <p:nvPr/>
        </p:nvSpPr>
        <p:spPr>
          <a:xfrm>
            <a:off x="3820706" y="1121741"/>
            <a:ext cx="1408748" cy="510140"/>
          </a:xfrm>
          <a:prstGeom prst="rect">
            <a:avLst/>
          </a:prstGeom>
        </p:spPr>
        <p:txBody>
          <a:bodyPr vert="horz" wrap="square" lIns="0" tIns="11430" rIns="0" bIns="0" rtlCol="0">
            <a:spAutoFit/>
          </a:bodyPr>
          <a:lstStyle/>
          <a:p>
            <a:pPr marL="34290">
              <a:spcBef>
                <a:spcPts val="90"/>
              </a:spcBef>
            </a:pPr>
            <a:r>
              <a:rPr sz="1620" b="1" spc="-9" dirty="0">
                <a:latin typeface="Comic Sans MS" panose="030F0702030302020204" pitchFamily="66" charset="0"/>
                <a:cs typeface="Arial" panose="020B0604020202020204"/>
              </a:rPr>
              <a:t>Time </a:t>
            </a:r>
            <a:r>
              <a:rPr sz="1620" b="1" spc="-5" dirty="0">
                <a:latin typeface="Comic Sans MS" panose="030F0702030302020204" pitchFamily="66" charset="0"/>
                <a:cs typeface="Arial" panose="020B0604020202020204"/>
              </a:rPr>
              <a:t>(2</a:t>
            </a:r>
            <a:r>
              <a:rPr sz="1620" b="1" spc="-6" baseline="25000" dirty="0">
                <a:latin typeface="Comic Sans MS" panose="030F0702030302020204" pitchFamily="66" charset="0"/>
                <a:cs typeface="Arial" panose="020B0604020202020204"/>
              </a:rPr>
              <a:t>22</a:t>
            </a:r>
            <a:r>
              <a:rPr sz="1620" b="1" spc="-94" baseline="25000"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ints)</a:t>
            </a:r>
            <a:endParaRPr sz="1620">
              <a:latin typeface="Comic Sans MS" panose="030F0702030302020204" pitchFamily="66" charset="0"/>
              <a:cs typeface="Arial" panose="020B0604020202020204"/>
            </a:endParaRPr>
          </a:p>
        </p:txBody>
      </p:sp>
      <p:sp>
        <p:nvSpPr>
          <p:cNvPr id="8" name="object 8"/>
          <p:cNvSpPr txBox="1"/>
          <p:nvPr/>
        </p:nvSpPr>
        <p:spPr>
          <a:xfrm>
            <a:off x="8029118" y="916000"/>
            <a:ext cx="1127570" cy="510140"/>
          </a:xfrm>
          <a:prstGeom prst="rect">
            <a:avLst/>
          </a:prstGeom>
        </p:spPr>
        <p:txBody>
          <a:bodyPr vert="horz" wrap="square" lIns="0" tIns="11430" rIns="0" bIns="0" rtlCol="0">
            <a:spAutoFit/>
          </a:bodyPr>
          <a:lstStyle/>
          <a:p>
            <a:pPr marL="128905" marR="4445" indent="-118110">
              <a:spcBef>
                <a:spcPts val="90"/>
              </a:spcBef>
            </a:pPr>
            <a:r>
              <a:rPr sz="1620" b="1" spc="-5" dirty="0">
                <a:latin typeface="Comic Sans MS" panose="030F0702030302020204" pitchFamily="66" charset="0"/>
                <a:cs typeface="Arial" panose="020B0604020202020204"/>
              </a:rPr>
              <a:t>Cumulati</a:t>
            </a:r>
            <a:r>
              <a:rPr sz="1620" b="1" spc="-41" dirty="0">
                <a:latin typeface="Comic Sans MS" panose="030F0702030302020204" pitchFamily="66" charset="0"/>
                <a:cs typeface="Arial" panose="020B0604020202020204"/>
              </a:rPr>
              <a:t>v</a:t>
            </a:r>
            <a:r>
              <a:rPr sz="1620" b="1" spc="-5" dirty="0">
                <a:latin typeface="Comic Sans MS" panose="030F0702030302020204" pitchFamily="66" charset="0"/>
                <a:cs typeface="Arial" panose="020B0604020202020204"/>
              </a:rPr>
              <a:t>e  Speedup</a:t>
            </a:r>
            <a:endParaRPr sz="1620">
              <a:latin typeface="Comic Sans MS" panose="030F0702030302020204" pitchFamily="66" charset="0"/>
              <a:cs typeface="Arial" panose="020B0604020202020204"/>
            </a:endParaRPr>
          </a:p>
        </p:txBody>
      </p:sp>
      <p:sp>
        <p:nvSpPr>
          <p:cNvPr id="10"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14</a:t>
            </a:fld>
            <a:endParaRPr spc="-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476291" y="169162"/>
            <a:ext cx="8019978" cy="441852"/>
          </a:xfrm>
          <a:prstGeom prst="rect">
            <a:avLst/>
          </a:prstGeom>
        </p:spPr>
        <p:txBody>
          <a:bodyPr vert="horz" wrap="square" lIns="0" tIns="10859" rIns="0" bIns="0" rtlCol="0">
            <a:spAutoFit/>
          </a:bodyPr>
          <a:lstStyle/>
          <a:p>
            <a:pPr marL="11430">
              <a:spcBef>
                <a:spcPts val="85"/>
              </a:spcBef>
            </a:pPr>
            <a:r>
              <a:rPr sz="2800" b="1" spc="-5" dirty="0">
                <a:latin typeface="Comic Sans MS" panose="030F0702030302020204" pitchFamily="66" charset="0"/>
              </a:rPr>
              <a:t>Parallel Reduction: Sequential</a:t>
            </a:r>
            <a:r>
              <a:rPr sz="2800" b="1" spc="54" dirty="0">
                <a:latin typeface="Comic Sans MS" panose="030F0702030302020204" pitchFamily="66" charset="0"/>
              </a:rPr>
              <a:t> </a:t>
            </a:r>
            <a:r>
              <a:rPr sz="2800" b="1" spc="-5" dirty="0">
                <a:latin typeface="Comic Sans MS" panose="030F0702030302020204" pitchFamily="66" charset="0"/>
              </a:rPr>
              <a:t>Addressing</a:t>
            </a:r>
            <a:endParaRPr sz="2800" b="1" dirty="0">
              <a:latin typeface="Comic Sans MS" panose="030F0702030302020204" pitchFamily="66" charset="0"/>
            </a:endParaRPr>
          </a:p>
        </p:txBody>
      </p:sp>
      <p:graphicFrame>
        <p:nvGraphicFramePr>
          <p:cNvPr id="5" name="object 5"/>
          <p:cNvGraphicFramePr>
            <a:graphicFrameLocks noGrp="1"/>
          </p:cNvGraphicFramePr>
          <p:nvPr/>
        </p:nvGraphicFramePr>
        <p:xfrm>
          <a:off x="3667601" y="1164431"/>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65"/>
                        </a:spcBef>
                      </a:pPr>
                      <a:r>
                        <a:rPr sz="1300"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150"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dirty="0">
                          <a:latin typeface="Arial" panose="020B0604020202020204"/>
                          <a:cs typeface="Arial" panose="020B0604020202020204"/>
                        </a:rPr>
                        <a:t>8</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dirty="0">
                          <a:latin typeface="Arial" panose="020B0604020202020204"/>
                          <a:cs typeface="Arial" panose="020B0604020202020204"/>
                        </a:rPr>
                        <a:t>5</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65"/>
                        </a:spcBef>
                      </a:pPr>
                      <a:r>
                        <a:rPr sz="1300"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dirty="0">
                          <a:latin typeface="Arial" panose="020B0604020202020204"/>
                          <a:cs typeface="Arial" panose="020B0604020202020204"/>
                        </a:rPr>
                        <a:t>7</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3505">
                        <a:lnSpc>
                          <a:spcPct val="100000"/>
                        </a:lnSpc>
                        <a:spcBef>
                          <a:spcPts val="465"/>
                        </a:spcBef>
                      </a:pPr>
                      <a:r>
                        <a:rPr sz="1300" spc="-110" dirty="0">
                          <a:latin typeface="Arial" panose="020B0604020202020204"/>
                          <a:cs typeface="Arial" panose="020B0604020202020204"/>
                        </a:rPr>
                        <a:t>11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6" name="object 6"/>
          <p:cNvSpPr txBox="1"/>
          <p:nvPr/>
        </p:nvSpPr>
        <p:spPr>
          <a:xfrm>
            <a:off x="1498427" y="1170888"/>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a:latin typeface="Comic Sans MS" panose="030F0702030302020204" pitchFamily="66" charset="0"/>
              <a:cs typeface="Arial" panose="020B0604020202020204"/>
            </a:endParaRPr>
          </a:p>
        </p:txBody>
      </p:sp>
      <p:sp>
        <p:nvSpPr>
          <p:cNvPr id="7" name="object 7"/>
          <p:cNvSpPr/>
          <p:nvPr/>
        </p:nvSpPr>
        <p:spPr>
          <a:xfrm>
            <a:off x="3719094" y="1485100"/>
            <a:ext cx="5409248" cy="790955"/>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8" name="object 8"/>
          <p:cNvSpPr txBox="1"/>
          <p:nvPr/>
        </p:nvSpPr>
        <p:spPr>
          <a:xfrm>
            <a:off x="2989058" y="2417101"/>
            <a:ext cx="602361" cy="232564"/>
          </a:xfrm>
          <a:prstGeom prst="rect">
            <a:avLst/>
          </a:prstGeom>
        </p:spPr>
        <p:txBody>
          <a:bodyPr vert="horz" wrap="square" lIns="0" tIns="10859" rIns="0" bIns="0" rtlCol="0">
            <a:spAutoFit/>
          </a:bodyPr>
          <a:lstStyle/>
          <a:p>
            <a:pPr marL="11430">
              <a:spcBef>
                <a:spcPts val="85"/>
              </a:spcBef>
            </a:pPr>
            <a:r>
              <a:rPr sz="1440" b="1" spc="-77" dirty="0">
                <a:latin typeface="Comic Sans MS" panose="030F0702030302020204" pitchFamily="66" charset="0"/>
                <a:cs typeface="Arial" panose="020B0604020202020204"/>
              </a:rPr>
              <a:t>V</a:t>
            </a:r>
            <a:r>
              <a:rPr sz="1440" b="1" spc="-5" dirty="0">
                <a:latin typeface="Comic Sans MS" panose="030F0702030302020204" pitchFamily="66" charset="0"/>
                <a:cs typeface="Arial" panose="020B0604020202020204"/>
              </a:rPr>
              <a:t>alues</a:t>
            </a:r>
            <a:endParaRPr sz="1440">
              <a:latin typeface="Comic Sans MS" panose="030F0702030302020204" pitchFamily="66" charset="0"/>
              <a:cs typeface="Arial" panose="020B0604020202020204"/>
            </a:endParaRPr>
          </a:p>
        </p:txBody>
      </p:sp>
      <p:sp>
        <p:nvSpPr>
          <p:cNvPr id="9" name="object 9"/>
          <p:cNvSpPr/>
          <p:nvPr/>
        </p:nvSpPr>
        <p:spPr>
          <a:xfrm>
            <a:off x="3719094" y="2696565"/>
            <a:ext cx="2603183" cy="671054"/>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10" name="object 10"/>
          <p:cNvSpPr/>
          <p:nvPr/>
        </p:nvSpPr>
        <p:spPr>
          <a:xfrm>
            <a:off x="3730524" y="3971925"/>
            <a:ext cx="247460" cy="247460"/>
          </a:xfrm>
          <a:custGeom>
            <a:avLst/>
            <a:gdLst/>
            <a:ahLst/>
            <a:cxnLst/>
            <a:rect l="l" t="t" r="r" b="b"/>
            <a:pathLst>
              <a:path w="274955" h="274954">
                <a:moveTo>
                  <a:pt x="137287" y="0"/>
                </a:moveTo>
                <a:lnTo>
                  <a:pt x="93894" y="6999"/>
                </a:lnTo>
                <a:lnTo>
                  <a:pt x="56208" y="26489"/>
                </a:lnTo>
                <a:lnTo>
                  <a:pt x="26489" y="56208"/>
                </a:lnTo>
                <a:lnTo>
                  <a:pt x="6999" y="93894"/>
                </a:lnTo>
                <a:lnTo>
                  <a:pt x="0" y="137287"/>
                </a:lnTo>
                <a:lnTo>
                  <a:pt x="6999" y="180692"/>
                </a:lnTo>
                <a:lnTo>
                  <a:pt x="26489" y="218410"/>
                </a:lnTo>
                <a:lnTo>
                  <a:pt x="56208" y="248167"/>
                </a:lnTo>
                <a:lnTo>
                  <a:pt x="93894" y="267688"/>
                </a:lnTo>
                <a:lnTo>
                  <a:pt x="137287" y="274700"/>
                </a:lnTo>
                <a:lnTo>
                  <a:pt x="180679" y="267688"/>
                </a:lnTo>
                <a:lnTo>
                  <a:pt x="218365" y="248167"/>
                </a:lnTo>
                <a:lnTo>
                  <a:pt x="248084" y="218410"/>
                </a:lnTo>
                <a:lnTo>
                  <a:pt x="267574" y="180692"/>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1" name="object 11"/>
          <p:cNvSpPr/>
          <p:nvPr/>
        </p:nvSpPr>
        <p:spPr>
          <a:xfrm>
            <a:off x="3730524" y="3971925"/>
            <a:ext cx="247460" cy="247460"/>
          </a:xfrm>
          <a:custGeom>
            <a:avLst/>
            <a:gdLst/>
            <a:ahLst/>
            <a:cxnLst/>
            <a:rect l="l" t="t" r="r" b="b"/>
            <a:pathLst>
              <a:path w="274955" h="274954">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92"/>
                </a:lnTo>
                <a:lnTo>
                  <a:pt x="248084" y="218410"/>
                </a:lnTo>
                <a:lnTo>
                  <a:pt x="218365" y="248167"/>
                </a:lnTo>
                <a:lnTo>
                  <a:pt x="180679" y="267688"/>
                </a:lnTo>
                <a:lnTo>
                  <a:pt x="137287" y="274700"/>
                </a:lnTo>
                <a:lnTo>
                  <a:pt x="93894" y="267688"/>
                </a:lnTo>
                <a:lnTo>
                  <a:pt x="56208" y="248167"/>
                </a:lnTo>
                <a:lnTo>
                  <a:pt x="26489" y="218410"/>
                </a:lnTo>
                <a:lnTo>
                  <a:pt x="6999" y="180692"/>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12" name="object 12"/>
          <p:cNvSpPr/>
          <p:nvPr/>
        </p:nvSpPr>
        <p:spPr>
          <a:xfrm>
            <a:off x="3798074" y="3794760"/>
            <a:ext cx="114300" cy="165735"/>
          </a:xfrm>
          <a:prstGeom prst="rect">
            <a:avLst/>
          </a:prstGeom>
          <a:blipFill>
            <a:blip r:embed="rId4" cstate="print"/>
            <a:stretch>
              <a:fillRect/>
            </a:stretch>
          </a:blipFill>
        </p:spPr>
        <p:txBody>
          <a:bodyPr wrap="square" lIns="0" tIns="0" rIns="0" bIns="0" rtlCol="0"/>
          <a:lstStyle/>
          <a:p>
            <a:endParaRPr sz="1620">
              <a:latin typeface="Comic Sans MS" panose="030F0702030302020204" pitchFamily="66" charset="0"/>
            </a:endParaRPr>
          </a:p>
        </p:txBody>
      </p:sp>
      <p:sp>
        <p:nvSpPr>
          <p:cNvPr id="13" name="object 13"/>
          <p:cNvSpPr/>
          <p:nvPr/>
        </p:nvSpPr>
        <p:spPr>
          <a:xfrm>
            <a:off x="3941293" y="3793732"/>
            <a:ext cx="626364" cy="202883"/>
          </a:xfrm>
          <a:custGeom>
            <a:avLst/>
            <a:gdLst/>
            <a:ahLst/>
            <a:cxnLst/>
            <a:rect l="l" t="t" r="r" b="b"/>
            <a:pathLst>
              <a:path w="695960" h="225425">
                <a:moveTo>
                  <a:pt x="0" y="125857"/>
                </a:moveTo>
                <a:lnTo>
                  <a:pt x="762" y="225044"/>
                </a:lnTo>
                <a:lnTo>
                  <a:pt x="98171" y="206375"/>
                </a:lnTo>
                <a:lnTo>
                  <a:pt x="70763" y="183896"/>
                </a:lnTo>
                <a:lnTo>
                  <a:pt x="48768" y="183896"/>
                </a:lnTo>
                <a:lnTo>
                  <a:pt x="33274" y="167894"/>
                </a:lnTo>
                <a:lnTo>
                  <a:pt x="41547" y="159933"/>
                </a:lnTo>
                <a:lnTo>
                  <a:pt x="0" y="125857"/>
                </a:lnTo>
                <a:close/>
              </a:path>
              <a:path w="695960" h="225425">
                <a:moveTo>
                  <a:pt x="41547" y="159933"/>
                </a:moveTo>
                <a:lnTo>
                  <a:pt x="33274" y="167894"/>
                </a:lnTo>
                <a:lnTo>
                  <a:pt x="48768" y="183896"/>
                </a:lnTo>
                <a:lnTo>
                  <a:pt x="58889" y="174156"/>
                </a:lnTo>
                <a:lnTo>
                  <a:pt x="41547" y="159933"/>
                </a:lnTo>
                <a:close/>
              </a:path>
              <a:path w="695960" h="225425">
                <a:moveTo>
                  <a:pt x="58889" y="174156"/>
                </a:moveTo>
                <a:lnTo>
                  <a:pt x="48768" y="183896"/>
                </a:lnTo>
                <a:lnTo>
                  <a:pt x="70763" y="183896"/>
                </a:lnTo>
                <a:lnTo>
                  <a:pt x="58889" y="174156"/>
                </a:lnTo>
                <a:close/>
              </a:path>
              <a:path w="695960" h="225425">
                <a:moveTo>
                  <a:pt x="671261" y="8817"/>
                </a:moveTo>
                <a:lnTo>
                  <a:pt x="635000" y="35941"/>
                </a:lnTo>
                <a:lnTo>
                  <a:pt x="597281" y="51181"/>
                </a:lnTo>
                <a:lnTo>
                  <a:pt x="550163" y="64770"/>
                </a:lnTo>
                <a:lnTo>
                  <a:pt x="495935" y="75692"/>
                </a:lnTo>
                <a:lnTo>
                  <a:pt x="436499" y="83693"/>
                </a:lnTo>
                <a:lnTo>
                  <a:pt x="374269" y="87884"/>
                </a:lnTo>
                <a:lnTo>
                  <a:pt x="310515" y="89281"/>
                </a:lnTo>
                <a:lnTo>
                  <a:pt x="278256" y="91313"/>
                </a:lnTo>
                <a:lnTo>
                  <a:pt x="215646" y="99314"/>
                </a:lnTo>
                <a:lnTo>
                  <a:pt x="156844" y="111887"/>
                </a:lnTo>
                <a:lnTo>
                  <a:pt x="104012" y="128270"/>
                </a:lnTo>
                <a:lnTo>
                  <a:pt x="59055" y="147828"/>
                </a:lnTo>
                <a:lnTo>
                  <a:pt x="46736" y="154940"/>
                </a:lnTo>
                <a:lnTo>
                  <a:pt x="41547" y="159933"/>
                </a:lnTo>
                <a:lnTo>
                  <a:pt x="58889" y="174156"/>
                </a:lnTo>
                <a:lnTo>
                  <a:pt x="60382" y="172720"/>
                </a:lnTo>
                <a:lnTo>
                  <a:pt x="59817" y="172720"/>
                </a:lnTo>
                <a:lnTo>
                  <a:pt x="62230" y="170942"/>
                </a:lnTo>
                <a:lnTo>
                  <a:pt x="63053" y="170942"/>
                </a:lnTo>
                <a:lnTo>
                  <a:pt x="68834" y="167767"/>
                </a:lnTo>
                <a:lnTo>
                  <a:pt x="78612" y="162941"/>
                </a:lnTo>
                <a:lnTo>
                  <a:pt x="135762" y="140970"/>
                </a:lnTo>
                <a:lnTo>
                  <a:pt x="189865" y="127000"/>
                </a:lnTo>
                <a:lnTo>
                  <a:pt x="248919" y="116840"/>
                </a:lnTo>
                <a:lnTo>
                  <a:pt x="311023" y="111379"/>
                </a:lnTo>
                <a:lnTo>
                  <a:pt x="375412" y="110109"/>
                </a:lnTo>
                <a:lnTo>
                  <a:pt x="407543" y="108458"/>
                </a:lnTo>
                <a:lnTo>
                  <a:pt x="470153" y="102108"/>
                </a:lnTo>
                <a:lnTo>
                  <a:pt x="528701" y="92202"/>
                </a:lnTo>
                <a:lnTo>
                  <a:pt x="581278" y="79375"/>
                </a:lnTo>
                <a:lnTo>
                  <a:pt x="626110" y="64135"/>
                </a:lnTo>
                <a:lnTo>
                  <a:pt x="661670" y="46609"/>
                </a:lnTo>
                <a:lnTo>
                  <a:pt x="692785" y="15494"/>
                </a:lnTo>
                <a:lnTo>
                  <a:pt x="694823" y="9906"/>
                </a:lnTo>
                <a:lnTo>
                  <a:pt x="670687" y="9906"/>
                </a:lnTo>
                <a:lnTo>
                  <a:pt x="671261" y="8817"/>
                </a:lnTo>
                <a:close/>
              </a:path>
              <a:path w="695960" h="225425">
                <a:moveTo>
                  <a:pt x="62230" y="170942"/>
                </a:moveTo>
                <a:lnTo>
                  <a:pt x="59817" y="172720"/>
                </a:lnTo>
                <a:lnTo>
                  <a:pt x="61134" y="171996"/>
                </a:lnTo>
                <a:lnTo>
                  <a:pt x="62230" y="170942"/>
                </a:lnTo>
                <a:close/>
              </a:path>
              <a:path w="695960" h="225425">
                <a:moveTo>
                  <a:pt x="61134" y="171996"/>
                </a:moveTo>
                <a:lnTo>
                  <a:pt x="59817" y="172720"/>
                </a:lnTo>
                <a:lnTo>
                  <a:pt x="60382" y="172720"/>
                </a:lnTo>
                <a:lnTo>
                  <a:pt x="61134" y="171996"/>
                </a:lnTo>
                <a:close/>
              </a:path>
              <a:path w="695960" h="225425">
                <a:moveTo>
                  <a:pt x="63053" y="170942"/>
                </a:moveTo>
                <a:lnTo>
                  <a:pt x="62230" y="170942"/>
                </a:lnTo>
                <a:lnTo>
                  <a:pt x="61134" y="171996"/>
                </a:lnTo>
                <a:lnTo>
                  <a:pt x="63053" y="170942"/>
                </a:lnTo>
                <a:close/>
              </a:path>
              <a:path w="695960" h="225425">
                <a:moveTo>
                  <a:pt x="671576" y="8382"/>
                </a:moveTo>
                <a:lnTo>
                  <a:pt x="671261" y="8817"/>
                </a:lnTo>
                <a:lnTo>
                  <a:pt x="670687" y="9906"/>
                </a:lnTo>
                <a:lnTo>
                  <a:pt x="671576" y="8382"/>
                </a:lnTo>
                <a:close/>
              </a:path>
              <a:path w="695960" h="225425">
                <a:moveTo>
                  <a:pt x="695344" y="8382"/>
                </a:moveTo>
                <a:lnTo>
                  <a:pt x="671576" y="8382"/>
                </a:lnTo>
                <a:lnTo>
                  <a:pt x="670687" y="9906"/>
                </a:lnTo>
                <a:lnTo>
                  <a:pt x="694823" y="9906"/>
                </a:lnTo>
                <a:lnTo>
                  <a:pt x="695071" y="9144"/>
                </a:lnTo>
                <a:lnTo>
                  <a:pt x="695325" y="8509"/>
                </a:lnTo>
                <a:lnTo>
                  <a:pt x="695344" y="8382"/>
                </a:lnTo>
                <a:close/>
              </a:path>
              <a:path w="695960" h="225425">
                <a:moveTo>
                  <a:pt x="695705" y="5334"/>
                </a:moveTo>
                <a:lnTo>
                  <a:pt x="673100" y="5334"/>
                </a:lnTo>
                <a:lnTo>
                  <a:pt x="672338" y="6985"/>
                </a:lnTo>
                <a:lnTo>
                  <a:pt x="671261" y="8817"/>
                </a:lnTo>
                <a:lnTo>
                  <a:pt x="671576" y="8382"/>
                </a:lnTo>
                <a:lnTo>
                  <a:pt x="695344" y="8382"/>
                </a:lnTo>
                <a:lnTo>
                  <a:pt x="695559" y="6985"/>
                </a:lnTo>
                <a:lnTo>
                  <a:pt x="695705" y="5334"/>
                </a:lnTo>
                <a:close/>
              </a:path>
              <a:path w="695960" h="225425">
                <a:moveTo>
                  <a:pt x="672512" y="6447"/>
                </a:moveTo>
                <a:lnTo>
                  <a:pt x="672228" y="6985"/>
                </a:lnTo>
                <a:lnTo>
                  <a:pt x="672512" y="6447"/>
                </a:lnTo>
                <a:close/>
              </a:path>
              <a:path w="695960" h="225425">
                <a:moveTo>
                  <a:pt x="673100" y="5334"/>
                </a:moveTo>
                <a:lnTo>
                  <a:pt x="672512" y="6447"/>
                </a:lnTo>
                <a:lnTo>
                  <a:pt x="672338" y="6985"/>
                </a:lnTo>
                <a:lnTo>
                  <a:pt x="673100" y="5334"/>
                </a:lnTo>
                <a:close/>
              </a:path>
              <a:path w="695960" h="225425">
                <a:moveTo>
                  <a:pt x="673475" y="3477"/>
                </a:moveTo>
                <a:lnTo>
                  <a:pt x="672512" y="6447"/>
                </a:lnTo>
                <a:lnTo>
                  <a:pt x="673100" y="5334"/>
                </a:lnTo>
                <a:lnTo>
                  <a:pt x="695705" y="5334"/>
                </a:lnTo>
                <a:lnTo>
                  <a:pt x="695769" y="4572"/>
                </a:lnTo>
                <a:lnTo>
                  <a:pt x="673353" y="4572"/>
                </a:lnTo>
                <a:lnTo>
                  <a:pt x="673475" y="3477"/>
                </a:lnTo>
                <a:close/>
              </a:path>
              <a:path w="695960" h="225425">
                <a:moveTo>
                  <a:pt x="673862" y="2286"/>
                </a:moveTo>
                <a:lnTo>
                  <a:pt x="673475" y="3477"/>
                </a:lnTo>
                <a:lnTo>
                  <a:pt x="673353" y="4572"/>
                </a:lnTo>
                <a:lnTo>
                  <a:pt x="673862" y="2286"/>
                </a:lnTo>
                <a:close/>
              </a:path>
              <a:path w="695960" h="225425">
                <a:moveTo>
                  <a:pt x="695960" y="2286"/>
                </a:moveTo>
                <a:lnTo>
                  <a:pt x="673862" y="2286"/>
                </a:lnTo>
                <a:lnTo>
                  <a:pt x="673353" y="4572"/>
                </a:lnTo>
                <a:lnTo>
                  <a:pt x="695769" y="4572"/>
                </a:lnTo>
                <a:lnTo>
                  <a:pt x="695960" y="2286"/>
                </a:lnTo>
                <a:close/>
              </a:path>
              <a:path w="695960" h="225425">
                <a:moveTo>
                  <a:pt x="673862" y="0"/>
                </a:moveTo>
                <a:lnTo>
                  <a:pt x="673475" y="3477"/>
                </a:lnTo>
                <a:lnTo>
                  <a:pt x="673862" y="2286"/>
                </a:lnTo>
                <a:lnTo>
                  <a:pt x="695960" y="2286"/>
                </a:lnTo>
                <a:lnTo>
                  <a:pt x="673862"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4" name="object 14"/>
          <p:cNvSpPr/>
          <p:nvPr/>
        </p:nvSpPr>
        <p:spPr>
          <a:xfrm>
            <a:off x="4087711" y="3971925"/>
            <a:ext cx="247460" cy="247460"/>
          </a:xfrm>
          <a:custGeom>
            <a:avLst/>
            <a:gdLst/>
            <a:ahLst/>
            <a:cxnLst/>
            <a:rect l="l" t="t" r="r" b="b"/>
            <a:pathLst>
              <a:path w="274954" h="274954">
                <a:moveTo>
                  <a:pt x="137287" y="0"/>
                </a:moveTo>
                <a:lnTo>
                  <a:pt x="93894" y="6999"/>
                </a:lnTo>
                <a:lnTo>
                  <a:pt x="56208" y="26489"/>
                </a:lnTo>
                <a:lnTo>
                  <a:pt x="26489" y="56208"/>
                </a:lnTo>
                <a:lnTo>
                  <a:pt x="6999" y="93894"/>
                </a:lnTo>
                <a:lnTo>
                  <a:pt x="0" y="137287"/>
                </a:lnTo>
                <a:lnTo>
                  <a:pt x="6999" y="180692"/>
                </a:lnTo>
                <a:lnTo>
                  <a:pt x="26489" y="218410"/>
                </a:lnTo>
                <a:lnTo>
                  <a:pt x="56208" y="248167"/>
                </a:lnTo>
                <a:lnTo>
                  <a:pt x="93894" y="267688"/>
                </a:lnTo>
                <a:lnTo>
                  <a:pt x="137287" y="274700"/>
                </a:lnTo>
                <a:lnTo>
                  <a:pt x="180679" y="267688"/>
                </a:lnTo>
                <a:lnTo>
                  <a:pt x="218365" y="248167"/>
                </a:lnTo>
                <a:lnTo>
                  <a:pt x="248084" y="218410"/>
                </a:lnTo>
                <a:lnTo>
                  <a:pt x="267574" y="180692"/>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5" name="object 15"/>
          <p:cNvSpPr/>
          <p:nvPr/>
        </p:nvSpPr>
        <p:spPr>
          <a:xfrm>
            <a:off x="4087711" y="3971925"/>
            <a:ext cx="247460" cy="247460"/>
          </a:xfrm>
          <a:custGeom>
            <a:avLst/>
            <a:gdLst/>
            <a:ahLst/>
            <a:cxnLst/>
            <a:rect l="l" t="t" r="r" b="b"/>
            <a:pathLst>
              <a:path w="274954" h="274954">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92"/>
                </a:lnTo>
                <a:lnTo>
                  <a:pt x="248084" y="218410"/>
                </a:lnTo>
                <a:lnTo>
                  <a:pt x="218365" y="248167"/>
                </a:lnTo>
                <a:lnTo>
                  <a:pt x="180679" y="267688"/>
                </a:lnTo>
                <a:lnTo>
                  <a:pt x="137287" y="274700"/>
                </a:lnTo>
                <a:lnTo>
                  <a:pt x="93894" y="267688"/>
                </a:lnTo>
                <a:lnTo>
                  <a:pt x="56208" y="248167"/>
                </a:lnTo>
                <a:lnTo>
                  <a:pt x="26489" y="218410"/>
                </a:lnTo>
                <a:lnTo>
                  <a:pt x="6999" y="180692"/>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16" name="object 16"/>
          <p:cNvSpPr/>
          <p:nvPr/>
        </p:nvSpPr>
        <p:spPr>
          <a:xfrm>
            <a:off x="4153547" y="3794760"/>
            <a:ext cx="114300" cy="165735"/>
          </a:xfrm>
          <a:prstGeom prst="rect">
            <a:avLst/>
          </a:prstGeom>
          <a:blipFill>
            <a:blip r:embed="rId5" cstate="print"/>
            <a:stretch>
              <a:fillRect/>
            </a:stretch>
          </a:blipFill>
        </p:spPr>
        <p:txBody>
          <a:bodyPr wrap="square" lIns="0" tIns="0" rIns="0" bIns="0" rtlCol="0"/>
          <a:lstStyle/>
          <a:p>
            <a:endParaRPr sz="1620">
              <a:latin typeface="Comic Sans MS" panose="030F0702030302020204" pitchFamily="66" charset="0"/>
            </a:endParaRPr>
          </a:p>
        </p:txBody>
      </p:sp>
      <p:sp>
        <p:nvSpPr>
          <p:cNvPr id="17" name="object 17"/>
          <p:cNvSpPr/>
          <p:nvPr/>
        </p:nvSpPr>
        <p:spPr>
          <a:xfrm>
            <a:off x="4346258" y="3794189"/>
            <a:ext cx="573215" cy="356616"/>
          </a:xfrm>
          <a:custGeom>
            <a:avLst/>
            <a:gdLst/>
            <a:ahLst/>
            <a:cxnLst/>
            <a:rect l="l" t="t" r="r" b="b"/>
            <a:pathLst>
              <a:path w="636904" h="396239">
                <a:moveTo>
                  <a:pt x="73405" y="268859"/>
                </a:moveTo>
                <a:lnTo>
                  <a:pt x="0" y="335661"/>
                </a:lnTo>
                <a:lnTo>
                  <a:pt x="78866" y="395732"/>
                </a:lnTo>
                <a:lnTo>
                  <a:pt x="76636" y="343916"/>
                </a:lnTo>
                <a:lnTo>
                  <a:pt x="64135" y="343916"/>
                </a:lnTo>
                <a:lnTo>
                  <a:pt x="62737" y="321818"/>
                </a:lnTo>
                <a:lnTo>
                  <a:pt x="75649" y="320989"/>
                </a:lnTo>
                <a:lnTo>
                  <a:pt x="73405" y="268859"/>
                </a:lnTo>
                <a:close/>
              </a:path>
              <a:path w="636904" h="396239">
                <a:moveTo>
                  <a:pt x="75649" y="320989"/>
                </a:moveTo>
                <a:lnTo>
                  <a:pt x="62737" y="321818"/>
                </a:lnTo>
                <a:lnTo>
                  <a:pt x="64135" y="343916"/>
                </a:lnTo>
                <a:lnTo>
                  <a:pt x="76603" y="343148"/>
                </a:lnTo>
                <a:lnTo>
                  <a:pt x="75649" y="320989"/>
                </a:lnTo>
                <a:close/>
              </a:path>
              <a:path w="636904" h="396239">
                <a:moveTo>
                  <a:pt x="76603" y="343148"/>
                </a:moveTo>
                <a:lnTo>
                  <a:pt x="64135" y="343916"/>
                </a:lnTo>
                <a:lnTo>
                  <a:pt x="76636" y="343916"/>
                </a:lnTo>
                <a:lnTo>
                  <a:pt x="76603" y="343148"/>
                </a:lnTo>
                <a:close/>
              </a:path>
              <a:path w="636904" h="396239">
                <a:moveTo>
                  <a:pt x="614426" y="0"/>
                </a:moveTo>
                <a:lnTo>
                  <a:pt x="606805" y="44577"/>
                </a:lnTo>
                <a:lnTo>
                  <a:pt x="585088" y="88011"/>
                </a:lnTo>
                <a:lnTo>
                  <a:pt x="550163" y="130683"/>
                </a:lnTo>
                <a:lnTo>
                  <a:pt x="520064" y="158242"/>
                </a:lnTo>
                <a:lnTo>
                  <a:pt x="485139" y="184531"/>
                </a:lnTo>
                <a:lnTo>
                  <a:pt x="445770" y="209423"/>
                </a:lnTo>
                <a:lnTo>
                  <a:pt x="402463" y="232664"/>
                </a:lnTo>
                <a:lnTo>
                  <a:pt x="355853" y="253746"/>
                </a:lnTo>
                <a:lnTo>
                  <a:pt x="306070" y="272669"/>
                </a:lnTo>
                <a:lnTo>
                  <a:pt x="253746" y="289052"/>
                </a:lnTo>
                <a:lnTo>
                  <a:pt x="199516" y="302514"/>
                </a:lnTo>
                <a:lnTo>
                  <a:pt x="143510" y="313055"/>
                </a:lnTo>
                <a:lnTo>
                  <a:pt x="86487" y="320294"/>
                </a:lnTo>
                <a:lnTo>
                  <a:pt x="75649" y="320989"/>
                </a:lnTo>
                <a:lnTo>
                  <a:pt x="76603" y="343148"/>
                </a:lnTo>
                <a:lnTo>
                  <a:pt x="118237" y="339090"/>
                </a:lnTo>
                <a:lnTo>
                  <a:pt x="176022" y="329946"/>
                </a:lnTo>
                <a:lnTo>
                  <a:pt x="232537" y="317627"/>
                </a:lnTo>
                <a:lnTo>
                  <a:pt x="287147" y="302260"/>
                </a:lnTo>
                <a:lnTo>
                  <a:pt x="339471" y="284226"/>
                </a:lnTo>
                <a:lnTo>
                  <a:pt x="389127" y="263525"/>
                </a:lnTo>
                <a:lnTo>
                  <a:pt x="435483" y="240665"/>
                </a:lnTo>
                <a:lnTo>
                  <a:pt x="478282" y="215773"/>
                </a:lnTo>
                <a:lnTo>
                  <a:pt x="516889" y="188976"/>
                </a:lnTo>
                <a:lnTo>
                  <a:pt x="551179" y="160528"/>
                </a:lnTo>
                <a:lnTo>
                  <a:pt x="580389" y="130683"/>
                </a:lnTo>
                <a:lnTo>
                  <a:pt x="604012" y="99441"/>
                </a:lnTo>
                <a:lnTo>
                  <a:pt x="628141" y="50673"/>
                </a:lnTo>
                <a:lnTo>
                  <a:pt x="636651" y="1397"/>
                </a:lnTo>
                <a:lnTo>
                  <a:pt x="61442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8" name="object 18"/>
          <p:cNvSpPr/>
          <p:nvPr/>
        </p:nvSpPr>
        <p:spPr>
          <a:xfrm>
            <a:off x="3730524" y="4829175"/>
            <a:ext cx="247460" cy="247460"/>
          </a:xfrm>
          <a:custGeom>
            <a:avLst/>
            <a:gdLst/>
            <a:ahLst/>
            <a:cxnLst/>
            <a:rect l="l" t="t" r="r" b="b"/>
            <a:pathLst>
              <a:path w="274955" h="274954">
                <a:moveTo>
                  <a:pt x="137287" y="0"/>
                </a:moveTo>
                <a:lnTo>
                  <a:pt x="93894" y="6999"/>
                </a:lnTo>
                <a:lnTo>
                  <a:pt x="56208" y="26489"/>
                </a:lnTo>
                <a:lnTo>
                  <a:pt x="26489" y="56208"/>
                </a:lnTo>
                <a:lnTo>
                  <a:pt x="6999" y="93894"/>
                </a:lnTo>
                <a:lnTo>
                  <a:pt x="0" y="137287"/>
                </a:lnTo>
                <a:lnTo>
                  <a:pt x="6999" y="180685"/>
                </a:lnTo>
                <a:lnTo>
                  <a:pt x="26489" y="218388"/>
                </a:lnTo>
                <a:lnTo>
                  <a:pt x="56208" y="248125"/>
                </a:lnTo>
                <a:lnTo>
                  <a:pt x="93894" y="267631"/>
                </a:lnTo>
                <a:lnTo>
                  <a:pt x="137287" y="274637"/>
                </a:lnTo>
                <a:lnTo>
                  <a:pt x="180679" y="267631"/>
                </a:lnTo>
                <a:lnTo>
                  <a:pt x="218365" y="248125"/>
                </a:lnTo>
                <a:lnTo>
                  <a:pt x="248084" y="218388"/>
                </a:lnTo>
                <a:lnTo>
                  <a:pt x="267574" y="180685"/>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9" name="object 19"/>
          <p:cNvSpPr/>
          <p:nvPr/>
        </p:nvSpPr>
        <p:spPr>
          <a:xfrm>
            <a:off x="3730524" y="4829175"/>
            <a:ext cx="247460" cy="247460"/>
          </a:xfrm>
          <a:custGeom>
            <a:avLst/>
            <a:gdLst/>
            <a:ahLst/>
            <a:cxnLst/>
            <a:rect l="l" t="t" r="r" b="b"/>
            <a:pathLst>
              <a:path w="274955" h="274954">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85"/>
                </a:lnTo>
                <a:lnTo>
                  <a:pt x="248084" y="218388"/>
                </a:lnTo>
                <a:lnTo>
                  <a:pt x="218365" y="248125"/>
                </a:lnTo>
                <a:lnTo>
                  <a:pt x="180679" y="267631"/>
                </a:lnTo>
                <a:lnTo>
                  <a:pt x="137287" y="274637"/>
                </a:lnTo>
                <a:lnTo>
                  <a:pt x="93894" y="267631"/>
                </a:lnTo>
                <a:lnTo>
                  <a:pt x="56208" y="248125"/>
                </a:lnTo>
                <a:lnTo>
                  <a:pt x="26489" y="218388"/>
                </a:lnTo>
                <a:lnTo>
                  <a:pt x="6999" y="180685"/>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graphicFrame>
        <p:nvGraphicFramePr>
          <p:cNvPr id="20" name="object 20"/>
          <p:cNvGraphicFramePr>
            <a:graphicFrameLocks noGrp="1"/>
          </p:cNvGraphicFramePr>
          <p:nvPr/>
        </p:nvGraphicFramePr>
        <p:xfrm>
          <a:off x="3667601" y="2031855"/>
          <a:ext cx="5612133" cy="3029373"/>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57015">
                <a:tc>
                  <a:txBody>
                    <a:bodyPr/>
                    <a:lstStyle/>
                    <a:p>
                      <a:pPr algn="ctr">
                        <a:lnSpc>
                          <a:spcPts val="1875"/>
                        </a:lnSpc>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0" marB="0">
                    <a:lnB w="28575">
                      <a:solidFill>
                        <a:srgbClr val="000000"/>
                      </a:solidFill>
                      <a:prstDash val="solid"/>
                    </a:lnB>
                  </a:tcPr>
                </a:tc>
                <a:tc>
                  <a:txBody>
                    <a:bodyPr/>
                    <a:lstStyle/>
                    <a:p>
                      <a:pPr marR="116205" algn="r">
                        <a:lnSpc>
                          <a:spcPts val="1990"/>
                        </a:lnSpc>
                      </a:pPr>
                      <a:r>
                        <a:rPr sz="1600" b="1" dirty="0">
                          <a:latin typeface="Arial" panose="020B0604020202020204"/>
                          <a:cs typeface="Arial" panose="020B0604020202020204"/>
                        </a:rPr>
                        <a:t>1</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5080" algn="ctr">
                        <a:lnSpc>
                          <a:spcPts val="1990"/>
                        </a:lnSpc>
                      </a:pPr>
                      <a:r>
                        <a:rPr sz="1600" b="1" dirty="0">
                          <a:latin typeface="Arial" panose="020B0604020202020204"/>
                          <a:cs typeface="Arial" panose="020B0604020202020204"/>
                        </a:rPr>
                        <a:t>2</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R="124460" algn="r">
                        <a:lnSpc>
                          <a:spcPts val="1990"/>
                        </a:lnSpc>
                      </a:pPr>
                      <a:r>
                        <a:rPr sz="1600" b="1" dirty="0">
                          <a:latin typeface="Arial" panose="020B0604020202020204"/>
                          <a:cs typeface="Arial" panose="020B0604020202020204"/>
                        </a:rPr>
                        <a:t>3</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1430" algn="ctr">
                        <a:lnSpc>
                          <a:spcPts val="1990"/>
                        </a:lnSpc>
                      </a:pPr>
                      <a:r>
                        <a:rPr sz="1600" b="1" dirty="0">
                          <a:latin typeface="Arial" panose="020B0604020202020204"/>
                          <a:cs typeface="Arial" panose="020B0604020202020204"/>
                        </a:rPr>
                        <a:t>4</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32715">
                        <a:lnSpc>
                          <a:spcPts val="1990"/>
                        </a:lnSpc>
                      </a:pPr>
                      <a:r>
                        <a:rPr sz="1600" b="1" dirty="0">
                          <a:latin typeface="Arial" panose="020B0604020202020204"/>
                          <a:cs typeface="Arial" panose="020B0604020202020204"/>
                        </a:rPr>
                        <a:t>5</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29540">
                        <a:lnSpc>
                          <a:spcPts val="1990"/>
                        </a:lnSpc>
                      </a:pPr>
                      <a:r>
                        <a:rPr sz="1600" b="1" dirty="0">
                          <a:latin typeface="Arial" panose="020B0604020202020204"/>
                          <a:cs typeface="Arial" panose="020B0604020202020204"/>
                        </a:rPr>
                        <a:t>6</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2065" algn="ctr">
                        <a:lnSpc>
                          <a:spcPts val="1990"/>
                        </a:lnSpc>
                      </a:pPr>
                      <a:r>
                        <a:rPr sz="1600" b="1" dirty="0">
                          <a:latin typeface="Arial" panose="020B0604020202020204"/>
                          <a:cs typeface="Arial" panose="020B0604020202020204"/>
                        </a:rPr>
                        <a:t>7</a:t>
                      </a:r>
                      <a:endParaRPr sz="1600">
                        <a:latin typeface="Arial" panose="020B0604020202020204"/>
                        <a:cs typeface="Arial" panose="020B0604020202020204"/>
                      </a:endParaRPr>
                    </a:p>
                  </a:txBody>
                  <a:tcPr marL="0" marR="0" marT="0" marB="0">
                    <a:lnB w="28575">
                      <a:solidFill>
                        <a:srgbClr val="000000"/>
                      </a:solidFill>
                      <a:prstDash val="solid"/>
                    </a:lnB>
                  </a:tcPr>
                </a:tc>
                <a:tc gridSpan="8">
                  <a:txBody>
                    <a:bodyPr/>
                    <a:lstStyle/>
                    <a:p>
                      <a:pPr>
                        <a:lnSpc>
                          <a:spcPct val="100000"/>
                        </a:lnSpc>
                      </a:pPr>
                      <a:endParaRPr sz="1500">
                        <a:latin typeface="Times New Roman" panose="02020603050405020304"/>
                        <a:cs typeface="Times New Roman" panose="02020603050405020304"/>
                      </a:endParaRPr>
                    </a:p>
                  </a:txBody>
                  <a:tcPr marL="0" marR="0" marT="0" marB="0">
                    <a:lnB w="28575">
                      <a:solidFill>
                        <a:srgbClr val="000000"/>
                      </a:solidFill>
                      <a:prstDash val="solid"/>
                    </a:lnB>
                  </a:tcPr>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extLst>
                  <a:ext uri="{0D108BD9-81ED-4DB2-BD59-A6C34878D82A}">
                    <a16:rowId xmlns:a16="http://schemas.microsoft.com/office/drawing/2014/main" val="10000"/>
                  </a:ext>
                </a:extLst>
              </a:tr>
              <a:tr h="308610">
                <a:tc>
                  <a:txBody>
                    <a:bodyPr/>
                    <a:lstStyle/>
                    <a:p>
                      <a:pPr marL="1270"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106045" algn="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68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7320">
                        <a:lnSpc>
                          <a:spcPct val="100000"/>
                        </a:lnSpc>
                        <a:spcBef>
                          <a:spcPts val="470"/>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788670">
                <a:tc>
                  <a:txBody>
                    <a:bodyPr/>
                    <a:lstStyle/>
                    <a:p>
                      <a:pPr>
                        <a:lnSpc>
                          <a:spcPct val="100000"/>
                        </a:lnSpc>
                      </a:pPr>
                      <a:endParaRPr sz="1600">
                        <a:latin typeface="Times New Roman" panose="02020603050405020304"/>
                        <a:cs typeface="Times New Roman" panose="02020603050405020304"/>
                      </a:endParaRPr>
                    </a:p>
                    <a:p>
                      <a:pPr algn="ctr">
                        <a:lnSpc>
                          <a:spcPct val="100000"/>
                        </a:lnSpc>
                        <a:spcBef>
                          <a:spcPts val="1620"/>
                        </a:spcBef>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800">
                        <a:latin typeface="Times New Roman" panose="02020603050405020304"/>
                        <a:cs typeface="Times New Roman" panose="02020603050405020304"/>
                      </a:endParaRPr>
                    </a:p>
                    <a:p>
                      <a:pPr marR="124460" algn="r">
                        <a:lnSpc>
                          <a:spcPct val="100000"/>
                        </a:lnSpc>
                        <a:spcBef>
                          <a:spcPts val="1255"/>
                        </a:spcBef>
                      </a:pPr>
                      <a:r>
                        <a:rPr sz="1600" b="1" dirty="0">
                          <a:latin typeface="Arial" panose="020B0604020202020204"/>
                          <a:cs typeface="Arial" panose="020B0604020202020204"/>
                        </a:rPr>
                        <a:t>1</a:t>
                      </a:r>
                      <a:endParaRPr sz="16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800">
                        <a:latin typeface="Times New Roman" panose="02020603050405020304"/>
                        <a:cs typeface="Times New Roman" panose="02020603050405020304"/>
                      </a:endParaRPr>
                    </a:p>
                    <a:p>
                      <a:pPr algn="ctr">
                        <a:lnSpc>
                          <a:spcPct val="100000"/>
                        </a:lnSpc>
                        <a:spcBef>
                          <a:spcPts val="1255"/>
                        </a:spcBef>
                      </a:pPr>
                      <a:r>
                        <a:rPr sz="1600" b="1" dirty="0">
                          <a:latin typeface="Arial" panose="020B0604020202020204"/>
                          <a:cs typeface="Arial" panose="020B0604020202020204"/>
                        </a:rPr>
                        <a:t>2</a:t>
                      </a:r>
                      <a:endParaRPr sz="16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800">
                        <a:latin typeface="Times New Roman" panose="02020603050405020304"/>
                        <a:cs typeface="Times New Roman" panose="02020603050405020304"/>
                      </a:endParaRPr>
                    </a:p>
                    <a:p>
                      <a:pPr marR="124460" algn="r">
                        <a:lnSpc>
                          <a:spcPct val="100000"/>
                        </a:lnSpc>
                        <a:spcBef>
                          <a:spcPts val="1255"/>
                        </a:spcBef>
                      </a:pPr>
                      <a:r>
                        <a:rPr sz="1600" b="1" dirty="0">
                          <a:latin typeface="Arial" panose="020B0604020202020204"/>
                          <a:cs typeface="Arial" panose="020B0604020202020204"/>
                        </a:rPr>
                        <a:t>3</a:t>
                      </a:r>
                      <a:endParaRPr sz="16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308610">
                <a:tc>
                  <a:txBody>
                    <a:bodyPr/>
                    <a:lstStyle/>
                    <a:p>
                      <a:pPr marL="1270"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136525" algn="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86360" algn="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68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7320">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r h="560070">
                <a:tc>
                  <a:txBody>
                    <a:bodyPr/>
                    <a:lstStyle/>
                    <a:p>
                      <a:pPr>
                        <a:lnSpc>
                          <a:spcPct val="100000"/>
                        </a:lnSpc>
                        <a:spcBef>
                          <a:spcPts val="25"/>
                        </a:spcBef>
                      </a:pPr>
                      <a:endParaRPr sz="1300">
                        <a:latin typeface="Times New Roman" panose="02020603050405020304"/>
                        <a:cs typeface="Times New Roman" panose="02020603050405020304"/>
                      </a:endParaRPr>
                    </a:p>
                    <a:p>
                      <a:pPr algn="ctr">
                        <a:lnSpc>
                          <a:spcPct val="100000"/>
                        </a:lnSpc>
                        <a:spcBef>
                          <a:spcPts val="5"/>
                        </a:spcBef>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2858" marB="0">
                    <a:lnT w="28575">
                      <a:solidFill>
                        <a:srgbClr val="000000"/>
                      </a:solidFill>
                      <a:prstDash val="solid"/>
                    </a:lnT>
                    <a:lnB w="28575">
                      <a:solidFill>
                        <a:srgbClr val="000000"/>
                      </a:solidFill>
                      <a:prstDash val="solid"/>
                    </a:lnB>
                  </a:tcPr>
                </a:tc>
                <a:tc>
                  <a:txBody>
                    <a:bodyPr/>
                    <a:lstStyle/>
                    <a:p>
                      <a:pPr marR="116205" algn="r">
                        <a:lnSpc>
                          <a:spcPct val="100000"/>
                        </a:lnSpc>
                        <a:spcBef>
                          <a:spcPts val="1510"/>
                        </a:spcBef>
                      </a:pPr>
                      <a:r>
                        <a:rPr sz="1600" b="1" dirty="0">
                          <a:latin typeface="Arial" panose="020B0604020202020204"/>
                          <a:cs typeface="Arial" panose="020B0604020202020204"/>
                        </a:rPr>
                        <a:t>1</a:t>
                      </a:r>
                      <a:endParaRPr sz="1600">
                        <a:latin typeface="Arial" panose="020B0604020202020204"/>
                        <a:cs typeface="Arial" panose="020B0604020202020204"/>
                      </a:endParaRPr>
                    </a:p>
                  </a:txBody>
                  <a:tcPr marL="0" marR="0" marT="172593"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308610">
                <a:tc>
                  <a:txBody>
                    <a:bodyPr/>
                    <a:lstStyle/>
                    <a:p>
                      <a:pPr marL="1905" algn="ctr">
                        <a:lnSpc>
                          <a:spcPct val="100000"/>
                        </a:lnSpc>
                        <a:spcBef>
                          <a:spcPts val="475"/>
                        </a:spcBef>
                      </a:pPr>
                      <a:r>
                        <a:rPr sz="1300" b="1" spc="-5" dirty="0">
                          <a:latin typeface="Arial" panose="020B0604020202020204"/>
                          <a:cs typeface="Arial" panose="020B0604020202020204"/>
                        </a:rPr>
                        <a:t>21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86360" algn="r">
                        <a:lnSpc>
                          <a:spcPct val="100000"/>
                        </a:lnSpc>
                        <a:spcBef>
                          <a:spcPts val="475"/>
                        </a:spcBef>
                      </a:pPr>
                      <a:r>
                        <a:rPr sz="1300" b="1" spc="-5" dirty="0">
                          <a:latin typeface="Arial" panose="020B0604020202020204"/>
                          <a:cs typeface="Arial" panose="020B0604020202020204"/>
                        </a:rPr>
                        <a:t>20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86360" algn="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68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7320">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r h="397788">
                <a:tc>
                  <a:txBody>
                    <a:bodyPr/>
                    <a:lstStyle/>
                    <a:p>
                      <a:pPr algn="ctr">
                        <a:lnSpc>
                          <a:spcPts val="1840"/>
                        </a:lnSpc>
                        <a:spcBef>
                          <a:spcPts val="1540"/>
                        </a:spcBef>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176022"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extLst>
                  <a:ext uri="{0D108BD9-81ED-4DB2-BD59-A6C34878D82A}">
                    <a16:rowId xmlns:a16="http://schemas.microsoft.com/office/drawing/2014/main" val="10006"/>
                  </a:ext>
                </a:extLst>
              </a:tr>
            </a:tbl>
          </a:graphicData>
        </a:graphic>
      </p:graphicFrame>
      <p:sp>
        <p:nvSpPr>
          <p:cNvPr id="21" name="object 21"/>
          <p:cNvSpPr/>
          <p:nvPr/>
        </p:nvSpPr>
        <p:spPr>
          <a:xfrm>
            <a:off x="3798189" y="4663440"/>
            <a:ext cx="114300" cy="154305"/>
          </a:xfrm>
          <a:prstGeom prst="rect">
            <a:avLst/>
          </a:prstGeom>
          <a:blipFill>
            <a:blip r:embed="rId6" cstate="print"/>
            <a:stretch>
              <a:fillRect/>
            </a:stretch>
          </a:blipFill>
        </p:spPr>
        <p:txBody>
          <a:bodyPr wrap="square" lIns="0" tIns="0" rIns="0" bIns="0" rtlCol="0"/>
          <a:lstStyle/>
          <a:p>
            <a:endParaRPr sz="1620">
              <a:latin typeface="Comic Sans MS" panose="030F0702030302020204" pitchFamily="66" charset="0"/>
            </a:endParaRPr>
          </a:p>
        </p:txBody>
      </p:sp>
      <p:sp>
        <p:nvSpPr>
          <p:cNvPr id="22" name="object 22"/>
          <p:cNvSpPr/>
          <p:nvPr/>
        </p:nvSpPr>
        <p:spPr>
          <a:xfrm>
            <a:off x="3989070" y="4663212"/>
            <a:ext cx="228600" cy="328613"/>
          </a:xfrm>
          <a:custGeom>
            <a:avLst/>
            <a:gdLst/>
            <a:ahLst/>
            <a:cxnLst/>
            <a:rect l="l" t="t" r="r" b="b"/>
            <a:pathLst>
              <a:path w="254000" h="365125">
                <a:moveTo>
                  <a:pt x="57912" y="242061"/>
                </a:moveTo>
                <a:lnTo>
                  <a:pt x="0" y="322579"/>
                </a:lnTo>
                <a:lnTo>
                  <a:pt x="89788" y="364997"/>
                </a:lnTo>
                <a:lnTo>
                  <a:pt x="77407" y="317245"/>
                </a:lnTo>
                <a:lnTo>
                  <a:pt x="65024" y="317245"/>
                </a:lnTo>
                <a:lnTo>
                  <a:pt x="58038" y="296163"/>
                </a:lnTo>
                <a:lnTo>
                  <a:pt x="70849" y="291957"/>
                </a:lnTo>
                <a:lnTo>
                  <a:pt x="57912" y="242061"/>
                </a:lnTo>
                <a:close/>
              </a:path>
              <a:path w="254000" h="365125">
                <a:moveTo>
                  <a:pt x="70849" y="291957"/>
                </a:moveTo>
                <a:lnTo>
                  <a:pt x="58038" y="296163"/>
                </a:lnTo>
                <a:lnTo>
                  <a:pt x="65024" y="317245"/>
                </a:lnTo>
                <a:lnTo>
                  <a:pt x="76428" y="313470"/>
                </a:lnTo>
                <a:lnTo>
                  <a:pt x="70849" y="291957"/>
                </a:lnTo>
                <a:close/>
              </a:path>
              <a:path w="254000" h="365125">
                <a:moveTo>
                  <a:pt x="76428" y="313470"/>
                </a:moveTo>
                <a:lnTo>
                  <a:pt x="65024" y="317245"/>
                </a:lnTo>
                <a:lnTo>
                  <a:pt x="77407" y="317245"/>
                </a:lnTo>
                <a:lnTo>
                  <a:pt x="76428" y="313470"/>
                </a:lnTo>
                <a:close/>
              </a:path>
              <a:path w="254000" h="365125">
                <a:moveTo>
                  <a:pt x="74082" y="290895"/>
                </a:moveTo>
                <a:lnTo>
                  <a:pt x="70849" y="291957"/>
                </a:lnTo>
                <a:lnTo>
                  <a:pt x="76428" y="313470"/>
                </a:lnTo>
                <a:lnTo>
                  <a:pt x="83438" y="311149"/>
                </a:lnTo>
                <a:lnTo>
                  <a:pt x="95376" y="304164"/>
                </a:lnTo>
                <a:lnTo>
                  <a:pt x="106425" y="296925"/>
                </a:lnTo>
                <a:lnTo>
                  <a:pt x="113622" y="291591"/>
                </a:lnTo>
                <a:lnTo>
                  <a:pt x="72898" y="291591"/>
                </a:lnTo>
                <a:lnTo>
                  <a:pt x="74082" y="290895"/>
                </a:lnTo>
                <a:close/>
              </a:path>
              <a:path w="254000" h="365125">
                <a:moveTo>
                  <a:pt x="75056" y="290575"/>
                </a:moveTo>
                <a:lnTo>
                  <a:pt x="74082" y="290895"/>
                </a:lnTo>
                <a:lnTo>
                  <a:pt x="72898" y="291591"/>
                </a:lnTo>
                <a:lnTo>
                  <a:pt x="75056" y="290575"/>
                </a:lnTo>
                <a:close/>
              </a:path>
              <a:path w="254000" h="365125">
                <a:moveTo>
                  <a:pt x="114993" y="290575"/>
                </a:moveTo>
                <a:lnTo>
                  <a:pt x="75056" y="290575"/>
                </a:lnTo>
                <a:lnTo>
                  <a:pt x="72898" y="291591"/>
                </a:lnTo>
                <a:lnTo>
                  <a:pt x="113622" y="291591"/>
                </a:lnTo>
                <a:lnTo>
                  <a:pt x="114993" y="290575"/>
                </a:lnTo>
                <a:close/>
              </a:path>
              <a:path w="254000" h="365125">
                <a:moveTo>
                  <a:pt x="231901" y="0"/>
                </a:moveTo>
                <a:lnTo>
                  <a:pt x="228726" y="44195"/>
                </a:lnTo>
                <a:lnTo>
                  <a:pt x="220091" y="87248"/>
                </a:lnTo>
                <a:lnTo>
                  <a:pt x="200660" y="142366"/>
                </a:lnTo>
                <a:lnTo>
                  <a:pt x="173862" y="192658"/>
                </a:lnTo>
                <a:lnTo>
                  <a:pt x="140716" y="236473"/>
                </a:lnTo>
                <a:lnTo>
                  <a:pt x="112902" y="263778"/>
                </a:lnTo>
                <a:lnTo>
                  <a:pt x="74082" y="290895"/>
                </a:lnTo>
                <a:lnTo>
                  <a:pt x="75056" y="290575"/>
                </a:lnTo>
                <a:lnTo>
                  <a:pt x="114993" y="290575"/>
                </a:lnTo>
                <a:lnTo>
                  <a:pt x="117220" y="288924"/>
                </a:lnTo>
                <a:lnTo>
                  <a:pt x="147955" y="261238"/>
                </a:lnTo>
                <a:lnTo>
                  <a:pt x="176149" y="228091"/>
                </a:lnTo>
                <a:lnTo>
                  <a:pt x="208025" y="177926"/>
                </a:lnTo>
                <a:lnTo>
                  <a:pt x="232663" y="122046"/>
                </a:lnTo>
                <a:lnTo>
                  <a:pt x="245363" y="77469"/>
                </a:lnTo>
                <a:lnTo>
                  <a:pt x="252602" y="31241"/>
                </a:lnTo>
                <a:lnTo>
                  <a:pt x="254000" y="507"/>
                </a:lnTo>
                <a:lnTo>
                  <a:pt x="23190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3" name="object 23"/>
          <p:cNvSpPr/>
          <p:nvPr/>
        </p:nvSpPr>
        <p:spPr>
          <a:xfrm>
            <a:off x="3798074" y="2275941"/>
            <a:ext cx="114300" cy="112928"/>
          </a:xfrm>
          <a:prstGeom prst="rect">
            <a:avLst/>
          </a:prstGeom>
          <a:blipFill>
            <a:blip r:embed="rId7" cstate="print"/>
            <a:stretch>
              <a:fillRect/>
            </a:stretch>
          </a:blipFill>
        </p:spPr>
        <p:txBody>
          <a:bodyPr wrap="square" lIns="0" tIns="0" rIns="0" bIns="0" rtlCol="0"/>
          <a:lstStyle/>
          <a:p>
            <a:endParaRPr sz="1620">
              <a:latin typeface="Comic Sans MS" panose="030F0702030302020204" pitchFamily="66" charset="0"/>
            </a:endParaRPr>
          </a:p>
        </p:txBody>
      </p:sp>
      <p:sp>
        <p:nvSpPr>
          <p:cNvPr id="24" name="object 24"/>
          <p:cNvSpPr/>
          <p:nvPr/>
        </p:nvSpPr>
        <p:spPr>
          <a:xfrm>
            <a:off x="4153661" y="2275941"/>
            <a:ext cx="114185" cy="112928"/>
          </a:xfrm>
          <a:prstGeom prst="rect">
            <a:avLst/>
          </a:prstGeom>
          <a:blipFill>
            <a:blip r:embed="rId8" cstate="print"/>
            <a:stretch>
              <a:fillRect/>
            </a:stretch>
          </a:blipFill>
        </p:spPr>
        <p:txBody>
          <a:bodyPr wrap="square" lIns="0" tIns="0" rIns="0" bIns="0" rtlCol="0"/>
          <a:lstStyle/>
          <a:p>
            <a:endParaRPr sz="1620">
              <a:latin typeface="Comic Sans MS" panose="030F0702030302020204" pitchFamily="66" charset="0"/>
            </a:endParaRPr>
          </a:p>
        </p:txBody>
      </p:sp>
      <p:sp>
        <p:nvSpPr>
          <p:cNvPr id="25" name="object 25"/>
          <p:cNvSpPr/>
          <p:nvPr/>
        </p:nvSpPr>
        <p:spPr>
          <a:xfrm>
            <a:off x="4501705" y="2275941"/>
            <a:ext cx="114185" cy="112928"/>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26" name="object 26"/>
          <p:cNvSpPr/>
          <p:nvPr/>
        </p:nvSpPr>
        <p:spPr>
          <a:xfrm>
            <a:off x="4850091" y="2275941"/>
            <a:ext cx="114186" cy="112928"/>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27" name="object 27"/>
          <p:cNvSpPr/>
          <p:nvPr/>
        </p:nvSpPr>
        <p:spPr>
          <a:xfrm>
            <a:off x="5205221" y="2275941"/>
            <a:ext cx="114186" cy="112928"/>
          </a:xfrm>
          <a:prstGeom prst="rect">
            <a:avLst/>
          </a:prstGeom>
          <a:blipFill>
            <a:blip r:embed="rId11" cstate="print"/>
            <a:stretch>
              <a:fillRect/>
            </a:stretch>
          </a:blipFill>
        </p:spPr>
        <p:txBody>
          <a:bodyPr wrap="square" lIns="0" tIns="0" rIns="0" bIns="0" rtlCol="0"/>
          <a:lstStyle/>
          <a:p>
            <a:endParaRPr sz="1620">
              <a:latin typeface="Comic Sans MS" panose="030F0702030302020204" pitchFamily="66" charset="0"/>
            </a:endParaRPr>
          </a:p>
        </p:txBody>
      </p:sp>
      <p:sp>
        <p:nvSpPr>
          <p:cNvPr id="28" name="object 28"/>
          <p:cNvSpPr/>
          <p:nvPr/>
        </p:nvSpPr>
        <p:spPr>
          <a:xfrm>
            <a:off x="5553493" y="2275941"/>
            <a:ext cx="114300" cy="112928"/>
          </a:xfrm>
          <a:prstGeom prst="rect">
            <a:avLst/>
          </a:prstGeom>
          <a:blipFill>
            <a:blip r:embed="rId12" cstate="print"/>
            <a:stretch>
              <a:fillRect/>
            </a:stretch>
          </a:blipFill>
        </p:spPr>
        <p:txBody>
          <a:bodyPr wrap="square" lIns="0" tIns="0" rIns="0" bIns="0" rtlCol="0"/>
          <a:lstStyle/>
          <a:p>
            <a:endParaRPr sz="1620">
              <a:latin typeface="Comic Sans MS" panose="030F0702030302020204" pitchFamily="66" charset="0"/>
            </a:endParaRPr>
          </a:p>
        </p:txBody>
      </p:sp>
      <p:sp>
        <p:nvSpPr>
          <p:cNvPr id="29" name="object 29"/>
          <p:cNvSpPr/>
          <p:nvPr/>
        </p:nvSpPr>
        <p:spPr>
          <a:xfrm>
            <a:off x="5901651" y="2275941"/>
            <a:ext cx="114186" cy="112928"/>
          </a:xfrm>
          <a:prstGeom prst="rect">
            <a:avLst/>
          </a:prstGeom>
          <a:blipFill>
            <a:blip r:embed="rId13" cstate="print"/>
            <a:stretch>
              <a:fillRect/>
            </a:stretch>
          </a:blipFill>
        </p:spPr>
        <p:txBody>
          <a:bodyPr wrap="square" lIns="0" tIns="0" rIns="0" bIns="0" rtlCol="0"/>
          <a:lstStyle/>
          <a:p>
            <a:endParaRPr sz="1620">
              <a:latin typeface="Comic Sans MS" panose="030F0702030302020204" pitchFamily="66" charset="0"/>
            </a:endParaRPr>
          </a:p>
        </p:txBody>
      </p:sp>
      <p:sp>
        <p:nvSpPr>
          <p:cNvPr id="30" name="object 30"/>
          <p:cNvSpPr/>
          <p:nvPr/>
        </p:nvSpPr>
        <p:spPr>
          <a:xfrm>
            <a:off x="6258153" y="2275941"/>
            <a:ext cx="114186" cy="112928"/>
          </a:xfrm>
          <a:prstGeom prst="rect">
            <a:avLst/>
          </a:prstGeom>
          <a:blipFill>
            <a:blip r:embed="rId14" cstate="print"/>
            <a:stretch>
              <a:fillRect/>
            </a:stretch>
          </a:blipFill>
        </p:spPr>
        <p:txBody>
          <a:bodyPr wrap="square" lIns="0" tIns="0" rIns="0" bIns="0" rtlCol="0"/>
          <a:lstStyle/>
          <a:p>
            <a:endParaRPr sz="1620">
              <a:latin typeface="Comic Sans MS" panose="030F0702030302020204" pitchFamily="66" charset="0"/>
            </a:endParaRPr>
          </a:p>
        </p:txBody>
      </p:sp>
      <p:sp>
        <p:nvSpPr>
          <p:cNvPr id="31" name="object 31"/>
          <p:cNvSpPr/>
          <p:nvPr/>
        </p:nvSpPr>
        <p:spPr>
          <a:xfrm>
            <a:off x="3798189" y="3367621"/>
            <a:ext cx="114300" cy="118529"/>
          </a:xfrm>
          <a:prstGeom prst="rect">
            <a:avLst/>
          </a:prstGeom>
          <a:blipFill>
            <a:blip r:embed="rId15" cstate="print"/>
            <a:stretch>
              <a:fillRect/>
            </a:stretch>
          </a:blipFill>
        </p:spPr>
        <p:txBody>
          <a:bodyPr wrap="square" lIns="0" tIns="0" rIns="0" bIns="0" rtlCol="0"/>
          <a:lstStyle/>
          <a:p>
            <a:endParaRPr sz="1620">
              <a:latin typeface="Comic Sans MS" panose="030F0702030302020204" pitchFamily="66" charset="0"/>
            </a:endParaRPr>
          </a:p>
        </p:txBody>
      </p:sp>
      <p:sp>
        <p:nvSpPr>
          <p:cNvPr id="32" name="object 32"/>
          <p:cNvSpPr/>
          <p:nvPr/>
        </p:nvSpPr>
        <p:spPr>
          <a:xfrm>
            <a:off x="4148747" y="3367621"/>
            <a:ext cx="114186" cy="118529"/>
          </a:xfrm>
          <a:prstGeom prst="rect">
            <a:avLst/>
          </a:prstGeom>
          <a:blipFill>
            <a:blip r:embed="rId16" cstate="print"/>
            <a:stretch>
              <a:fillRect/>
            </a:stretch>
          </a:blipFill>
        </p:spPr>
        <p:txBody>
          <a:bodyPr wrap="square" lIns="0" tIns="0" rIns="0" bIns="0" rtlCol="0"/>
          <a:lstStyle/>
          <a:p>
            <a:endParaRPr sz="1620">
              <a:latin typeface="Comic Sans MS" panose="030F0702030302020204" pitchFamily="66" charset="0"/>
            </a:endParaRPr>
          </a:p>
        </p:txBody>
      </p:sp>
      <p:sp>
        <p:nvSpPr>
          <p:cNvPr id="33" name="object 33"/>
          <p:cNvSpPr/>
          <p:nvPr/>
        </p:nvSpPr>
        <p:spPr>
          <a:xfrm>
            <a:off x="4498733" y="3367621"/>
            <a:ext cx="114300" cy="118529"/>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34" name="object 34"/>
          <p:cNvSpPr/>
          <p:nvPr/>
        </p:nvSpPr>
        <p:spPr>
          <a:xfrm>
            <a:off x="4850205" y="3367621"/>
            <a:ext cx="114300" cy="118529"/>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35" name="object 35"/>
          <p:cNvSpPr/>
          <p:nvPr/>
        </p:nvSpPr>
        <p:spPr>
          <a:xfrm>
            <a:off x="3798302" y="4230471"/>
            <a:ext cx="114300" cy="124358"/>
          </a:xfrm>
          <a:prstGeom prst="rect">
            <a:avLst/>
          </a:prstGeom>
          <a:blipFill>
            <a:blip r:embed="rId18" cstate="print"/>
            <a:stretch>
              <a:fillRect/>
            </a:stretch>
          </a:blipFill>
        </p:spPr>
        <p:txBody>
          <a:bodyPr wrap="square" lIns="0" tIns="0" rIns="0" bIns="0" rtlCol="0"/>
          <a:lstStyle/>
          <a:p>
            <a:endParaRPr sz="1620">
              <a:latin typeface="Comic Sans MS" panose="030F0702030302020204" pitchFamily="66" charset="0"/>
            </a:endParaRPr>
          </a:p>
        </p:txBody>
      </p:sp>
      <p:sp>
        <p:nvSpPr>
          <p:cNvPr id="36" name="object 36"/>
          <p:cNvSpPr/>
          <p:nvPr/>
        </p:nvSpPr>
        <p:spPr>
          <a:xfrm>
            <a:off x="4152748" y="4230471"/>
            <a:ext cx="114186" cy="124358"/>
          </a:xfrm>
          <a:prstGeom prst="rect">
            <a:avLst/>
          </a:prstGeom>
          <a:blipFill>
            <a:blip r:embed="rId19" cstate="print"/>
            <a:stretch>
              <a:fillRect/>
            </a:stretch>
          </a:blipFill>
        </p:spPr>
        <p:txBody>
          <a:bodyPr wrap="square" lIns="0" tIns="0" rIns="0" bIns="0" rtlCol="0"/>
          <a:lstStyle/>
          <a:p>
            <a:endParaRPr sz="1620">
              <a:latin typeface="Comic Sans MS" panose="030F0702030302020204" pitchFamily="66" charset="0"/>
            </a:endParaRPr>
          </a:p>
        </p:txBody>
      </p:sp>
      <p:graphicFrame>
        <p:nvGraphicFramePr>
          <p:cNvPr id="37" name="object 37"/>
          <p:cNvGraphicFramePr>
            <a:graphicFrameLocks noGrp="1"/>
          </p:cNvGraphicFramePr>
          <p:nvPr/>
        </p:nvGraphicFramePr>
        <p:xfrm>
          <a:off x="3667601" y="5187791"/>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5"/>
                        </a:spcBef>
                      </a:pPr>
                      <a:r>
                        <a:rPr sz="1300" b="1" spc="-5" dirty="0">
                          <a:latin typeface="Arial" panose="020B0604020202020204"/>
                          <a:cs typeface="Arial" panose="020B0604020202020204"/>
                        </a:rPr>
                        <a:t>41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6520">
                        <a:lnSpc>
                          <a:spcPct val="100000"/>
                        </a:lnSpc>
                        <a:spcBef>
                          <a:spcPts val="475"/>
                        </a:spcBef>
                      </a:pPr>
                      <a:r>
                        <a:rPr sz="1300" b="1" spc="-5" dirty="0">
                          <a:latin typeface="Arial" panose="020B0604020202020204"/>
                          <a:cs typeface="Arial" panose="020B0604020202020204"/>
                        </a:rPr>
                        <a:t>20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155">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652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38" name="object 38"/>
          <p:cNvSpPr/>
          <p:nvPr/>
        </p:nvSpPr>
        <p:spPr>
          <a:xfrm>
            <a:off x="3798074" y="5087779"/>
            <a:ext cx="114300" cy="112893"/>
          </a:xfrm>
          <a:prstGeom prst="rect">
            <a:avLst/>
          </a:prstGeom>
          <a:blipFill>
            <a:blip r:embed="rId20" cstate="print"/>
            <a:stretch>
              <a:fillRect/>
            </a:stretch>
          </a:blipFill>
        </p:spPr>
        <p:txBody>
          <a:bodyPr wrap="square" lIns="0" tIns="0" rIns="0" bIns="0" rtlCol="0"/>
          <a:lstStyle/>
          <a:p>
            <a:endParaRPr sz="1620">
              <a:latin typeface="Comic Sans MS" panose="030F0702030302020204" pitchFamily="66" charset="0"/>
            </a:endParaRPr>
          </a:p>
        </p:txBody>
      </p:sp>
      <p:sp>
        <p:nvSpPr>
          <p:cNvPr id="39" name="object 39"/>
          <p:cNvSpPr txBox="1"/>
          <p:nvPr/>
        </p:nvSpPr>
        <p:spPr>
          <a:xfrm>
            <a:off x="2974771" y="1675638"/>
            <a:ext cx="630365" cy="675762"/>
          </a:xfrm>
          <a:prstGeom prst="rect">
            <a:avLst/>
          </a:prstGeom>
        </p:spPr>
        <p:txBody>
          <a:bodyPr vert="horz" wrap="square" lIns="0" tIns="10859" rIns="0" bIns="0" rtlCol="0">
            <a:spAutoFit/>
          </a:bodyPr>
          <a:lstStyle/>
          <a:p>
            <a:pPr marL="173355" marR="4445" indent="-162560">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p:txBody>
      </p:sp>
      <p:sp>
        <p:nvSpPr>
          <p:cNvPr id="40" name="object 40"/>
          <p:cNvSpPr txBox="1"/>
          <p:nvPr/>
        </p:nvSpPr>
        <p:spPr>
          <a:xfrm>
            <a:off x="1851751" y="1710728"/>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8</a:t>
            </a:r>
            <a:endParaRPr sz="1440">
              <a:latin typeface="Comic Sans MS" panose="030F0702030302020204" pitchFamily="66" charset="0"/>
              <a:cs typeface="Arial" panose="020B0604020202020204"/>
            </a:endParaRPr>
          </a:p>
        </p:txBody>
      </p:sp>
      <p:sp>
        <p:nvSpPr>
          <p:cNvPr id="41" name="object 41"/>
          <p:cNvSpPr txBox="1"/>
          <p:nvPr/>
        </p:nvSpPr>
        <p:spPr>
          <a:xfrm>
            <a:off x="1851751" y="2842367"/>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a:latin typeface="Comic Sans MS" panose="030F0702030302020204" pitchFamily="66" charset="0"/>
              <a:cs typeface="Arial" panose="020B0604020202020204"/>
            </a:endParaRPr>
          </a:p>
        </p:txBody>
      </p:sp>
      <p:sp>
        <p:nvSpPr>
          <p:cNvPr id="42" name="object 42"/>
          <p:cNvSpPr txBox="1"/>
          <p:nvPr/>
        </p:nvSpPr>
        <p:spPr>
          <a:xfrm>
            <a:off x="1851751" y="3825735"/>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3</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a:latin typeface="Comic Sans MS" panose="030F0702030302020204" pitchFamily="66" charset="0"/>
              <a:cs typeface="Arial" panose="020B0604020202020204"/>
            </a:endParaRPr>
          </a:p>
        </p:txBody>
      </p:sp>
      <p:sp>
        <p:nvSpPr>
          <p:cNvPr id="43" name="object 43"/>
          <p:cNvSpPr txBox="1"/>
          <p:nvPr/>
        </p:nvSpPr>
        <p:spPr>
          <a:xfrm>
            <a:off x="1851751" y="4706074"/>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a:latin typeface="Comic Sans MS" panose="030F0702030302020204" pitchFamily="66" charset="0"/>
              <a:cs typeface="Arial" panose="020B0604020202020204"/>
            </a:endParaRPr>
          </a:p>
        </p:txBody>
      </p:sp>
      <p:sp>
        <p:nvSpPr>
          <p:cNvPr id="44" name="object 44"/>
          <p:cNvSpPr txBox="1"/>
          <p:nvPr/>
        </p:nvSpPr>
        <p:spPr>
          <a:xfrm>
            <a:off x="2974771" y="2843099"/>
            <a:ext cx="630365" cy="675762"/>
          </a:xfrm>
          <a:prstGeom prst="rect">
            <a:avLst/>
          </a:prstGeom>
        </p:spPr>
        <p:txBody>
          <a:bodyPr vert="horz" wrap="square" lIns="0" tIns="10859" rIns="0" bIns="0" rtlCol="0">
            <a:spAutoFit/>
          </a:bodyPr>
          <a:lstStyle/>
          <a:p>
            <a:pPr marL="173355" marR="4445" indent="-162560">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p:txBody>
      </p:sp>
      <p:sp>
        <p:nvSpPr>
          <p:cNvPr id="45" name="object 45"/>
          <p:cNvSpPr txBox="1"/>
          <p:nvPr/>
        </p:nvSpPr>
        <p:spPr>
          <a:xfrm>
            <a:off x="2974771" y="3411504"/>
            <a:ext cx="630365" cy="2076979"/>
          </a:xfrm>
          <a:prstGeom prst="rect">
            <a:avLst/>
          </a:prstGeom>
        </p:spPr>
        <p:txBody>
          <a:bodyPr vert="horz" wrap="square" lIns="0" tIns="114300" rIns="0" bIns="0" rtlCol="0">
            <a:spAutoFit/>
          </a:bodyPr>
          <a:lstStyle/>
          <a:p>
            <a:pPr algn="ctr">
              <a:spcBef>
                <a:spcPts val="900"/>
              </a:spcBef>
            </a:pPr>
            <a:r>
              <a:rPr sz="1440" b="1" spc="-18" dirty="0">
                <a:latin typeface="Comic Sans MS" panose="030F0702030302020204" pitchFamily="66" charset="0"/>
                <a:cs typeface="Arial" panose="020B0604020202020204"/>
              </a:rPr>
              <a:t>Values</a:t>
            </a:r>
            <a:endParaRPr sz="1440">
              <a:latin typeface="Comic Sans MS" panose="030F0702030302020204" pitchFamily="66" charset="0"/>
              <a:cs typeface="Arial" panose="020B0604020202020204"/>
            </a:endParaRPr>
          </a:p>
          <a:p>
            <a:pPr marL="10795" marR="4445" algn="ctr">
              <a:spcBef>
                <a:spcPts val="80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a:p>
            <a:pPr algn="ctr">
              <a:spcBef>
                <a:spcPts val="850"/>
              </a:spcBef>
            </a:pPr>
            <a:r>
              <a:rPr sz="1440" b="1" spc="-18" dirty="0">
                <a:latin typeface="Comic Sans MS" panose="030F0702030302020204" pitchFamily="66" charset="0"/>
                <a:cs typeface="Arial" panose="020B0604020202020204"/>
              </a:rPr>
              <a:t>Values</a:t>
            </a:r>
            <a:endParaRPr sz="1440">
              <a:latin typeface="Comic Sans MS" panose="030F0702030302020204" pitchFamily="66" charset="0"/>
              <a:cs typeface="Arial" panose="020B0604020202020204"/>
            </a:endParaRPr>
          </a:p>
          <a:p>
            <a:pPr marL="10795" marR="4445" algn="ctr">
              <a:spcBef>
                <a:spcPts val="72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a:p>
            <a:pPr algn="ctr">
              <a:spcBef>
                <a:spcPts val="750"/>
              </a:spcBef>
            </a:pPr>
            <a:r>
              <a:rPr sz="1440" b="1" spc="-18" dirty="0">
                <a:latin typeface="Comic Sans MS" panose="030F0702030302020204" pitchFamily="66" charset="0"/>
                <a:cs typeface="Arial" panose="020B0604020202020204"/>
              </a:rPr>
              <a:t>Values</a:t>
            </a:r>
            <a:endParaRPr sz="1440">
              <a:latin typeface="Comic Sans MS" panose="030F0702030302020204" pitchFamily="66" charset="0"/>
              <a:cs typeface="Arial" panose="020B0604020202020204"/>
            </a:endParaRPr>
          </a:p>
        </p:txBody>
      </p:sp>
      <p:sp>
        <p:nvSpPr>
          <p:cNvPr id="46" name="object 46"/>
          <p:cNvSpPr txBox="1"/>
          <p:nvPr/>
        </p:nvSpPr>
        <p:spPr>
          <a:xfrm>
            <a:off x="3022778" y="5677693"/>
            <a:ext cx="5816422" cy="343940"/>
          </a:xfrm>
          <a:prstGeom prst="rect">
            <a:avLst/>
          </a:prstGeom>
        </p:spPr>
        <p:txBody>
          <a:bodyPr vert="horz" wrap="square" lIns="0" tIns="11430" rIns="0" bIns="0" rtlCol="0">
            <a:spAutoFit/>
          </a:bodyPr>
          <a:lstStyle/>
          <a:p>
            <a:pPr marL="11430">
              <a:spcBef>
                <a:spcPts val="90"/>
              </a:spcBef>
            </a:pPr>
            <a:r>
              <a:rPr sz="2160" b="1" spc="-5" dirty="0">
                <a:solidFill>
                  <a:srgbClr val="FF9933"/>
                </a:solidFill>
                <a:latin typeface="Comic Sans MS" panose="030F0702030302020204" pitchFamily="66" charset="0"/>
                <a:cs typeface="Arial" panose="020B0604020202020204"/>
              </a:rPr>
              <a:t>Sequential addressing is conflict</a:t>
            </a:r>
            <a:r>
              <a:rPr sz="2160" b="1" spc="-9" dirty="0">
                <a:solidFill>
                  <a:srgbClr val="FF9933"/>
                </a:solidFill>
                <a:latin typeface="Comic Sans MS" panose="030F0702030302020204" pitchFamily="66" charset="0"/>
                <a:cs typeface="Arial" panose="020B0604020202020204"/>
              </a:rPr>
              <a:t> </a:t>
            </a:r>
            <a:r>
              <a:rPr sz="2160" b="1" spc="-5" dirty="0">
                <a:solidFill>
                  <a:srgbClr val="FF9933"/>
                </a:solidFill>
                <a:latin typeface="Comic Sans MS" panose="030F0702030302020204" pitchFamily="66" charset="0"/>
                <a:cs typeface="Arial" panose="020B0604020202020204"/>
              </a:rPr>
              <a:t>free</a:t>
            </a:r>
            <a:endParaRPr sz="2160" dirty="0">
              <a:latin typeface="Comic Sans MS" panose="030F0702030302020204" pitchFamily="66" charset="0"/>
              <a:cs typeface="Arial" panose="020B0604020202020204"/>
            </a:endParaRPr>
          </a:p>
        </p:txBody>
      </p:sp>
      <p:sp>
        <p:nvSpPr>
          <p:cNvPr id="47"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15</a:t>
            </a:fld>
            <a:endParaRPr spc="-5" dirty="0">
              <a:latin typeface="Comic Sans MS" panose="030F0702030302020204" pitchFamily="66"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00300" y="1371601"/>
            <a:ext cx="4732020" cy="2322111"/>
          </a:xfrm>
          <a:prstGeom prst="rect">
            <a:avLst/>
          </a:prstGeom>
          <a:solidFill>
            <a:srgbClr val="76B800">
              <a:alpha val="49018"/>
            </a:srgbClr>
          </a:solidFill>
          <a:ln w="28575">
            <a:solidFill>
              <a:srgbClr val="000000"/>
            </a:solidFill>
          </a:ln>
        </p:spPr>
        <p:txBody>
          <a:bodyPr vert="horz" wrap="square" lIns="0" tIns="20003" rIns="0" bIns="0" rtlCol="0">
            <a:spAutoFit/>
          </a:bodyPr>
          <a:lstStyle/>
          <a:p>
            <a:pPr marL="332105" marR="87630" indent="-227965">
              <a:spcBef>
                <a:spcPts val="160"/>
              </a:spcBef>
              <a:tabLst>
                <a:tab pos="4556760" algn="l"/>
              </a:tabLst>
            </a:pPr>
            <a:r>
              <a:rPr sz="1620" b="1" spc="-5" dirty="0">
                <a:solidFill>
                  <a:srgbClr val="0000FF"/>
                </a:solidFill>
                <a:latin typeface="Arial" panose="020B0604020202020204"/>
                <a:cs typeface="Arial" panose="020B0604020202020204"/>
              </a:rPr>
              <a:t>for</a:t>
            </a:r>
            <a:r>
              <a:rPr sz="1620" b="1" spc="-9" dirty="0">
                <a:solidFill>
                  <a:srgbClr val="0000FF"/>
                </a:solidFill>
                <a:latin typeface="Arial" panose="020B0604020202020204"/>
                <a:cs typeface="Arial" panose="020B0604020202020204"/>
              </a:rPr>
              <a:t> </a:t>
            </a:r>
            <a:r>
              <a:rPr sz="1620" b="1" dirty="0">
                <a:latin typeface="Arial" panose="020B0604020202020204"/>
                <a:cs typeface="Arial" panose="020B0604020202020204"/>
              </a:rPr>
              <a:t>(</a:t>
            </a:r>
            <a:r>
              <a:rPr sz="1620" b="1" dirty="0">
                <a:solidFill>
                  <a:srgbClr val="0000FF"/>
                </a:solidFill>
                <a:latin typeface="Arial" panose="020B0604020202020204"/>
                <a:cs typeface="Arial" panose="020B0604020202020204"/>
              </a:rPr>
              <a:t>u</a:t>
            </a:r>
            <a:r>
              <a:rPr sz="1620" b="1" spc="5" dirty="0">
                <a:solidFill>
                  <a:srgbClr val="0000FF"/>
                </a:solidFill>
                <a:latin typeface="Arial" panose="020B0604020202020204"/>
                <a:cs typeface="Arial" panose="020B0604020202020204"/>
              </a:rPr>
              <a:t>n</a:t>
            </a:r>
            <a:r>
              <a:rPr sz="1620" b="1" dirty="0">
                <a:solidFill>
                  <a:srgbClr val="0000FF"/>
                </a:solidFill>
                <a:latin typeface="Arial" panose="020B0604020202020204"/>
                <a:cs typeface="Arial" panose="020B0604020202020204"/>
              </a:rPr>
              <a:t>sig</a:t>
            </a:r>
            <a:r>
              <a:rPr sz="1620" b="1" spc="5" dirty="0">
                <a:solidFill>
                  <a:srgbClr val="0000FF"/>
                </a:solidFill>
                <a:latin typeface="Arial" panose="020B0604020202020204"/>
                <a:cs typeface="Arial" panose="020B0604020202020204"/>
              </a:rPr>
              <a:t>n</a:t>
            </a:r>
            <a:r>
              <a:rPr sz="1620" b="1" spc="-5" dirty="0">
                <a:solidFill>
                  <a:srgbClr val="0000FF"/>
                </a:solidFill>
                <a:latin typeface="Arial" panose="020B0604020202020204"/>
                <a:cs typeface="Arial" panose="020B0604020202020204"/>
              </a:rPr>
              <a:t>ed</a:t>
            </a:r>
            <a:r>
              <a:rPr sz="1620" b="1" spc="-9" dirty="0">
                <a:solidFill>
                  <a:srgbClr val="0000FF"/>
                </a:solidFill>
                <a:latin typeface="Arial" panose="020B0604020202020204"/>
                <a:cs typeface="Arial" panose="020B0604020202020204"/>
              </a:rPr>
              <a:t> </a:t>
            </a:r>
            <a:r>
              <a:rPr sz="1620" b="1" dirty="0">
                <a:solidFill>
                  <a:srgbClr val="0000FF"/>
                </a:solidFill>
                <a:latin typeface="Arial" panose="020B0604020202020204"/>
                <a:cs typeface="Arial" panose="020B0604020202020204"/>
              </a:rPr>
              <a:t>i</a:t>
            </a:r>
            <a:r>
              <a:rPr sz="1620" b="1" spc="5" dirty="0">
                <a:solidFill>
                  <a:srgbClr val="0000FF"/>
                </a:solidFill>
                <a:latin typeface="Arial" panose="020B0604020202020204"/>
                <a:cs typeface="Arial" panose="020B0604020202020204"/>
              </a:rPr>
              <a:t>n</a:t>
            </a:r>
            <a:r>
              <a:rPr sz="1620" b="1" dirty="0">
                <a:solidFill>
                  <a:srgbClr val="0000FF"/>
                </a:solidFill>
                <a:latin typeface="Arial" panose="020B0604020202020204"/>
                <a:cs typeface="Arial" panose="020B0604020202020204"/>
              </a:rPr>
              <a:t>t </a:t>
            </a:r>
            <a:r>
              <a:rPr sz="1620" b="1" spc="-5" dirty="0">
                <a:latin typeface="Arial" panose="020B0604020202020204"/>
                <a:cs typeface="Arial" panose="020B0604020202020204"/>
              </a:rPr>
              <a:t>s=1;</a:t>
            </a:r>
            <a:r>
              <a:rPr sz="1620" b="1" dirty="0">
                <a:latin typeface="Arial" panose="020B0604020202020204"/>
                <a:cs typeface="Arial" panose="020B0604020202020204"/>
              </a:rPr>
              <a:t> </a:t>
            </a:r>
            <a:r>
              <a:rPr sz="1620" b="1" spc="-5" dirty="0">
                <a:latin typeface="Arial" panose="020B0604020202020204"/>
                <a:cs typeface="Arial" panose="020B0604020202020204"/>
              </a:rPr>
              <a:t>s</a:t>
            </a:r>
            <a:r>
              <a:rPr sz="1620" b="1" spc="-9" dirty="0">
                <a:latin typeface="Arial" panose="020B0604020202020204"/>
                <a:cs typeface="Arial" panose="020B0604020202020204"/>
              </a:rPr>
              <a:t> </a:t>
            </a:r>
            <a:r>
              <a:rPr sz="1620" b="1" dirty="0">
                <a:latin typeface="Arial" panose="020B0604020202020204"/>
                <a:cs typeface="Arial" panose="020B0604020202020204"/>
              </a:rPr>
              <a:t>&lt; </a:t>
            </a:r>
            <a:r>
              <a:rPr sz="1620" b="1" dirty="0">
                <a:solidFill>
                  <a:srgbClr val="0000FF"/>
                </a:solidFill>
                <a:latin typeface="Arial" panose="020B0604020202020204"/>
                <a:cs typeface="Arial" panose="020B0604020202020204"/>
              </a:rPr>
              <a:t>b</a:t>
            </a:r>
            <a:r>
              <a:rPr sz="1620" b="1" spc="5" dirty="0">
                <a:solidFill>
                  <a:srgbClr val="0000FF"/>
                </a:solidFill>
                <a:latin typeface="Arial" panose="020B0604020202020204"/>
                <a:cs typeface="Arial" panose="020B0604020202020204"/>
              </a:rPr>
              <a:t>l</a:t>
            </a:r>
            <a:r>
              <a:rPr sz="1620" b="1" spc="-5" dirty="0">
                <a:solidFill>
                  <a:srgbClr val="0000FF"/>
                </a:solidFill>
                <a:latin typeface="Arial" panose="020B0604020202020204"/>
                <a:cs typeface="Arial" panose="020B0604020202020204"/>
              </a:rPr>
              <a:t>oc</a:t>
            </a:r>
            <a:r>
              <a:rPr sz="1620" b="1" spc="-14" dirty="0">
                <a:solidFill>
                  <a:srgbClr val="0000FF"/>
                </a:solidFill>
                <a:latin typeface="Arial" panose="020B0604020202020204"/>
                <a:cs typeface="Arial" panose="020B0604020202020204"/>
              </a:rPr>
              <a:t>k</a:t>
            </a:r>
            <a:r>
              <a:rPr sz="1620" b="1" spc="-5" dirty="0">
                <a:solidFill>
                  <a:srgbClr val="0000FF"/>
                </a:solidFill>
                <a:latin typeface="Arial" panose="020B0604020202020204"/>
                <a:cs typeface="Arial" panose="020B0604020202020204"/>
              </a:rPr>
              <a:t>Dim.</a:t>
            </a:r>
            <a:r>
              <a:rPr sz="1620" b="1" spc="-5" dirty="0">
                <a:latin typeface="Arial" panose="020B0604020202020204"/>
                <a:cs typeface="Arial" panose="020B0604020202020204"/>
              </a:rPr>
              <a:t>x;</a:t>
            </a:r>
            <a:r>
              <a:rPr sz="1620" b="1" spc="-14" dirty="0">
                <a:latin typeface="Arial" panose="020B0604020202020204"/>
                <a:cs typeface="Arial" panose="020B0604020202020204"/>
              </a:rPr>
              <a:t> </a:t>
            </a:r>
            <a:r>
              <a:rPr sz="1620" b="1" spc="-5" dirty="0">
                <a:latin typeface="Arial" panose="020B0604020202020204"/>
                <a:cs typeface="Arial" panose="020B0604020202020204"/>
              </a:rPr>
              <a:t>s</a:t>
            </a:r>
            <a:r>
              <a:rPr sz="1620" b="1" dirty="0">
                <a:latin typeface="Arial" panose="020B0604020202020204"/>
                <a:cs typeface="Arial" panose="020B0604020202020204"/>
              </a:rPr>
              <a:t> </a:t>
            </a:r>
            <a:r>
              <a:rPr sz="1620" b="1" spc="-14" dirty="0">
                <a:latin typeface="Arial" panose="020B0604020202020204"/>
                <a:cs typeface="Arial" panose="020B0604020202020204"/>
              </a:rPr>
              <a:t>*</a:t>
            </a:r>
            <a:r>
              <a:rPr sz="1620" b="1" dirty="0">
                <a:latin typeface="Arial" panose="020B0604020202020204"/>
                <a:cs typeface="Arial" panose="020B0604020202020204"/>
              </a:rPr>
              <a:t>=</a:t>
            </a:r>
            <a:r>
              <a:rPr sz="1620" b="1" spc="5" dirty="0">
                <a:latin typeface="Arial" panose="020B0604020202020204"/>
                <a:cs typeface="Arial" panose="020B0604020202020204"/>
              </a:rPr>
              <a:t> </a:t>
            </a:r>
            <a:r>
              <a:rPr sz="1620" b="1" spc="-5" dirty="0">
                <a:latin typeface="Arial" panose="020B0604020202020204"/>
                <a:cs typeface="Arial" panose="020B0604020202020204"/>
              </a:rPr>
              <a:t>2)</a:t>
            </a:r>
            <a:r>
              <a:rPr sz="1620" b="1" dirty="0">
                <a:latin typeface="Arial" panose="020B0604020202020204"/>
                <a:cs typeface="Arial" panose="020B0604020202020204"/>
              </a:rPr>
              <a:t>	</a:t>
            </a:r>
            <a:r>
              <a:rPr sz="1620" b="1" spc="-5" dirty="0">
                <a:latin typeface="Arial" panose="020B0604020202020204"/>
                <a:cs typeface="Arial" panose="020B0604020202020204"/>
              </a:rPr>
              <a:t>{</a:t>
            </a:r>
            <a:endParaRPr lang="en-US" sz="1620" b="1" spc="-5" dirty="0">
              <a:latin typeface="Arial" panose="020B0604020202020204"/>
              <a:cs typeface="Arial" panose="020B0604020202020204"/>
            </a:endParaRPr>
          </a:p>
          <a:p>
            <a:pPr marL="332105" marR="87630" indent="-227965">
              <a:spcBef>
                <a:spcPts val="160"/>
              </a:spcBef>
              <a:tabLst>
                <a:tab pos="4556760" algn="l"/>
              </a:tabLst>
            </a:pPr>
            <a:r>
              <a:rPr lang="en-US" sz="1620" b="1" spc="-5" dirty="0">
                <a:solidFill>
                  <a:schemeClr val="tx1">
                    <a:lumMod val="65000"/>
                    <a:lumOff val="35000"/>
                  </a:schemeClr>
                </a:solidFill>
                <a:latin typeface="Arial" panose="020B0604020202020204"/>
                <a:cs typeface="Arial" panose="020B0604020202020204"/>
              </a:rPr>
              <a:t>// s represents stride </a:t>
            </a:r>
          </a:p>
          <a:p>
            <a:pPr marL="332105" marR="87630" indent="-227965">
              <a:spcBef>
                <a:spcPts val="160"/>
              </a:spcBef>
              <a:tabLst>
                <a:tab pos="4556760" algn="l"/>
              </a:tabLst>
            </a:pPr>
            <a:r>
              <a:rPr sz="1620" b="1" spc="-5" dirty="0">
                <a:latin typeface="Arial" panose="020B0604020202020204"/>
                <a:cs typeface="Arial" panose="020B0604020202020204"/>
              </a:rPr>
              <a:t>  </a:t>
            </a:r>
            <a:r>
              <a:rPr sz="1620" b="1" dirty="0">
                <a:solidFill>
                  <a:srgbClr val="0000FF"/>
                </a:solidFill>
                <a:latin typeface="Arial" panose="020B0604020202020204"/>
                <a:cs typeface="Arial" panose="020B0604020202020204"/>
              </a:rPr>
              <a:t>int </a:t>
            </a:r>
            <a:r>
              <a:rPr sz="1620" b="1" dirty="0">
                <a:latin typeface="Arial" panose="020B0604020202020204"/>
                <a:cs typeface="Arial" panose="020B0604020202020204"/>
              </a:rPr>
              <a:t>index = </a:t>
            </a:r>
            <a:r>
              <a:rPr sz="1620" b="1" spc="-5" dirty="0">
                <a:latin typeface="Arial" panose="020B0604020202020204"/>
                <a:cs typeface="Arial" panose="020B0604020202020204"/>
              </a:rPr>
              <a:t>2 * s *</a:t>
            </a:r>
            <a:r>
              <a:rPr sz="1620" b="1" spc="-23" dirty="0">
                <a:latin typeface="Arial" panose="020B0604020202020204"/>
                <a:cs typeface="Arial" panose="020B0604020202020204"/>
              </a:rPr>
              <a:t> </a:t>
            </a:r>
            <a:r>
              <a:rPr sz="1620" b="1" dirty="0">
                <a:latin typeface="Arial" panose="020B0604020202020204"/>
                <a:cs typeface="Arial" panose="020B0604020202020204"/>
              </a:rPr>
              <a:t>tid;</a:t>
            </a:r>
            <a:endParaRPr sz="1620" dirty="0">
              <a:latin typeface="Arial" panose="020B0604020202020204"/>
              <a:cs typeface="Arial" panose="020B0604020202020204"/>
            </a:endParaRPr>
          </a:p>
          <a:p>
            <a:pPr>
              <a:spcBef>
                <a:spcPts val="30"/>
              </a:spcBef>
            </a:pPr>
            <a:endParaRPr sz="1665" dirty="0">
              <a:latin typeface="Arial" panose="020B0604020202020204"/>
              <a:cs typeface="Arial" panose="020B0604020202020204"/>
            </a:endParaRPr>
          </a:p>
          <a:p>
            <a:pPr marL="332105"/>
            <a:r>
              <a:rPr sz="1620" b="1" dirty="0">
                <a:solidFill>
                  <a:srgbClr val="0000FF"/>
                </a:solidFill>
                <a:latin typeface="Arial" panose="020B0604020202020204"/>
                <a:cs typeface="Arial" panose="020B0604020202020204"/>
              </a:rPr>
              <a:t>if </a:t>
            </a:r>
            <a:r>
              <a:rPr sz="1620" b="1" dirty="0">
                <a:latin typeface="Arial" panose="020B0604020202020204"/>
                <a:cs typeface="Arial" panose="020B0604020202020204"/>
              </a:rPr>
              <a:t>(index &lt; </a:t>
            </a:r>
            <a:r>
              <a:rPr sz="1620" b="1" spc="-5" dirty="0">
                <a:solidFill>
                  <a:srgbClr val="0000FF"/>
                </a:solidFill>
                <a:latin typeface="Arial" panose="020B0604020202020204"/>
                <a:cs typeface="Arial" panose="020B0604020202020204"/>
              </a:rPr>
              <a:t>blockDim.</a:t>
            </a:r>
            <a:r>
              <a:rPr sz="1620" b="1" spc="-5" dirty="0">
                <a:latin typeface="Arial" panose="020B0604020202020204"/>
                <a:cs typeface="Arial" panose="020B0604020202020204"/>
              </a:rPr>
              <a:t>x)</a:t>
            </a:r>
            <a:r>
              <a:rPr sz="1620" b="1" spc="-23" dirty="0">
                <a:latin typeface="Arial" panose="020B0604020202020204"/>
                <a:cs typeface="Arial" panose="020B0604020202020204"/>
              </a:rPr>
              <a:t> </a:t>
            </a:r>
            <a:r>
              <a:rPr sz="1620" b="1" dirty="0">
                <a:latin typeface="Arial" panose="020B0604020202020204"/>
                <a:cs typeface="Arial" panose="020B0604020202020204"/>
              </a:rPr>
              <a:t>{</a:t>
            </a:r>
            <a:endParaRPr sz="1620" dirty="0">
              <a:latin typeface="Arial" panose="020B0604020202020204"/>
              <a:cs typeface="Arial" panose="020B0604020202020204"/>
            </a:endParaRPr>
          </a:p>
          <a:p>
            <a:pPr marL="560705"/>
            <a:r>
              <a:rPr sz="1620" b="1" spc="-5" dirty="0">
                <a:latin typeface="Arial" panose="020B0604020202020204"/>
                <a:cs typeface="Arial" panose="020B0604020202020204"/>
              </a:rPr>
              <a:t>sdata[index] </a:t>
            </a:r>
            <a:r>
              <a:rPr sz="1620" b="1" dirty="0">
                <a:latin typeface="Arial" panose="020B0604020202020204"/>
                <a:cs typeface="Arial" panose="020B0604020202020204"/>
              </a:rPr>
              <a:t>+= </a:t>
            </a:r>
            <a:r>
              <a:rPr sz="1620" b="1" spc="-5" dirty="0">
                <a:latin typeface="Arial" panose="020B0604020202020204"/>
                <a:cs typeface="Arial" panose="020B0604020202020204"/>
              </a:rPr>
              <a:t>sdata[index </a:t>
            </a:r>
            <a:r>
              <a:rPr sz="1620" b="1" dirty="0">
                <a:latin typeface="Arial" panose="020B0604020202020204"/>
                <a:cs typeface="Arial" panose="020B0604020202020204"/>
              </a:rPr>
              <a:t>+</a:t>
            </a:r>
            <a:r>
              <a:rPr sz="1620" b="1" spc="-5" dirty="0">
                <a:latin typeface="Arial" panose="020B0604020202020204"/>
                <a:cs typeface="Arial" panose="020B0604020202020204"/>
              </a:rPr>
              <a:t> s];</a:t>
            </a:r>
            <a:endParaRPr sz="1620" dirty="0">
              <a:latin typeface="Arial" panose="020B0604020202020204"/>
              <a:cs typeface="Arial" panose="020B0604020202020204"/>
            </a:endParaRPr>
          </a:p>
          <a:p>
            <a:pPr marL="332105"/>
            <a:r>
              <a:rPr sz="1620" b="1" spc="-5" dirty="0">
                <a:latin typeface="Arial" panose="020B0604020202020204"/>
                <a:cs typeface="Arial" panose="020B0604020202020204"/>
              </a:rPr>
              <a:t>}</a:t>
            </a:r>
            <a:endParaRPr sz="1620" dirty="0">
              <a:latin typeface="Arial" panose="020B0604020202020204"/>
              <a:cs typeface="Arial" panose="020B0604020202020204"/>
            </a:endParaRPr>
          </a:p>
          <a:p>
            <a:pPr marL="332105">
              <a:tabLst>
                <a:tab pos="559435" algn="l"/>
              </a:tabLst>
            </a:pPr>
            <a:r>
              <a:rPr sz="1620" b="1" u="heavy" dirty="0">
                <a:uFill>
                  <a:solidFill>
                    <a:srgbClr val="000000"/>
                  </a:solidFill>
                </a:uFill>
                <a:latin typeface="Arial" panose="020B0604020202020204"/>
                <a:cs typeface="Arial" panose="020B0604020202020204"/>
              </a:rPr>
              <a:t> 	</a:t>
            </a:r>
            <a:r>
              <a:rPr sz="1620" b="1" spc="-5" dirty="0">
                <a:latin typeface="Arial" panose="020B0604020202020204"/>
                <a:cs typeface="Arial" panose="020B0604020202020204"/>
              </a:rPr>
              <a:t>syncthreads();</a:t>
            </a:r>
            <a:endParaRPr sz="1620" dirty="0">
              <a:latin typeface="Arial" panose="020B0604020202020204"/>
              <a:cs typeface="Arial" panose="020B0604020202020204"/>
            </a:endParaRPr>
          </a:p>
          <a:p>
            <a:pPr marL="104140"/>
            <a:r>
              <a:rPr sz="1620" b="1" spc="-5" dirty="0">
                <a:latin typeface="Arial" panose="020B0604020202020204"/>
                <a:cs typeface="Arial" panose="020B0604020202020204"/>
              </a:rPr>
              <a:t>}</a:t>
            </a:r>
            <a:endParaRPr sz="1620" dirty="0">
              <a:latin typeface="Arial" panose="020B0604020202020204"/>
              <a:cs typeface="Arial" panose="020B0604020202020204"/>
            </a:endParaRPr>
          </a:p>
        </p:txBody>
      </p:sp>
      <p:sp>
        <p:nvSpPr>
          <p:cNvPr id="3" name="object 3"/>
          <p:cNvSpPr txBox="1"/>
          <p:nvPr/>
        </p:nvSpPr>
        <p:spPr>
          <a:xfrm>
            <a:off x="2400300" y="4161021"/>
            <a:ext cx="4732020" cy="1935658"/>
          </a:xfrm>
          <a:prstGeom prst="rect">
            <a:avLst/>
          </a:prstGeom>
          <a:solidFill>
            <a:srgbClr val="99CCFF">
              <a:alpha val="49018"/>
            </a:srgbClr>
          </a:solidFill>
          <a:ln w="28575">
            <a:solidFill>
              <a:srgbClr val="000000"/>
            </a:solidFill>
          </a:ln>
        </p:spPr>
        <p:txBody>
          <a:bodyPr vert="horz" wrap="square" lIns="0" tIns="61722" rIns="0" bIns="0" rtlCol="0">
            <a:spAutoFit/>
          </a:bodyPr>
          <a:lstStyle/>
          <a:p>
            <a:pPr marL="332105" marR="43180" indent="-227965">
              <a:spcBef>
                <a:spcPts val="485"/>
              </a:spcBef>
            </a:pPr>
            <a:r>
              <a:rPr sz="1620" b="1" spc="-5" dirty="0">
                <a:solidFill>
                  <a:srgbClr val="0000FF"/>
                </a:solidFill>
                <a:latin typeface="Arial" panose="020B0604020202020204"/>
                <a:cs typeface="Arial" panose="020B0604020202020204"/>
              </a:rPr>
              <a:t>for </a:t>
            </a:r>
            <a:r>
              <a:rPr sz="1620" b="1" dirty="0">
                <a:solidFill>
                  <a:srgbClr val="0000FF"/>
                </a:solidFill>
                <a:latin typeface="Arial" panose="020B0604020202020204"/>
                <a:cs typeface="Arial" panose="020B0604020202020204"/>
              </a:rPr>
              <a:t>(unsigned int </a:t>
            </a:r>
            <a:r>
              <a:rPr sz="1620" b="1" spc="-5" dirty="0">
                <a:latin typeface="Arial" panose="020B0604020202020204"/>
                <a:cs typeface="Arial" panose="020B0604020202020204"/>
              </a:rPr>
              <a:t>s=</a:t>
            </a:r>
            <a:r>
              <a:rPr sz="1620" b="1" spc="-5" dirty="0">
                <a:solidFill>
                  <a:srgbClr val="0000FF"/>
                </a:solidFill>
                <a:latin typeface="Arial" panose="020B0604020202020204"/>
                <a:cs typeface="Arial" panose="020B0604020202020204"/>
              </a:rPr>
              <a:t>blockDim.</a:t>
            </a:r>
            <a:r>
              <a:rPr sz="1620" b="1" spc="-5" dirty="0">
                <a:latin typeface="Arial" panose="020B0604020202020204"/>
                <a:cs typeface="Arial" panose="020B0604020202020204"/>
              </a:rPr>
              <a:t>x/2; s&gt;0; s&gt;&gt;=1) {</a:t>
            </a:r>
            <a:endParaRPr lang="en-US" sz="1620" b="1" spc="-5" dirty="0">
              <a:latin typeface="Arial" panose="020B0604020202020204"/>
              <a:cs typeface="Arial" panose="020B0604020202020204"/>
            </a:endParaRPr>
          </a:p>
          <a:p>
            <a:pPr marL="332105" marR="43180" indent="-227965">
              <a:spcBef>
                <a:spcPts val="485"/>
              </a:spcBef>
            </a:pPr>
            <a:r>
              <a:rPr lang="en-US" sz="1620" b="1" spc="-5" dirty="0">
                <a:solidFill>
                  <a:schemeClr val="tx1">
                    <a:lumMod val="65000"/>
                    <a:lumOff val="35000"/>
                  </a:schemeClr>
                </a:solidFill>
                <a:latin typeface="Arial" panose="020B0604020202020204"/>
                <a:cs typeface="Arial" panose="020B0604020202020204"/>
              </a:rPr>
              <a:t>// s represents stride </a:t>
            </a:r>
            <a:endParaRPr lang="en-US" sz="1620" b="1" spc="-5" dirty="0">
              <a:latin typeface="Arial" panose="020B0604020202020204"/>
              <a:cs typeface="Arial" panose="020B0604020202020204"/>
            </a:endParaRPr>
          </a:p>
          <a:p>
            <a:pPr marL="332105" marR="43180" indent="-227965">
              <a:spcBef>
                <a:spcPts val="485"/>
              </a:spcBef>
            </a:pPr>
            <a:r>
              <a:rPr sz="1620" b="1" spc="-5" dirty="0">
                <a:latin typeface="Arial" panose="020B0604020202020204"/>
                <a:cs typeface="Arial" panose="020B0604020202020204"/>
              </a:rPr>
              <a:t>  </a:t>
            </a:r>
            <a:r>
              <a:rPr sz="1620" b="1" dirty="0">
                <a:solidFill>
                  <a:srgbClr val="0000FF"/>
                </a:solidFill>
                <a:latin typeface="Arial" panose="020B0604020202020204"/>
                <a:cs typeface="Arial" panose="020B0604020202020204"/>
              </a:rPr>
              <a:t>if </a:t>
            </a:r>
            <a:r>
              <a:rPr sz="1620" b="1" dirty="0">
                <a:latin typeface="Arial" panose="020B0604020202020204"/>
                <a:cs typeface="Arial" panose="020B0604020202020204"/>
              </a:rPr>
              <a:t>(tid &lt; </a:t>
            </a:r>
            <a:r>
              <a:rPr sz="1620" b="1" spc="-9" dirty="0">
                <a:latin typeface="Arial" panose="020B0604020202020204"/>
                <a:cs typeface="Arial" panose="020B0604020202020204"/>
              </a:rPr>
              <a:t>s) </a:t>
            </a:r>
            <a:r>
              <a:rPr sz="1620" b="1" spc="-5" dirty="0">
                <a:latin typeface="Arial" panose="020B0604020202020204"/>
                <a:cs typeface="Arial" panose="020B0604020202020204"/>
              </a:rPr>
              <a:t>{</a:t>
            </a:r>
            <a:endParaRPr sz="1620" dirty="0">
              <a:latin typeface="Arial" panose="020B0604020202020204"/>
              <a:cs typeface="Arial" panose="020B0604020202020204"/>
            </a:endParaRPr>
          </a:p>
          <a:p>
            <a:pPr marL="560705">
              <a:spcBef>
                <a:spcPts val="5"/>
              </a:spcBef>
            </a:pPr>
            <a:r>
              <a:rPr sz="1620" b="1" spc="-5" dirty="0">
                <a:latin typeface="Arial" panose="020B0604020202020204"/>
                <a:cs typeface="Arial" panose="020B0604020202020204"/>
              </a:rPr>
              <a:t>sdata[tid] </a:t>
            </a:r>
            <a:r>
              <a:rPr sz="1620" b="1" dirty="0">
                <a:latin typeface="Arial" panose="020B0604020202020204"/>
                <a:cs typeface="Arial" panose="020B0604020202020204"/>
              </a:rPr>
              <a:t>+= </a:t>
            </a:r>
            <a:r>
              <a:rPr sz="1620" b="1" spc="-5" dirty="0">
                <a:latin typeface="Arial" panose="020B0604020202020204"/>
                <a:cs typeface="Arial" panose="020B0604020202020204"/>
              </a:rPr>
              <a:t>sdata[tid </a:t>
            </a:r>
            <a:r>
              <a:rPr sz="1620" b="1" dirty="0">
                <a:latin typeface="Arial" panose="020B0604020202020204"/>
                <a:cs typeface="Arial" panose="020B0604020202020204"/>
              </a:rPr>
              <a:t>+</a:t>
            </a:r>
            <a:r>
              <a:rPr sz="1620" b="1" spc="-9" dirty="0">
                <a:latin typeface="Arial" panose="020B0604020202020204"/>
                <a:cs typeface="Arial" panose="020B0604020202020204"/>
              </a:rPr>
              <a:t> </a:t>
            </a:r>
            <a:r>
              <a:rPr sz="1620" b="1" spc="-5" dirty="0">
                <a:latin typeface="Arial" panose="020B0604020202020204"/>
                <a:cs typeface="Arial" panose="020B0604020202020204"/>
              </a:rPr>
              <a:t>s];</a:t>
            </a:r>
            <a:endParaRPr sz="1620" dirty="0">
              <a:latin typeface="Arial" panose="020B0604020202020204"/>
              <a:cs typeface="Arial" panose="020B0604020202020204"/>
            </a:endParaRPr>
          </a:p>
          <a:p>
            <a:pPr marL="332105"/>
            <a:r>
              <a:rPr sz="1620" b="1" spc="-5" dirty="0">
                <a:latin typeface="Arial" panose="020B0604020202020204"/>
                <a:cs typeface="Arial" panose="020B0604020202020204"/>
              </a:rPr>
              <a:t>}</a:t>
            </a:r>
            <a:endParaRPr sz="1620" dirty="0">
              <a:latin typeface="Arial" panose="020B0604020202020204"/>
              <a:cs typeface="Arial" panose="020B0604020202020204"/>
            </a:endParaRPr>
          </a:p>
          <a:p>
            <a:pPr marL="332105">
              <a:tabLst>
                <a:tab pos="559435" algn="l"/>
              </a:tabLst>
            </a:pPr>
            <a:r>
              <a:rPr sz="1620" b="1" u="heavy" dirty="0">
                <a:uFill>
                  <a:solidFill>
                    <a:srgbClr val="000000"/>
                  </a:solidFill>
                </a:uFill>
                <a:latin typeface="Arial" panose="020B0604020202020204"/>
                <a:cs typeface="Arial" panose="020B0604020202020204"/>
              </a:rPr>
              <a:t> 	</a:t>
            </a:r>
            <a:r>
              <a:rPr sz="1620" b="1" spc="-5" dirty="0">
                <a:latin typeface="Arial" panose="020B0604020202020204"/>
                <a:cs typeface="Arial" panose="020B0604020202020204"/>
              </a:rPr>
              <a:t>syncthreads();</a:t>
            </a:r>
            <a:endParaRPr sz="1620" dirty="0">
              <a:latin typeface="Arial" panose="020B0604020202020204"/>
              <a:cs typeface="Arial" panose="020B0604020202020204"/>
            </a:endParaRPr>
          </a:p>
          <a:p>
            <a:pPr marL="104140"/>
            <a:r>
              <a:rPr sz="1620" b="1" spc="-5" dirty="0">
                <a:latin typeface="Arial" panose="020B0604020202020204"/>
                <a:cs typeface="Arial" panose="020B0604020202020204"/>
              </a:rPr>
              <a:t>}</a:t>
            </a:r>
            <a:endParaRPr sz="1620" dirty="0">
              <a:latin typeface="Arial" panose="020B0604020202020204"/>
              <a:cs typeface="Arial" panose="020B0604020202020204"/>
            </a:endParaRPr>
          </a:p>
        </p:txBody>
      </p:sp>
      <p:sp>
        <p:nvSpPr>
          <p:cNvPr id="5" name="object 5"/>
          <p:cNvSpPr txBox="1">
            <a:spLocks noGrp="1"/>
          </p:cNvSpPr>
          <p:nvPr>
            <p:ph type="title"/>
          </p:nvPr>
        </p:nvSpPr>
        <p:spPr>
          <a:xfrm>
            <a:off x="1295400" y="190500"/>
            <a:ext cx="9131935" cy="565150"/>
          </a:xfrm>
          <a:prstGeom prst="rect">
            <a:avLst/>
          </a:prstGeom>
        </p:spPr>
        <p:txBody>
          <a:bodyPr vert="horz" wrap="square" lIns="0" tIns="12002" rIns="0" bIns="0" rtlCol="0">
            <a:spAutoFit/>
          </a:bodyPr>
          <a:lstStyle/>
          <a:p>
            <a:pPr marL="11430">
              <a:spcBef>
                <a:spcPts val="95"/>
              </a:spcBef>
            </a:pPr>
            <a:r>
              <a:rPr sz="3600" b="1" dirty="0"/>
              <a:t>Reduction </a:t>
            </a:r>
            <a:r>
              <a:rPr sz="3600" b="1" spc="-5" dirty="0"/>
              <a:t>#3: Sequential</a:t>
            </a:r>
            <a:r>
              <a:rPr sz="3600" b="1" spc="-126" dirty="0"/>
              <a:t> </a:t>
            </a:r>
            <a:r>
              <a:rPr sz="3600" b="1" dirty="0"/>
              <a:t>Addressing</a:t>
            </a:r>
          </a:p>
        </p:txBody>
      </p:sp>
      <p:sp>
        <p:nvSpPr>
          <p:cNvPr id="8" name="object 8"/>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16</a:t>
            </a:fld>
            <a:endParaRPr dirty="0"/>
          </a:p>
        </p:txBody>
      </p:sp>
      <p:sp>
        <p:nvSpPr>
          <p:cNvPr id="6" name="object 6"/>
          <p:cNvSpPr txBox="1"/>
          <p:nvPr/>
        </p:nvSpPr>
        <p:spPr>
          <a:xfrm>
            <a:off x="2059686" y="914628"/>
            <a:ext cx="5632133" cy="343940"/>
          </a:xfrm>
          <a:prstGeom prst="rect">
            <a:avLst/>
          </a:prstGeom>
        </p:spPr>
        <p:txBody>
          <a:bodyPr vert="horz" wrap="square" lIns="0" tIns="11430" rIns="0" bIns="0" rtlCol="0">
            <a:spAutoFit/>
          </a:bodyPr>
          <a:lstStyle/>
          <a:p>
            <a:pPr marL="11430">
              <a:spcBef>
                <a:spcPts val="90"/>
              </a:spcBef>
            </a:pPr>
            <a:r>
              <a:rPr sz="2160" spc="-5" dirty="0">
                <a:latin typeface="Arial" panose="020B0604020202020204"/>
                <a:cs typeface="Arial" panose="020B0604020202020204"/>
              </a:rPr>
              <a:t>Just replace </a:t>
            </a:r>
            <a:r>
              <a:rPr sz="2160" dirty="0">
                <a:latin typeface="Arial" panose="020B0604020202020204"/>
                <a:cs typeface="Arial" panose="020B0604020202020204"/>
              </a:rPr>
              <a:t>strided indexing in </a:t>
            </a:r>
            <a:r>
              <a:rPr sz="2160" spc="-5" dirty="0">
                <a:latin typeface="Arial" panose="020B0604020202020204"/>
                <a:cs typeface="Arial" panose="020B0604020202020204"/>
              </a:rPr>
              <a:t>inner</a:t>
            </a:r>
            <a:r>
              <a:rPr sz="2160" spc="-36" dirty="0">
                <a:latin typeface="Arial" panose="020B0604020202020204"/>
                <a:cs typeface="Arial" panose="020B0604020202020204"/>
              </a:rPr>
              <a:t> </a:t>
            </a:r>
            <a:r>
              <a:rPr sz="2160" dirty="0">
                <a:latin typeface="Arial" panose="020B0604020202020204"/>
                <a:cs typeface="Arial" panose="020B0604020202020204"/>
              </a:rPr>
              <a:t>loop:</a:t>
            </a:r>
            <a:endParaRPr sz="2160">
              <a:latin typeface="Arial" panose="020B0604020202020204"/>
              <a:cs typeface="Arial" panose="020B0604020202020204"/>
            </a:endParaRPr>
          </a:p>
        </p:txBody>
      </p:sp>
      <p:sp>
        <p:nvSpPr>
          <p:cNvPr id="7" name="object 7"/>
          <p:cNvSpPr txBox="1"/>
          <p:nvPr/>
        </p:nvSpPr>
        <p:spPr>
          <a:xfrm>
            <a:off x="2080468" y="3720728"/>
            <a:ext cx="6418516" cy="343940"/>
          </a:xfrm>
          <a:prstGeom prst="rect">
            <a:avLst/>
          </a:prstGeom>
        </p:spPr>
        <p:txBody>
          <a:bodyPr vert="horz" wrap="square" lIns="0" tIns="11430" rIns="0" bIns="0" rtlCol="0">
            <a:spAutoFit/>
          </a:bodyPr>
          <a:lstStyle/>
          <a:p>
            <a:pPr marL="11430">
              <a:spcBef>
                <a:spcPts val="90"/>
              </a:spcBef>
            </a:pPr>
            <a:r>
              <a:rPr sz="2160" spc="-5" dirty="0">
                <a:latin typeface="Arial" panose="020B0604020202020204"/>
                <a:cs typeface="Arial" panose="020B0604020202020204"/>
              </a:rPr>
              <a:t>With reversed </a:t>
            </a:r>
            <a:r>
              <a:rPr sz="2160" dirty="0">
                <a:latin typeface="Arial" panose="020B0604020202020204"/>
                <a:cs typeface="Arial" panose="020B0604020202020204"/>
              </a:rPr>
              <a:t>loop and </a:t>
            </a:r>
            <a:r>
              <a:rPr sz="2160" spc="-5" dirty="0">
                <a:latin typeface="Arial" panose="020B0604020202020204"/>
                <a:cs typeface="Arial" panose="020B0604020202020204"/>
              </a:rPr>
              <a:t>threadID-based</a:t>
            </a:r>
            <a:r>
              <a:rPr sz="2160" spc="-50" dirty="0">
                <a:latin typeface="Arial" panose="020B0604020202020204"/>
                <a:cs typeface="Arial" panose="020B0604020202020204"/>
              </a:rPr>
              <a:t> </a:t>
            </a:r>
            <a:r>
              <a:rPr sz="2160" dirty="0">
                <a:latin typeface="Arial" panose="020B0604020202020204"/>
                <a:cs typeface="Arial" panose="020B0604020202020204"/>
              </a:rPr>
              <a:t>indexing:</a:t>
            </a:r>
          </a:p>
        </p:txBody>
      </p:sp>
      <p:sp>
        <p:nvSpPr>
          <p:cNvPr id="9"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16</a:t>
            </a:fld>
            <a:endParaRPr lang="en-US" altLang="zh-CN" spc="-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95400" y="221298"/>
            <a:ext cx="940498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9" name="object 9"/>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17</a:t>
            </a:fld>
            <a:endParaRPr dirty="0"/>
          </a:p>
        </p:txBody>
      </p:sp>
      <p:graphicFrame>
        <p:nvGraphicFramePr>
          <p:cNvPr id="4" name="object 4"/>
          <p:cNvGraphicFramePr>
            <a:graphicFrameLocks noGrp="1"/>
          </p:cNvGraphicFramePr>
          <p:nvPr/>
        </p:nvGraphicFramePr>
        <p:xfrm>
          <a:off x="1853946" y="2552700"/>
          <a:ext cx="7475220" cy="3014876"/>
        </p:xfrm>
        <a:graphic>
          <a:graphicData uri="http://schemas.openxmlformats.org/drawingml/2006/table">
            <a:tbl>
              <a:tblPr firstRow="1" bandRow="1">
                <a:tableStyleId>{2D5ABB26-0587-4C30-8999-92F81FD0307C}</a:tableStyleId>
              </a:tblPr>
              <a:tblGrid>
                <a:gridCol w="2116836">
                  <a:extLst>
                    <a:ext uri="{9D8B030D-6E8A-4147-A177-3AD203B41FA5}">
                      <a16:colId xmlns:a16="http://schemas.microsoft.com/office/drawing/2014/main" val="20000"/>
                    </a:ext>
                  </a:extLst>
                </a:gridCol>
                <a:gridCol w="1536763">
                  <a:extLst>
                    <a:ext uri="{9D8B030D-6E8A-4147-A177-3AD203B41FA5}">
                      <a16:colId xmlns:a16="http://schemas.microsoft.com/office/drawing/2014/main" val="20001"/>
                    </a:ext>
                  </a:extLst>
                </a:gridCol>
                <a:gridCol w="1565338">
                  <a:extLst>
                    <a:ext uri="{9D8B030D-6E8A-4147-A177-3AD203B41FA5}">
                      <a16:colId xmlns:a16="http://schemas.microsoft.com/office/drawing/2014/main" val="20002"/>
                    </a:ext>
                  </a:extLst>
                </a:gridCol>
                <a:gridCol w="1200722">
                  <a:extLst>
                    <a:ext uri="{9D8B030D-6E8A-4147-A177-3AD203B41FA5}">
                      <a16:colId xmlns:a16="http://schemas.microsoft.com/office/drawing/2014/main" val="20003"/>
                    </a:ext>
                  </a:extLst>
                </a:gridCol>
                <a:gridCol w="1055561">
                  <a:extLst>
                    <a:ext uri="{9D8B030D-6E8A-4147-A177-3AD203B41FA5}">
                      <a16:colId xmlns:a16="http://schemas.microsoft.com/office/drawing/2014/main" val="20004"/>
                    </a:ext>
                  </a:extLst>
                </a:gridCol>
              </a:tblGrid>
              <a:tr h="1119546">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dirty="0">
                        <a:latin typeface="Arial" panose="020B0604020202020204"/>
                        <a:cs typeface="Arial" panose="020B0604020202020204"/>
                      </a:endParaRPr>
                    </a:p>
                    <a:p>
                      <a:pPr marL="91440" marR="440055">
                        <a:lnSpc>
                          <a:spcPct val="100000"/>
                        </a:lnSpc>
                        <a:spcBef>
                          <a:spcPts val="20"/>
                        </a:spcBef>
                      </a:pPr>
                      <a:r>
                        <a:rPr sz="1400" b="1" spc="-5" dirty="0">
                          <a:latin typeface="Arial" panose="020B0604020202020204"/>
                          <a:cs typeface="Arial" panose="020B0604020202020204"/>
                        </a:rPr>
                        <a:t>interleaved 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divergent</a:t>
                      </a:r>
                      <a:r>
                        <a:rPr sz="1400" b="1" spc="-55" dirty="0">
                          <a:latin typeface="Arial" panose="020B0604020202020204"/>
                          <a:cs typeface="Arial" panose="020B0604020202020204"/>
                        </a:rPr>
                        <a:t> </a:t>
                      </a:r>
                      <a:r>
                        <a:rPr sz="1400" b="1" spc="-5" dirty="0">
                          <a:latin typeface="Arial" panose="020B0604020202020204"/>
                          <a:cs typeface="Arial" panose="020B0604020202020204"/>
                        </a:rPr>
                        <a:t>branching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2.083</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1119546">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dirty="0">
                        <a:latin typeface="Arial" panose="020B0604020202020204"/>
                        <a:cs typeface="Arial" panose="020B0604020202020204"/>
                      </a:endParaRPr>
                    </a:p>
                    <a:p>
                      <a:pPr marL="91440" marR="594360">
                        <a:lnSpc>
                          <a:spcPct val="100000"/>
                        </a:lnSpc>
                        <a:spcBef>
                          <a:spcPts val="25"/>
                        </a:spcBef>
                      </a:pPr>
                      <a:r>
                        <a:rPr sz="1400" b="1" spc="-5" dirty="0">
                          <a:latin typeface="Arial" panose="020B0604020202020204"/>
                          <a:cs typeface="Arial" panose="020B0604020202020204"/>
                        </a:rPr>
                        <a:t>interleaved</a:t>
                      </a:r>
                      <a:r>
                        <a:rPr sz="1400" b="1" spc="-40" dirty="0">
                          <a:latin typeface="Arial" panose="020B0604020202020204"/>
                          <a:cs typeface="Arial" panose="020B0604020202020204"/>
                        </a:rPr>
                        <a:t> </a:t>
                      </a:r>
                      <a:r>
                        <a:rPr sz="1400" b="1" spc="-5" dirty="0">
                          <a:latin typeface="Arial" panose="020B0604020202020204"/>
                          <a:cs typeface="Arial" panose="020B0604020202020204"/>
                        </a:rPr>
                        <a:t>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bank</a:t>
                      </a:r>
                      <a:r>
                        <a:rPr sz="1400" b="1" spc="-35" dirty="0">
                          <a:latin typeface="Arial" panose="020B0604020202020204"/>
                          <a:cs typeface="Arial" panose="020B0604020202020204"/>
                        </a:rPr>
                        <a:t> </a:t>
                      </a:r>
                      <a:r>
                        <a:rPr sz="1400" b="1" spc="-5" dirty="0">
                          <a:latin typeface="Arial" panose="020B0604020202020204"/>
                          <a:cs typeface="Arial" panose="020B0604020202020204"/>
                        </a:rPr>
                        <a:t>conflicts</a:t>
                      </a:r>
                      <a:endParaRPr sz="1400" dirty="0">
                        <a:latin typeface="Arial" panose="020B0604020202020204"/>
                        <a:cs typeface="Arial" panose="020B0604020202020204"/>
                      </a:endParaRPr>
                    </a:p>
                  </a:txBody>
                  <a:tcPr marL="0" marR="0" marT="34862" marB="0">
                    <a:solidFill>
                      <a:srgbClr val="99CCFF">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4.854</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252730">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732708">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dirty="0">
                        <a:latin typeface="Arial" panose="020B0604020202020204"/>
                        <a:cs typeface="Arial" panose="020B0604020202020204"/>
                      </a:endParaRPr>
                    </a:p>
                    <a:p>
                      <a:pPr marL="91440">
                        <a:lnSpc>
                          <a:spcPct val="100000"/>
                        </a:lnSpc>
                        <a:spcBef>
                          <a:spcPts val="25"/>
                        </a:spcBef>
                      </a:pPr>
                      <a:r>
                        <a:rPr sz="1400" b="1" spc="-5" dirty="0">
                          <a:latin typeface="Arial" panose="020B0604020202020204"/>
                          <a:cs typeface="Arial" panose="020B0604020202020204"/>
                        </a:rPr>
                        <a:t>sequential</a:t>
                      </a:r>
                      <a:r>
                        <a:rPr sz="1400" b="1" spc="-25" dirty="0">
                          <a:latin typeface="Arial" panose="020B0604020202020204"/>
                          <a:cs typeface="Arial" panose="020B0604020202020204"/>
                        </a:rPr>
                        <a:t> </a:t>
                      </a:r>
                      <a:r>
                        <a:rPr sz="1400" b="1" spc="-5" dirty="0">
                          <a:latin typeface="Arial" panose="020B0604020202020204"/>
                          <a:cs typeface="Arial" panose="020B0604020202020204"/>
                        </a:rPr>
                        <a:t>addressing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R="18161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L="189230">
                        <a:lnSpc>
                          <a:spcPct val="100000"/>
                        </a:lnSpc>
                        <a:spcBef>
                          <a:spcPts val="1070"/>
                        </a:spcBef>
                      </a:pPr>
                      <a:r>
                        <a:rPr sz="1800" b="1" dirty="0">
                          <a:latin typeface="Arial" panose="020B0604020202020204"/>
                          <a:cs typeface="Arial" panose="020B0604020202020204"/>
                        </a:rPr>
                        <a:t>9.741</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L="252730">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dirty="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bl>
          </a:graphicData>
        </a:graphic>
      </p:graphicFrame>
      <p:sp>
        <p:nvSpPr>
          <p:cNvPr id="5" name="object 5"/>
          <p:cNvSpPr txBox="1"/>
          <p:nvPr/>
        </p:nvSpPr>
        <p:spPr>
          <a:xfrm>
            <a:off x="7064197" y="2028520"/>
            <a:ext cx="892112" cy="510140"/>
          </a:xfrm>
          <a:prstGeom prst="rect">
            <a:avLst/>
          </a:prstGeom>
        </p:spPr>
        <p:txBody>
          <a:bodyPr vert="horz" wrap="square" lIns="0" tIns="11430" rIns="0" bIns="0" rtlCol="0">
            <a:spAutoFit/>
          </a:bodyPr>
          <a:lstStyle/>
          <a:p>
            <a:pPr marL="11430" marR="4445" indent="210820">
              <a:spcBef>
                <a:spcPts val="90"/>
              </a:spcBef>
            </a:pPr>
            <a:r>
              <a:rPr sz="1620" b="1" spc="-5" dirty="0">
                <a:latin typeface="Comic Sans MS" panose="030F0702030302020204" pitchFamily="66" charset="0"/>
                <a:cs typeface="Arial" panose="020B0604020202020204"/>
              </a:rPr>
              <a:t>Step  Spe</a:t>
            </a:r>
            <a:r>
              <a:rPr sz="1620" b="1" spc="-14" dirty="0">
                <a:latin typeface="Comic Sans MS" panose="030F0702030302020204" pitchFamily="66" charset="0"/>
                <a:cs typeface="Arial" panose="020B0604020202020204"/>
              </a:rPr>
              <a:t>e</a:t>
            </a:r>
            <a:r>
              <a:rPr sz="1620" b="1" spc="-5" dirty="0">
                <a:latin typeface="Comic Sans MS" panose="030F0702030302020204" pitchFamily="66" charset="0"/>
                <a:cs typeface="Arial" panose="020B0604020202020204"/>
              </a:rPr>
              <a:t>d</a:t>
            </a:r>
            <a:r>
              <a:rPr sz="1620" b="1" dirty="0">
                <a:latin typeface="Comic Sans MS" panose="030F0702030302020204" pitchFamily="66" charset="0"/>
                <a:cs typeface="Arial" panose="020B0604020202020204"/>
              </a:rPr>
              <a:t>u</a:t>
            </a:r>
            <a:r>
              <a:rPr sz="1620" b="1" spc="-5" dirty="0">
                <a:latin typeface="Comic Sans MS" panose="030F0702030302020204" pitchFamily="66" charset="0"/>
                <a:cs typeface="Arial" panose="020B0604020202020204"/>
              </a:rPr>
              <a:t>p</a:t>
            </a:r>
            <a:endParaRPr sz="1620">
              <a:latin typeface="Comic Sans MS" panose="030F0702030302020204" pitchFamily="66" charset="0"/>
              <a:cs typeface="Arial" panose="020B0604020202020204"/>
            </a:endParaRPr>
          </a:p>
        </p:txBody>
      </p:sp>
      <p:sp>
        <p:nvSpPr>
          <p:cNvPr id="6" name="object 6"/>
          <p:cNvSpPr txBox="1"/>
          <p:nvPr/>
        </p:nvSpPr>
        <p:spPr>
          <a:xfrm>
            <a:off x="5713743" y="2234261"/>
            <a:ext cx="1077849"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B</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n</a:t>
            </a:r>
            <a:r>
              <a:rPr sz="1620" b="1" spc="5" dirty="0">
                <a:latin typeface="Comic Sans MS" panose="030F0702030302020204" pitchFamily="66" charset="0"/>
                <a:cs typeface="Arial" panose="020B0604020202020204"/>
              </a:rPr>
              <a:t>d</a:t>
            </a:r>
            <a:r>
              <a:rPr sz="1620" b="1" spc="32" dirty="0">
                <a:latin typeface="Comic Sans MS" panose="030F0702030302020204" pitchFamily="66" charset="0"/>
                <a:cs typeface="Arial" panose="020B0604020202020204"/>
              </a:rPr>
              <a:t>w</a:t>
            </a:r>
            <a:r>
              <a:rPr sz="1620" b="1" spc="-9" dirty="0">
                <a:latin typeface="Comic Sans MS" panose="030F0702030302020204" pitchFamily="66" charset="0"/>
                <a:cs typeface="Arial" panose="020B0604020202020204"/>
              </a:rPr>
              <a:t>i</a:t>
            </a:r>
            <a:r>
              <a:rPr sz="1620" b="1" dirty="0">
                <a:latin typeface="Comic Sans MS" panose="030F0702030302020204" pitchFamily="66" charset="0"/>
                <a:cs typeface="Arial" panose="020B0604020202020204"/>
              </a:rPr>
              <a:t>dth</a:t>
            </a:r>
            <a:endParaRPr sz="1620">
              <a:latin typeface="Comic Sans MS" panose="030F0702030302020204" pitchFamily="66" charset="0"/>
              <a:cs typeface="Arial" panose="020B0604020202020204"/>
            </a:endParaRPr>
          </a:p>
        </p:txBody>
      </p:sp>
      <p:sp>
        <p:nvSpPr>
          <p:cNvPr id="7" name="object 7"/>
          <p:cNvSpPr txBox="1"/>
          <p:nvPr/>
        </p:nvSpPr>
        <p:spPr>
          <a:xfrm>
            <a:off x="3891572" y="2234261"/>
            <a:ext cx="1549566" cy="260841"/>
          </a:xfrm>
          <a:prstGeom prst="rect">
            <a:avLst/>
          </a:prstGeom>
        </p:spPr>
        <p:txBody>
          <a:bodyPr vert="horz" wrap="square" lIns="0" tIns="11430" rIns="0" bIns="0" rtlCol="0">
            <a:spAutoFit/>
          </a:bodyPr>
          <a:lstStyle/>
          <a:p>
            <a:pPr marL="34290">
              <a:spcBef>
                <a:spcPts val="90"/>
              </a:spcBef>
            </a:pPr>
            <a:r>
              <a:rPr sz="1620" b="1" spc="-9" dirty="0">
                <a:latin typeface="Comic Sans MS" panose="030F0702030302020204" pitchFamily="66" charset="0"/>
                <a:cs typeface="Arial" panose="020B0604020202020204"/>
              </a:rPr>
              <a:t>Time </a:t>
            </a:r>
            <a:r>
              <a:rPr sz="1620" b="1" spc="-5" dirty="0">
                <a:latin typeface="Comic Sans MS" panose="030F0702030302020204" pitchFamily="66" charset="0"/>
                <a:cs typeface="Arial" panose="020B0604020202020204"/>
              </a:rPr>
              <a:t>(2</a:t>
            </a:r>
            <a:r>
              <a:rPr sz="1620" b="1" spc="-6" baseline="25000" dirty="0">
                <a:latin typeface="Comic Sans MS" panose="030F0702030302020204" pitchFamily="66" charset="0"/>
                <a:cs typeface="Arial" panose="020B0604020202020204"/>
              </a:rPr>
              <a:t>22</a:t>
            </a:r>
            <a:r>
              <a:rPr sz="1620" b="1" spc="-94" baseline="25000"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ints)</a:t>
            </a:r>
            <a:endParaRPr sz="1620" dirty="0">
              <a:latin typeface="Comic Sans MS" panose="030F0702030302020204" pitchFamily="66" charset="0"/>
              <a:cs typeface="Arial" panose="020B0604020202020204"/>
            </a:endParaRPr>
          </a:p>
        </p:txBody>
      </p:sp>
      <p:sp>
        <p:nvSpPr>
          <p:cNvPr id="8" name="object 8"/>
          <p:cNvSpPr txBox="1"/>
          <p:nvPr/>
        </p:nvSpPr>
        <p:spPr>
          <a:xfrm>
            <a:off x="8099984" y="2028520"/>
            <a:ext cx="1127570" cy="510140"/>
          </a:xfrm>
          <a:prstGeom prst="rect">
            <a:avLst/>
          </a:prstGeom>
        </p:spPr>
        <p:txBody>
          <a:bodyPr vert="horz" wrap="square" lIns="0" tIns="11430" rIns="0" bIns="0" rtlCol="0">
            <a:spAutoFit/>
          </a:bodyPr>
          <a:lstStyle/>
          <a:p>
            <a:pPr marL="128905" marR="4445" indent="-118110">
              <a:spcBef>
                <a:spcPts val="90"/>
              </a:spcBef>
            </a:pPr>
            <a:r>
              <a:rPr sz="1620" b="1" spc="-5" dirty="0">
                <a:latin typeface="Comic Sans MS" panose="030F0702030302020204" pitchFamily="66" charset="0"/>
                <a:cs typeface="Arial" panose="020B0604020202020204"/>
              </a:rPr>
              <a:t>Cumulati</a:t>
            </a:r>
            <a:r>
              <a:rPr sz="1620" b="1" spc="-41" dirty="0">
                <a:latin typeface="Comic Sans MS" panose="030F0702030302020204" pitchFamily="66" charset="0"/>
                <a:cs typeface="Arial" panose="020B0604020202020204"/>
              </a:rPr>
              <a:t>v</a:t>
            </a:r>
            <a:r>
              <a:rPr sz="1620" b="1" spc="-5" dirty="0">
                <a:latin typeface="Comic Sans MS" panose="030F0702030302020204" pitchFamily="66" charset="0"/>
                <a:cs typeface="Arial" panose="020B0604020202020204"/>
              </a:rPr>
              <a:t>e  Speedup</a:t>
            </a:r>
            <a:endParaRPr sz="1620">
              <a:latin typeface="Comic Sans MS" panose="030F0702030302020204" pitchFamily="66" charset="0"/>
              <a:cs typeface="Arial" panose="020B0604020202020204"/>
            </a:endParaRPr>
          </a:p>
        </p:txBody>
      </p:sp>
      <p:sp>
        <p:nvSpPr>
          <p:cNvPr id="10"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17</a:t>
            </a:fld>
            <a:endParaRPr lang="en-US" altLang="zh-CN" spc="-5" dirty="0">
              <a:latin typeface="Comic Sans MS" panose="030F0702030302020204" pitchFamily="66"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855" y="1927060"/>
            <a:ext cx="6058769" cy="1541640"/>
          </a:xfrm>
          <a:prstGeom prst="rect">
            <a:avLst/>
          </a:prstGeom>
          <a:solidFill>
            <a:srgbClr val="99CCFF">
              <a:alpha val="49018"/>
            </a:srgbClr>
          </a:solidFill>
          <a:ln w="28575">
            <a:solidFill>
              <a:srgbClr val="000000"/>
            </a:solidFill>
          </a:ln>
        </p:spPr>
        <p:txBody>
          <a:bodyPr vert="horz" wrap="square" lIns="0" tIns="20003" rIns="0" bIns="0" rtlCol="0">
            <a:spAutoFit/>
          </a:bodyPr>
          <a:lstStyle/>
          <a:p>
            <a:pPr marL="332105" marR="43180" indent="-227965">
              <a:spcBef>
                <a:spcPts val="160"/>
              </a:spcBef>
            </a:pPr>
            <a:r>
              <a:rPr sz="1620" b="1" spc="-5" dirty="0">
                <a:solidFill>
                  <a:srgbClr val="0000FF"/>
                </a:solidFill>
                <a:latin typeface="Comic Sans MS" panose="030F0702030302020204" pitchFamily="66" charset="0"/>
                <a:cs typeface="Arial" panose="020B0604020202020204"/>
              </a:rPr>
              <a:t>for </a:t>
            </a:r>
            <a:r>
              <a:rPr sz="1620" b="1" dirty="0">
                <a:solidFill>
                  <a:srgbClr val="0000FF"/>
                </a:solidFill>
                <a:latin typeface="Comic Sans MS" panose="030F0702030302020204" pitchFamily="66" charset="0"/>
                <a:cs typeface="Arial" panose="020B0604020202020204"/>
              </a:rPr>
              <a:t>(unsigned int </a:t>
            </a:r>
            <a:r>
              <a:rPr sz="1620" b="1" spc="-5" dirty="0">
                <a:solidFill>
                  <a:srgbClr val="A40020"/>
                </a:solidFill>
                <a:latin typeface="Comic Sans MS" panose="030F0702030302020204" pitchFamily="66" charset="0"/>
                <a:cs typeface="Arial" panose="020B0604020202020204"/>
              </a:rPr>
              <a:t>s=blockDim.x/2</a:t>
            </a:r>
            <a:r>
              <a:rPr sz="1620" b="1" spc="-5" dirty="0">
                <a:latin typeface="Comic Sans MS" panose="030F0702030302020204" pitchFamily="66" charset="0"/>
                <a:cs typeface="Arial" panose="020B0604020202020204"/>
              </a:rPr>
              <a:t>; s&gt;0; s&gt;&gt;=1) {  </a:t>
            </a:r>
            <a:endParaRPr lang="en-US" altLang="zh-CN" sz="1620" b="1" spc="-5" dirty="0">
              <a:latin typeface="Comic Sans MS" panose="030F0702030302020204" pitchFamily="66" charset="0"/>
              <a:cs typeface="Arial" panose="020B0604020202020204"/>
            </a:endParaRPr>
          </a:p>
          <a:p>
            <a:pPr marL="332105" marR="43180" indent="-227965">
              <a:spcBef>
                <a:spcPts val="160"/>
              </a:spcBef>
            </a:pPr>
            <a:r>
              <a:rPr lang="en-US" altLang="zh-CN" sz="1620" b="1" spc="-5" dirty="0">
                <a:solidFill>
                  <a:srgbClr val="A40020"/>
                </a:solidFill>
                <a:latin typeface="Comic Sans MS" panose="030F0702030302020204" pitchFamily="66" charset="0"/>
                <a:cs typeface="Arial" panose="020B0604020202020204"/>
              </a:rPr>
              <a:t>     </a:t>
            </a:r>
            <a:r>
              <a:rPr sz="1620" b="1" dirty="0">
                <a:solidFill>
                  <a:srgbClr val="A40020"/>
                </a:solidFill>
                <a:latin typeface="Comic Sans MS" panose="030F0702030302020204" pitchFamily="66" charset="0"/>
                <a:cs typeface="Arial" panose="020B0604020202020204"/>
              </a:rPr>
              <a:t>if (tid &lt; </a:t>
            </a:r>
            <a:r>
              <a:rPr sz="1620" b="1" spc="-9" dirty="0">
                <a:solidFill>
                  <a:srgbClr val="A40020"/>
                </a:solidFill>
                <a:latin typeface="Comic Sans MS" panose="030F0702030302020204" pitchFamily="66" charset="0"/>
                <a:cs typeface="Arial" panose="020B0604020202020204"/>
              </a:rPr>
              <a:t>s) </a:t>
            </a:r>
            <a:r>
              <a:rPr sz="1620" b="1" spc="-5" dirty="0">
                <a:solidFill>
                  <a:srgbClr val="A40020"/>
                </a:solidFill>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560705"/>
            <a:r>
              <a:rPr lang="en-US" altLang="zh-CN" sz="1620" b="1" spc="-5" dirty="0">
                <a:latin typeface="Comic Sans MS" panose="030F0702030302020204" pitchFamily="66" charset="0"/>
                <a:cs typeface="Arial" panose="020B0604020202020204"/>
              </a:rPr>
              <a:t>	</a:t>
            </a:r>
            <a:r>
              <a:rPr sz="1620" b="1" spc="-5" dirty="0" err="1">
                <a:latin typeface="Comic Sans MS" panose="030F0702030302020204" pitchFamily="66" charset="0"/>
                <a:cs typeface="Arial" panose="020B0604020202020204"/>
              </a:rPr>
              <a:t>sdata</a:t>
            </a:r>
            <a:r>
              <a:rPr sz="1620" b="1" spc="-5" dirty="0">
                <a:latin typeface="Comic Sans MS" panose="030F0702030302020204" pitchFamily="66" charset="0"/>
                <a:cs typeface="Arial" panose="020B0604020202020204"/>
              </a:rPr>
              <a:t>[tid]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332105">
              <a:spcBef>
                <a:spcPts val="5"/>
              </a:spcBef>
            </a:pPr>
            <a:r>
              <a:rPr lang="en-US" altLang="zh-CN" sz="1620" b="1"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32105">
              <a:tabLst>
                <a:tab pos="559435"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a:p>
            <a:pPr marL="10414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4" name="object 4"/>
          <p:cNvSpPr txBox="1">
            <a:spLocks noGrp="1"/>
          </p:cNvSpPr>
          <p:nvPr>
            <p:ph type="title"/>
          </p:nvPr>
        </p:nvSpPr>
        <p:spPr>
          <a:xfrm>
            <a:off x="2742946" y="163061"/>
            <a:ext cx="5994654" cy="566117"/>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Idle</a:t>
            </a:r>
            <a:r>
              <a:rPr sz="3600" b="1" spc="-86" dirty="0">
                <a:latin typeface="Comic Sans MS" panose="030F0702030302020204" pitchFamily="66" charset="0"/>
              </a:rPr>
              <a:t> </a:t>
            </a:r>
            <a:r>
              <a:rPr sz="3600" b="1" spc="-5" dirty="0">
                <a:latin typeface="Comic Sans MS" panose="030F0702030302020204" pitchFamily="66" charset="0"/>
              </a:rPr>
              <a:t>Threads</a:t>
            </a:r>
          </a:p>
        </p:txBody>
      </p:sp>
      <p:sp>
        <p:nvSpPr>
          <p:cNvPr id="7" name="object 7"/>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18</a:t>
            </a:fld>
            <a:endParaRPr dirty="0">
              <a:latin typeface="Comic Sans MS" panose="030F0702030302020204" pitchFamily="66" charset="0"/>
            </a:endParaRPr>
          </a:p>
        </p:txBody>
      </p:sp>
      <p:sp>
        <p:nvSpPr>
          <p:cNvPr id="5" name="object 5"/>
          <p:cNvSpPr txBox="1"/>
          <p:nvPr/>
        </p:nvSpPr>
        <p:spPr>
          <a:xfrm>
            <a:off x="2030242" y="1470088"/>
            <a:ext cx="1213295"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Proble</a:t>
            </a:r>
            <a:r>
              <a:rPr sz="2160" b="1" dirty="0">
                <a:latin typeface="Comic Sans MS" panose="030F0702030302020204" pitchFamily="66" charset="0"/>
                <a:cs typeface="Arial" panose="020B0604020202020204"/>
              </a:rPr>
              <a:t>m</a:t>
            </a:r>
            <a:r>
              <a:rPr sz="2160" b="1" spc="-5" dirty="0">
                <a:latin typeface="Comic Sans MS" panose="030F0702030302020204" pitchFamily="66" charset="0"/>
                <a:cs typeface="Arial" panose="020B0604020202020204"/>
              </a:rPr>
              <a:t>:</a:t>
            </a:r>
            <a:endParaRPr sz="2160">
              <a:latin typeface="Comic Sans MS" panose="030F0702030302020204" pitchFamily="66" charset="0"/>
              <a:cs typeface="Arial" panose="020B0604020202020204"/>
            </a:endParaRPr>
          </a:p>
        </p:txBody>
      </p:sp>
      <p:sp>
        <p:nvSpPr>
          <p:cNvPr id="6" name="object 6"/>
          <p:cNvSpPr txBox="1"/>
          <p:nvPr/>
        </p:nvSpPr>
        <p:spPr>
          <a:xfrm>
            <a:off x="2057400" y="4076700"/>
            <a:ext cx="6372225" cy="1354986"/>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Half </a:t>
            </a:r>
            <a:r>
              <a:rPr sz="2160" b="1" dirty="0">
                <a:latin typeface="Comic Sans MS" panose="030F0702030302020204" pitchFamily="66" charset="0"/>
                <a:cs typeface="Arial" panose="020B0604020202020204"/>
              </a:rPr>
              <a:t>of the </a:t>
            </a:r>
            <a:r>
              <a:rPr sz="2160" b="1" spc="-5" dirty="0">
                <a:latin typeface="Comic Sans MS" panose="030F0702030302020204" pitchFamily="66" charset="0"/>
                <a:cs typeface="Arial" panose="020B0604020202020204"/>
              </a:rPr>
              <a:t>threads are </a:t>
            </a:r>
            <a:r>
              <a:rPr sz="2160" b="1" dirty="0">
                <a:latin typeface="Comic Sans MS" panose="030F0702030302020204" pitchFamily="66" charset="0"/>
                <a:cs typeface="Arial" panose="020B0604020202020204"/>
              </a:rPr>
              <a:t>idle on first loop</a:t>
            </a:r>
            <a:r>
              <a:rPr sz="2160" b="1" spc="-99"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iteration!</a:t>
            </a:r>
            <a:endParaRPr sz="2160" dirty="0">
              <a:latin typeface="Comic Sans MS" panose="030F0702030302020204" pitchFamily="66" charset="0"/>
              <a:cs typeface="Arial" panose="020B0604020202020204"/>
            </a:endParaRPr>
          </a:p>
          <a:p>
            <a:pPr>
              <a:spcBef>
                <a:spcPts val="5"/>
              </a:spcBef>
            </a:pPr>
            <a:endParaRPr sz="2250" dirty="0">
              <a:latin typeface="Comic Sans MS" panose="030F0702030302020204" pitchFamily="66" charset="0"/>
              <a:cs typeface="Arial" panose="020B0604020202020204"/>
            </a:endParaRPr>
          </a:p>
          <a:p>
            <a:pPr marL="11430"/>
            <a:r>
              <a:rPr sz="2160" b="1" spc="-5" dirty="0">
                <a:latin typeface="Comic Sans MS" panose="030F0702030302020204" pitchFamily="66" charset="0"/>
                <a:cs typeface="Arial" panose="020B0604020202020204"/>
              </a:rPr>
              <a:t>This </a:t>
            </a:r>
            <a:r>
              <a:rPr sz="2160" b="1" dirty="0">
                <a:latin typeface="Comic Sans MS" panose="030F0702030302020204" pitchFamily="66" charset="0"/>
                <a:cs typeface="Arial" panose="020B0604020202020204"/>
              </a:rPr>
              <a:t>is</a:t>
            </a:r>
            <a:r>
              <a:rPr sz="2160" b="1" spc="-36"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wasteful…</a:t>
            </a:r>
            <a:endParaRPr sz="2160" dirty="0">
              <a:latin typeface="Comic Sans MS" panose="030F0702030302020204" pitchFamily="66" charset="0"/>
              <a:cs typeface="Arial" panose="020B0604020202020204"/>
            </a:endParaRPr>
          </a:p>
        </p:txBody>
      </p:sp>
      <p:sp>
        <p:nvSpPr>
          <p:cNvPr id="8"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18</a:t>
            </a:fld>
            <a:endParaRPr lang="en-US" altLang="zh-CN" spc="-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34926" y="1655863"/>
            <a:ext cx="6808478" cy="1335943"/>
          </a:xfrm>
          <a:prstGeom prst="rect">
            <a:avLst/>
          </a:prstGeom>
          <a:solidFill>
            <a:srgbClr val="99CCFF">
              <a:alpha val="49018"/>
            </a:srgbClr>
          </a:solidFill>
          <a:ln w="28575">
            <a:solidFill>
              <a:srgbClr val="000000"/>
            </a:solidFill>
          </a:ln>
        </p:spPr>
        <p:txBody>
          <a:bodyPr vert="horz" wrap="square" lIns="0" tIns="88583" rIns="0" bIns="0" rtlCol="0">
            <a:spAutoFit/>
          </a:bodyPr>
          <a:lstStyle/>
          <a:p>
            <a:pPr marL="309880" marR="118110">
              <a:spcBef>
                <a:spcPts val="700"/>
              </a:spcBef>
            </a:pPr>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each thread </a:t>
            </a:r>
            <a:r>
              <a:rPr sz="1620" b="1" dirty="0">
                <a:solidFill>
                  <a:srgbClr val="808080"/>
                </a:solidFill>
                <a:latin typeface="Comic Sans MS" panose="030F0702030302020204" pitchFamily="66" charset="0"/>
                <a:cs typeface="Arial" panose="020B0604020202020204"/>
              </a:rPr>
              <a:t>loads one </a:t>
            </a:r>
            <a:r>
              <a:rPr sz="1620" b="1" spc="-5" dirty="0">
                <a:solidFill>
                  <a:srgbClr val="808080"/>
                </a:solidFill>
                <a:latin typeface="Comic Sans MS" panose="030F0702030302020204" pitchFamily="66" charset="0"/>
                <a:cs typeface="Arial" panose="020B0604020202020204"/>
              </a:rPr>
              <a:t>element from </a:t>
            </a:r>
            <a:r>
              <a:rPr sz="1620" b="1" dirty="0">
                <a:solidFill>
                  <a:srgbClr val="808080"/>
                </a:solidFill>
                <a:latin typeface="Comic Sans MS" panose="030F0702030302020204" pitchFamily="66" charset="0"/>
                <a:cs typeface="Arial" panose="020B0604020202020204"/>
              </a:rPr>
              <a:t>global to </a:t>
            </a:r>
            <a:r>
              <a:rPr sz="1620" b="1" spc="-5" dirty="0">
                <a:solidFill>
                  <a:srgbClr val="808080"/>
                </a:solidFill>
                <a:latin typeface="Comic Sans MS" panose="030F0702030302020204" pitchFamily="66" charset="0"/>
                <a:cs typeface="Arial" panose="020B0604020202020204"/>
              </a:rPr>
              <a:t>shared mem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09880" marR="836930"/>
            <a:r>
              <a:rPr sz="1620" b="1" dirty="0">
                <a:solidFill>
                  <a:srgbClr val="0000FF"/>
                </a:solidFill>
                <a:latin typeface="Comic Sans MS" panose="030F0702030302020204" pitchFamily="66" charset="0"/>
                <a:cs typeface="Arial" panose="020B0604020202020204"/>
              </a:rPr>
              <a:t>unsigned int i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blockIdx.x</a:t>
            </a:r>
            <a:r>
              <a:rPr sz="1620" b="1" spc="-5" dirty="0">
                <a:latin typeface="Comic Sans MS" panose="030F0702030302020204" pitchFamily="66" charset="0"/>
                <a:cs typeface="Arial" panose="020B0604020202020204"/>
              </a:rPr>
              <a:t>*</a:t>
            </a:r>
            <a:r>
              <a:rPr sz="1620" b="1" spc="-5" dirty="0">
                <a:solidFill>
                  <a:srgbClr val="0000FF"/>
                </a:solidFill>
                <a:latin typeface="Comic Sans MS" panose="030F0702030302020204" pitchFamily="66" charset="0"/>
                <a:cs typeface="Arial" panose="020B0604020202020204"/>
              </a:rPr>
              <a:t>blockDim.x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sdata[tid] =</a:t>
            </a:r>
            <a:r>
              <a:rPr sz="1620" b="1" spc="-9"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g_idata[i];</a:t>
            </a:r>
            <a:endParaRPr sz="1620" dirty="0">
              <a:latin typeface="Comic Sans MS" panose="030F0702030302020204" pitchFamily="66" charset="0"/>
              <a:cs typeface="Arial" panose="020B0604020202020204"/>
            </a:endParaRPr>
          </a:p>
          <a:p>
            <a:pPr marL="309880">
              <a:spcBef>
                <a:spcPts val="5"/>
              </a:spcBef>
              <a:tabLst>
                <a:tab pos="53721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3" name="object 3"/>
          <p:cNvSpPr txBox="1"/>
          <p:nvPr/>
        </p:nvSpPr>
        <p:spPr>
          <a:xfrm>
            <a:off x="2134926" y="4007935"/>
            <a:ext cx="6883718" cy="1544269"/>
          </a:xfrm>
          <a:prstGeom prst="rect">
            <a:avLst/>
          </a:prstGeom>
          <a:solidFill>
            <a:srgbClr val="76B800">
              <a:alpha val="49018"/>
            </a:srgbClr>
          </a:solidFill>
          <a:ln w="28575">
            <a:solidFill>
              <a:srgbClr val="000000"/>
            </a:solidFill>
          </a:ln>
        </p:spPr>
        <p:txBody>
          <a:bodyPr vert="horz" wrap="square" lIns="0" tIns="48006" rIns="0" bIns="0" rtlCol="0">
            <a:spAutoFit/>
          </a:bodyPr>
          <a:lstStyle/>
          <a:p>
            <a:pPr marL="309880">
              <a:spcBef>
                <a:spcPts val="380"/>
              </a:spcBef>
            </a:pPr>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perform first </a:t>
            </a:r>
            <a:r>
              <a:rPr sz="1620" b="1" spc="-9" dirty="0">
                <a:solidFill>
                  <a:srgbClr val="808080"/>
                </a:solidFill>
                <a:latin typeface="Comic Sans MS" panose="030F0702030302020204" pitchFamily="66" charset="0"/>
                <a:cs typeface="Arial" panose="020B0604020202020204"/>
              </a:rPr>
              <a:t>level </a:t>
            </a:r>
            <a:r>
              <a:rPr sz="1620" b="1" dirty="0">
                <a:solidFill>
                  <a:srgbClr val="808080"/>
                </a:solidFill>
                <a:latin typeface="Comic Sans MS" panose="030F0702030302020204" pitchFamily="66" charset="0"/>
                <a:cs typeface="Arial" panose="020B0604020202020204"/>
              </a:rPr>
              <a:t>of</a:t>
            </a:r>
            <a:r>
              <a:rPr sz="1620" b="1" spc="36"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reduction,</a:t>
            </a:r>
            <a:endParaRPr sz="1620" dirty="0">
              <a:latin typeface="Comic Sans MS" panose="030F0702030302020204" pitchFamily="66" charset="0"/>
              <a:cs typeface="Arial" panose="020B0604020202020204"/>
            </a:endParaRPr>
          </a:p>
          <a:p>
            <a:pPr marL="309880" marR="43243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reading from </a:t>
            </a:r>
            <a:r>
              <a:rPr sz="1620" b="1" dirty="0">
                <a:solidFill>
                  <a:srgbClr val="808080"/>
                </a:solidFill>
                <a:latin typeface="Comic Sans MS" panose="030F0702030302020204" pitchFamily="66" charset="0"/>
                <a:cs typeface="Arial" panose="020B0604020202020204"/>
              </a:rPr>
              <a:t>global </a:t>
            </a:r>
            <a:r>
              <a:rPr sz="1620" b="1" spc="-23" dirty="0">
                <a:solidFill>
                  <a:srgbClr val="808080"/>
                </a:solidFill>
                <a:latin typeface="Comic Sans MS" panose="030F0702030302020204" pitchFamily="66" charset="0"/>
                <a:cs typeface="Arial" panose="020B0604020202020204"/>
              </a:rPr>
              <a:t>memory, </a:t>
            </a:r>
            <a:r>
              <a:rPr sz="1620" b="1" spc="5" dirty="0">
                <a:solidFill>
                  <a:srgbClr val="808080"/>
                </a:solidFill>
                <a:latin typeface="Comic Sans MS" panose="030F0702030302020204" pitchFamily="66" charset="0"/>
                <a:cs typeface="Arial" panose="020B0604020202020204"/>
              </a:rPr>
              <a:t>writing </a:t>
            </a:r>
            <a:r>
              <a:rPr sz="1620" b="1" dirty="0">
                <a:solidFill>
                  <a:srgbClr val="808080"/>
                </a:solidFill>
                <a:latin typeface="Comic Sans MS" panose="030F0702030302020204" pitchFamily="66" charset="0"/>
                <a:cs typeface="Arial" panose="020B0604020202020204"/>
              </a:rPr>
              <a:t>to </a:t>
            </a:r>
            <a:r>
              <a:rPr sz="1620" b="1" spc="-5" dirty="0">
                <a:solidFill>
                  <a:srgbClr val="808080"/>
                </a:solidFill>
                <a:latin typeface="Comic Sans MS" panose="030F0702030302020204" pitchFamily="66" charset="0"/>
                <a:cs typeface="Arial" panose="020B0604020202020204"/>
              </a:rPr>
              <a:t>shared memory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i = </a:t>
            </a:r>
            <a:r>
              <a:rPr sz="1620" b="1" spc="-5" dirty="0">
                <a:solidFill>
                  <a:srgbClr val="0000FF"/>
                </a:solidFill>
                <a:latin typeface="Comic Sans MS" panose="030F0702030302020204" pitchFamily="66" charset="0"/>
                <a:cs typeface="Arial" panose="020B0604020202020204"/>
              </a:rPr>
              <a:t>blockIdx.</a:t>
            </a:r>
            <a:r>
              <a:rPr sz="1620" b="1" spc="-5" dirty="0">
                <a:latin typeface="Comic Sans MS" panose="030F0702030302020204" pitchFamily="66" charset="0"/>
                <a:cs typeface="Arial" panose="020B0604020202020204"/>
              </a:rPr>
              <a:t>x*(</a:t>
            </a:r>
            <a:r>
              <a:rPr sz="1620" b="1" spc="-5" dirty="0">
                <a:solidFill>
                  <a:srgbClr val="A40020"/>
                </a:solidFill>
                <a:latin typeface="Comic Sans MS" panose="030F0702030302020204" pitchFamily="66" charset="0"/>
                <a:cs typeface="Arial" panose="020B0604020202020204"/>
              </a:rPr>
              <a:t>blockDim.x*2</a:t>
            </a:r>
            <a:r>
              <a:rPr sz="1620" b="1" spc="-5"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spcBef>
                <a:spcPts val="5"/>
              </a:spcBef>
            </a:pPr>
            <a:r>
              <a:rPr sz="1620" b="1" spc="-5" dirty="0">
                <a:solidFill>
                  <a:srgbClr val="A40020"/>
                </a:solidFill>
                <a:latin typeface="Comic Sans MS" panose="030F0702030302020204" pitchFamily="66" charset="0"/>
                <a:cs typeface="Arial" panose="020B0604020202020204"/>
              </a:rPr>
              <a:t>sdata[tid] </a:t>
            </a:r>
            <a:r>
              <a:rPr sz="1620" b="1"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g_idata[i] </a:t>
            </a:r>
            <a:r>
              <a:rPr sz="1620" b="1" dirty="0">
                <a:solidFill>
                  <a:srgbClr val="A40020"/>
                </a:solidFill>
                <a:latin typeface="Comic Sans MS" panose="030F0702030302020204" pitchFamily="66" charset="0"/>
                <a:cs typeface="Arial" panose="020B0604020202020204"/>
              </a:rPr>
              <a:t>+</a:t>
            </a:r>
            <a:r>
              <a:rPr sz="1620" b="1" spc="5"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a:t>
            </a:r>
            <a:r>
              <a:rPr sz="1620" b="1" spc="-5" dirty="0" err="1">
                <a:solidFill>
                  <a:srgbClr val="A40020"/>
                </a:solidFill>
                <a:latin typeface="Comic Sans MS" panose="030F0702030302020204" pitchFamily="66" charset="0"/>
                <a:cs typeface="Arial" panose="020B0604020202020204"/>
              </a:rPr>
              <a:t>i+blockDim.x</a:t>
            </a:r>
            <a:r>
              <a:rPr sz="1620" b="1" spc="-5" dirty="0">
                <a:solidFill>
                  <a:srgbClr val="A40020"/>
                </a:solidFill>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09880">
              <a:tabLst>
                <a:tab pos="537210"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p:txBody>
      </p:sp>
      <p:sp>
        <p:nvSpPr>
          <p:cNvPr id="5" name="object 5"/>
          <p:cNvSpPr txBox="1">
            <a:spLocks noGrp="1"/>
          </p:cNvSpPr>
          <p:nvPr>
            <p:ph type="title"/>
          </p:nvPr>
        </p:nvSpPr>
        <p:spPr>
          <a:xfrm>
            <a:off x="1066800" y="139700"/>
            <a:ext cx="9524365"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Reduction </a:t>
            </a:r>
            <a:r>
              <a:rPr sz="3600" b="1" spc="-5" dirty="0">
                <a:latin typeface="Comic Sans MS" panose="030F0702030302020204" pitchFamily="66" charset="0"/>
              </a:rPr>
              <a:t>#4: First </a:t>
            </a:r>
            <a:r>
              <a:rPr sz="3600" b="1" dirty="0">
                <a:latin typeface="Comic Sans MS" panose="030F0702030302020204" pitchFamily="66" charset="0"/>
              </a:rPr>
              <a:t>Add During</a:t>
            </a:r>
            <a:r>
              <a:rPr sz="3600" b="1" spc="-135" dirty="0">
                <a:latin typeface="Comic Sans MS" panose="030F0702030302020204" pitchFamily="66" charset="0"/>
              </a:rPr>
              <a:t> </a:t>
            </a:r>
            <a:r>
              <a:rPr sz="3600" b="1" spc="-5" dirty="0">
                <a:latin typeface="Comic Sans MS" panose="030F0702030302020204" pitchFamily="66" charset="0"/>
              </a:rPr>
              <a:t>Load</a:t>
            </a:r>
          </a:p>
        </p:txBody>
      </p:sp>
      <p:sp>
        <p:nvSpPr>
          <p:cNvPr id="8" name="object 8"/>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19</a:t>
            </a:fld>
            <a:endParaRPr dirty="0">
              <a:latin typeface="Comic Sans MS" panose="030F0702030302020204" pitchFamily="66" charset="0"/>
            </a:endParaRPr>
          </a:p>
        </p:txBody>
      </p:sp>
      <p:sp>
        <p:nvSpPr>
          <p:cNvPr id="6" name="object 6"/>
          <p:cNvSpPr txBox="1"/>
          <p:nvPr/>
        </p:nvSpPr>
        <p:spPr>
          <a:xfrm>
            <a:off x="2059686" y="914628"/>
            <a:ext cx="6883718" cy="676339"/>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Halve </a:t>
            </a:r>
            <a:r>
              <a:rPr sz="2160" b="1" dirty="0">
                <a:latin typeface="Comic Sans MS" panose="030F0702030302020204" pitchFamily="66" charset="0"/>
                <a:cs typeface="Arial" panose="020B0604020202020204"/>
              </a:rPr>
              <a:t>the </a:t>
            </a:r>
            <a:r>
              <a:rPr sz="2160" b="1" spc="-5" dirty="0">
                <a:latin typeface="Comic Sans MS" panose="030F0702030302020204" pitchFamily="66" charset="0"/>
                <a:cs typeface="Arial" panose="020B0604020202020204"/>
              </a:rPr>
              <a:t>number of blocks, </a:t>
            </a:r>
            <a:r>
              <a:rPr sz="2160" b="1" dirty="0">
                <a:latin typeface="Comic Sans MS" panose="030F0702030302020204" pitchFamily="66" charset="0"/>
                <a:cs typeface="Arial" panose="020B0604020202020204"/>
              </a:rPr>
              <a:t>and </a:t>
            </a:r>
            <a:r>
              <a:rPr sz="2160" b="1" spc="-5" dirty="0">
                <a:latin typeface="Comic Sans MS" panose="030F0702030302020204" pitchFamily="66" charset="0"/>
                <a:cs typeface="Arial" panose="020B0604020202020204"/>
              </a:rPr>
              <a:t>replace </a:t>
            </a:r>
            <a:r>
              <a:rPr sz="2160" b="1" dirty="0">
                <a:latin typeface="Comic Sans MS" panose="030F0702030302020204" pitchFamily="66" charset="0"/>
                <a:cs typeface="Arial" panose="020B0604020202020204"/>
              </a:rPr>
              <a:t>single</a:t>
            </a:r>
            <a:r>
              <a:rPr sz="2160" b="1" spc="36"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load:</a:t>
            </a:r>
            <a:endParaRPr sz="2160">
              <a:latin typeface="Comic Sans MS" panose="030F0702030302020204" pitchFamily="66" charset="0"/>
              <a:cs typeface="Arial" panose="020B0604020202020204"/>
            </a:endParaRPr>
          </a:p>
        </p:txBody>
      </p:sp>
      <p:sp>
        <p:nvSpPr>
          <p:cNvPr id="7" name="object 7"/>
          <p:cNvSpPr txBox="1"/>
          <p:nvPr/>
        </p:nvSpPr>
        <p:spPr>
          <a:xfrm>
            <a:off x="2053714" y="3215265"/>
            <a:ext cx="5909310" cy="676339"/>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With </a:t>
            </a:r>
            <a:r>
              <a:rPr sz="2160" b="1" spc="9" dirty="0">
                <a:latin typeface="Comic Sans MS" panose="030F0702030302020204" pitchFamily="66" charset="0"/>
                <a:cs typeface="Arial" panose="020B0604020202020204"/>
              </a:rPr>
              <a:t>two </a:t>
            </a:r>
            <a:r>
              <a:rPr sz="2160" b="1" spc="-5" dirty="0">
                <a:latin typeface="Comic Sans MS" panose="030F0702030302020204" pitchFamily="66" charset="0"/>
                <a:cs typeface="Arial" panose="020B0604020202020204"/>
              </a:rPr>
              <a:t>loads and </a:t>
            </a:r>
            <a:r>
              <a:rPr sz="2160" b="1" dirty="0">
                <a:latin typeface="Comic Sans MS" panose="030F0702030302020204" pitchFamily="66" charset="0"/>
                <a:cs typeface="Arial" panose="020B0604020202020204"/>
              </a:rPr>
              <a:t>first </a:t>
            </a:r>
            <a:r>
              <a:rPr sz="2160" b="1" spc="-5" dirty="0">
                <a:latin typeface="Comic Sans MS" panose="030F0702030302020204" pitchFamily="66" charset="0"/>
                <a:cs typeface="Arial" panose="020B0604020202020204"/>
              </a:rPr>
              <a:t>add </a:t>
            </a:r>
            <a:r>
              <a:rPr sz="2160" b="1" dirty="0">
                <a:latin typeface="Comic Sans MS" panose="030F0702030302020204" pitchFamily="66" charset="0"/>
                <a:cs typeface="Arial" panose="020B0604020202020204"/>
              </a:rPr>
              <a:t>of the</a:t>
            </a:r>
            <a:r>
              <a:rPr sz="2160" b="1" spc="-171"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reduction:</a:t>
            </a:r>
            <a:endParaRPr sz="2160">
              <a:latin typeface="Comic Sans MS" panose="030F0702030302020204" pitchFamily="66" charset="0"/>
              <a:cs typeface="Arial" panose="020B0604020202020204"/>
            </a:endParaRPr>
          </a:p>
        </p:txBody>
      </p:sp>
      <p:sp>
        <p:nvSpPr>
          <p:cNvPr id="9"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19</a:t>
            </a:fld>
            <a:endParaRPr lang="en-US" altLang="zh-CN" spc="-5" dirty="0">
              <a:latin typeface="Comic Sans MS" panose="030F0702030302020204" pitchFamily="66"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47800" y="221298"/>
            <a:ext cx="9180830"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9" name="object 9"/>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20</a:t>
            </a:fld>
            <a:endParaRPr dirty="0">
              <a:latin typeface="Comic Sans MS" panose="030F0702030302020204" pitchFamily="66" charset="0"/>
            </a:endParaRPr>
          </a:p>
        </p:txBody>
      </p:sp>
      <p:graphicFrame>
        <p:nvGraphicFramePr>
          <p:cNvPr id="4" name="object 4"/>
          <p:cNvGraphicFramePr>
            <a:graphicFrameLocks noGrp="1"/>
          </p:cNvGraphicFramePr>
          <p:nvPr/>
        </p:nvGraphicFramePr>
        <p:xfrm>
          <a:off x="1853946" y="1866900"/>
          <a:ext cx="7476364" cy="2687194"/>
        </p:xfrm>
        <a:graphic>
          <a:graphicData uri="http://schemas.openxmlformats.org/drawingml/2006/table">
            <a:tbl>
              <a:tblPr firstRow="1" bandRow="1">
                <a:tableStyleId>{2D5ABB26-0587-4C30-8999-92F81FD0307C}</a:tableStyleId>
              </a:tblPr>
              <a:tblGrid>
                <a:gridCol w="2187702">
                  <a:extLst>
                    <a:ext uri="{9D8B030D-6E8A-4147-A177-3AD203B41FA5}">
                      <a16:colId xmlns:a16="http://schemas.microsoft.com/office/drawing/2014/main" val="20000"/>
                    </a:ext>
                  </a:extLst>
                </a:gridCol>
                <a:gridCol w="1403032">
                  <a:extLst>
                    <a:ext uri="{9D8B030D-6E8A-4147-A177-3AD203B41FA5}">
                      <a16:colId xmlns:a16="http://schemas.microsoft.com/office/drawing/2014/main" val="20001"/>
                    </a:ext>
                  </a:extLst>
                </a:gridCol>
                <a:gridCol w="1629347">
                  <a:extLst>
                    <a:ext uri="{9D8B030D-6E8A-4147-A177-3AD203B41FA5}">
                      <a16:colId xmlns:a16="http://schemas.microsoft.com/office/drawing/2014/main" val="20002"/>
                    </a:ext>
                  </a:extLst>
                </a:gridCol>
                <a:gridCol w="1200722">
                  <a:extLst>
                    <a:ext uri="{9D8B030D-6E8A-4147-A177-3AD203B41FA5}">
                      <a16:colId xmlns:a16="http://schemas.microsoft.com/office/drawing/2014/main" val="20003"/>
                    </a:ext>
                  </a:extLst>
                </a:gridCol>
                <a:gridCol w="1055561">
                  <a:extLst>
                    <a:ext uri="{9D8B030D-6E8A-4147-A177-3AD203B41FA5}">
                      <a16:colId xmlns:a16="http://schemas.microsoft.com/office/drawing/2014/main" val="20004"/>
                    </a:ext>
                  </a:extLst>
                </a:gridCol>
              </a:tblGrid>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a:latin typeface="Arial" panose="020B0604020202020204"/>
                        <a:cs typeface="Arial" panose="020B0604020202020204"/>
                      </a:endParaRPr>
                    </a:p>
                    <a:p>
                      <a:pPr marL="91440" marR="518160">
                        <a:lnSpc>
                          <a:spcPct val="100000"/>
                        </a:lnSpc>
                        <a:spcBef>
                          <a:spcPts val="20"/>
                        </a:spcBef>
                      </a:pPr>
                      <a:r>
                        <a:rPr sz="1100" b="1" spc="-5" dirty="0">
                          <a:latin typeface="Arial" panose="020B0604020202020204"/>
                          <a:cs typeface="Arial" panose="020B0604020202020204"/>
                        </a:rPr>
                        <a:t>interleaved 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divergent</a:t>
                      </a:r>
                      <a:r>
                        <a:rPr sz="1100" b="1" spc="-50" dirty="0">
                          <a:latin typeface="Arial" panose="020B0604020202020204"/>
                          <a:cs typeface="Arial" panose="020B0604020202020204"/>
                        </a:rPr>
                        <a:t> </a:t>
                      </a:r>
                      <a:r>
                        <a:rPr sz="1100" b="1" spc="-5" dirty="0">
                          <a:latin typeface="Arial" panose="020B0604020202020204"/>
                          <a:cs typeface="Arial" panose="020B0604020202020204"/>
                        </a:rPr>
                        <a:t>branching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2.083</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500" dirty="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a:latin typeface="Arial" panose="020B0604020202020204"/>
                        <a:cs typeface="Arial" panose="020B0604020202020204"/>
                      </a:endParaRPr>
                    </a:p>
                    <a:p>
                      <a:pPr marL="91440" marR="673100">
                        <a:lnSpc>
                          <a:spcPct val="100000"/>
                        </a:lnSpc>
                        <a:spcBef>
                          <a:spcPts val="25"/>
                        </a:spcBef>
                      </a:pPr>
                      <a:r>
                        <a:rPr sz="1100" b="1" spc="-5" dirty="0">
                          <a:latin typeface="Arial" panose="020B0604020202020204"/>
                          <a:cs typeface="Arial" panose="020B0604020202020204"/>
                        </a:rPr>
                        <a:t>interleaved</a:t>
                      </a:r>
                      <a:r>
                        <a:rPr sz="1100" b="1" spc="-40" dirty="0">
                          <a:latin typeface="Arial" panose="020B0604020202020204"/>
                          <a:cs typeface="Arial" panose="020B0604020202020204"/>
                        </a:rPr>
                        <a:t> </a:t>
                      </a:r>
                      <a:r>
                        <a:rPr sz="1100" b="1" spc="-5" dirty="0">
                          <a:latin typeface="Arial" panose="020B0604020202020204"/>
                          <a:cs typeface="Arial" panose="020B0604020202020204"/>
                        </a:rPr>
                        <a:t>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bank</a:t>
                      </a:r>
                      <a:r>
                        <a:rPr sz="1100" b="1" spc="-35" dirty="0">
                          <a:latin typeface="Arial" panose="020B0604020202020204"/>
                          <a:cs typeface="Arial" panose="020B0604020202020204"/>
                        </a:rPr>
                        <a:t> </a:t>
                      </a:r>
                      <a:r>
                        <a:rPr sz="1100" b="1" spc="-5" dirty="0">
                          <a:latin typeface="Arial" panose="020B0604020202020204"/>
                          <a:cs typeface="Arial" panose="020B0604020202020204"/>
                        </a:rPr>
                        <a:t>conflicts</a:t>
                      </a:r>
                      <a:endParaRPr sz="1100">
                        <a:latin typeface="Arial" panose="020B0604020202020204"/>
                        <a:cs typeface="Arial" panose="020B0604020202020204"/>
                      </a:endParaRPr>
                    </a:p>
                  </a:txBody>
                  <a:tcPr marL="0" marR="0" marT="34862" marB="0">
                    <a:solidFill>
                      <a:srgbClr val="99CCFF">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4.854</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252730">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531495">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a:latin typeface="Arial" panose="020B0604020202020204"/>
                        <a:cs typeface="Arial" panose="020B0604020202020204"/>
                      </a:endParaRPr>
                    </a:p>
                    <a:p>
                      <a:pPr marL="91440">
                        <a:lnSpc>
                          <a:spcPct val="100000"/>
                        </a:lnSpc>
                        <a:spcBef>
                          <a:spcPts val="25"/>
                        </a:spcBef>
                      </a:pPr>
                      <a:r>
                        <a:rPr sz="1100" b="1" spc="-5" dirty="0">
                          <a:latin typeface="Arial" panose="020B0604020202020204"/>
                          <a:cs typeface="Arial" panose="020B0604020202020204"/>
                        </a:rPr>
                        <a:t>sequential</a:t>
                      </a:r>
                      <a:r>
                        <a:rPr sz="1100" b="1" spc="-25" dirty="0">
                          <a:latin typeface="Arial" panose="020B0604020202020204"/>
                          <a:cs typeface="Arial" panose="020B0604020202020204"/>
                        </a:rPr>
                        <a:t> </a:t>
                      </a:r>
                      <a:r>
                        <a:rPr sz="1100" b="1" spc="-5" dirty="0">
                          <a:latin typeface="Arial" panose="020B0604020202020204"/>
                          <a:cs typeface="Arial" panose="020B0604020202020204"/>
                        </a:rPr>
                        <a:t>addressing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245745" algn="r">
                        <a:lnSpc>
                          <a:spcPct val="100000"/>
                        </a:lnSpc>
                        <a:spcBef>
                          <a:spcPts val="1070"/>
                        </a:spcBef>
                      </a:pPr>
                      <a:r>
                        <a:rPr sz="1800" b="1" dirty="0">
                          <a:latin typeface="Arial" panose="020B0604020202020204"/>
                          <a:cs typeface="Arial" panose="020B0604020202020204"/>
                        </a:rPr>
                        <a:t>9.741</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L="252730">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4:</a:t>
                      </a:r>
                      <a:endParaRPr sz="180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first </a:t>
                      </a:r>
                      <a:r>
                        <a:rPr sz="1100" b="1" dirty="0">
                          <a:latin typeface="Arial" panose="020B0604020202020204"/>
                          <a:cs typeface="Arial" panose="020B0604020202020204"/>
                        </a:rPr>
                        <a:t>add </a:t>
                      </a:r>
                      <a:r>
                        <a:rPr sz="1100" b="1" spc="-5" dirty="0">
                          <a:latin typeface="Arial" panose="020B0604020202020204"/>
                          <a:cs typeface="Arial" panose="020B0604020202020204"/>
                        </a:rPr>
                        <a:t>during global</a:t>
                      </a:r>
                      <a:r>
                        <a:rPr sz="1100" b="1" spc="25" dirty="0">
                          <a:latin typeface="Arial" panose="020B0604020202020204"/>
                          <a:cs typeface="Arial" panose="020B0604020202020204"/>
                        </a:rPr>
                        <a:t> </a:t>
                      </a:r>
                      <a:r>
                        <a:rPr sz="1100" b="1" dirty="0">
                          <a:latin typeface="Arial" panose="020B0604020202020204"/>
                          <a:cs typeface="Arial" panose="020B0604020202020204"/>
                        </a:rPr>
                        <a:t>load</a:t>
                      </a:r>
                      <a:endParaRPr sz="110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0.965</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17.377</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L="252730">
                        <a:lnSpc>
                          <a:spcPct val="100000"/>
                        </a:lnSpc>
                        <a:spcBef>
                          <a:spcPts val="1075"/>
                        </a:spcBef>
                      </a:pPr>
                      <a:r>
                        <a:rPr sz="1800" b="1" dirty="0">
                          <a:latin typeface="Arial" panose="020B0604020202020204"/>
                          <a:cs typeface="Arial" panose="020B0604020202020204"/>
                        </a:rPr>
                        <a:t>1.78x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3820" algn="r">
                        <a:lnSpc>
                          <a:spcPct val="100000"/>
                        </a:lnSpc>
                        <a:spcBef>
                          <a:spcPts val="1075"/>
                        </a:spcBef>
                      </a:pPr>
                      <a:r>
                        <a:rPr sz="1800" b="1" dirty="0">
                          <a:latin typeface="Arial" panose="020B0604020202020204"/>
                          <a:cs typeface="Arial" panose="020B0604020202020204"/>
                        </a:rPr>
                        <a:t>8.34x</a:t>
                      </a:r>
                      <a:endParaRPr sz="1800" dirty="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7064196" y="1342720"/>
            <a:ext cx="892112" cy="510140"/>
          </a:xfrm>
          <a:prstGeom prst="rect">
            <a:avLst/>
          </a:prstGeom>
        </p:spPr>
        <p:txBody>
          <a:bodyPr vert="horz" wrap="square" lIns="0" tIns="11430" rIns="0" bIns="0" rtlCol="0">
            <a:spAutoFit/>
          </a:bodyPr>
          <a:lstStyle/>
          <a:p>
            <a:pPr marL="11430" marR="4445" indent="210820">
              <a:spcBef>
                <a:spcPts val="90"/>
              </a:spcBef>
            </a:pPr>
            <a:r>
              <a:rPr sz="1620" b="1" spc="-5" dirty="0">
                <a:latin typeface="Comic Sans MS" panose="030F0702030302020204" pitchFamily="66" charset="0"/>
                <a:cs typeface="Arial" panose="020B0604020202020204"/>
              </a:rPr>
              <a:t>Step  Spe</a:t>
            </a:r>
            <a:r>
              <a:rPr sz="1620" b="1" spc="-14" dirty="0">
                <a:latin typeface="Comic Sans MS" panose="030F0702030302020204" pitchFamily="66" charset="0"/>
                <a:cs typeface="Arial" panose="020B0604020202020204"/>
              </a:rPr>
              <a:t>e</a:t>
            </a:r>
            <a:r>
              <a:rPr sz="1620" b="1" spc="-5" dirty="0">
                <a:latin typeface="Comic Sans MS" panose="030F0702030302020204" pitchFamily="66" charset="0"/>
                <a:cs typeface="Arial" panose="020B0604020202020204"/>
              </a:rPr>
              <a:t>d</a:t>
            </a:r>
            <a:r>
              <a:rPr sz="1620" b="1" dirty="0">
                <a:latin typeface="Comic Sans MS" panose="030F0702030302020204" pitchFamily="66" charset="0"/>
                <a:cs typeface="Arial" panose="020B0604020202020204"/>
              </a:rPr>
              <a:t>u</a:t>
            </a:r>
            <a:r>
              <a:rPr sz="1620" b="1" spc="-5" dirty="0">
                <a:latin typeface="Comic Sans MS" panose="030F0702030302020204" pitchFamily="66" charset="0"/>
                <a:cs typeface="Arial" panose="020B0604020202020204"/>
              </a:rPr>
              <a:t>p</a:t>
            </a:r>
            <a:endParaRPr sz="1620">
              <a:latin typeface="Comic Sans MS" panose="030F0702030302020204" pitchFamily="66" charset="0"/>
              <a:cs typeface="Arial" panose="020B0604020202020204"/>
            </a:endParaRPr>
          </a:p>
        </p:txBody>
      </p:sp>
      <p:sp>
        <p:nvSpPr>
          <p:cNvPr id="6" name="object 6"/>
          <p:cNvSpPr txBox="1"/>
          <p:nvPr/>
        </p:nvSpPr>
        <p:spPr>
          <a:xfrm>
            <a:off x="5713742" y="1548461"/>
            <a:ext cx="1077849"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B</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n</a:t>
            </a:r>
            <a:r>
              <a:rPr sz="1620" b="1" spc="5" dirty="0">
                <a:latin typeface="Comic Sans MS" panose="030F0702030302020204" pitchFamily="66" charset="0"/>
                <a:cs typeface="Arial" panose="020B0604020202020204"/>
              </a:rPr>
              <a:t>d</a:t>
            </a:r>
            <a:r>
              <a:rPr sz="1620" b="1" spc="32" dirty="0">
                <a:latin typeface="Comic Sans MS" panose="030F0702030302020204" pitchFamily="66" charset="0"/>
                <a:cs typeface="Arial" panose="020B0604020202020204"/>
              </a:rPr>
              <a:t>w</a:t>
            </a:r>
            <a:r>
              <a:rPr sz="1620" b="1" spc="-9" dirty="0">
                <a:latin typeface="Comic Sans MS" panose="030F0702030302020204" pitchFamily="66" charset="0"/>
                <a:cs typeface="Arial" panose="020B0604020202020204"/>
              </a:rPr>
              <a:t>i</a:t>
            </a:r>
            <a:r>
              <a:rPr sz="1620" b="1" dirty="0">
                <a:latin typeface="Comic Sans MS" panose="030F0702030302020204" pitchFamily="66" charset="0"/>
                <a:cs typeface="Arial" panose="020B0604020202020204"/>
              </a:rPr>
              <a:t>dth</a:t>
            </a:r>
            <a:endParaRPr sz="1620">
              <a:latin typeface="Comic Sans MS" panose="030F0702030302020204" pitchFamily="66" charset="0"/>
              <a:cs typeface="Arial" panose="020B0604020202020204"/>
            </a:endParaRPr>
          </a:p>
        </p:txBody>
      </p:sp>
      <p:sp>
        <p:nvSpPr>
          <p:cNvPr id="7" name="object 7"/>
          <p:cNvSpPr txBox="1"/>
          <p:nvPr/>
        </p:nvSpPr>
        <p:spPr>
          <a:xfrm>
            <a:off x="3891571" y="1548461"/>
            <a:ext cx="1408748" cy="510140"/>
          </a:xfrm>
          <a:prstGeom prst="rect">
            <a:avLst/>
          </a:prstGeom>
        </p:spPr>
        <p:txBody>
          <a:bodyPr vert="horz" wrap="square" lIns="0" tIns="11430" rIns="0" bIns="0" rtlCol="0">
            <a:spAutoFit/>
          </a:bodyPr>
          <a:lstStyle/>
          <a:p>
            <a:pPr marL="34290">
              <a:spcBef>
                <a:spcPts val="90"/>
              </a:spcBef>
            </a:pPr>
            <a:r>
              <a:rPr sz="1620" b="1" spc="-9" dirty="0">
                <a:latin typeface="Comic Sans MS" panose="030F0702030302020204" pitchFamily="66" charset="0"/>
                <a:cs typeface="Arial" panose="020B0604020202020204"/>
              </a:rPr>
              <a:t>Time </a:t>
            </a:r>
            <a:r>
              <a:rPr sz="1620" b="1" spc="-5" dirty="0">
                <a:latin typeface="Comic Sans MS" panose="030F0702030302020204" pitchFamily="66" charset="0"/>
                <a:cs typeface="Arial" panose="020B0604020202020204"/>
              </a:rPr>
              <a:t>(2</a:t>
            </a:r>
            <a:r>
              <a:rPr sz="1620" b="1" spc="-6" baseline="25000" dirty="0">
                <a:latin typeface="Comic Sans MS" panose="030F0702030302020204" pitchFamily="66" charset="0"/>
                <a:cs typeface="Arial" panose="020B0604020202020204"/>
              </a:rPr>
              <a:t>22</a:t>
            </a:r>
            <a:r>
              <a:rPr sz="1620" b="1" spc="-94" baseline="25000"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ints)</a:t>
            </a:r>
            <a:endParaRPr sz="1620">
              <a:latin typeface="Comic Sans MS" panose="030F0702030302020204" pitchFamily="66" charset="0"/>
              <a:cs typeface="Arial" panose="020B0604020202020204"/>
            </a:endParaRPr>
          </a:p>
        </p:txBody>
      </p:sp>
      <p:sp>
        <p:nvSpPr>
          <p:cNvPr id="8" name="object 8"/>
          <p:cNvSpPr txBox="1"/>
          <p:nvPr/>
        </p:nvSpPr>
        <p:spPr>
          <a:xfrm>
            <a:off x="8099983" y="1342720"/>
            <a:ext cx="1127570" cy="510140"/>
          </a:xfrm>
          <a:prstGeom prst="rect">
            <a:avLst/>
          </a:prstGeom>
        </p:spPr>
        <p:txBody>
          <a:bodyPr vert="horz" wrap="square" lIns="0" tIns="11430" rIns="0" bIns="0" rtlCol="0">
            <a:spAutoFit/>
          </a:bodyPr>
          <a:lstStyle/>
          <a:p>
            <a:pPr marL="128905" marR="4445" indent="-118110">
              <a:spcBef>
                <a:spcPts val="90"/>
              </a:spcBef>
            </a:pPr>
            <a:r>
              <a:rPr sz="1620" b="1" spc="-5" dirty="0">
                <a:latin typeface="Comic Sans MS" panose="030F0702030302020204" pitchFamily="66" charset="0"/>
                <a:cs typeface="Arial" panose="020B0604020202020204"/>
              </a:rPr>
              <a:t>Cumulati</a:t>
            </a:r>
            <a:r>
              <a:rPr sz="1620" b="1" spc="-41" dirty="0">
                <a:latin typeface="Comic Sans MS" panose="030F0702030302020204" pitchFamily="66" charset="0"/>
                <a:cs typeface="Arial" panose="020B0604020202020204"/>
              </a:rPr>
              <a:t>v</a:t>
            </a:r>
            <a:r>
              <a:rPr sz="1620" b="1" spc="-5" dirty="0">
                <a:latin typeface="Comic Sans MS" panose="030F0702030302020204" pitchFamily="66" charset="0"/>
                <a:cs typeface="Arial" panose="020B0604020202020204"/>
              </a:rPr>
              <a:t>e  Speedup</a:t>
            </a:r>
            <a:endParaRPr sz="1620">
              <a:latin typeface="Comic Sans MS" panose="030F0702030302020204" pitchFamily="66" charset="0"/>
              <a:cs typeface="Arial" panose="020B0604020202020204"/>
            </a:endParaRPr>
          </a:p>
        </p:txBody>
      </p:sp>
      <p:sp>
        <p:nvSpPr>
          <p:cNvPr id="10"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20</a:t>
            </a:fld>
            <a:endParaRPr lang="en-US" altLang="zh-CN" spc="-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446655" y="190500"/>
            <a:ext cx="6079490"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Instruction</a:t>
            </a:r>
            <a:r>
              <a:rPr sz="3600" b="1" spc="-126" dirty="0">
                <a:latin typeface="Comic Sans MS" panose="030F0702030302020204" pitchFamily="66" charset="0"/>
              </a:rPr>
              <a:t> </a:t>
            </a:r>
            <a:r>
              <a:rPr sz="3600" b="1" dirty="0">
                <a:latin typeface="Comic Sans MS" panose="030F0702030302020204" pitchFamily="66" charset="0"/>
              </a:rPr>
              <a:t>Bottleneck</a:t>
            </a:r>
          </a:p>
        </p:txBody>
      </p:sp>
      <p:sp>
        <p:nvSpPr>
          <p:cNvPr id="11" name="object 11"/>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21</a:t>
            </a:fld>
            <a:endParaRPr dirty="0"/>
          </a:p>
        </p:txBody>
      </p:sp>
      <p:sp>
        <p:nvSpPr>
          <p:cNvPr id="10" name="object 10"/>
          <p:cNvSpPr txBox="1"/>
          <p:nvPr/>
        </p:nvSpPr>
        <p:spPr>
          <a:xfrm>
            <a:off x="2265700" y="1397559"/>
            <a:ext cx="7716500" cy="3588226"/>
          </a:xfrm>
          <a:prstGeom prst="rect">
            <a:avLst/>
          </a:prstGeom>
        </p:spPr>
        <p:txBody>
          <a:bodyPr vert="horz" wrap="square" lIns="0" tIns="77153" rIns="0" bIns="0" rtlCol="0">
            <a:spAutoFit/>
          </a:bodyPr>
          <a:lstStyle/>
          <a:p>
            <a:pPr marL="11430">
              <a:spcBef>
                <a:spcPts val="610"/>
              </a:spcBef>
            </a:pPr>
            <a:r>
              <a:rPr sz="2400" spc="-5" dirty="0">
                <a:latin typeface="Comic Sans MS" panose="030F0702030302020204" pitchFamily="66" charset="0"/>
                <a:cs typeface="Arial" panose="020B0604020202020204"/>
              </a:rPr>
              <a:t>At 17 </a:t>
            </a:r>
            <a:r>
              <a:rPr sz="2400" dirty="0">
                <a:latin typeface="Comic Sans MS" panose="030F0702030302020204" pitchFamily="66" charset="0"/>
                <a:cs typeface="Arial" panose="020B0604020202020204"/>
              </a:rPr>
              <a:t>GB/s, we’re far from bandwidth</a:t>
            </a:r>
            <a:r>
              <a:rPr sz="2400" spc="-117"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bound</a:t>
            </a:r>
            <a:endParaRPr sz="2400" dirty="0">
              <a:latin typeface="Comic Sans MS" panose="030F0702030302020204" pitchFamily="66" charset="0"/>
              <a:cs typeface="Arial" panose="020B0604020202020204"/>
            </a:endParaRPr>
          </a:p>
          <a:p>
            <a:pPr marL="477520">
              <a:spcBef>
                <a:spcPts val="435"/>
              </a:spcBef>
            </a:pPr>
            <a:r>
              <a:rPr sz="2000" dirty="0">
                <a:latin typeface="Comic Sans MS" panose="030F0702030302020204" pitchFamily="66" charset="0"/>
                <a:cs typeface="Arial" panose="020B0604020202020204"/>
              </a:rPr>
              <a:t>And </a:t>
            </a:r>
            <a:r>
              <a:rPr sz="2000" spc="14" dirty="0">
                <a:latin typeface="Comic Sans MS" panose="030F0702030302020204" pitchFamily="66" charset="0"/>
                <a:cs typeface="Arial" panose="020B0604020202020204"/>
              </a:rPr>
              <a:t>we </a:t>
            </a:r>
            <a:r>
              <a:rPr sz="2000" spc="-5" dirty="0">
                <a:latin typeface="Comic Sans MS" panose="030F0702030302020204" pitchFamily="66" charset="0"/>
                <a:cs typeface="Arial" panose="020B0604020202020204"/>
              </a:rPr>
              <a:t>know </a:t>
            </a:r>
            <a:r>
              <a:rPr sz="2000" dirty="0">
                <a:latin typeface="Comic Sans MS" panose="030F0702030302020204" pitchFamily="66" charset="0"/>
                <a:cs typeface="Arial" panose="020B0604020202020204"/>
              </a:rPr>
              <a:t>reduction has </a:t>
            </a:r>
            <a:r>
              <a:rPr sz="2000" spc="-5" dirty="0">
                <a:solidFill>
                  <a:srgbClr val="FF0000"/>
                </a:solidFill>
                <a:latin typeface="Comic Sans MS" panose="030F0702030302020204" pitchFamily="66" charset="0"/>
                <a:cs typeface="Arial" panose="020B0604020202020204"/>
              </a:rPr>
              <a:t>low </a:t>
            </a:r>
            <a:r>
              <a:rPr sz="2000" dirty="0">
                <a:solidFill>
                  <a:srgbClr val="FF0000"/>
                </a:solidFill>
                <a:latin typeface="Comic Sans MS" panose="030F0702030302020204" pitchFamily="66" charset="0"/>
                <a:cs typeface="Arial" panose="020B0604020202020204"/>
              </a:rPr>
              <a:t>arithmetic</a:t>
            </a:r>
            <a:r>
              <a:rPr sz="2000" spc="-171" dirty="0">
                <a:solidFill>
                  <a:srgbClr val="FF0000"/>
                </a:solidFill>
                <a:latin typeface="Comic Sans MS" panose="030F0702030302020204" pitchFamily="66" charset="0"/>
                <a:cs typeface="Arial" panose="020B0604020202020204"/>
              </a:rPr>
              <a:t> </a:t>
            </a:r>
            <a:r>
              <a:rPr sz="2000" dirty="0">
                <a:solidFill>
                  <a:srgbClr val="FF0000"/>
                </a:solidFill>
                <a:latin typeface="Comic Sans MS" panose="030F0702030302020204" pitchFamily="66" charset="0"/>
                <a:cs typeface="Arial" panose="020B0604020202020204"/>
              </a:rPr>
              <a:t>intensity</a:t>
            </a:r>
          </a:p>
          <a:p>
            <a:pPr>
              <a:spcBef>
                <a:spcPts val="45"/>
              </a:spcBef>
            </a:pPr>
            <a:endParaRPr sz="3200" dirty="0">
              <a:latin typeface="Comic Sans MS" panose="030F0702030302020204" pitchFamily="66" charset="0"/>
              <a:cs typeface="Arial" panose="020B0604020202020204"/>
            </a:endParaRPr>
          </a:p>
          <a:p>
            <a:pPr marL="477520" marR="4445" indent="-466090">
              <a:lnSpc>
                <a:spcPct val="108000"/>
              </a:lnSpc>
            </a:pPr>
            <a:r>
              <a:rPr sz="2400" spc="-5" dirty="0">
                <a:latin typeface="Comic Sans MS" panose="030F0702030302020204" pitchFamily="66" charset="0"/>
                <a:cs typeface="Arial" panose="020B0604020202020204"/>
              </a:rPr>
              <a:t>Therefore a </a:t>
            </a:r>
            <a:r>
              <a:rPr sz="2400" dirty="0">
                <a:latin typeface="Comic Sans MS" panose="030F0702030302020204" pitchFamily="66" charset="0"/>
                <a:cs typeface="Arial" panose="020B0604020202020204"/>
              </a:rPr>
              <a:t>likely bottleneck </a:t>
            </a:r>
            <a:r>
              <a:rPr sz="2400" spc="-5" dirty="0">
                <a:latin typeface="Comic Sans MS" panose="030F0702030302020204" pitchFamily="66" charset="0"/>
                <a:cs typeface="Arial" panose="020B0604020202020204"/>
              </a:rPr>
              <a:t>is </a:t>
            </a:r>
            <a:r>
              <a:rPr sz="2400" dirty="0">
                <a:latin typeface="Comic Sans MS" panose="030F0702030302020204" pitchFamily="66" charset="0"/>
                <a:cs typeface="Arial" panose="020B0604020202020204"/>
              </a:rPr>
              <a:t>instruction</a:t>
            </a:r>
            <a:r>
              <a:rPr sz="2400" spc="-68"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overhead  </a:t>
            </a:r>
            <a:r>
              <a:rPr sz="2000" dirty="0">
                <a:latin typeface="Comic Sans MS" panose="030F0702030302020204" pitchFamily="66" charset="0"/>
                <a:cs typeface="Arial" panose="020B0604020202020204"/>
              </a:rPr>
              <a:t>Ancillary instructions that are not loads, stores, or  arithmetic for the </a:t>
            </a:r>
            <a:r>
              <a:rPr lang="en-US" altLang="zh-CN" sz="2000" dirty="0">
                <a:latin typeface="Comic Sans MS" panose="030F0702030302020204" pitchFamily="66" charset="0"/>
                <a:cs typeface="Arial" panose="020B0604020202020204"/>
              </a:rPr>
              <a:t>core</a:t>
            </a:r>
            <a:r>
              <a:rPr sz="2000" spc="-103"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computation</a:t>
            </a:r>
          </a:p>
          <a:p>
            <a:pPr marL="477520">
              <a:spcBef>
                <a:spcPts val="430"/>
              </a:spcBef>
            </a:pPr>
            <a:r>
              <a:rPr sz="2000" dirty="0">
                <a:latin typeface="Comic Sans MS" panose="030F0702030302020204" pitchFamily="66" charset="0"/>
                <a:cs typeface="Arial" panose="020B0604020202020204"/>
              </a:rPr>
              <a:t>In other </a:t>
            </a:r>
            <a:r>
              <a:rPr sz="2000" spc="5" dirty="0">
                <a:latin typeface="Comic Sans MS" panose="030F0702030302020204" pitchFamily="66" charset="0"/>
                <a:cs typeface="Arial" panose="020B0604020202020204"/>
              </a:rPr>
              <a:t>words: </a:t>
            </a:r>
            <a:r>
              <a:rPr sz="2000" dirty="0">
                <a:latin typeface="Comic Sans MS" panose="030F0702030302020204" pitchFamily="66" charset="0"/>
                <a:cs typeface="Arial" panose="020B0604020202020204"/>
              </a:rPr>
              <a:t>address arithmetic and </a:t>
            </a:r>
            <a:r>
              <a:rPr sz="2000" spc="-5" dirty="0">
                <a:latin typeface="Comic Sans MS" panose="030F0702030302020204" pitchFamily="66" charset="0"/>
                <a:cs typeface="Arial" panose="020B0604020202020204"/>
              </a:rPr>
              <a:t>loop</a:t>
            </a:r>
            <a:r>
              <a:rPr sz="2000" spc="-167"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overhead</a:t>
            </a:r>
            <a:endParaRPr sz="2000" dirty="0">
              <a:latin typeface="Comic Sans MS" panose="030F0702030302020204" pitchFamily="66" charset="0"/>
              <a:cs typeface="Arial" panose="020B0604020202020204"/>
            </a:endParaRPr>
          </a:p>
          <a:p>
            <a:pPr>
              <a:spcBef>
                <a:spcPts val="5"/>
              </a:spcBef>
            </a:pPr>
            <a:endParaRPr sz="2800" dirty="0">
              <a:latin typeface="Comic Sans MS" panose="030F0702030302020204" pitchFamily="66" charset="0"/>
              <a:cs typeface="Arial" panose="020B0604020202020204"/>
            </a:endParaRPr>
          </a:p>
          <a:p>
            <a:pPr marL="11430"/>
            <a:r>
              <a:rPr sz="2400" spc="-5" dirty="0">
                <a:latin typeface="Comic Sans MS" panose="030F0702030302020204" pitchFamily="66" charset="0"/>
                <a:cs typeface="Arial" panose="020B0604020202020204"/>
              </a:rPr>
              <a:t>Strategy: unroll</a:t>
            </a:r>
            <a:r>
              <a:rPr sz="2400" spc="-14"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loops</a:t>
            </a:r>
            <a:endParaRPr sz="2400" dirty="0">
              <a:latin typeface="Comic Sans MS" panose="030F0702030302020204" pitchFamily="66" charset="0"/>
              <a:cs typeface="Arial" panose="020B0604020202020204"/>
            </a:endParaRPr>
          </a:p>
        </p:txBody>
      </p:sp>
      <p:sp>
        <p:nvSpPr>
          <p:cNvPr id="5"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21</a:t>
            </a:fld>
            <a:endParaRPr lang="en-US" altLang="zh-CN" spc="-5" dirty="0"/>
          </a:p>
        </p:txBody>
      </p:sp>
      <p:sp>
        <p:nvSpPr>
          <p:cNvPr id="7" name="任意多边形: 形状 6"/>
          <p:cNvSpPr/>
          <p:nvPr/>
        </p:nvSpPr>
        <p:spPr>
          <a:xfrm>
            <a:off x="1704109" y="2161309"/>
            <a:ext cx="5095702" cy="839586"/>
          </a:xfrm>
          <a:custGeom>
            <a:avLst/>
            <a:gdLst>
              <a:gd name="connsiteX0" fmla="*/ 5095702 w 5095702"/>
              <a:gd name="connsiteY0" fmla="*/ 0 h 839586"/>
              <a:gd name="connsiteX1" fmla="*/ 5087389 w 5095702"/>
              <a:gd name="connsiteY1" fmla="*/ 116378 h 839586"/>
              <a:gd name="connsiteX2" fmla="*/ 5045826 w 5095702"/>
              <a:gd name="connsiteY2" fmla="*/ 157942 h 839586"/>
              <a:gd name="connsiteX3" fmla="*/ 4887884 w 5095702"/>
              <a:gd name="connsiteY3" fmla="*/ 182880 h 839586"/>
              <a:gd name="connsiteX4" fmla="*/ 4538749 w 5095702"/>
              <a:gd name="connsiteY4" fmla="*/ 199506 h 839586"/>
              <a:gd name="connsiteX5" fmla="*/ 4272742 w 5095702"/>
              <a:gd name="connsiteY5" fmla="*/ 241069 h 839586"/>
              <a:gd name="connsiteX6" fmla="*/ 4181302 w 5095702"/>
              <a:gd name="connsiteY6" fmla="*/ 266007 h 839586"/>
              <a:gd name="connsiteX7" fmla="*/ 3599411 w 5095702"/>
              <a:gd name="connsiteY7" fmla="*/ 290946 h 839586"/>
              <a:gd name="connsiteX8" fmla="*/ 3325091 w 5095702"/>
              <a:gd name="connsiteY8" fmla="*/ 307571 h 839586"/>
              <a:gd name="connsiteX9" fmla="*/ 3266902 w 5095702"/>
              <a:gd name="connsiteY9" fmla="*/ 315884 h 839586"/>
              <a:gd name="connsiteX10" fmla="*/ 2801389 w 5095702"/>
              <a:gd name="connsiteY10" fmla="*/ 332509 h 839586"/>
              <a:gd name="connsiteX11" fmla="*/ 2726575 w 5095702"/>
              <a:gd name="connsiteY11" fmla="*/ 340822 h 839586"/>
              <a:gd name="connsiteX12" fmla="*/ 2693324 w 5095702"/>
              <a:gd name="connsiteY12" fmla="*/ 349135 h 839586"/>
              <a:gd name="connsiteX13" fmla="*/ 2618509 w 5095702"/>
              <a:gd name="connsiteY13" fmla="*/ 357447 h 839586"/>
              <a:gd name="connsiteX14" fmla="*/ 2468880 w 5095702"/>
              <a:gd name="connsiteY14" fmla="*/ 374073 h 839586"/>
              <a:gd name="connsiteX15" fmla="*/ 2352502 w 5095702"/>
              <a:gd name="connsiteY15" fmla="*/ 390698 h 839586"/>
              <a:gd name="connsiteX16" fmla="*/ 2261062 w 5095702"/>
              <a:gd name="connsiteY16" fmla="*/ 407324 h 839586"/>
              <a:gd name="connsiteX17" fmla="*/ 2144684 w 5095702"/>
              <a:gd name="connsiteY17" fmla="*/ 415636 h 839586"/>
              <a:gd name="connsiteX18" fmla="*/ 2061556 w 5095702"/>
              <a:gd name="connsiteY18" fmla="*/ 423949 h 839586"/>
              <a:gd name="connsiteX19" fmla="*/ 1637607 w 5095702"/>
              <a:gd name="connsiteY19" fmla="*/ 415636 h 839586"/>
              <a:gd name="connsiteX20" fmla="*/ 1438102 w 5095702"/>
              <a:gd name="connsiteY20" fmla="*/ 407324 h 839586"/>
              <a:gd name="connsiteX21" fmla="*/ 1088967 w 5095702"/>
              <a:gd name="connsiteY21" fmla="*/ 399011 h 839586"/>
              <a:gd name="connsiteX22" fmla="*/ 340822 w 5095702"/>
              <a:gd name="connsiteY22" fmla="*/ 399011 h 839586"/>
              <a:gd name="connsiteX23" fmla="*/ 307571 w 5095702"/>
              <a:gd name="connsiteY23" fmla="*/ 407324 h 839586"/>
              <a:gd name="connsiteX24" fmla="*/ 241069 w 5095702"/>
              <a:gd name="connsiteY24" fmla="*/ 415636 h 839586"/>
              <a:gd name="connsiteX25" fmla="*/ 207818 w 5095702"/>
              <a:gd name="connsiteY25" fmla="*/ 423949 h 839586"/>
              <a:gd name="connsiteX26" fmla="*/ 157942 w 5095702"/>
              <a:gd name="connsiteY26" fmla="*/ 440575 h 839586"/>
              <a:gd name="connsiteX27" fmla="*/ 108066 w 5095702"/>
              <a:gd name="connsiteY27" fmla="*/ 473826 h 839586"/>
              <a:gd name="connsiteX28" fmla="*/ 66502 w 5095702"/>
              <a:gd name="connsiteY28" fmla="*/ 523702 h 839586"/>
              <a:gd name="connsiteX29" fmla="*/ 49876 w 5095702"/>
              <a:gd name="connsiteY29" fmla="*/ 540327 h 839586"/>
              <a:gd name="connsiteX30" fmla="*/ 33251 w 5095702"/>
              <a:gd name="connsiteY30" fmla="*/ 573578 h 839586"/>
              <a:gd name="connsiteX31" fmla="*/ 16626 w 5095702"/>
              <a:gd name="connsiteY31" fmla="*/ 590204 h 839586"/>
              <a:gd name="connsiteX32" fmla="*/ 0 w 5095702"/>
              <a:gd name="connsiteY32" fmla="*/ 615142 h 839586"/>
              <a:gd name="connsiteX33" fmla="*/ 8313 w 5095702"/>
              <a:gd name="connsiteY33" fmla="*/ 656706 h 839586"/>
              <a:gd name="connsiteX34" fmla="*/ 58189 w 5095702"/>
              <a:gd name="connsiteY34" fmla="*/ 689956 h 839586"/>
              <a:gd name="connsiteX35" fmla="*/ 99753 w 5095702"/>
              <a:gd name="connsiteY35" fmla="*/ 731520 h 839586"/>
              <a:gd name="connsiteX36" fmla="*/ 116378 w 5095702"/>
              <a:gd name="connsiteY36" fmla="*/ 748146 h 839586"/>
              <a:gd name="connsiteX37" fmla="*/ 141316 w 5095702"/>
              <a:gd name="connsiteY37" fmla="*/ 764771 h 839586"/>
              <a:gd name="connsiteX38" fmla="*/ 157942 w 5095702"/>
              <a:gd name="connsiteY38" fmla="*/ 781396 h 839586"/>
              <a:gd name="connsiteX39" fmla="*/ 182880 w 5095702"/>
              <a:gd name="connsiteY39" fmla="*/ 789709 h 839586"/>
              <a:gd name="connsiteX40" fmla="*/ 249382 w 5095702"/>
              <a:gd name="connsiteY40" fmla="*/ 822960 h 839586"/>
              <a:gd name="connsiteX41" fmla="*/ 274320 w 5095702"/>
              <a:gd name="connsiteY41" fmla="*/ 831273 h 839586"/>
              <a:gd name="connsiteX42" fmla="*/ 299258 w 5095702"/>
              <a:gd name="connsiteY42" fmla="*/ 839586 h 839586"/>
              <a:gd name="connsiteX43" fmla="*/ 382386 w 5095702"/>
              <a:gd name="connsiteY43" fmla="*/ 822960 h 839586"/>
              <a:gd name="connsiteX44" fmla="*/ 432262 w 5095702"/>
              <a:gd name="connsiteY44" fmla="*/ 798022 h 839586"/>
              <a:gd name="connsiteX45" fmla="*/ 532015 w 5095702"/>
              <a:gd name="connsiteY45" fmla="*/ 798022 h 83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095702" h="839586">
                <a:moveTo>
                  <a:pt x="5095702" y="0"/>
                </a:moveTo>
                <a:cubicBezTo>
                  <a:pt x="5092931" y="38793"/>
                  <a:pt x="5094148" y="78078"/>
                  <a:pt x="5087389" y="116378"/>
                </a:cubicBezTo>
                <a:cubicBezTo>
                  <a:pt x="5084323" y="133750"/>
                  <a:pt x="5059975" y="151654"/>
                  <a:pt x="5045826" y="157942"/>
                </a:cubicBezTo>
                <a:cubicBezTo>
                  <a:pt x="4989154" y="183130"/>
                  <a:pt x="4956774" y="179122"/>
                  <a:pt x="4887884" y="182880"/>
                </a:cubicBezTo>
                <a:lnTo>
                  <a:pt x="4538749" y="199506"/>
                </a:lnTo>
                <a:cubicBezTo>
                  <a:pt x="4328471" y="237737"/>
                  <a:pt x="4417521" y="226591"/>
                  <a:pt x="4272742" y="241069"/>
                </a:cubicBezTo>
                <a:cubicBezTo>
                  <a:pt x="4242262" y="249382"/>
                  <a:pt x="4212738" y="262863"/>
                  <a:pt x="4181302" y="266007"/>
                </a:cubicBezTo>
                <a:cubicBezTo>
                  <a:pt x="4044770" y="279660"/>
                  <a:pt x="3748036" y="285001"/>
                  <a:pt x="3599411" y="290946"/>
                </a:cubicBezTo>
                <a:cubicBezTo>
                  <a:pt x="3546335" y="293069"/>
                  <a:pt x="3388046" y="301575"/>
                  <a:pt x="3325091" y="307571"/>
                </a:cubicBezTo>
                <a:cubicBezTo>
                  <a:pt x="3305586" y="309429"/>
                  <a:pt x="3286445" y="314488"/>
                  <a:pt x="3266902" y="315884"/>
                </a:cubicBezTo>
                <a:cubicBezTo>
                  <a:pt x="3146269" y="324500"/>
                  <a:pt x="2899338" y="329710"/>
                  <a:pt x="2801389" y="332509"/>
                </a:cubicBezTo>
                <a:cubicBezTo>
                  <a:pt x="2776451" y="335280"/>
                  <a:pt x="2751375" y="337007"/>
                  <a:pt x="2726575" y="340822"/>
                </a:cubicBezTo>
                <a:cubicBezTo>
                  <a:pt x="2715283" y="342559"/>
                  <a:pt x="2704616" y="347398"/>
                  <a:pt x="2693324" y="349135"/>
                </a:cubicBezTo>
                <a:cubicBezTo>
                  <a:pt x="2668524" y="352950"/>
                  <a:pt x="2643407" y="354335"/>
                  <a:pt x="2618509" y="357447"/>
                </a:cubicBezTo>
                <a:cubicBezTo>
                  <a:pt x="2483640" y="374305"/>
                  <a:pt x="2652284" y="357399"/>
                  <a:pt x="2468880" y="374073"/>
                </a:cubicBezTo>
                <a:cubicBezTo>
                  <a:pt x="2374914" y="392867"/>
                  <a:pt x="2490724" y="370952"/>
                  <a:pt x="2352502" y="390698"/>
                </a:cubicBezTo>
                <a:cubicBezTo>
                  <a:pt x="2300168" y="398174"/>
                  <a:pt x="2318007" y="401630"/>
                  <a:pt x="2261062" y="407324"/>
                </a:cubicBezTo>
                <a:cubicBezTo>
                  <a:pt x="2222364" y="411194"/>
                  <a:pt x="2183441" y="412406"/>
                  <a:pt x="2144684" y="415636"/>
                </a:cubicBezTo>
                <a:cubicBezTo>
                  <a:pt x="2116933" y="417949"/>
                  <a:pt x="2089265" y="421178"/>
                  <a:pt x="2061556" y="423949"/>
                </a:cubicBezTo>
                <a:lnTo>
                  <a:pt x="1637607" y="415636"/>
                </a:lnTo>
                <a:cubicBezTo>
                  <a:pt x="1571071" y="413862"/>
                  <a:pt x="1504631" y="409340"/>
                  <a:pt x="1438102" y="407324"/>
                </a:cubicBezTo>
                <a:lnTo>
                  <a:pt x="1088967" y="399011"/>
                </a:lnTo>
                <a:cubicBezTo>
                  <a:pt x="767788" y="380117"/>
                  <a:pt x="900158" y="384482"/>
                  <a:pt x="340822" y="399011"/>
                </a:cubicBezTo>
                <a:cubicBezTo>
                  <a:pt x="329401" y="399308"/>
                  <a:pt x="318840" y="405446"/>
                  <a:pt x="307571" y="407324"/>
                </a:cubicBezTo>
                <a:cubicBezTo>
                  <a:pt x="285535" y="410997"/>
                  <a:pt x="263236" y="412865"/>
                  <a:pt x="241069" y="415636"/>
                </a:cubicBezTo>
                <a:cubicBezTo>
                  <a:pt x="229985" y="418407"/>
                  <a:pt x="218761" y="420666"/>
                  <a:pt x="207818" y="423949"/>
                </a:cubicBezTo>
                <a:cubicBezTo>
                  <a:pt x="191032" y="428985"/>
                  <a:pt x="157942" y="440575"/>
                  <a:pt x="157942" y="440575"/>
                </a:cubicBezTo>
                <a:cubicBezTo>
                  <a:pt x="94531" y="503986"/>
                  <a:pt x="168214" y="437738"/>
                  <a:pt x="108066" y="473826"/>
                </a:cubicBezTo>
                <a:cubicBezTo>
                  <a:pt x="95529" y="481348"/>
                  <a:pt x="71595" y="517591"/>
                  <a:pt x="66502" y="523702"/>
                </a:cubicBezTo>
                <a:cubicBezTo>
                  <a:pt x="61485" y="529723"/>
                  <a:pt x="55418" y="534785"/>
                  <a:pt x="49876" y="540327"/>
                </a:cubicBezTo>
                <a:cubicBezTo>
                  <a:pt x="44334" y="551411"/>
                  <a:pt x="40125" y="563267"/>
                  <a:pt x="33251" y="573578"/>
                </a:cubicBezTo>
                <a:cubicBezTo>
                  <a:pt x="28904" y="580099"/>
                  <a:pt x="21522" y="584084"/>
                  <a:pt x="16626" y="590204"/>
                </a:cubicBezTo>
                <a:cubicBezTo>
                  <a:pt x="10385" y="598005"/>
                  <a:pt x="5542" y="606829"/>
                  <a:pt x="0" y="615142"/>
                </a:cubicBezTo>
                <a:cubicBezTo>
                  <a:pt x="2771" y="628997"/>
                  <a:pt x="-361" y="645553"/>
                  <a:pt x="8313" y="656706"/>
                </a:cubicBezTo>
                <a:cubicBezTo>
                  <a:pt x="20580" y="672478"/>
                  <a:pt x="58189" y="689956"/>
                  <a:pt x="58189" y="689956"/>
                </a:cubicBezTo>
                <a:cubicBezTo>
                  <a:pt x="86692" y="732711"/>
                  <a:pt x="60167" y="699851"/>
                  <a:pt x="99753" y="731520"/>
                </a:cubicBezTo>
                <a:cubicBezTo>
                  <a:pt x="105873" y="736416"/>
                  <a:pt x="110258" y="743250"/>
                  <a:pt x="116378" y="748146"/>
                </a:cubicBezTo>
                <a:cubicBezTo>
                  <a:pt x="124179" y="754387"/>
                  <a:pt x="133515" y="758530"/>
                  <a:pt x="141316" y="764771"/>
                </a:cubicBezTo>
                <a:cubicBezTo>
                  <a:pt x="147436" y="769667"/>
                  <a:pt x="151222" y="777364"/>
                  <a:pt x="157942" y="781396"/>
                </a:cubicBezTo>
                <a:cubicBezTo>
                  <a:pt x="165456" y="785904"/>
                  <a:pt x="174567" y="786938"/>
                  <a:pt x="182880" y="789709"/>
                </a:cubicBezTo>
                <a:cubicBezTo>
                  <a:pt x="211898" y="818727"/>
                  <a:pt x="192070" y="803856"/>
                  <a:pt x="249382" y="822960"/>
                </a:cubicBezTo>
                <a:lnTo>
                  <a:pt x="274320" y="831273"/>
                </a:lnTo>
                <a:lnTo>
                  <a:pt x="299258" y="839586"/>
                </a:lnTo>
                <a:cubicBezTo>
                  <a:pt x="320704" y="836522"/>
                  <a:pt x="359171" y="834567"/>
                  <a:pt x="382386" y="822960"/>
                </a:cubicBezTo>
                <a:cubicBezTo>
                  <a:pt x="402861" y="812723"/>
                  <a:pt x="408155" y="799629"/>
                  <a:pt x="432262" y="798022"/>
                </a:cubicBezTo>
                <a:cubicBezTo>
                  <a:pt x="465439" y="795810"/>
                  <a:pt x="498764" y="798022"/>
                  <a:pt x="532015" y="798022"/>
                </a:cubicBezTo>
              </a:path>
            </a:pathLst>
          </a:cu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85746" y="163061"/>
            <a:ext cx="6147054" cy="566117"/>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Unrolling the Last</a:t>
            </a:r>
            <a:r>
              <a:rPr sz="3600" b="1" spc="-153" dirty="0">
                <a:latin typeface="Comic Sans MS" panose="030F0702030302020204" pitchFamily="66" charset="0"/>
              </a:rPr>
              <a:t> </a:t>
            </a:r>
            <a:r>
              <a:rPr sz="3600" b="1" dirty="0">
                <a:latin typeface="Comic Sans MS" panose="030F0702030302020204" pitchFamily="66" charset="0"/>
              </a:rPr>
              <a:t>Warp</a:t>
            </a:r>
          </a:p>
        </p:txBody>
      </p:sp>
      <p:sp>
        <p:nvSpPr>
          <p:cNvPr id="12" name="object 12"/>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22</a:t>
            </a:fld>
            <a:endParaRPr dirty="0"/>
          </a:p>
        </p:txBody>
      </p:sp>
      <p:sp>
        <p:nvSpPr>
          <p:cNvPr id="11" name="object 11"/>
          <p:cNvSpPr txBox="1"/>
          <p:nvPr/>
        </p:nvSpPr>
        <p:spPr>
          <a:xfrm>
            <a:off x="1848404" y="1790700"/>
            <a:ext cx="7905196" cy="3427541"/>
          </a:xfrm>
          <a:prstGeom prst="rect">
            <a:avLst/>
          </a:prstGeom>
        </p:spPr>
        <p:txBody>
          <a:bodyPr vert="horz" wrap="square" lIns="0" tIns="77153" rIns="0" bIns="0" rtlCol="0">
            <a:spAutoFit/>
          </a:bodyPr>
          <a:lstStyle/>
          <a:p>
            <a:pPr marL="11430">
              <a:spcBef>
                <a:spcPts val="610"/>
              </a:spcBef>
            </a:pPr>
            <a:r>
              <a:rPr sz="2400" spc="-5" dirty="0">
                <a:latin typeface="Comic Sans MS" panose="030F0702030302020204" pitchFamily="66" charset="0"/>
                <a:cs typeface="Arial" panose="020B0604020202020204"/>
              </a:rPr>
              <a:t>As reduction proceeds, </a:t>
            </a:r>
            <a:r>
              <a:rPr sz="2400" dirty="0">
                <a:latin typeface="Comic Sans MS" panose="030F0702030302020204" pitchFamily="66" charset="0"/>
                <a:cs typeface="Arial" panose="020B0604020202020204"/>
              </a:rPr>
              <a:t>“active” threads</a:t>
            </a:r>
            <a:r>
              <a:rPr sz="2400" spc="-50"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decreases</a:t>
            </a:r>
            <a:endParaRPr sz="2400" dirty="0">
              <a:latin typeface="Comic Sans MS" panose="030F0702030302020204" pitchFamily="66" charset="0"/>
              <a:cs typeface="Arial" panose="020B0604020202020204"/>
            </a:endParaRPr>
          </a:p>
          <a:p>
            <a:pPr marL="477520">
              <a:spcBef>
                <a:spcPts val="435"/>
              </a:spcBef>
            </a:pPr>
            <a:r>
              <a:rPr sz="2000" dirty="0">
                <a:latin typeface="Comic Sans MS" panose="030F0702030302020204" pitchFamily="66" charset="0"/>
                <a:cs typeface="Arial" panose="020B0604020202020204"/>
              </a:rPr>
              <a:t>When s &lt;= 32, </a:t>
            </a:r>
            <a:r>
              <a:rPr sz="2000" spc="14" dirty="0">
                <a:latin typeface="Comic Sans MS" panose="030F0702030302020204" pitchFamily="66" charset="0"/>
                <a:cs typeface="Arial" panose="020B0604020202020204"/>
              </a:rPr>
              <a:t>we </a:t>
            </a:r>
            <a:r>
              <a:rPr sz="2000" spc="-5" dirty="0">
                <a:latin typeface="Comic Sans MS" panose="030F0702030302020204" pitchFamily="66" charset="0"/>
                <a:cs typeface="Arial" panose="020B0604020202020204"/>
              </a:rPr>
              <a:t>have </a:t>
            </a:r>
            <a:r>
              <a:rPr sz="2000" dirty="0">
                <a:latin typeface="Comic Sans MS" panose="030F0702030302020204" pitchFamily="66" charset="0"/>
                <a:cs typeface="Arial" panose="020B0604020202020204"/>
              </a:rPr>
              <a:t>only one </a:t>
            </a:r>
            <a:r>
              <a:rPr sz="2000" spc="9" dirty="0">
                <a:latin typeface="Comic Sans MS" panose="030F0702030302020204" pitchFamily="66" charset="0"/>
                <a:cs typeface="Arial" panose="020B0604020202020204"/>
              </a:rPr>
              <a:t>warp</a:t>
            </a:r>
            <a:r>
              <a:rPr sz="2000" spc="-216"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left</a:t>
            </a:r>
          </a:p>
          <a:p>
            <a:pPr marL="11430" marR="464820">
              <a:lnSpc>
                <a:spcPts val="3115"/>
              </a:lnSpc>
              <a:spcBef>
                <a:spcPts val="185"/>
              </a:spcBef>
            </a:pPr>
            <a:r>
              <a:rPr sz="2400" dirty="0">
                <a:latin typeface="Comic Sans MS" panose="030F0702030302020204" pitchFamily="66" charset="0"/>
                <a:cs typeface="Arial" panose="020B0604020202020204"/>
              </a:rPr>
              <a:t>Instructions </a:t>
            </a:r>
            <a:r>
              <a:rPr sz="2400" spc="-5" dirty="0">
                <a:latin typeface="Comic Sans MS" panose="030F0702030302020204" pitchFamily="66" charset="0"/>
                <a:cs typeface="Arial" panose="020B0604020202020204"/>
              </a:rPr>
              <a:t>are SIMD synchronous </a:t>
            </a:r>
            <a:r>
              <a:rPr sz="2400" dirty="0">
                <a:latin typeface="Comic Sans MS" panose="030F0702030302020204" pitchFamily="66" charset="0"/>
                <a:cs typeface="Arial" panose="020B0604020202020204"/>
              </a:rPr>
              <a:t>within </a:t>
            </a:r>
            <a:r>
              <a:rPr sz="2400" spc="-5" dirty="0">
                <a:latin typeface="Comic Sans MS" panose="030F0702030302020204" pitchFamily="66" charset="0"/>
                <a:cs typeface="Arial" panose="020B0604020202020204"/>
              </a:rPr>
              <a:t>a</a:t>
            </a:r>
            <a:r>
              <a:rPr sz="2400" spc="-86"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warp  </a:t>
            </a:r>
            <a:r>
              <a:rPr sz="2400" spc="-5" dirty="0">
                <a:latin typeface="Comic Sans MS" panose="030F0702030302020204" pitchFamily="66" charset="0"/>
                <a:cs typeface="Arial" panose="020B0604020202020204"/>
              </a:rPr>
              <a:t>That means </a:t>
            </a:r>
            <a:r>
              <a:rPr sz="2400" spc="5" dirty="0">
                <a:latin typeface="Comic Sans MS" panose="030F0702030302020204" pitchFamily="66" charset="0"/>
                <a:cs typeface="Arial" panose="020B0604020202020204"/>
              </a:rPr>
              <a:t>when </a:t>
            </a:r>
            <a:r>
              <a:rPr sz="2400" spc="-5" dirty="0">
                <a:latin typeface="Comic Sans MS" panose="030F0702030302020204" pitchFamily="66" charset="0"/>
                <a:cs typeface="Arial" panose="020B0604020202020204"/>
              </a:rPr>
              <a:t>s </a:t>
            </a:r>
            <a:r>
              <a:rPr sz="2400" dirty="0">
                <a:latin typeface="Comic Sans MS" panose="030F0702030302020204" pitchFamily="66" charset="0"/>
                <a:cs typeface="Arial" panose="020B0604020202020204"/>
              </a:rPr>
              <a:t>&lt;=</a:t>
            </a:r>
            <a:r>
              <a:rPr sz="2400" spc="-50"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32:</a:t>
            </a:r>
            <a:endParaRPr sz="2400" dirty="0">
              <a:latin typeface="Comic Sans MS" panose="030F0702030302020204" pitchFamily="66" charset="0"/>
              <a:cs typeface="Arial" panose="020B0604020202020204"/>
            </a:endParaRPr>
          </a:p>
          <a:p>
            <a:pPr marL="477520">
              <a:spcBef>
                <a:spcPts val="245"/>
              </a:spcBef>
              <a:tabLst>
                <a:tab pos="2634615" algn="l"/>
              </a:tabLst>
            </a:pPr>
            <a:r>
              <a:rPr sz="2000" dirty="0">
                <a:latin typeface="Comic Sans MS" panose="030F0702030302020204" pitchFamily="66" charset="0"/>
                <a:cs typeface="Arial" panose="020B0604020202020204"/>
              </a:rPr>
              <a:t>We don’t</a:t>
            </a:r>
            <a:r>
              <a:rPr sz="2000" spc="-32"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need</a:t>
            </a:r>
            <a:r>
              <a:rPr sz="2000" spc="-9"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to</a:t>
            </a:r>
            <a:r>
              <a:rPr sz="2000" u="heavy" dirty="0">
                <a:uFill>
                  <a:solidFill>
                    <a:srgbClr val="000000"/>
                  </a:solidFill>
                </a:uFill>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syncthreads()</a:t>
            </a:r>
            <a:endParaRPr sz="2000" dirty="0">
              <a:latin typeface="Comic Sans MS" panose="030F0702030302020204" pitchFamily="66" charset="0"/>
              <a:cs typeface="Arial" panose="020B0604020202020204"/>
            </a:endParaRPr>
          </a:p>
          <a:p>
            <a:pPr marL="477520" marR="471805">
              <a:spcBef>
                <a:spcPts val="430"/>
              </a:spcBef>
            </a:pPr>
            <a:r>
              <a:rPr sz="2000" dirty="0">
                <a:latin typeface="Comic Sans MS" panose="030F0702030302020204" pitchFamily="66" charset="0"/>
                <a:cs typeface="Arial" panose="020B0604020202020204"/>
              </a:rPr>
              <a:t>We don’t need “if (tid &lt; s)” because it doesn’t </a:t>
            </a:r>
            <a:r>
              <a:rPr sz="2000" spc="-9" dirty="0">
                <a:latin typeface="Comic Sans MS" panose="030F0702030302020204" pitchFamily="66" charset="0"/>
                <a:cs typeface="Arial" panose="020B0604020202020204"/>
              </a:rPr>
              <a:t>save</a:t>
            </a:r>
            <a:r>
              <a:rPr sz="2000" spc="-198"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any  </a:t>
            </a:r>
            <a:r>
              <a:rPr sz="2000" spc="5" dirty="0">
                <a:latin typeface="Comic Sans MS" panose="030F0702030302020204" pitchFamily="66" charset="0"/>
                <a:cs typeface="Arial" panose="020B0604020202020204"/>
              </a:rPr>
              <a:t>work</a:t>
            </a:r>
            <a:endParaRPr sz="2000" dirty="0">
              <a:latin typeface="Comic Sans MS" panose="030F0702030302020204" pitchFamily="66" charset="0"/>
              <a:cs typeface="Arial" panose="020B0604020202020204"/>
            </a:endParaRPr>
          </a:p>
          <a:p>
            <a:pPr>
              <a:spcBef>
                <a:spcPts val="5"/>
              </a:spcBef>
            </a:pPr>
            <a:endParaRPr sz="2800" dirty="0">
              <a:latin typeface="Comic Sans MS" panose="030F0702030302020204" pitchFamily="66" charset="0"/>
              <a:cs typeface="Arial" panose="020B0604020202020204"/>
            </a:endParaRPr>
          </a:p>
          <a:p>
            <a:pPr marL="11430"/>
            <a:r>
              <a:rPr sz="2400" spc="-5" dirty="0">
                <a:latin typeface="Comic Sans MS" panose="030F0702030302020204" pitchFamily="66" charset="0"/>
                <a:cs typeface="Arial" panose="020B0604020202020204"/>
              </a:rPr>
              <a:t>Let’s unroll </a:t>
            </a:r>
            <a:r>
              <a:rPr sz="2400" dirty="0">
                <a:latin typeface="Comic Sans MS" panose="030F0702030302020204" pitchFamily="66" charset="0"/>
                <a:cs typeface="Arial" panose="020B0604020202020204"/>
              </a:rPr>
              <a:t>the last 6 iterations of the </a:t>
            </a:r>
            <a:r>
              <a:rPr sz="2400" spc="-5" dirty="0">
                <a:latin typeface="Comic Sans MS" panose="030F0702030302020204" pitchFamily="66" charset="0"/>
                <a:cs typeface="Arial" panose="020B0604020202020204"/>
              </a:rPr>
              <a:t>inner</a:t>
            </a:r>
            <a:r>
              <a:rPr sz="2400" spc="-117"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loop</a:t>
            </a:r>
            <a:endParaRPr sz="2400" dirty="0">
              <a:latin typeface="Comic Sans MS" panose="030F0702030302020204" pitchFamily="66" charset="0"/>
              <a:cs typeface="Arial" panose="020B0604020202020204"/>
            </a:endParaRPr>
          </a:p>
        </p:txBody>
      </p:sp>
      <p:sp>
        <p:nvSpPr>
          <p:cNvPr id="5"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22</a:t>
            </a:fld>
            <a:endParaRPr lang="en-US" altLang="zh-CN" spc="-5" dirty="0">
              <a:latin typeface="Comic Sans MS" panose="030F07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400300" y="891540"/>
            <a:ext cx="5692140" cy="2057400"/>
          </a:xfrm>
          <a:custGeom>
            <a:avLst/>
            <a:gdLst/>
            <a:ahLst/>
            <a:cxnLst/>
            <a:rect l="l" t="t" r="r" b="b"/>
            <a:pathLst>
              <a:path w="6324600" h="2286000">
                <a:moveTo>
                  <a:pt x="6324600" y="0"/>
                </a:moveTo>
                <a:lnTo>
                  <a:pt x="0" y="0"/>
                </a:lnTo>
                <a:lnTo>
                  <a:pt x="0" y="2286000"/>
                </a:lnTo>
                <a:lnTo>
                  <a:pt x="6324600" y="2286000"/>
                </a:lnTo>
                <a:lnTo>
                  <a:pt x="6324600" y="0"/>
                </a:lnTo>
                <a:close/>
              </a:path>
            </a:pathLst>
          </a:custGeom>
          <a:solidFill>
            <a:srgbClr val="76B800">
              <a:alpha val="49018"/>
            </a:srgbClr>
          </a:solidFill>
        </p:spPr>
        <p:txBody>
          <a:bodyPr wrap="square" lIns="0" tIns="0" rIns="0" bIns="0" rtlCol="0"/>
          <a:lstStyle/>
          <a:p>
            <a:endParaRPr sz="1620">
              <a:latin typeface="Comic Sans MS" panose="030F0702030302020204" pitchFamily="66" charset="0"/>
            </a:endParaRPr>
          </a:p>
        </p:txBody>
      </p:sp>
      <p:sp>
        <p:nvSpPr>
          <p:cNvPr id="3" name="object 3"/>
          <p:cNvSpPr txBox="1"/>
          <p:nvPr/>
        </p:nvSpPr>
        <p:spPr>
          <a:xfrm>
            <a:off x="2228850" y="955518"/>
            <a:ext cx="6035040" cy="2030749"/>
          </a:xfrm>
          <a:prstGeom prst="rect">
            <a:avLst/>
          </a:prstGeom>
          <a:ln w="28575">
            <a:solidFill>
              <a:srgbClr val="000000"/>
            </a:solidFill>
          </a:ln>
        </p:spPr>
        <p:txBody>
          <a:bodyPr vert="horz" wrap="square" lIns="0" tIns="36005" rIns="0" bIns="0" rtlCol="0">
            <a:spAutoFit/>
          </a:bodyPr>
          <a:lstStyle/>
          <a:p>
            <a:pPr marL="537845" marR="105410" indent="-455295" algn="just">
              <a:spcBef>
                <a:spcPts val="285"/>
              </a:spcBef>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u="heavy" spc="-9" dirty="0">
                <a:solidFill>
                  <a:srgbClr val="0000FF"/>
                </a:solidFill>
                <a:uFill>
                  <a:solidFill>
                    <a:srgbClr val="0000FE"/>
                  </a:solidFill>
                </a:uFill>
                <a:latin typeface="Comic Sans MS" panose="030F0702030302020204" pitchFamily="66" charset="0"/>
                <a:cs typeface="Arial" panose="020B0604020202020204"/>
              </a:rPr>
              <a:t> </a:t>
            </a:r>
            <a:r>
              <a:rPr sz="1620" b="1" spc="-9" dirty="0">
                <a:solidFill>
                  <a:srgbClr val="0000FF"/>
                </a:solidFill>
                <a:latin typeface="Comic Sans MS" panose="030F0702030302020204" pitchFamily="66" charset="0"/>
                <a:cs typeface="Arial" panose="020B0604020202020204"/>
              </a:rPr>
              <a:t>device</a:t>
            </a:r>
            <a:r>
              <a:rPr sz="1620" b="1" u="heavy" spc="-9" dirty="0">
                <a:solidFill>
                  <a:srgbClr val="0000FF"/>
                </a:solidFill>
                <a:uFill>
                  <a:solidFill>
                    <a:srgbClr val="0000FE"/>
                  </a:solidFill>
                </a:uFill>
                <a:latin typeface="Comic Sans MS" panose="030F0702030302020204" pitchFamily="66" charset="0"/>
                <a:cs typeface="Arial" panose="020B0604020202020204"/>
              </a:rPr>
              <a:t> </a:t>
            </a:r>
            <a:r>
              <a:rPr sz="1620" b="1" spc="-14" dirty="0">
                <a:solidFill>
                  <a:srgbClr val="0000FF"/>
                </a:solidFill>
                <a:latin typeface="Comic Sans MS" panose="030F0702030302020204" pitchFamily="66" charset="0"/>
                <a:cs typeface="Arial" panose="020B0604020202020204"/>
              </a:rPr>
              <a:t>void </a:t>
            </a:r>
            <a:r>
              <a:rPr sz="1620" b="1" spc="-5" dirty="0">
                <a:latin typeface="Comic Sans MS" panose="030F0702030302020204" pitchFamily="66" charset="0"/>
                <a:cs typeface="Arial" panose="020B0604020202020204"/>
              </a:rPr>
              <a:t>warpReduce(</a:t>
            </a:r>
            <a:r>
              <a:rPr sz="1620" b="1" spc="-5" dirty="0">
                <a:solidFill>
                  <a:srgbClr val="FF0000"/>
                </a:solidFill>
                <a:latin typeface="Comic Sans MS" panose="030F0702030302020204" pitchFamily="66" charset="0"/>
                <a:cs typeface="Arial" panose="020B0604020202020204"/>
              </a:rPr>
              <a:t>volatile </a:t>
            </a:r>
            <a:r>
              <a:rPr sz="1620" b="1" dirty="0" err="1">
                <a:solidFill>
                  <a:srgbClr val="0000FF"/>
                </a:solidFill>
                <a:latin typeface="Comic Sans MS" panose="030F0702030302020204" pitchFamily="66" charset="0"/>
                <a:cs typeface="Arial" panose="020B0604020202020204"/>
              </a:rPr>
              <a:t>int</a:t>
            </a:r>
            <a:r>
              <a:rPr sz="1620" b="1" dirty="0">
                <a:solidFill>
                  <a:srgbClr val="0000FF"/>
                </a:solid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 </a:t>
            </a:r>
            <a:r>
              <a:rPr sz="1620" b="1" dirty="0">
                <a:solidFill>
                  <a:srgbClr val="0000FF"/>
                </a:solidFill>
                <a:latin typeface="Comic Sans MS" panose="030F0702030302020204" pitchFamily="66" charset="0"/>
                <a:cs typeface="Arial" panose="020B0604020202020204"/>
              </a:rPr>
              <a:t>int </a:t>
            </a:r>
            <a:r>
              <a:rPr sz="1620" b="1" dirty="0" err="1">
                <a:solidFill>
                  <a:srgbClr val="0000FF"/>
                </a:solidFill>
                <a:latin typeface="Comic Sans MS" panose="030F0702030302020204" pitchFamily="66" charset="0"/>
                <a:cs typeface="Arial" panose="020B0604020202020204"/>
              </a:rPr>
              <a:t>tid</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32];</a:t>
            </a:r>
            <a:endParaRPr sz="1620" dirty="0">
              <a:latin typeface="Comic Sans MS" panose="030F0702030302020204" pitchFamily="66" charset="0"/>
              <a:cs typeface="Arial" panose="020B0604020202020204"/>
            </a:endParaRPr>
          </a:p>
          <a:p>
            <a:pPr marL="537845" marR="2409825" algn="just"/>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+ 16];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+ 8];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+ 4];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+ 2];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1];</a:t>
            </a:r>
            <a:endParaRPr sz="1620" dirty="0">
              <a:latin typeface="Comic Sans MS" panose="030F0702030302020204" pitchFamily="66" charset="0"/>
              <a:cs typeface="Arial" panose="020B0604020202020204"/>
            </a:endParaRPr>
          </a:p>
          <a:p>
            <a:pPr marL="196215"/>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4" name="object 4"/>
          <p:cNvSpPr txBox="1"/>
          <p:nvPr/>
        </p:nvSpPr>
        <p:spPr>
          <a:xfrm>
            <a:off x="2400300" y="3086100"/>
            <a:ext cx="6210300" cy="2038250"/>
          </a:xfrm>
          <a:prstGeom prst="rect">
            <a:avLst/>
          </a:prstGeom>
          <a:solidFill>
            <a:srgbClr val="76B800">
              <a:alpha val="49018"/>
            </a:srgbClr>
          </a:solidFill>
          <a:ln w="28575">
            <a:solidFill>
              <a:srgbClr val="000000"/>
            </a:solidFill>
          </a:ln>
        </p:spPr>
        <p:txBody>
          <a:bodyPr vert="horz" wrap="square" lIns="0" tIns="36576" rIns="0" bIns="0" rtlCol="0">
            <a:spAutoFit/>
          </a:bodyPr>
          <a:lstStyle/>
          <a:p>
            <a:pPr marL="82550">
              <a:spcBef>
                <a:spcPts val="290"/>
              </a:spcBef>
            </a:pPr>
            <a:r>
              <a:rPr sz="1620" b="1" dirty="0">
                <a:latin typeface="Comic Sans MS" panose="030F0702030302020204" pitchFamily="66" charset="0"/>
                <a:cs typeface="Arial" panose="020B0604020202020204"/>
              </a:rPr>
              <a:t>//</a:t>
            </a:r>
            <a:r>
              <a:rPr sz="1620" b="1" spc="-18"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later…</a:t>
            </a:r>
            <a:endParaRPr sz="1620" dirty="0">
              <a:latin typeface="Comic Sans MS" panose="030F0702030302020204" pitchFamily="66" charset="0"/>
              <a:cs typeface="Arial" panose="020B0604020202020204"/>
            </a:endParaRPr>
          </a:p>
          <a:p>
            <a:pPr marL="537845" marR="854710" indent="-399415"/>
            <a:r>
              <a:rPr sz="1620" b="1" spc="-5" dirty="0">
                <a:solidFill>
                  <a:srgbClr val="0000FF"/>
                </a:solidFill>
                <a:latin typeface="Comic Sans MS" panose="030F0702030302020204" pitchFamily="66" charset="0"/>
                <a:cs typeface="Arial" panose="020B0604020202020204"/>
              </a:rPr>
              <a:t>for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unsigned int </a:t>
            </a:r>
            <a:r>
              <a:rPr sz="1620" b="1" spc="-5" dirty="0">
                <a:latin typeface="Comic Sans MS" panose="030F0702030302020204" pitchFamily="66" charset="0"/>
                <a:cs typeface="Arial" panose="020B0604020202020204"/>
              </a:rPr>
              <a:t>s=</a:t>
            </a:r>
            <a:r>
              <a:rPr sz="1620" b="1" spc="-5" dirty="0">
                <a:solidFill>
                  <a:srgbClr val="0000FF"/>
                </a:solidFill>
                <a:latin typeface="Comic Sans MS" panose="030F0702030302020204" pitchFamily="66" charset="0"/>
                <a:cs typeface="Arial" panose="020B0604020202020204"/>
              </a:rPr>
              <a:t>blockDim.</a:t>
            </a:r>
            <a:r>
              <a:rPr sz="1620" b="1" spc="-5" dirty="0">
                <a:latin typeface="Comic Sans MS" panose="030F0702030302020204" pitchFamily="66" charset="0"/>
                <a:cs typeface="Arial" panose="020B0604020202020204"/>
              </a:rPr>
              <a:t>x/2; </a:t>
            </a:r>
            <a:r>
              <a:rPr sz="1620" b="1" spc="-5" dirty="0">
                <a:solidFill>
                  <a:srgbClr val="A40020"/>
                </a:solidFill>
                <a:latin typeface="Comic Sans MS" panose="030F0702030302020204" pitchFamily="66" charset="0"/>
                <a:cs typeface="Arial" panose="020B0604020202020204"/>
              </a:rPr>
              <a:t>s&gt;32</a:t>
            </a:r>
            <a:r>
              <a:rPr sz="1620" b="1" spc="-5"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s&gt;&gt;=1) </a:t>
            </a:r>
            <a:r>
              <a:rPr sz="1620" b="1" spc="-5" dirty="0">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&lt;</a:t>
            </a:r>
            <a:r>
              <a:rPr sz="1620" b="1" spc="-5" dirty="0">
                <a:latin typeface="Comic Sans MS" panose="030F0702030302020204" pitchFamily="66" charset="0"/>
                <a:cs typeface="Arial" panose="020B0604020202020204"/>
              </a:rPr>
              <a:t> </a:t>
            </a:r>
            <a:r>
              <a:rPr sz="1620" b="1" spc="-9"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767080"/>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537845">
              <a:tabLst>
                <a:tab pos="765175"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a:p>
            <a:pPr marL="196215"/>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a:spcBef>
                <a:spcPts val="25"/>
              </a:spcBef>
            </a:pPr>
            <a:endParaRPr sz="1665" dirty="0">
              <a:latin typeface="Comic Sans MS" panose="030F0702030302020204" pitchFamily="66" charset="0"/>
              <a:cs typeface="Arial" panose="020B0604020202020204"/>
            </a:endParaRPr>
          </a:p>
          <a:p>
            <a:pPr marL="196215">
              <a:spcBef>
                <a:spcPts val="5"/>
              </a:spcBef>
            </a:pPr>
            <a:r>
              <a:rPr sz="1620" b="1" dirty="0">
                <a:solidFill>
                  <a:srgbClr val="A40020"/>
                </a:solidFill>
                <a:latin typeface="Comic Sans MS" panose="030F0702030302020204" pitchFamily="66" charset="0"/>
                <a:cs typeface="Arial" panose="020B0604020202020204"/>
              </a:rPr>
              <a:t>if (tid &lt; </a:t>
            </a:r>
            <a:r>
              <a:rPr sz="1620" b="1" spc="-5" dirty="0">
                <a:solidFill>
                  <a:srgbClr val="A40020"/>
                </a:solidFill>
                <a:latin typeface="Comic Sans MS" panose="030F0702030302020204" pitchFamily="66" charset="0"/>
                <a:cs typeface="Arial" panose="020B0604020202020204"/>
              </a:rPr>
              <a:t>32) </a:t>
            </a:r>
            <a:r>
              <a:rPr sz="1620" b="1" dirty="0">
                <a:latin typeface="Comic Sans MS" panose="030F0702030302020204" pitchFamily="66" charset="0"/>
                <a:cs typeface="Arial" panose="020B0604020202020204"/>
              </a:rPr>
              <a:t>warpReduce(sdata,</a:t>
            </a:r>
            <a:r>
              <a:rPr sz="1620" b="1" spc="-41"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tid);</a:t>
            </a:r>
            <a:endParaRPr sz="1620" dirty="0">
              <a:latin typeface="Comic Sans MS" panose="030F0702030302020204" pitchFamily="66" charset="0"/>
              <a:cs typeface="Arial" panose="020B0604020202020204"/>
            </a:endParaRPr>
          </a:p>
        </p:txBody>
      </p:sp>
      <p:sp>
        <p:nvSpPr>
          <p:cNvPr id="6" name="object 6"/>
          <p:cNvSpPr txBox="1">
            <a:spLocks noGrp="1"/>
          </p:cNvSpPr>
          <p:nvPr>
            <p:ph type="title"/>
          </p:nvPr>
        </p:nvSpPr>
        <p:spPr>
          <a:xfrm>
            <a:off x="1676400" y="220310"/>
            <a:ext cx="8153400"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Reduction </a:t>
            </a:r>
            <a:r>
              <a:rPr sz="3200" b="1" spc="-5" dirty="0">
                <a:latin typeface="Comic Sans MS" panose="030F0702030302020204" pitchFamily="66" charset="0"/>
              </a:rPr>
              <a:t>#5: </a:t>
            </a:r>
            <a:r>
              <a:rPr sz="3200" b="1" dirty="0">
                <a:latin typeface="Comic Sans MS" panose="030F0702030302020204" pitchFamily="66" charset="0"/>
              </a:rPr>
              <a:t>Unroll the Last</a:t>
            </a:r>
            <a:r>
              <a:rPr sz="3200" b="1" spc="-171" dirty="0">
                <a:latin typeface="Comic Sans MS" panose="030F0702030302020204" pitchFamily="66" charset="0"/>
              </a:rPr>
              <a:t> </a:t>
            </a:r>
            <a:r>
              <a:rPr sz="3200" b="1" dirty="0">
                <a:latin typeface="Comic Sans MS" panose="030F0702030302020204" pitchFamily="66" charset="0"/>
              </a:rPr>
              <a:t>Warp</a:t>
            </a:r>
          </a:p>
        </p:txBody>
      </p:sp>
      <p:sp>
        <p:nvSpPr>
          <p:cNvPr id="10" name="object 10"/>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23</a:t>
            </a:fld>
            <a:endParaRPr dirty="0">
              <a:latin typeface="Comic Sans MS" panose="030F0702030302020204" pitchFamily="66" charset="0"/>
            </a:endParaRPr>
          </a:p>
        </p:txBody>
      </p:sp>
      <p:sp>
        <p:nvSpPr>
          <p:cNvPr id="7" name="object 7"/>
          <p:cNvSpPr txBox="1"/>
          <p:nvPr/>
        </p:nvSpPr>
        <p:spPr>
          <a:xfrm>
            <a:off x="609600" y="5267438"/>
            <a:ext cx="9812274" cy="596317"/>
          </a:xfrm>
          <a:prstGeom prst="rect">
            <a:avLst/>
          </a:prstGeom>
        </p:spPr>
        <p:txBody>
          <a:bodyPr vert="horz" wrap="square" lIns="0" tIns="11430" rIns="0" bIns="0" rtlCol="0">
            <a:spAutoFit/>
          </a:bodyPr>
          <a:lstStyle/>
          <a:p>
            <a:pPr marL="11430">
              <a:spcBef>
                <a:spcPts val="90"/>
              </a:spcBef>
            </a:pPr>
            <a:r>
              <a:rPr sz="2000" b="1" dirty="0">
                <a:latin typeface="Comic Sans MS" panose="030F0702030302020204" pitchFamily="66" charset="0"/>
                <a:cs typeface="Arial" panose="020B0604020202020204"/>
              </a:rPr>
              <a:t>Note: This </a:t>
            </a:r>
            <a:r>
              <a:rPr sz="2000" b="1" spc="-5" dirty="0">
                <a:latin typeface="Comic Sans MS" panose="030F0702030302020204" pitchFamily="66" charset="0"/>
                <a:cs typeface="Arial" panose="020B0604020202020204"/>
              </a:rPr>
              <a:t>saves </a:t>
            </a:r>
            <a:r>
              <a:rPr sz="2000" b="1" dirty="0">
                <a:latin typeface="Comic Sans MS" panose="030F0702030302020204" pitchFamily="66" charset="0"/>
                <a:cs typeface="Arial" panose="020B0604020202020204"/>
              </a:rPr>
              <a:t>useless </a:t>
            </a:r>
            <a:r>
              <a:rPr sz="2000" b="1" spc="5" dirty="0">
                <a:latin typeface="Comic Sans MS" panose="030F0702030302020204" pitchFamily="66" charset="0"/>
                <a:cs typeface="Arial" panose="020B0604020202020204"/>
              </a:rPr>
              <a:t>work </a:t>
            </a:r>
            <a:r>
              <a:rPr sz="2000" b="1" dirty="0">
                <a:latin typeface="Comic Sans MS" panose="030F0702030302020204" pitchFamily="66" charset="0"/>
                <a:cs typeface="Arial" panose="020B0604020202020204"/>
              </a:rPr>
              <a:t>in </a:t>
            </a:r>
            <a:r>
              <a:rPr sz="2000" b="1" i="1" dirty="0">
                <a:latin typeface="Comic Sans MS" panose="030F0702030302020204" pitchFamily="66" charset="0"/>
                <a:cs typeface="Arial" panose="020B0604020202020204"/>
              </a:rPr>
              <a:t>all </a:t>
            </a:r>
            <a:r>
              <a:rPr sz="2000" b="1" spc="5" dirty="0">
                <a:latin typeface="Comic Sans MS" panose="030F0702030302020204" pitchFamily="66" charset="0"/>
                <a:cs typeface="Arial" panose="020B0604020202020204"/>
              </a:rPr>
              <a:t>warps, </a:t>
            </a:r>
            <a:r>
              <a:rPr sz="2000" b="1" dirty="0">
                <a:latin typeface="Comic Sans MS" panose="030F0702030302020204" pitchFamily="66" charset="0"/>
                <a:cs typeface="Arial" panose="020B0604020202020204"/>
              </a:rPr>
              <a:t>not </a:t>
            </a:r>
            <a:r>
              <a:rPr sz="2000" b="1" spc="-5" dirty="0">
                <a:latin typeface="Comic Sans MS" panose="030F0702030302020204" pitchFamily="66" charset="0"/>
                <a:cs typeface="Arial" panose="020B0604020202020204"/>
              </a:rPr>
              <a:t>just </a:t>
            </a:r>
            <a:r>
              <a:rPr sz="2000" b="1" dirty="0">
                <a:latin typeface="Comic Sans MS" panose="030F0702030302020204" pitchFamily="66" charset="0"/>
                <a:cs typeface="Arial" panose="020B0604020202020204"/>
              </a:rPr>
              <a:t>the last</a:t>
            </a:r>
            <a:r>
              <a:rPr sz="2000" b="1" spc="-257"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one!</a:t>
            </a:r>
            <a:endParaRPr sz="2000" dirty="0">
              <a:latin typeface="Comic Sans MS" panose="030F0702030302020204" pitchFamily="66" charset="0"/>
              <a:cs typeface="Arial" panose="020B0604020202020204"/>
            </a:endParaRPr>
          </a:p>
          <a:p>
            <a:pPr marL="11430">
              <a:spcBef>
                <a:spcPts val="10"/>
              </a:spcBef>
            </a:pPr>
            <a:r>
              <a:rPr spc="-5" dirty="0">
                <a:latin typeface="Comic Sans MS" panose="030F0702030302020204" pitchFamily="66" charset="0"/>
                <a:cs typeface="Arial" panose="020B0604020202020204"/>
              </a:rPr>
              <a:t>Without unrolling, all </a:t>
            </a:r>
            <a:r>
              <a:rPr spc="-14" dirty="0">
                <a:latin typeface="Comic Sans MS" panose="030F0702030302020204" pitchFamily="66" charset="0"/>
                <a:cs typeface="Arial" panose="020B0604020202020204"/>
              </a:rPr>
              <a:t>warps </a:t>
            </a:r>
            <a:r>
              <a:rPr spc="-5" dirty="0">
                <a:latin typeface="Comic Sans MS" panose="030F0702030302020204" pitchFamily="66" charset="0"/>
                <a:cs typeface="Arial" panose="020B0604020202020204"/>
              </a:rPr>
              <a:t>execute every iteration </a:t>
            </a:r>
            <a:r>
              <a:rPr dirty="0">
                <a:latin typeface="Comic Sans MS" panose="030F0702030302020204" pitchFamily="66" charset="0"/>
                <a:cs typeface="Arial" panose="020B0604020202020204"/>
              </a:rPr>
              <a:t>of </a:t>
            </a:r>
            <a:r>
              <a:rPr spc="-5" dirty="0">
                <a:latin typeface="Comic Sans MS" panose="030F0702030302020204" pitchFamily="66" charset="0"/>
                <a:cs typeface="Arial" panose="020B0604020202020204"/>
              </a:rPr>
              <a:t>the </a:t>
            </a:r>
            <a:r>
              <a:rPr dirty="0">
                <a:latin typeface="Comic Sans MS" panose="030F0702030302020204" pitchFamily="66" charset="0"/>
                <a:cs typeface="Arial" panose="020B0604020202020204"/>
              </a:rPr>
              <a:t>for </a:t>
            </a:r>
            <a:r>
              <a:rPr spc="-5" dirty="0">
                <a:latin typeface="Comic Sans MS" panose="030F0702030302020204" pitchFamily="66" charset="0"/>
                <a:cs typeface="Arial" panose="020B0604020202020204"/>
              </a:rPr>
              <a:t>loop and </a:t>
            </a:r>
            <a:r>
              <a:rPr dirty="0">
                <a:latin typeface="Comic Sans MS" panose="030F0702030302020204" pitchFamily="66" charset="0"/>
                <a:cs typeface="Arial" panose="020B0604020202020204"/>
              </a:rPr>
              <a:t>if</a:t>
            </a:r>
            <a:r>
              <a:rPr spc="198" dirty="0">
                <a:latin typeface="Comic Sans MS" panose="030F0702030302020204" pitchFamily="66" charset="0"/>
                <a:cs typeface="Arial" panose="020B0604020202020204"/>
              </a:rPr>
              <a:t> </a:t>
            </a:r>
            <a:r>
              <a:rPr spc="-5" dirty="0">
                <a:latin typeface="Comic Sans MS" panose="030F0702030302020204" pitchFamily="66" charset="0"/>
                <a:cs typeface="Arial" panose="020B0604020202020204"/>
              </a:rPr>
              <a:t>statement</a:t>
            </a:r>
            <a:endParaRPr dirty="0">
              <a:latin typeface="Comic Sans MS" panose="030F0702030302020204" pitchFamily="66" charset="0"/>
              <a:cs typeface="Arial" panose="020B0604020202020204"/>
            </a:endParaRPr>
          </a:p>
        </p:txBody>
      </p:sp>
      <p:sp>
        <p:nvSpPr>
          <p:cNvPr id="8" name="object 8"/>
          <p:cNvSpPr txBox="1"/>
          <p:nvPr/>
        </p:nvSpPr>
        <p:spPr>
          <a:xfrm>
            <a:off x="6155055" y="1631624"/>
            <a:ext cx="2194560" cy="1282852"/>
          </a:xfrm>
          <a:prstGeom prst="rect">
            <a:avLst/>
          </a:prstGeom>
          <a:solidFill>
            <a:srgbClr val="F1F1F1"/>
          </a:solidFill>
          <a:ln w="25400">
            <a:solidFill>
              <a:srgbClr val="FF0000"/>
            </a:solidFill>
          </a:ln>
        </p:spPr>
        <p:txBody>
          <a:bodyPr vert="horz" wrap="square" lIns="0" tIns="36005" rIns="0" bIns="0" rtlCol="0">
            <a:spAutoFit/>
          </a:bodyPr>
          <a:lstStyle/>
          <a:p>
            <a:pPr marL="635" algn="ctr">
              <a:spcBef>
                <a:spcPts val="285"/>
              </a:spcBef>
            </a:pPr>
            <a:r>
              <a:rPr sz="1620" spc="-32" dirty="0">
                <a:solidFill>
                  <a:srgbClr val="FF0000"/>
                </a:solidFill>
                <a:latin typeface="Comic Sans MS" panose="030F0702030302020204" pitchFamily="66" charset="0"/>
                <a:cs typeface="Arial" panose="020B0604020202020204"/>
              </a:rPr>
              <a:t>IMPORTANT:</a:t>
            </a:r>
            <a:endParaRPr sz="1620" dirty="0">
              <a:latin typeface="Comic Sans MS" panose="030F0702030302020204" pitchFamily="66" charset="0"/>
              <a:cs typeface="Arial" panose="020B0604020202020204"/>
            </a:endParaRPr>
          </a:p>
          <a:p>
            <a:pPr marL="125730" marR="120015" algn="ctr"/>
            <a:r>
              <a:rPr sz="1620" dirty="0">
                <a:solidFill>
                  <a:srgbClr val="FF0000"/>
                </a:solidFill>
                <a:latin typeface="Comic Sans MS" panose="030F0702030302020204" pitchFamily="66" charset="0"/>
                <a:cs typeface="Arial" panose="020B0604020202020204"/>
              </a:rPr>
              <a:t>For this to </a:t>
            </a:r>
            <a:r>
              <a:rPr sz="1620" spc="-5" dirty="0">
                <a:solidFill>
                  <a:srgbClr val="FF0000"/>
                </a:solidFill>
                <a:latin typeface="Comic Sans MS" panose="030F0702030302020204" pitchFamily="66" charset="0"/>
                <a:cs typeface="Arial" panose="020B0604020202020204"/>
              </a:rPr>
              <a:t>be</a:t>
            </a:r>
            <a:r>
              <a:rPr sz="1620" spc="-77" dirty="0">
                <a:solidFill>
                  <a:srgbClr val="FF0000"/>
                </a:solidFill>
                <a:latin typeface="Comic Sans MS" panose="030F0702030302020204" pitchFamily="66" charset="0"/>
                <a:cs typeface="Arial" panose="020B0604020202020204"/>
              </a:rPr>
              <a:t> </a:t>
            </a:r>
            <a:r>
              <a:rPr sz="1620" spc="-5" dirty="0">
                <a:solidFill>
                  <a:srgbClr val="FF0000"/>
                </a:solidFill>
                <a:latin typeface="Comic Sans MS" panose="030F0702030302020204" pitchFamily="66" charset="0"/>
                <a:cs typeface="Arial" panose="020B0604020202020204"/>
              </a:rPr>
              <a:t>correct,  </a:t>
            </a:r>
            <a:r>
              <a:rPr sz="1620" spc="-23" dirty="0">
                <a:solidFill>
                  <a:srgbClr val="FF0000"/>
                </a:solidFill>
                <a:latin typeface="Comic Sans MS" panose="030F0702030302020204" pitchFamily="66" charset="0"/>
                <a:cs typeface="Arial" panose="020B0604020202020204"/>
              </a:rPr>
              <a:t>we </a:t>
            </a:r>
            <a:r>
              <a:rPr sz="1620" dirty="0">
                <a:solidFill>
                  <a:srgbClr val="FF0000"/>
                </a:solidFill>
                <a:latin typeface="Comic Sans MS" panose="030F0702030302020204" pitchFamily="66" charset="0"/>
                <a:cs typeface="Arial" panose="020B0604020202020204"/>
              </a:rPr>
              <a:t>must </a:t>
            </a:r>
            <a:r>
              <a:rPr sz="1620" spc="-5" dirty="0">
                <a:solidFill>
                  <a:srgbClr val="FF0000"/>
                </a:solidFill>
                <a:latin typeface="Comic Sans MS" panose="030F0702030302020204" pitchFamily="66" charset="0"/>
                <a:cs typeface="Arial" panose="020B0604020202020204"/>
              </a:rPr>
              <a:t>use </a:t>
            </a:r>
            <a:r>
              <a:rPr sz="1620" dirty="0">
                <a:solidFill>
                  <a:srgbClr val="FF0000"/>
                </a:solidFill>
                <a:latin typeface="Comic Sans MS" panose="030F0702030302020204" pitchFamily="66" charset="0"/>
                <a:cs typeface="Arial" panose="020B0604020202020204"/>
              </a:rPr>
              <a:t>the  </a:t>
            </a:r>
            <a:r>
              <a:rPr sz="1620" spc="-5" dirty="0">
                <a:solidFill>
                  <a:srgbClr val="FF0000"/>
                </a:solidFill>
                <a:latin typeface="Comic Sans MS" panose="030F0702030302020204" pitchFamily="66" charset="0"/>
                <a:cs typeface="Arial" panose="020B0604020202020204"/>
              </a:rPr>
              <a:t>“volatile”</a:t>
            </a:r>
            <a:r>
              <a:rPr sz="1620" spc="-23" dirty="0">
                <a:solidFill>
                  <a:srgbClr val="FF0000"/>
                </a:solidFill>
                <a:latin typeface="Comic Sans MS" panose="030F0702030302020204" pitchFamily="66" charset="0"/>
                <a:cs typeface="Arial" panose="020B0604020202020204"/>
              </a:rPr>
              <a:t> </a:t>
            </a:r>
            <a:r>
              <a:rPr sz="1620" spc="-9" dirty="0">
                <a:solidFill>
                  <a:srgbClr val="FF0000"/>
                </a:solidFill>
                <a:latin typeface="Comic Sans MS" panose="030F0702030302020204" pitchFamily="66" charset="0"/>
                <a:cs typeface="Arial" panose="020B0604020202020204"/>
              </a:rPr>
              <a:t>keyword!</a:t>
            </a:r>
            <a:endParaRPr sz="1620" dirty="0">
              <a:latin typeface="Comic Sans MS" panose="030F0702030302020204" pitchFamily="66" charset="0"/>
              <a:cs typeface="Arial" panose="020B0604020202020204"/>
            </a:endParaRPr>
          </a:p>
        </p:txBody>
      </p:sp>
      <p:sp>
        <p:nvSpPr>
          <p:cNvPr id="9" name="object 9"/>
          <p:cNvSpPr/>
          <p:nvPr/>
        </p:nvSpPr>
        <p:spPr>
          <a:xfrm rot="19087228">
            <a:off x="5894610" y="1188207"/>
            <a:ext cx="119324" cy="557695"/>
          </a:xfrm>
          <a:custGeom>
            <a:avLst/>
            <a:gdLst/>
            <a:ahLst/>
            <a:cxnLst/>
            <a:rect l="l" t="t" r="r" b="b"/>
            <a:pathLst>
              <a:path w="132714" h="381635">
                <a:moveTo>
                  <a:pt x="66769" y="56676"/>
                </a:moveTo>
                <a:lnTo>
                  <a:pt x="52267" y="81072"/>
                </a:lnTo>
                <a:lnTo>
                  <a:pt x="49784" y="381000"/>
                </a:lnTo>
                <a:lnTo>
                  <a:pt x="78359" y="381126"/>
                </a:lnTo>
                <a:lnTo>
                  <a:pt x="80635" y="106299"/>
                </a:lnTo>
                <a:lnTo>
                  <a:pt x="80734" y="81072"/>
                </a:lnTo>
                <a:lnTo>
                  <a:pt x="66769" y="56676"/>
                </a:lnTo>
                <a:close/>
              </a:path>
              <a:path w="132714" h="381635">
                <a:moveTo>
                  <a:pt x="83316" y="28193"/>
                </a:moveTo>
                <a:lnTo>
                  <a:pt x="52705" y="28193"/>
                </a:lnTo>
                <a:lnTo>
                  <a:pt x="81280" y="28448"/>
                </a:lnTo>
                <a:lnTo>
                  <a:pt x="80842" y="81261"/>
                </a:lnTo>
                <a:lnTo>
                  <a:pt x="107823" y="128397"/>
                </a:lnTo>
                <a:lnTo>
                  <a:pt x="116586" y="130810"/>
                </a:lnTo>
                <a:lnTo>
                  <a:pt x="130301" y="122936"/>
                </a:lnTo>
                <a:lnTo>
                  <a:pt x="132587" y="114300"/>
                </a:lnTo>
                <a:lnTo>
                  <a:pt x="83316" y="28193"/>
                </a:lnTo>
                <a:close/>
              </a:path>
              <a:path w="132714" h="381635">
                <a:moveTo>
                  <a:pt x="67183" y="0"/>
                </a:moveTo>
                <a:lnTo>
                  <a:pt x="0" y="113156"/>
                </a:lnTo>
                <a:lnTo>
                  <a:pt x="2159" y="121920"/>
                </a:lnTo>
                <a:lnTo>
                  <a:pt x="15748" y="129921"/>
                </a:lnTo>
                <a:lnTo>
                  <a:pt x="24511" y="127762"/>
                </a:lnTo>
                <a:lnTo>
                  <a:pt x="52267" y="81072"/>
                </a:lnTo>
                <a:lnTo>
                  <a:pt x="52705" y="28193"/>
                </a:lnTo>
                <a:lnTo>
                  <a:pt x="83316" y="28193"/>
                </a:lnTo>
                <a:lnTo>
                  <a:pt x="67183" y="0"/>
                </a:lnTo>
                <a:close/>
              </a:path>
              <a:path w="132714" h="381635">
                <a:moveTo>
                  <a:pt x="81222" y="35433"/>
                </a:moveTo>
                <a:lnTo>
                  <a:pt x="54610" y="35433"/>
                </a:lnTo>
                <a:lnTo>
                  <a:pt x="79248" y="35687"/>
                </a:lnTo>
                <a:lnTo>
                  <a:pt x="66769" y="56676"/>
                </a:lnTo>
                <a:lnTo>
                  <a:pt x="80842" y="81261"/>
                </a:lnTo>
                <a:lnTo>
                  <a:pt x="81222" y="35433"/>
                </a:lnTo>
                <a:close/>
              </a:path>
              <a:path w="132714" h="381635">
                <a:moveTo>
                  <a:pt x="52705" y="28193"/>
                </a:moveTo>
                <a:lnTo>
                  <a:pt x="52267" y="81072"/>
                </a:lnTo>
                <a:lnTo>
                  <a:pt x="66769" y="56676"/>
                </a:lnTo>
                <a:lnTo>
                  <a:pt x="54610" y="35433"/>
                </a:lnTo>
                <a:lnTo>
                  <a:pt x="81222" y="35433"/>
                </a:lnTo>
                <a:lnTo>
                  <a:pt x="81280" y="28448"/>
                </a:lnTo>
                <a:lnTo>
                  <a:pt x="52705" y="28193"/>
                </a:lnTo>
                <a:close/>
              </a:path>
              <a:path w="132714" h="381635">
                <a:moveTo>
                  <a:pt x="54610" y="35433"/>
                </a:moveTo>
                <a:lnTo>
                  <a:pt x="66769" y="56676"/>
                </a:lnTo>
                <a:lnTo>
                  <a:pt x="79248" y="35687"/>
                </a:lnTo>
                <a:lnTo>
                  <a:pt x="54610" y="35433"/>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1"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23</a:t>
            </a:fld>
            <a:endParaRPr lang="en-US" altLang="zh-CN" spc="-5" dirty="0">
              <a:latin typeface="Comic Sans MS" panose="030F0702030302020204"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145098"/>
            <a:ext cx="958024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9" name="object 9"/>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24</a:t>
            </a:fld>
            <a:endParaRPr dirty="0">
              <a:latin typeface="Comic Sans MS" panose="030F0702030302020204" pitchFamily="66" charset="0"/>
            </a:endParaRPr>
          </a:p>
        </p:txBody>
      </p:sp>
      <p:graphicFrame>
        <p:nvGraphicFramePr>
          <p:cNvPr id="4" name="object 4"/>
          <p:cNvGraphicFramePr>
            <a:graphicFrameLocks noGrp="1"/>
          </p:cNvGraphicFramePr>
          <p:nvPr/>
        </p:nvGraphicFramePr>
        <p:xfrm>
          <a:off x="1853946" y="1790700"/>
          <a:ext cx="7475790" cy="3218689"/>
        </p:xfrm>
        <a:graphic>
          <a:graphicData uri="http://schemas.openxmlformats.org/drawingml/2006/table">
            <a:tbl>
              <a:tblPr firstRow="1" bandRow="1">
                <a:tableStyleId>{2D5ABB26-0587-4C30-8999-92F81FD0307C}</a:tableStyleId>
              </a:tblPr>
              <a:tblGrid>
                <a:gridCol w="2187702">
                  <a:extLst>
                    <a:ext uri="{9D8B030D-6E8A-4147-A177-3AD203B41FA5}">
                      <a16:colId xmlns:a16="http://schemas.microsoft.com/office/drawing/2014/main" val="20000"/>
                    </a:ext>
                  </a:extLst>
                </a:gridCol>
                <a:gridCol w="1403032">
                  <a:extLst>
                    <a:ext uri="{9D8B030D-6E8A-4147-A177-3AD203B41FA5}">
                      <a16:colId xmlns:a16="http://schemas.microsoft.com/office/drawing/2014/main" val="20001"/>
                    </a:ext>
                  </a:extLst>
                </a:gridCol>
                <a:gridCol w="1629347">
                  <a:extLst>
                    <a:ext uri="{9D8B030D-6E8A-4147-A177-3AD203B41FA5}">
                      <a16:colId xmlns:a16="http://schemas.microsoft.com/office/drawing/2014/main" val="20002"/>
                    </a:ext>
                  </a:extLst>
                </a:gridCol>
                <a:gridCol w="1136713">
                  <a:extLst>
                    <a:ext uri="{9D8B030D-6E8A-4147-A177-3AD203B41FA5}">
                      <a16:colId xmlns:a16="http://schemas.microsoft.com/office/drawing/2014/main" val="20003"/>
                    </a:ext>
                  </a:extLst>
                </a:gridCol>
                <a:gridCol w="1118996">
                  <a:extLst>
                    <a:ext uri="{9D8B030D-6E8A-4147-A177-3AD203B41FA5}">
                      <a16:colId xmlns:a16="http://schemas.microsoft.com/office/drawing/2014/main" val="20004"/>
                    </a:ext>
                  </a:extLst>
                </a:gridCol>
              </a:tblGrid>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a:latin typeface="Arial" panose="020B0604020202020204"/>
                        <a:cs typeface="Arial" panose="020B0604020202020204"/>
                      </a:endParaRPr>
                    </a:p>
                    <a:p>
                      <a:pPr marL="91440" marR="518160">
                        <a:lnSpc>
                          <a:spcPct val="100000"/>
                        </a:lnSpc>
                        <a:spcBef>
                          <a:spcPts val="20"/>
                        </a:spcBef>
                      </a:pPr>
                      <a:r>
                        <a:rPr sz="1100" b="1" spc="-5" dirty="0">
                          <a:latin typeface="Arial" panose="020B0604020202020204"/>
                          <a:cs typeface="Arial" panose="020B0604020202020204"/>
                        </a:rPr>
                        <a:t>interleaved 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divergent</a:t>
                      </a:r>
                      <a:r>
                        <a:rPr sz="1100" b="1" spc="-50" dirty="0">
                          <a:latin typeface="Arial" panose="020B0604020202020204"/>
                          <a:cs typeface="Arial" panose="020B0604020202020204"/>
                        </a:rPr>
                        <a:t> </a:t>
                      </a:r>
                      <a:r>
                        <a:rPr sz="1100" b="1" spc="-5" dirty="0">
                          <a:latin typeface="Arial" panose="020B0604020202020204"/>
                          <a:cs typeface="Arial" panose="020B0604020202020204"/>
                        </a:rPr>
                        <a:t>branching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2.083</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a:latin typeface="Arial" panose="020B0604020202020204"/>
                        <a:cs typeface="Arial" panose="020B0604020202020204"/>
                      </a:endParaRPr>
                    </a:p>
                    <a:p>
                      <a:pPr marL="91440" marR="673100">
                        <a:lnSpc>
                          <a:spcPct val="100000"/>
                        </a:lnSpc>
                        <a:spcBef>
                          <a:spcPts val="25"/>
                        </a:spcBef>
                      </a:pPr>
                      <a:r>
                        <a:rPr sz="1100" b="1" spc="-5" dirty="0">
                          <a:latin typeface="Arial" panose="020B0604020202020204"/>
                          <a:cs typeface="Arial" panose="020B0604020202020204"/>
                        </a:rPr>
                        <a:t>interleaved</a:t>
                      </a:r>
                      <a:r>
                        <a:rPr sz="1100" b="1" spc="-40" dirty="0">
                          <a:latin typeface="Arial" panose="020B0604020202020204"/>
                          <a:cs typeface="Arial" panose="020B0604020202020204"/>
                        </a:rPr>
                        <a:t> </a:t>
                      </a:r>
                      <a:r>
                        <a:rPr sz="1100" b="1" spc="-5" dirty="0">
                          <a:latin typeface="Arial" panose="020B0604020202020204"/>
                          <a:cs typeface="Arial" panose="020B0604020202020204"/>
                        </a:rPr>
                        <a:t>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bank</a:t>
                      </a:r>
                      <a:r>
                        <a:rPr sz="1100" b="1" spc="-35" dirty="0">
                          <a:latin typeface="Arial" panose="020B0604020202020204"/>
                          <a:cs typeface="Arial" panose="020B0604020202020204"/>
                        </a:rPr>
                        <a:t> </a:t>
                      </a:r>
                      <a:r>
                        <a:rPr sz="1100" b="1" spc="-5" dirty="0">
                          <a:latin typeface="Arial" panose="020B0604020202020204"/>
                          <a:cs typeface="Arial" panose="020B0604020202020204"/>
                        </a:rPr>
                        <a:t>conflicts</a:t>
                      </a:r>
                      <a:endParaRPr sz="1100">
                        <a:latin typeface="Arial" panose="020B0604020202020204"/>
                        <a:cs typeface="Arial" panose="020B0604020202020204"/>
                      </a:endParaRPr>
                    </a:p>
                  </a:txBody>
                  <a:tcPr marL="0" marR="0" marT="34862" marB="0">
                    <a:solidFill>
                      <a:srgbClr val="99CCFF">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4.854</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365125"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531495">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a:latin typeface="Arial" panose="020B0604020202020204"/>
                        <a:cs typeface="Arial" panose="020B0604020202020204"/>
                      </a:endParaRPr>
                    </a:p>
                    <a:p>
                      <a:pPr marL="91440">
                        <a:lnSpc>
                          <a:spcPct val="100000"/>
                        </a:lnSpc>
                        <a:spcBef>
                          <a:spcPts val="25"/>
                        </a:spcBef>
                      </a:pPr>
                      <a:r>
                        <a:rPr sz="1100" b="1" spc="-5" dirty="0">
                          <a:latin typeface="Arial" panose="020B0604020202020204"/>
                          <a:cs typeface="Arial" panose="020B0604020202020204"/>
                        </a:rPr>
                        <a:t>sequential</a:t>
                      </a:r>
                      <a:r>
                        <a:rPr sz="1100" b="1" spc="-25" dirty="0">
                          <a:latin typeface="Arial" panose="020B0604020202020204"/>
                          <a:cs typeface="Arial" panose="020B0604020202020204"/>
                        </a:rPr>
                        <a:t> </a:t>
                      </a:r>
                      <a:r>
                        <a:rPr sz="1100" b="1" spc="-5" dirty="0">
                          <a:latin typeface="Arial" panose="020B0604020202020204"/>
                          <a:cs typeface="Arial" panose="020B0604020202020204"/>
                        </a:rPr>
                        <a:t>addressing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245745" algn="r">
                        <a:lnSpc>
                          <a:spcPct val="100000"/>
                        </a:lnSpc>
                        <a:spcBef>
                          <a:spcPts val="1070"/>
                        </a:spcBef>
                      </a:pPr>
                      <a:r>
                        <a:rPr sz="1800" b="1" dirty="0">
                          <a:latin typeface="Arial" panose="020B0604020202020204"/>
                          <a:cs typeface="Arial" panose="020B0604020202020204"/>
                        </a:rPr>
                        <a:t>9.741</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365125" algn="r">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4:</a:t>
                      </a:r>
                      <a:endParaRPr sz="1800" dirty="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first </a:t>
                      </a:r>
                      <a:r>
                        <a:rPr sz="1100" b="1" dirty="0">
                          <a:latin typeface="Arial" panose="020B0604020202020204"/>
                          <a:cs typeface="Arial" panose="020B0604020202020204"/>
                        </a:rPr>
                        <a:t>add </a:t>
                      </a:r>
                      <a:r>
                        <a:rPr sz="1100" b="1" spc="-5" dirty="0">
                          <a:latin typeface="Arial" panose="020B0604020202020204"/>
                          <a:cs typeface="Arial" panose="020B0604020202020204"/>
                        </a:rPr>
                        <a:t>during global</a:t>
                      </a:r>
                      <a:r>
                        <a:rPr sz="1100" b="1" spc="25" dirty="0">
                          <a:latin typeface="Arial" panose="020B0604020202020204"/>
                          <a:cs typeface="Arial" panose="020B0604020202020204"/>
                        </a:rPr>
                        <a:t> </a:t>
                      </a:r>
                      <a:r>
                        <a:rPr sz="1100" b="1" dirty="0">
                          <a:latin typeface="Arial" panose="020B0604020202020204"/>
                          <a:cs typeface="Arial" panose="020B0604020202020204"/>
                        </a:rPr>
                        <a:t>load</a:t>
                      </a:r>
                      <a:endParaRPr sz="1100" dirty="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0.965</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17.377</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1.78x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3820" algn="r">
                        <a:lnSpc>
                          <a:spcPct val="100000"/>
                        </a:lnSpc>
                        <a:spcBef>
                          <a:spcPts val="1075"/>
                        </a:spcBef>
                      </a:pPr>
                      <a:r>
                        <a:rPr sz="1800" b="1" dirty="0">
                          <a:latin typeface="Arial" panose="020B0604020202020204"/>
                          <a:cs typeface="Arial" panose="020B0604020202020204"/>
                        </a:rPr>
                        <a:t>8.34x</a:t>
                      </a:r>
                      <a:endParaRPr sz="180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3"/>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5:</a:t>
                      </a:r>
                      <a:endParaRPr sz="1800">
                        <a:latin typeface="Arial" panose="020B0604020202020204"/>
                        <a:cs typeface="Arial" panose="020B0604020202020204"/>
                      </a:endParaRPr>
                    </a:p>
                    <a:p>
                      <a:pPr marL="91440">
                        <a:lnSpc>
                          <a:spcPct val="100000"/>
                        </a:lnSpc>
                        <a:spcBef>
                          <a:spcPts val="20"/>
                        </a:spcBef>
                      </a:pPr>
                      <a:r>
                        <a:rPr sz="1100" b="1" dirty="0">
                          <a:latin typeface="Arial" panose="020B0604020202020204"/>
                          <a:cs typeface="Arial" panose="020B0604020202020204"/>
                        </a:rPr>
                        <a:t>unroll last</a:t>
                      </a:r>
                      <a:r>
                        <a:rPr sz="1100" b="1" spc="-25" dirty="0">
                          <a:latin typeface="Arial" panose="020B0604020202020204"/>
                          <a:cs typeface="Arial" panose="020B0604020202020204"/>
                        </a:rPr>
                        <a:t> </a:t>
                      </a:r>
                      <a:r>
                        <a:rPr sz="1100" b="1" spc="5" dirty="0">
                          <a:latin typeface="Arial" panose="020B0604020202020204"/>
                          <a:cs typeface="Arial" panose="020B0604020202020204"/>
                        </a:rPr>
                        <a:t>warp</a:t>
                      </a:r>
                      <a:endParaRPr sz="1100">
                        <a:latin typeface="Arial" panose="020B0604020202020204"/>
                        <a:cs typeface="Arial" panose="020B0604020202020204"/>
                      </a:endParaRPr>
                    </a:p>
                  </a:txBody>
                  <a:tcPr marL="0" marR="0" marT="35433" marB="0">
                    <a:solidFill>
                      <a:srgbClr val="76B800">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0.536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31.289</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1.8x</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84455" algn="r">
                        <a:lnSpc>
                          <a:spcPct val="100000"/>
                        </a:lnSpc>
                        <a:spcBef>
                          <a:spcPts val="1075"/>
                        </a:spcBef>
                      </a:pPr>
                      <a:r>
                        <a:rPr sz="1800" b="1" dirty="0">
                          <a:latin typeface="Arial" panose="020B0604020202020204"/>
                          <a:cs typeface="Arial" panose="020B0604020202020204"/>
                        </a:rPr>
                        <a:t>15.01x</a:t>
                      </a:r>
                      <a:endParaRPr sz="1800" dirty="0">
                        <a:latin typeface="Arial" panose="020B0604020202020204"/>
                        <a:cs typeface="Arial" panose="020B0604020202020204"/>
                      </a:endParaRPr>
                    </a:p>
                  </a:txBody>
                  <a:tcPr marL="0" marR="0" marT="122873" marB="0">
                    <a:solidFill>
                      <a:srgbClr val="76B800">
                        <a:alpha val="50195"/>
                      </a:srgbClr>
                    </a:solidFill>
                  </a:tcPr>
                </a:tc>
                <a:extLst>
                  <a:ext uri="{0D108BD9-81ED-4DB2-BD59-A6C34878D82A}">
                    <a16:rowId xmlns:a16="http://schemas.microsoft.com/office/drawing/2014/main" val="10004"/>
                  </a:ext>
                </a:extLst>
              </a:tr>
            </a:tbl>
          </a:graphicData>
        </a:graphic>
      </p:graphicFrame>
      <p:sp>
        <p:nvSpPr>
          <p:cNvPr id="5" name="object 5"/>
          <p:cNvSpPr txBox="1"/>
          <p:nvPr/>
        </p:nvSpPr>
        <p:spPr>
          <a:xfrm>
            <a:off x="7064196" y="1196504"/>
            <a:ext cx="1035787" cy="565539"/>
          </a:xfrm>
          <a:prstGeom prst="rect">
            <a:avLst/>
          </a:prstGeom>
        </p:spPr>
        <p:txBody>
          <a:bodyPr vert="horz" wrap="square" lIns="0" tIns="11430" rIns="0" bIns="0" rtlCol="0">
            <a:spAutoFit/>
          </a:bodyPr>
          <a:lstStyle/>
          <a:p>
            <a:pPr marL="11430" marR="4445" indent="210820">
              <a:spcBef>
                <a:spcPts val="90"/>
              </a:spcBef>
            </a:pPr>
            <a:r>
              <a:rPr b="1" spc="-5" dirty="0">
                <a:latin typeface="Comic Sans MS" panose="030F0702030302020204" pitchFamily="66" charset="0"/>
                <a:cs typeface="Arial" panose="020B0604020202020204"/>
              </a:rPr>
              <a:t>Step  Spe</a:t>
            </a:r>
            <a:r>
              <a:rPr b="1" spc="-14" dirty="0">
                <a:latin typeface="Comic Sans MS" panose="030F0702030302020204" pitchFamily="66" charset="0"/>
                <a:cs typeface="Arial" panose="020B0604020202020204"/>
              </a:rPr>
              <a:t>e</a:t>
            </a:r>
            <a:r>
              <a:rPr b="1" spc="-5" dirty="0">
                <a:latin typeface="Comic Sans MS" panose="030F0702030302020204" pitchFamily="66" charset="0"/>
                <a:cs typeface="Arial" panose="020B0604020202020204"/>
              </a:rPr>
              <a:t>d</a:t>
            </a:r>
            <a:r>
              <a:rPr b="1" dirty="0">
                <a:latin typeface="Comic Sans MS" panose="030F0702030302020204" pitchFamily="66" charset="0"/>
                <a:cs typeface="Arial" panose="020B0604020202020204"/>
              </a:rPr>
              <a:t>u</a:t>
            </a:r>
            <a:r>
              <a:rPr b="1" spc="-5" dirty="0">
                <a:latin typeface="Comic Sans MS" panose="030F0702030302020204" pitchFamily="66" charset="0"/>
                <a:cs typeface="Arial" panose="020B0604020202020204"/>
              </a:rPr>
              <a:t>p</a:t>
            </a:r>
            <a:endParaRPr dirty="0">
              <a:latin typeface="Comic Sans MS" panose="030F0702030302020204" pitchFamily="66" charset="0"/>
              <a:cs typeface="Arial" panose="020B0604020202020204"/>
            </a:endParaRPr>
          </a:p>
        </p:txBody>
      </p:sp>
      <p:sp>
        <p:nvSpPr>
          <p:cNvPr id="6" name="object 6"/>
          <p:cNvSpPr txBox="1"/>
          <p:nvPr/>
        </p:nvSpPr>
        <p:spPr>
          <a:xfrm>
            <a:off x="5617241" y="1472261"/>
            <a:ext cx="1206779" cy="288541"/>
          </a:xfrm>
          <a:prstGeom prst="rect">
            <a:avLst/>
          </a:prstGeom>
        </p:spPr>
        <p:txBody>
          <a:bodyPr vert="horz" wrap="square" lIns="0" tIns="11430" rIns="0" bIns="0" rtlCol="0">
            <a:spAutoFit/>
          </a:bodyPr>
          <a:lstStyle/>
          <a:p>
            <a:pPr marL="11430">
              <a:spcBef>
                <a:spcPts val="90"/>
              </a:spcBef>
            </a:pPr>
            <a:r>
              <a:rPr b="1" spc="-5" dirty="0">
                <a:latin typeface="Comic Sans MS" panose="030F0702030302020204" pitchFamily="66" charset="0"/>
                <a:cs typeface="Arial" panose="020B0604020202020204"/>
              </a:rPr>
              <a:t>B</a:t>
            </a:r>
            <a:r>
              <a:rPr b="1" spc="-14" dirty="0">
                <a:latin typeface="Comic Sans MS" panose="030F0702030302020204" pitchFamily="66" charset="0"/>
                <a:cs typeface="Arial" panose="020B0604020202020204"/>
              </a:rPr>
              <a:t>a</a:t>
            </a:r>
            <a:r>
              <a:rPr b="1" dirty="0">
                <a:latin typeface="Comic Sans MS" panose="030F0702030302020204" pitchFamily="66" charset="0"/>
                <a:cs typeface="Arial" panose="020B0604020202020204"/>
              </a:rPr>
              <a:t>n</a:t>
            </a:r>
            <a:r>
              <a:rPr b="1" spc="5" dirty="0">
                <a:latin typeface="Comic Sans MS" panose="030F0702030302020204" pitchFamily="66" charset="0"/>
                <a:cs typeface="Arial" panose="020B0604020202020204"/>
              </a:rPr>
              <a:t>d</a:t>
            </a:r>
            <a:r>
              <a:rPr b="1" spc="32" dirty="0">
                <a:latin typeface="Comic Sans MS" panose="030F0702030302020204" pitchFamily="66" charset="0"/>
                <a:cs typeface="Arial" panose="020B0604020202020204"/>
              </a:rPr>
              <a:t>w</a:t>
            </a:r>
            <a:r>
              <a:rPr b="1" spc="-9" dirty="0">
                <a:latin typeface="Comic Sans MS" panose="030F0702030302020204" pitchFamily="66" charset="0"/>
                <a:cs typeface="Arial" panose="020B0604020202020204"/>
              </a:rPr>
              <a:t>i</a:t>
            </a:r>
            <a:r>
              <a:rPr b="1" dirty="0">
                <a:latin typeface="Comic Sans MS" panose="030F0702030302020204" pitchFamily="66" charset="0"/>
                <a:cs typeface="Arial" panose="020B0604020202020204"/>
              </a:rPr>
              <a:t>dth</a:t>
            </a:r>
            <a:endParaRPr dirty="0">
              <a:latin typeface="Comic Sans MS" panose="030F0702030302020204" pitchFamily="66" charset="0"/>
              <a:cs typeface="Arial" panose="020B0604020202020204"/>
            </a:endParaRPr>
          </a:p>
        </p:txBody>
      </p:sp>
      <p:sp>
        <p:nvSpPr>
          <p:cNvPr id="7" name="object 7"/>
          <p:cNvSpPr txBox="1"/>
          <p:nvPr/>
        </p:nvSpPr>
        <p:spPr>
          <a:xfrm>
            <a:off x="3891572" y="1472261"/>
            <a:ext cx="1678496" cy="288541"/>
          </a:xfrm>
          <a:prstGeom prst="rect">
            <a:avLst/>
          </a:prstGeom>
        </p:spPr>
        <p:txBody>
          <a:bodyPr vert="horz" wrap="square" lIns="0" tIns="11430" rIns="0" bIns="0" rtlCol="0">
            <a:spAutoFit/>
          </a:bodyPr>
          <a:lstStyle/>
          <a:p>
            <a:pPr marL="34290">
              <a:spcBef>
                <a:spcPts val="90"/>
              </a:spcBef>
            </a:pPr>
            <a:r>
              <a:rPr b="1" spc="-9" dirty="0">
                <a:latin typeface="Comic Sans MS" panose="030F0702030302020204" pitchFamily="66" charset="0"/>
                <a:cs typeface="Arial" panose="020B0604020202020204"/>
              </a:rPr>
              <a:t>Time </a:t>
            </a:r>
            <a:r>
              <a:rPr b="1" spc="-5" dirty="0">
                <a:latin typeface="Comic Sans MS" panose="030F0702030302020204" pitchFamily="66" charset="0"/>
                <a:cs typeface="Arial" panose="020B0604020202020204"/>
              </a:rPr>
              <a:t>(2</a:t>
            </a:r>
            <a:r>
              <a:rPr b="1" spc="-6" baseline="25000" dirty="0">
                <a:latin typeface="Comic Sans MS" panose="030F0702030302020204" pitchFamily="66" charset="0"/>
                <a:cs typeface="Arial" panose="020B0604020202020204"/>
              </a:rPr>
              <a:t>22</a:t>
            </a:r>
            <a:r>
              <a:rPr b="1" spc="-94" baseline="25000"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ints)</a:t>
            </a:r>
            <a:endParaRPr dirty="0">
              <a:latin typeface="Comic Sans MS" panose="030F0702030302020204" pitchFamily="66" charset="0"/>
              <a:cs typeface="Arial" panose="020B0604020202020204"/>
            </a:endParaRPr>
          </a:p>
        </p:txBody>
      </p:sp>
      <p:sp>
        <p:nvSpPr>
          <p:cNvPr id="8" name="object 8"/>
          <p:cNvSpPr txBox="1"/>
          <p:nvPr/>
        </p:nvSpPr>
        <p:spPr>
          <a:xfrm>
            <a:off x="8100830" y="1196504"/>
            <a:ext cx="1276925" cy="565539"/>
          </a:xfrm>
          <a:prstGeom prst="rect">
            <a:avLst/>
          </a:prstGeom>
        </p:spPr>
        <p:txBody>
          <a:bodyPr vert="horz" wrap="square" lIns="0" tIns="11430" rIns="0" bIns="0" rtlCol="0">
            <a:spAutoFit/>
          </a:bodyPr>
          <a:lstStyle/>
          <a:p>
            <a:pPr marL="128905" marR="4445" indent="-118110">
              <a:spcBef>
                <a:spcPts val="90"/>
              </a:spcBef>
            </a:pPr>
            <a:r>
              <a:rPr b="1" spc="-5" dirty="0">
                <a:latin typeface="Comic Sans MS" panose="030F0702030302020204" pitchFamily="66" charset="0"/>
                <a:cs typeface="Arial" panose="020B0604020202020204"/>
              </a:rPr>
              <a:t>Cumulati</a:t>
            </a:r>
            <a:r>
              <a:rPr b="1" spc="-41" dirty="0">
                <a:latin typeface="Comic Sans MS" panose="030F0702030302020204" pitchFamily="66" charset="0"/>
                <a:cs typeface="Arial" panose="020B0604020202020204"/>
              </a:rPr>
              <a:t>v</a:t>
            </a:r>
            <a:r>
              <a:rPr b="1" spc="-5" dirty="0">
                <a:latin typeface="Comic Sans MS" panose="030F0702030302020204" pitchFamily="66" charset="0"/>
                <a:cs typeface="Arial" panose="020B0604020202020204"/>
              </a:rPr>
              <a:t>e  Speedup</a:t>
            </a:r>
            <a:endParaRPr dirty="0">
              <a:latin typeface="Comic Sans MS" panose="030F0702030302020204" pitchFamily="66" charset="0"/>
              <a:cs typeface="Arial" panose="020B0604020202020204"/>
            </a:endParaRPr>
          </a:p>
        </p:txBody>
      </p:sp>
      <p:sp>
        <p:nvSpPr>
          <p:cNvPr id="10"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24</a:t>
            </a:fld>
            <a:endParaRPr lang="en-US" altLang="zh-CN" spc="-5" dirty="0">
              <a:latin typeface="Comic Sans MS" panose="030F0702030302020204" pitchFamily="66" charset="0"/>
            </a:endParaRPr>
          </a:p>
        </p:txBody>
      </p:sp>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TotalTime>
  <Words>2905</Words>
  <Application>Microsoft Office PowerPoint</Application>
  <PresentationFormat>自定义</PresentationFormat>
  <Paragraphs>694</Paragraphs>
  <Slides>24</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等线</vt:lpstr>
      <vt:lpstr>微软雅黑</vt:lpstr>
      <vt:lpstr>Arial</vt:lpstr>
      <vt:lpstr>Calibri</vt:lpstr>
      <vt:lpstr>Comic Sans MS</vt:lpstr>
      <vt:lpstr>Times New Roman</vt:lpstr>
      <vt:lpstr>1_Office 主题​​</vt:lpstr>
      <vt:lpstr>ATOMICS, REDUCTIONS,  WARP SHUFFLE</vt:lpstr>
      <vt:lpstr>AGENDA</vt:lpstr>
      <vt:lpstr>CLASSICAL   PARALLEL REDUCTION</vt:lpstr>
      <vt:lpstr>Parallel Reduction</vt:lpstr>
      <vt:lpstr>Problem: Global Synchronization</vt:lpstr>
      <vt:lpstr>Solution: Kernel Decomposition</vt:lpstr>
      <vt:lpstr>What is Our Optimization Goal?</vt:lpstr>
      <vt:lpstr>Reduction #0: Interleaved Addressing</vt:lpstr>
      <vt:lpstr>Parallel Reduction: Interleaved Addressing</vt:lpstr>
      <vt:lpstr>Reduction #1: Interleaved Addressing</vt:lpstr>
      <vt:lpstr>Performance for 4M element reduction</vt:lpstr>
      <vt:lpstr>Reduction #2: Interleaved Addressing</vt:lpstr>
      <vt:lpstr>Parallel Reduction: Interleaved Addressing</vt:lpstr>
      <vt:lpstr>Performance for 4M element reduction</vt:lpstr>
      <vt:lpstr>Parallel Reduction: Sequential Addressing</vt:lpstr>
      <vt:lpstr>Reduction #3: Sequential Addressing</vt:lpstr>
      <vt:lpstr>Performance for 4M element reduction</vt:lpstr>
      <vt:lpstr>Idle Threads</vt:lpstr>
      <vt:lpstr>Reduction #4: First Add During Load</vt:lpstr>
      <vt:lpstr>Performance for 4M element reduction</vt:lpstr>
      <vt:lpstr>Instruction Bottleneck</vt:lpstr>
      <vt:lpstr>Unrolling the Last Warp</vt:lpstr>
      <vt:lpstr>Reduction #5: Unroll the Last Warp</vt:lpstr>
      <vt:lpstr>Performance for 4M element reduction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ATOMICS, REDUCTIONS,  WARP SHUFFLE Bob Crovella, 5/13/2020</dc:title>
  <dc:creator/>
  <cp:lastModifiedBy>達富 鍾</cp:lastModifiedBy>
  <cp:revision>257</cp:revision>
  <dcterms:created xsi:type="dcterms:W3CDTF">2020-11-24T11:55:00Z</dcterms:created>
  <dcterms:modified xsi:type="dcterms:W3CDTF">2026-01-14T11:45:49Z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2020-05-11T16:00:00Z</vt:filetime>
  </property>
  <property fmtid="{D5CDD505-2E9C-101B-9397-08002B2CF9AE}" pid="3" name="LastSaved">
    <vt:filetime>2020-11-24T16:00:00Z</vt:filetime>
  </property>
  <property fmtid="{D5CDD505-2E9C-101B-9397-08002B2CF9AE}" pid="4" name="ICV">
    <vt:lpwstr>2E3C3CCBDBA44536A5491FB4A43B6F22</vt:lpwstr>
  </property>
  <property fmtid="{D5CDD505-2E9C-101B-9397-08002B2CF9AE}" pid="5" name="KSOProductBuildVer">
    <vt:lpwstr>2052-11.1.0.11294</vt:lpwstr>
  </property>
</Properties>
</file>