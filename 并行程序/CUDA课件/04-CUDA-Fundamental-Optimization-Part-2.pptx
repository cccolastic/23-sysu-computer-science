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313" r:id="rId3"/>
    <p:sldId id="257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315" r:id="rId15"/>
    <p:sldId id="274" r:id="rId16"/>
    <p:sldId id="275" r:id="rId17"/>
    <p:sldId id="276" r:id="rId18"/>
    <p:sldId id="277" r:id="rId19"/>
    <p:sldId id="278" r:id="rId20"/>
    <p:sldId id="279" r:id="rId21"/>
  </p:sldIdLst>
  <p:sldSz cx="10972800" cy="6172200"/>
  <p:notesSz cx="10972800" cy="617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3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87" autoAdjust="0"/>
    <p:restoredTop sz="94697"/>
  </p:normalViewPr>
  <p:slideViewPr>
    <p:cSldViewPr>
      <p:cViewPr varScale="1">
        <p:scale>
          <a:sx n="81" d="100"/>
          <a:sy n="81" d="100"/>
        </p:scale>
        <p:origin x="64" y="436"/>
      </p:cViewPr>
      <p:guideLst>
        <p:guide orient="horz" pos="2903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160A9A5C-291D-4C85-9721-9984EBF56020}"/>
    <pc:docChg chg="modSld">
      <pc:chgData name="" userId="60900f52fed158ba" providerId="LiveId" clId="{160A9A5C-291D-4C85-9721-9984EBF56020}" dt="2025-11-30T14:11:17.625" v="0"/>
      <pc:docMkLst>
        <pc:docMk/>
      </pc:docMkLst>
      <pc:sldChg chg="modSp">
        <pc:chgData name="" userId="60900f52fed158ba" providerId="LiveId" clId="{160A9A5C-291D-4C85-9721-9984EBF56020}" dt="2025-11-30T14:11:17.625" v="0"/>
        <pc:sldMkLst>
          <pc:docMk/>
          <pc:sldMk cId="0" sldId="256"/>
        </pc:sldMkLst>
        <pc:spChg chg="mod">
          <ac:chgData name="" userId="60900f52fed158ba" providerId="LiveId" clId="{160A9A5C-291D-4C85-9721-9984EBF56020}" dt="2025-11-30T14:11:17.625" v="0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754563" cy="3095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215063" y="0"/>
            <a:ext cx="4754562" cy="3095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B630A-C7A3-4A7D-9C4E-3FC9D82F6C6E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635375" y="771525"/>
            <a:ext cx="3702050" cy="208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96963" y="2970213"/>
            <a:ext cx="8778875" cy="24304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5862638"/>
            <a:ext cx="4754563" cy="3095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215063" y="5862638"/>
            <a:ext cx="4754562" cy="3095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B8A9A-68DF-44E2-9629-095C3CD005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70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B8A9A-68DF-44E2-9629-095C3CD005C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961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2960" y="1917387"/>
            <a:ext cx="9326880" cy="132302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45920" y="3497580"/>
            <a:ext cx="7680960" cy="15773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8671A-1028-4918-B52D-F225EDA688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1" y="122868"/>
            <a:ext cx="9628567" cy="49352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640" y="925860"/>
            <a:ext cx="9875520" cy="4073367"/>
          </a:xfrm>
          <a:prstGeom prst="rect">
            <a:avLst/>
          </a:prstGeom>
        </p:spPr>
        <p:txBody>
          <a:bodyPr/>
          <a:lstStyle>
            <a:lvl2pPr marL="882015" indent="-391795">
              <a:buFont typeface="Arial" panose="020B0604020202020204" pitchFamily="34" charset="0"/>
              <a:buChar char="»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0A734-EF3B-425E-9970-80954DDB08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6777" y="3966215"/>
            <a:ext cx="9326880" cy="1225868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6777" y="2616042"/>
            <a:ext cx="9326880" cy="13501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4B76-BDB5-48DA-9429-18FB768FED7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8640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77841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35798-1DC4-447E-97F5-D240AF3B980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8640" y="1381602"/>
            <a:ext cx="4848225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8640" y="1957388"/>
            <a:ext cx="4848225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74034" y="1381602"/>
            <a:ext cx="4850130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74034" y="1957388"/>
            <a:ext cx="4850130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B9FFA-BBF7-4E6B-ACD4-E99548C577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8C75F-3921-4200-A546-C4950D0184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94E68-0D6D-410C-8C00-3741D352D06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3" y="245745"/>
            <a:ext cx="3609975" cy="1045845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0063" y="245750"/>
            <a:ext cx="6134100" cy="5267802"/>
          </a:xfrm>
          <a:prstGeom prst="rect">
            <a:avLst/>
          </a:prstGeo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8643" y="1291593"/>
            <a:ext cx="3609975" cy="4221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CE17F-E7E8-4836-8B19-28E882EF05B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0745" y="4320541"/>
            <a:ext cx="6583680" cy="510064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50745" y="551498"/>
            <a:ext cx="6583680" cy="370332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50745" y="4830605"/>
            <a:ext cx="6583680" cy="724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8648-5A27-46B1-9DFF-F43427A188E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1440185"/>
            <a:ext cx="9875520" cy="40733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FD8D9-97CE-47AB-99B6-669B4E3345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55280" y="247179"/>
            <a:ext cx="2468880" cy="526637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247179"/>
            <a:ext cx="7223760" cy="52663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234CD-C4BF-451E-A810-76886530BD7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1536247" y="165887"/>
            <a:ext cx="8515478" cy="493047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549729" y="987581"/>
            <a:ext cx="9873343" cy="409578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marL="925830" lvl="1" indent="-35433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</a:pP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549729" y="572044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48768" y="5720443"/>
            <a:ext cx="3475264" cy="329293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28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40409" y="571019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085" y="42295"/>
            <a:ext cx="794657" cy="740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lang="zh-CN" altLang="en-US" sz="343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8006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6012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44018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92024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08610" indent="-30861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085" b="1" kern="1200" dirty="0">
          <a:solidFill>
            <a:srgbClr val="0070C0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882015" indent="-391795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–"/>
        <a:defRPr kumimoji="1" lang="zh-CN" altLang="en-US" sz="274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2870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4018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5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5166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171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6314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61" y="71385"/>
            <a:ext cx="4336597" cy="69668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672368" y="2119504"/>
            <a:ext cx="9751941" cy="63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374" tIns="39187" rIns="78374" bIns="39187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defTabSz="114173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spc="3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高性能计算程序设计</a:t>
            </a:r>
            <a:endParaRPr lang="zh-CN" altLang="en-US" sz="3600" b="1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062193" y="1583722"/>
            <a:ext cx="8793616" cy="613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086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1906457" y="3340731"/>
            <a:ext cx="6974489" cy="1447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374" tIns="39187" rIns="78374" bIns="39187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057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05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057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05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05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06927" y="2009829"/>
            <a:ext cx="8229600" cy="1231106"/>
          </a:xfrm>
        </p:spPr>
        <p:txBody>
          <a:bodyPr>
            <a:noAutofit/>
          </a:bodyPr>
          <a:lstStyle/>
          <a:p>
            <a:pPr marL="12700" algn="l" defTabSz="1139825" eaLnBrk="1" hangingPunct="1">
              <a:lnSpc>
                <a:spcPct val="125000"/>
              </a:lnSpc>
              <a:spcBef>
                <a:spcPts val="515"/>
              </a:spcBef>
              <a:defRPr/>
            </a:pPr>
            <a:r>
              <a:rPr lang="en-US" altLang="zh-CN" sz="32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CUDA OPTIMIZATION,  PART 2</a:t>
            </a:r>
            <a:endParaRPr lang="en-US" sz="32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40935"/>
            <a:ext cx="8229600" cy="369332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rgbClr val="76B9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NVIDIA Corporation</a:t>
            </a: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20715"/>
            <a:ext cx="2468880" cy="328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pic>
        <p:nvPicPr>
          <p:cNvPr id="410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"/>
            <a:ext cx="4246880" cy="661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61155" y="144876"/>
            <a:ext cx="27070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5931" y="988538"/>
            <a:ext cx="6865949" cy="53086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 indent="-425450" defTabSz="1139825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kumimoji="1" sz="3200" b="1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Architecture:</a:t>
            </a:r>
          </a:p>
          <a:p>
            <a:pPr marL="548640" lvl="1" indent="-274320" defTabSz="1139825" fontAlgn="base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Char char="»"/>
              <a:defRPr/>
            </a:pPr>
            <a:r>
              <a:rPr kumimoji="1" sz="2800" dirty="0">
                <a:solidFill>
                  <a:srgbClr val="4F81BD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Kepler/Maxwell/Pascal/Volta</a:t>
            </a:r>
            <a:endParaRPr lang="en-US" spc="-5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425450" indent="-425450" defTabSz="1139825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kumimoji="1" lang="en-US" altLang="zh-CN" sz="3200" b="1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Kernel optimizations</a:t>
            </a:r>
          </a:p>
          <a:p>
            <a:pPr marL="548640" lvl="1" indent="-274320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»"/>
              <a:defRPr/>
            </a:pPr>
            <a:r>
              <a:rPr kumimoji="1" lang="en-US" altLang="zh-CN" sz="2800" dirty="0">
                <a:solidFill>
                  <a:srgbClr val="4F81BD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Launch configuration</a:t>
            </a:r>
            <a:endParaRPr lang="en-US" altLang="zh-CN" spc="-5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425450" indent="-425450" defTabSz="1139825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kumimoji="1" lang="en-US" altLang="zh-CN" sz="3200" b="1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 2 (this session):</a:t>
            </a:r>
          </a:p>
          <a:p>
            <a:pPr marL="548640" marR="5080" lvl="1" indent="-274320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»"/>
              <a:defRPr/>
            </a:pPr>
            <a:r>
              <a:rPr kumimoji="1" lang="en-US" altLang="zh-CN" sz="2800" dirty="0">
                <a:solidFill>
                  <a:srgbClr val="FF000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Global memory throughput  </a:t>
            </a:r>
          </a:p>
          <a:p>
            <a:pPr marL="548640" marR="5080" lvl="1" indent="-274320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»"/>
              <a:defRPr/>
            </a:pPr>
            <a:r>
              <a:rPr kumimoji="1" lang="en-US" altLang="zh-CN" sz="2800" dirty="0">
                <a:solidFill>
                  <a:srgbClr val="4F81BD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 memory access</a:t>
            </a:r>
          </a:p>
          <a:p>
            <a:pPr marL="582295">
              <a:lnSpc>
                <a:spcPct val="100000"/>
              </a:lnSpc>
              <a:spcBef>
                <a:spcPts val="1640"/>
              </a:spcBef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50152" y="1469136"/>
            <a:ext cx="3721607" cy="2148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44640" y="1667255"/>
            <a:ext cx="3654552" cy="1883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11525" y="1510925"/>
            <a:ext cx="3600450" cy="2025650"/>
          </a:xfrm>
          <a:custGeom>
            <a:avLst/>
            <a:gdLst/>
            <a:ahLst/>
            <a:cxnLst/>
            <a:rect l="l" t="t" r="r" b="b"/>
            <a:pathLst>
              <a:path w="3600450" h="2025650">
                <a:moveTo>
                  <a:pt x="3262854" y="0"/>
                </a:moveTo>
                <a:lnTo>
                  <a:pt x="337545" y="0"/>
                </a:lnTo>
                <a:lnTo>
                  <a:pt x="291742" y="3081"/>
                </a:lnTo>
                <a:lnTo>
                  <a:pt x="247812" y="12057"/>
                </a:lnTo>
                <a:lnTo>
                  <a:pt x="206157" y="26525"/>
                </a:lnTo>
                <a:lnTo>
                  <a:pt x="167180" y="46084"/>
                </a:lnTo>
                <a:lnTo>
                  <a:pt x="131281" y="70331"/>
                </a:lnTo>
                <a:lnTo>
                  <a:pt x="98865" y="98864"/>
                </a:lnTo>
                <a:lnTo>
                  <a:pt x="70332" y="131281"/>
                </a:lnTo>
                <a:lnTo>
                  <a:pt x="46085" y="167179"/>
                </a:lnTo>
                <a:lnTo>
                  <a:pt x="26526" y="206156"/>
                </a:lnTo>
                <a:lnTo>
                  <a:pt x="12057" y="247811"/>
                </a:lnTo>
                <a:lnTo>
                  <a:pt x="3081" y="291741"/>
                </a:lnTo>
                <a:lnTo>
                  <a:pt x="0" y="337544"/>
                </a:lnTo>
                <a:lnTo>
                  <a:pt x="0" y="1687678"/>
                </a:lnTo>
                <a:lnTo>
                  <a:pt x="3081" y="1733481"/>
                </a:lnTo>
                <a:lnTo>
                  <a:pt x="12057" y="1777412"/>
                </a:lnTo>
                <a:lnTo>
                  <a:pt x="26526" y="1819067"/>
                </a:lnTo>
                <a:lnTo>
                  <a:pt x="46085" y="1858044"/>
                </a:lnTo>
                <a:lnTo>
                  <a:pt x="70332" y="1893943"/>
                </a:lnTo>
                <a:lnTo>
                  <a:pt x="98865" y="1926359"/>
                </a:lnTo>
                <a:lnTo>
                  <a:pt x="131281" y="1954892"/>
                </a:lnTo>
                <a:lnTo>
                  <a:pt x="167180" y="1979139"/>
                </a:lnTo>
                <a:lnTo>
                  <a:pt x="206157" y="1998698"/>
                </a:lnTo>
                <a:lnTo>
                  <a:pt x="247812" y="2013167"/>
                </a:lnTo>
                <a:lnTo>
                  <a:pt x="291742" y="2022143"/>
                </a:lnTo>
                <a:lnTo>
                  <a:pt x="337545" y="2025224"/>
                </a:lnTo>
                <a:lnTo>
                  <a:pt x="3262854" y="2025224"/>
                </a:lnTo>
                <a:lnTo>
                  <a:pt x="3308657" y="2022143"/>
                </a:lnTo>
                <a:lnTo>
                  <a:pt x="3352587" y="2013167"/>
                </a:lnTo>
                <a:lnTo>
                  <a:pt x="3394242" y="1998698"/>
                </a:lnTo>
                <a:lnTo>
                  <a:pt x="3433220" y="1979139"/>
                </a:lnTo>
                <a:lnTo>
                  <a:pt x="3469118" y="1954892"/>
                </a:lnTo>
                <a:lnTo>
                  <a:pt x="3501535" y="1926359"/>
                </a:lnTo>
                <a:lnTo>
                  <a:pt x="3530068" y="1893943"/>
                </a:lnTo>
                <a:lnTo>
                  <a:pt x="3554315" y="1858044"/>
                </a:lnTo>
                <a:lnTo>
                  <a:pt x="3573874" y="1819067"/>
                </a:lnTo>
                <a:lnTo>
                  <a:pt x="3588342" y="1777412"/>
                </a:lnTo>
                <a:lnTo>
                  <a:pt x="3597319" y="1733481"/>
                </a:lnTo>
                <a:lnTo>
                  <a:pt x="3600400" y="1687678"/>
                </a:lnTo>
                <a:lnTo>
                  <a:pt x="3600400" y="337544"/>
                </a:lnTo>
                <a:lnTo>
                  <a:pt x="3597319" y="291741"/>
                </a:lnTo>
                <a:lnTo>
                  <a:pt x="3588342" y="247811"/>
                </a:lnTo>
                <a:lnTo>
                  <a:pt x="3573874" y="206156"/>
                </a:lnTo>
                <a:lnTo>
                  <a:pt x="3554315" y="167179"/>
                </a:lnTo>
                <a:lnTo>
                  <a:pt x="3530068" y="131281"/>
                </a:lnTo>
                <a:lnTo>
                  <a:pt x="3501535" y="98864"/>
                </a:lnTo>
                <a:lnTo>
                  <a:pt x="3469118" y="70331"/>
                </a:lnTo>
                <a:lnTo>
                  <a:pt x="3433220" y="46084"/>
                </a:lnTo>
                <a:lnTo>
                  <a:pt x="3394242" y="26525"/>
                </a:lnTo>
                <a:lnTo>
                  <a:pt x="3352587" y="12057"/>
                </a:lnTo>
                <a:lnTo>
                  <a:pt x="3308657" y="3081"/>
                </a:lnTo>
                <a:lnTo>
                  <a:pt x="3262854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11525" y="1510925"/>
            <a:ext cx="3600450" cy="2025650"/>
          </a:xfrm>
          <a:custGeom>
            <a:avLst/>
            <a:gdLst/>
            <a:ahLst/>
            <a:cxnLst/>
            <a:rect l="l" t="t" r="r" b="b"/>
            <a:pathLst>
              <a:path w="3600450" h="2025650">
                <a:moveTo>
                  <a:pt x="0" y="337545"/>
                </a:moveTo>
                <a:lnTo>
                  <a:pt x="3081" y="291742"/>
                </a:lnTo>
                <a:lnTo>
                  <a:pt x="12057" y="247812"/>
                </a:lnTo>
                <a:lnTo>
                  <a:pt x="26525" y="206157"/>
                </a:lnTo>
                <a:lnTo>
                  <a:pt x="46084" y="167179"/>
                </a:lnTo>
                <a:lnTo>
                  <a:pt x="70331" y="131281"/>
                </a:lnTo>
                <a:lnTo>
                  <a:pt x="98864" y="98864"/>
                </a:lnTo>
                <a:lnTo>
                  <a:pt x="131281" y="70331"/>
                </a:lnTo>
                <a:lnTo>
                  <a:pt x="167179" y="46084"/>
                </a:lnTo>
                <a:lnTo>
                  <a:pt x="206157" y="26525"/>
                </a:lnTo>
                <a:lnTo>
                  <a:pt x="247812" y="12057"/>
                </a:lnTo>
                <a:lnTo>
                  <a:pt x="291742" y="3081"/>
                </a:lnTo>
                <a:lnTo>
                  <a:pt x="337545" y="0"/>
                </a:lnTo>
                <a:lnTo>
                  <a:pt x="3262855" y="0"/>
                </a:lnTo>
                <a:lnTo>
                  <a:pt x="3308657" y="3081"/>
                </a:lnTo>
                <a:lnTo>
                  <a:pt x="3352587" y="12057"/>
                </a:lnTo>
                <a:lnTo>
                  <a:pt x="3394242" y="26525"/>
                </a:lnTo>
                <a:lnTo>
                  <a:pt x="3433220" y="46084"/>
                </a:lnTo>
                <a:lnTo>
                  <a:pt x="3469118" y="70331"/>
                </a:lnTo>
                <a:lnTo>
                  <a:pt x="3501535" y="98864"/>
                </a:lnTo>
                <a:lnTo>
                  <a:pt x="3530068" y="131281"/>
                </a:lnTo>
                <a:lnTo>
                  <a:pt x="3554315" y="167179"/>
                </a:lnTo>
                <a:lnTo>
                  <a:pt x="3573874" y="206157"/>
                </a:lnTo>
                <a:lnTo>
                  <a:pt x="3588342" y="247812"/>
                </a:lnTo>
                <a:lnTo>
                  <a:pt x="3597318" y="291742"/>
                </a:lnTo>
                <a:lnTo>
                  <a:pt x="3600400" y="337545"/>
                </a:lnTo>
                <a:lnTo>
                  <a:pt x="3600400" y="1687680"/>
                </a:lnTo>
                <a:lnTo>
                  <a:pt x="3597318" y="1733482"/>
                </a:lnTo>
                <a:lnTo>
                  <a:pt x="3588342" y="1777412"/>
                </a:lnTo>
                <a:lnTo>
                  <a:pt x="3573874" y="1819067"/>
                </a:lnTo>
                <a:lnTo>
                  <a:pt x="3554315" y="1858045"/>
                </a:lnTo>
                <a:lnTo>
                  <a:pt x="3530068" y="1893943"/>
                </a:lnTo>
                <a:lnTo>
                  <a:pt x="3501535" y="1926360"/>
                </a:lnTo>
                <a:lnTo>
                  <a:pt x="3469118" y="1954893"/>
                </a:lnTo>
                <a:lnTo>
                  <a:pt x="3433220" y="1979140"/>
                </a:lnTo>
                <a:lnTo>
                  <a:pt x="3394242" y="1998699"/>
                </a:lnTo>
                <a:lnTo>
                  <a:pt x="3352587" y="2013167"/>
                </a:lnTo>
                <a:lnTo>
                  <a:pt x="3308657" y="2022143"/>
                </a:lnTo>
                <a:lnTo>
                  <a:pt x="3262855" y="2025225"/>
                </a:lnTo>
                <a:lnTo>
                  <a:pt x="337545" y="2025225"/>
                </a:lnTo>
                <a:lnTo>
                  <a:pt x="291742" y="2022143"/>
                </a:lnTo>
                <a:lnTo>
                  <a:pt x="247812" y="2013167"/>
                </a:lnTo>
                <a:lnTo>
                  <a:pt x="206157" y="1998699"/>
                </a:lnTo>
                <a:lnTo>
                  <a:pt x="167179" y="1979140"/>
                </a:lnTo>
                <a:lnTo>
                  <a:pt x="131281" y="1954893"/>
                </a:lnTo>
                <a:lnTo>
                  <a:pt x="98864" y="1926360"/>
                </a:lnTo>
                <a:lnTo>
                  <a:pt x="70331" y="1893943"/>
                </a:lnTo>
                <a:lnTo>
                  <a:pt x="46084" y="1858045"/>
                </a:lnTo>
                <a:lnTo>
                  <a:pt x="26525" y="1819067"/>
                </a:lnTo>
                <a:lnTo>
                  <a:pt x="12057" y="1777412"/>
                </a:lnTo>
                <a:lnTo>
                  <a:pt x="3081" y="1733482"/>
                </a:lnTo>
                <a:lnTo>
                  <a:pt x="0" y="1687680"/>
                </a:lnTo>
                <a:lnTo>
                  <a:pt x="0" y="33754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781800" y="1645042"/>
            <a:ext cx="3088005" cy="18587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-635" algn="ctr">
              <a:lnSpc>
                <a:spcPct val="99000"/>
              </a:lnSpc>
              <a:spcBef>
                <a:spcPts val="120"/>
              </a:spcBef>
            </a:pPr>
            <a:r>
              <a:rPr sz="2400" b="1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Most </a:t>
            </a:r>
            <a:r>
              <a:rPr sz="2400" b="1" spc="-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concepts in this  presentation </a:t>
            </a:r>
            <a:r>
              <a:rPr sz="2400" b="1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apply</a:t>
            </a:r>
            <a:r>
              <a:rPr sz="2400" b="1" spc="-7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 </a:t>
            </a:r>
            <a:r>
              <a:rPr sz="2500" b="1" i="1" spc="-114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any </a:t>
            </a:r>
            <a:r>
              <a:rPr sz="2400" b="1" spc="-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language </a:t>
            </a:r>
            <a:r>
              <a:rPr sz="2400" b="1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API  on </a:t>
            </a:r>
            <a:r>
              <a:rPr sz="2400" b="1" spc="-10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NVIDIA</a:t>
            </a:r>
            <a:r>
              <a:rPr sz="2400" b="1" spc="-15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solidFill>
                  <a:srgbClr val="B8FF3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GPUs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4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20715"/>
            <a:ext cx="2468880" cy="328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144876"/>
            <a:ext cx="649859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G</a:t>
            </a:r>
            <a:r>
              <a:rPr lang="en-US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PU </a:t>
            </a: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MEM OPERATIONS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2" name="object 10"/>
          <p:cNvSpPr txBox="1"/>
          <p:nvPr/>
        </p:nvSpPr>
        <p:spPr>
          <a:xfrm>
            <a:off x="391795" y="1104900"/>
            <a:ext cx="10439400" cy="3644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Loads: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Caching</a:t>
            </a:r>
            <a:endParaRPr sz="2400" spc="-5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Default mode</a:t>
            </a: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Attempts to hit in L1, then L2, then GMEM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 granularity is 128-byte line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Stores: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Invalidate L1, write-back for 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144559"/>
            <a:ext cx="59309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GPU </a:t>
            </a: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MEM OPERATIONS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0" name="object 8"/>
          <p:cNvSpPr txBox="1"/>
          <p:nvPr/>
        </p:nvSpPr>
        <p:spPr>
          <a:xfrm>
            <a:off x="584200" y="1257300"/>
            <a:ext cx="10096500" cy="41216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Loads: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Non-caching</a:t>
            </a: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Compile with </a:t>
            </a:r>
            <a:r>
              <a:rPr kumimoji="1" sz="2400" dirty="0">
                <a:solidFill>
                  <a:srgbClr val="0070C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–Xptxas –dlcm=cg option 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</a:t>
            </a: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nvcc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Attempts to hit in L2, then GMEM</a:t>
            </a:r>
          </a:p>
          <a:p>
            <a:pPr marL="1558925">
              <a:lnSpc>
                <a:spcPct val="100000"/>
              </a:lnSpc>
              <a:spcBef>
                <a:spcPts val="1305"/>
              </a:spcBef>
            </a:pPr>
            <a:r>
              <a:rPr lang="en-US"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	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Do not hit in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L1, 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invalidate the line if it’s in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L1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already</a:t>
            </a:r>
            <a:endParaRPr lang="en-US" sz="2400" spc="-5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1558925">
              <a:lnSpc>
                <a:spcPct val="100000"/>
              </a:lnSpc>
              <a:spcBef>
                <a:spcPts val="1305"/>
              </a:spcBef>
            </a:pPr>
            <a:r>
              <a:rPr lang="en-US"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	The L1 can be bypassed with a non-caching load. 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 granularity is </a:t>
            </a:r>
            <a:r>
              <a:rPr kumimoji="1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32-bytes</a:t>
            </a:r>
            <a:r>
              <a:rPr kumimoji="1" lang="en-US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(segment)</a:t>
            </a:r>
            <a:endParaRPr kumimoji="1" sz="2400" dirty="0">
              <a:solidFill>
                <a:srgbClr val="7030A0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144876"/>
            <a:ext cx="465518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LOAD</a:t>
            </a:r>
            <a:r>
              <a:rPr sz="3200" b="1" spc="-50" dirty="0">
                <a:latin typeface="Comic Sans MS" panose="030F0702030302020204" pitchFamily="66" charset="0"/>
              </a:rPr>
              <a:t> </a:t>
            </a:r>
            <a:r>
              <a:rPr sz="3200" b="1" spc="-5" dirty="0">
                <a:latin typeface="Comic Sans MS" panose="030F0702030302020204" pitchFamily="66" charset="0"/>
              </a:rPr>
              <a:t>OPERATION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11" name="object 9"/>
          <p:cNvSpPr txBox="1"/>
          <p:nvPr/>
        </p:nvSpPr>
        <p:spPr>
          <a:xfrm>
            <a:off x="914400" y="1077056"/>
            <a:ext cx="9144000" cy="36526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Memory operations are issued per warp (32 </a:t>
            </a:r>
            <a:r>
              <a:rPr lang="en-US" altLang="zh-CN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CUDA </a:t>
            </a: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threads</a:t>
            </a:r>
            <a:r>
              <a:rPr 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,</a:t>
            </a:r>
            <a:r>
              <a:rPr lang="zh-CN" alt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 SIMD</a:t>
            </a:r>
            <a:r>
              <a:rPr lang="zh-CN" alt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thread</a:t>
            </a: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)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Just like all other instructions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Operation:</a:t>
            </a:r>
          </a:p>
          <a:p>
            <a:pPr marL="822960" marR="66294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CUDA 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Threads in a warp provide memory addresses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66294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Determine </a:t>
            </a:r>
            <a:r>
              <a:rPr kumimoji="1" sz="2400" dirty="0">
                <a:solidFill>
                  <a:srgbClr val="FF000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which lines/segments 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are needed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66294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Request the needed lines/segments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CACHING LOAD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xfrm>
            <a:off x="8305800" y="5647898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4052951" y="4475845"/>
            <a:ext cx="310896" cy="548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46426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30319" y="4475845"/>
            <a:ext cx="307848" cy="548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22458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200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200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1" y="303656"/>
                </a:lnTo>
                <a:lnTo>
                  <a:pt x="46944" y="282200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1" y="303656"/>
                </a:moveTo>
                <a:lnTo>
                  <a:pt x="49663" y="322724"/>
                </a:lnTo>
                <a:lnTo>
                  <a:pt x="71596" y="322188"/>
                </a:lnTo>
                <a:lnTo>
                  <a:pt x="60171" y="303656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1" y="303656"/>
                </a:lnTo>
                <a:lnTo>
                  <a:pt x="71596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200"/>
                </a:lnTo>
                <a:lnTo>
                  <a:pt x="60171" y="303656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51855" y="4475845"/>
            <a:ext cx="307848" cy="5486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44155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6" y="246630"/>
                </a:lnTo>
                <a:lnTo>
                  <a:pt x="0" y="254454"/>
                </a:lnTo>
                <a:lnTo>
                  <a:pt x="61401" y="354051"/>
                </a:lnTo>
                <a:lnTo>
                  <a:pt x="75117" y="329163"/>
                </a:lnTo>
                <a:lnTo>
                  <a:pt x="48091" y="329163"/>
                </a:lnTo>
                <a:lnTo>
                  <a:pt x="46945" y="282201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5" y="282201"/>
                </a:moveTo>
                <a:lnTo>
                  <a:pt x="48091" y="329163"/>
                </a:lnTo>
                <a:lnTo>
                  <a:pt x="73483" y="328543"/>
                </a:lnTo>
                <a:lnTo>
                  <a:pt x="73341" y="322724"/>
                </a:lnTo>
                <a:lnTo>
                  <a:pt x="49663" y="322724"/>
                </a:lnTo>
                <a:lnTo>
                  <a:pt x="60172" y="303656"/>
                </a:lnTo>
                <a:lnTo>
                  <a:pt x="46945" y="282201"/>
                </a:lnTo>
                <a:close/>
              </a:path>
              <a:path w="118110" h="354329">
                <a:moveTo>
                  <a:pt x="103352" y="237084"/>
                </a:moveTo>
                <a:lnTo>
                  <a:pt x="95628" y="239320"/>
                </a:lnTo>
                <a:lnTo>
                  <a:pt x="72337" y="281581"/>
                </a:lnTo>
                <a:lnTo>
                  <a:pt x="73483" y="328543"/>
                </a:lnTo>
                <a:lnTo>
                  <a:pt x="48091" y="329163"/>
                </a:lnTo>
                <a:lnTo>
                  <a:pt x="75117" y="329163"/>
                </a:lnTo>
                <a:lnTo>
                  <a:pt x="117873" y="251579"/>
                </a:lnTo>
                <a:lnTo>
                  <a:pt x="115638" y="243855"/>
                </a:lnTo>
                <a:lnTo>
                  <a:pt x="103352" y="237084"/>
                </a:lnTo>
                <a:close/>
              </a:path>
              <a:path w="118110" h="354329">
                <a:moveTo>
                  <a:pt x="60172" y="303656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6"/>
                </a:lnTo>
                <a:close/>
              </a:path>
              <a:path w="118110" h="354329">
                <a:moveTo>
                  <a:pt x="72337" y="281581"/>
                </a:moveTo>
                <a:lnTo>
                  <a:pt x="60172" y="303656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1" y="322724"/>
                </a:lnTo>
                <a:lnTo>
                  <a:pt x="72337" y="281581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5" y="282201"/>
                </a:lnTo>
                <a:lnTo>
                  <a:pt x="60172" y="303656"/>
                </a:lnTo>
                <a:lnTo>
                  <a:pt x="72337" y="281581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51199" y="4475845"/>
            <a:ext cx="310896" cy="548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44515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6" y="246630"/>
                </a:lnTo>
                <a:lnTo>
                  <a:pt x="0" y="254454"/>
                </a:lnTo>
                <a:lnTo>
                  <a:pt x="61401" y="354051"/>
                </a:lnTo>
                <a:lnTo>
                  <a:pt x="75117" y="329163"/>
                </a:lnTo>
                <a:lnTo>
                  <a:pt x="48091" y="329163"/>
                </a:lnTo>
                <a:lnTo>
                  <a:pt x="46945" y="282201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5" y="282201"/>
                </a:moveTo>
                <a:lnTo>
                  <a:pt x="48091" y="329163"/>
                </a:lnTo>
                <a:lnTo>
                  <a:pt x="73483" y="328543"/>
                </a:lnTo>
                <a:lnTo>
                  <a:pt x="73341" y="322724"/>
                </a:lnTo>
                <a:lnTo>
                  <a:pt x="49664" y="322724"/>
                </a:lnTo>
                <a:lnTo>
                  <a:pt x="60172" y="303657"/>
                </a:lnTo>
                <a:lnTo>
                  <a:pt x="46945" y="282201"/>
                </a:lnTo>
                <a:close/>
              </a:path>
              <a:path w="118110" h="354329">
                <a:moveTo>
                  <a:pt x="103352" y="237084"/>
                </a:moveTo>
                <a:lnTo>
                  <a:pt x="95628" y="239320"/>
                </a:lnTo>
                <a:lnTo>
                  <a:pt x="72338" y="281582"/>
                </a:lnTo>
                <a:lnTo>
                  <a:pt x="73483" y="328543"/>
                </a:lnTo>
                <a:lnTo>
                  <a:pt x="48091" y="329163"/>
                </a:lnTo>
                <a:lnTo>
                  <a:pt x="75117" y="329163"/>
                </a:lnTo>
                <a:lnTo>
                  <a:pt x="117873" y="251579"/>
                </a:lnTo>
                <a:lnTo>
                  <a:pt x="115638" y="243855"/>
                </a:lnTo>
                <a:lnTo>
                  <a:pt x="103352" y="237084"/>
                </a:lnTo>
                <a:close/>
              </a:path>
              <a:path w="118110" h="354329">
                <a:moveTo>
                  <a:pt x="60172" y="303657"/>
                </a:moveTo>
                <a:lnTo>
                  <a:pt x="49664" y="322724"/>
                </a:lnTo>
                <a:lnTo>
                  <a:pt x="71597" y="322188"/>
                </a:lnTo>
                <a:lnTo>
                  <a:pt x="60172" y="303657"/>
                </a:lnTo>
                <a:close/>
              </a:path>
              <a:path w="118110" h="354329">
                <a:moveTo>
                  <a:pt x="72338" y="281582"/>
                </a:moveTo>
                <a:lnTo>
                  <a:pt x="60172" y="303657"/>
                </a:lnTo>
                <a:lnTo>
                  <a:pt x="71597" y="322188"/>
                </a:lnTo>
                <a:lnTo>
                  <a:pt x="49664" y="322724"/>
                </a:lnTo>
                <a:lnTo>
                  <a:pt x="73341" y="322724"/>
                </a:lnTo>
                <a:lnTo>
                  <a:pt x="72338" y="281582"/>
                </a:lnTo>
                <a:close/>
              </a:path>
              <a:path w="118110" h="354329">
                <a:moveTo>
                  <a:pt x="65469" y="0"/>
                </a:moveTo>
                <a:lnTo>
                  <a:pt x="40077" y="618"/>
                </a:lnTo>
                <a:lnTo>
                  <a:pt x="46945" y="282201"/>
                </a:lnTo>
                <a:lnTo>
                  <a:pt x="60172" y="303657"/>
                </a:lnTo>
                <a:lnTo>
                  <a:pt x="72338" y="281582"/>
                </a:lnTo>
                <a:lnTo>
                  <a:pt x="6546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8131" y="844881"/>
            <a:ext cx="11164711" cy="32074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aligned, consecutive 4-byte words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1 cache-line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marR="134810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bytes move across the bus on a miss 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(data load granularity)</a:t>
            </a:r>
          </a:p>
          <a:p>
            <a:pPr marL="822960" marR="134810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100%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</a:t>
            </a:r>
            <a:r>
              <a:rPr kumimoji="1" sz="2400" dirty="0" err="1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idx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];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...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52824" y="4475845"/>
            <a:ext cx="310896" cy="5486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46734" y="4497151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6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91" y="329163"/>
                </a:lnTo>
                <a:lnTo>
                  <a:pt x="46945" y="282201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5" y="282201"/>
                </a:moveTo>
                <a:lnTo>
                  <a:pt x="48091" y="329163"/>
                </a:lnTo>
                <a:lnTo>
                  <a:pt x="73483" y="328543"/>
                </a:lnTo>
                <a:lnTo>
                  <a:pt x="73341" y="322724"/>
                </a:lnTo>
                <a:lnTo>
                  <a:pt x="49663" y="322724"/>
                </a:lnTo>
                <a:lnTo>
                  <a:pt x="60172" y="303656"/>
                </a:lnTo>
                <a:lnTo>
                  <a:pt x="46945" y="282201"/>
                </a:lnTo>
                <a:close/>
              </a:path>
              <a:path w="118110" h="354329">
                <a:moveTo>
                  <a:pt x="103352" y="237084"/>
                </a:moveTo>
                <a:lnTo>
                  <a:pt x="95628" y="239320"/>
                </a:lnTo>
                <a:lnTo>
                  <a:pt x="72337" y="281581"/>
                </a:lnTo>
                <a:lnTo>
                  <a:pt x="73483" y="328543"/>
                </a:lnTo>
                <a:lnTo>
                  <a:pt x="48091" y="329163"/>
                </a:lnTo>
                <a:lnTo>
                  <a:pt x="75116" y="329163"/>
                </a:lnTo>
                <a:lnTo>
                  <a:pt x="117873" y="251579"/>
                </a:lnTo>
                <a:lnTo>
                  <a:pt x="115638" y="243855"/>
                </a:lnTo>
                <a:lnTo>
                  <a:pt x="103352" y="237084"/>
                </a:lnTo>
                <a:close/>
              </a:path>
              <a:path w="118110" h="354329">
                <a:moveTo>
                  <a:pt x="60172" y="303656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6"/>
                </a:lnTo>
                <a:close/>
              </a:path>
              <a:path w="118110" h="354329">
                <a:moveTo>
                  <a:pt x="72337" y="281581"/>
                </a:moveTo>
                <a:lnTo>
                  <a:pt x="60172" y="303656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1" y="322724"/>
                </a:lnTo>
                <a:lnTo>
                  <a:pt x="72337" y="281581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5" y="282201"/>
                </a:lnTo>
                <a:lnTo>
                  <a:pt x="60172" y="303656"/>
                </a:lnTo>
                <a:lnTo>
                  <a:pt x="72337" y="281581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83504" y="4484989"/>
            <a:ext cx="310896" cy="548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77085" y="4505777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1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9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17554" y="5298298"/>
            <a:ext cx="9133840" cy="561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</a:t>
            </a:r>
            <a:r>
              <a:rPr sz="2400" spc="-1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addresses</a:t>
            </a:r>
            <a:endParaRPr sz="2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3613" y="530134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94408"/>
              </p:ext>
            </p:extLst>
          </p:nvPr>
        </p:nvGraphicFramePr>
        <p:xfrm>
          <a:off x="1051738" y="4998578"/>
          <a:ext cx="9542779" cy="18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9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B99534C-AA59-7F71-6415-64E502E8EB71}"/>
              </a:ext>
            </a:extLst>
          </p:cNvPr>
          <p:cNvSpPr txBox="1"/>
          <p:nvPr/>
        </p:nvSpPr>
        <p:spPr>
          <a:xfrm>
            <a:off x="3490138" y="4052298"/>
            <a:ext cx="3992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 from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</a:t>
            </a:r>
            <a:r>
              <a:rPr lang="en-US" altLang="zh-CN" sz="2400" spc="-7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warp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xfrm>
            <a:off x="8291306" y="5700696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4165549" y="4373360"/>
            <a:ext cx="618744" cy="54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06252" y="4394262"/>
            <a:ext cx="422275" cy="346710"/>
          </a:xfrm>
          <a:custGeom>
            <a:avLst/>
            <a:gdLst/>
            <a:ahLst/>
            <a:cxnLst/>
            <a:rect l="l" t="t" r="r" b="b"/>
            <a:pathLst>
              <a:path w="422275" h="346710">
                <a:moveTo>
                  <a:pt x="310410" y="303265"/>
                </a:moveTo>
                <a:lnTo>
                  <a:pt x="303919" y="308010"/>
                </a:lnTo>
                <a:lnTo>
                  <a:pt x="301763" y="321871"/>
                </a:lnTo>
                <a:lnTo>
                  <a:pt x="306508" y="328363"/>
                </a:lnTo>
                <a:lnTo>
                  <a:pt x="422121" y="346341"/>
                </a:lnTo>
                <a:lnTo>
                  <a:pt x="419846" y="340304"/>
                </a:lnTo>
                <a:lnTo>
                  <a:pt x="394550" y="340304"/>
                </a:lnTo>
                <a:lnTo>
                  <a:pt x="358093" y="310680"/>
                </a:lnTo>
                <a:lnTo>
                  <a:pt x="310410" y="303265"/>
                </a:lnTo>
                <a:close/>
              </a:path>
              <a:path w="422275" h="346710">
                <a:moveTo>
                  <a:pt x="358093" y="310680"/>
                </a:moveTo>
                <a:lnTo>
                  <a:pt x="394550" y="340304"/>
                </a:lnTo>
                <a:lnTo>
                  <a:pt x="398921" y="334925"/>
                </a:lnTo>
                <a:lnTo>
                  <a:pt x="390676" y="334925"/>
                </a:lnTo>
                <a:lnTo>
                  <a:pt x="382999" y="314553"/>
                </a:lnTo>
                <a:lnTo>
                  <a:pt x="358093" y="310680"/>
                </a:lnTo>
                <a:close/>
              </a:path>
              <a:path w="422275" h="346710">
                <a:moveTo>
                  <a:pt x="373537" y="233540"/>
                </a:moveTo>
                <a:lnTo>
                  <a:pt x="360410" y="238486"/>
                </a:lnTo>
                <a:lnTo>
                  <a:pt x="357094" y="245812"/>
                </a:lnTo>
                <a:lnTo>
                  <a:pt x="374111" y="290968"/>
                </a:lnTo>
                <a:lnTo>
                  <a:pt x="410568" y="320591"/>
                </a:lnTo>
                <a:lnTo>
                  <a:pt x="394550" y="340304"/>
                </a:lnTo>
                <a:lnTo>
                  <a:pt x="419846" y="340304"/>
                </a:lnTo>
                <a:lnTo>
                  <a:pt x="380862" y="236854"/>
                </a:lnTo>
                <a:lnTo>
                  <a:pt x="373537" y="233540"/>
                </a:lnTo>
                <a:close/>
              </a:path>
              <a:path w="422275" h="346710">
                <a:moveTo>
                  <a:pt x="382999" y="314553"/>
                </a:moveTo>
                <a:lnTo>
                  <a:pt x="390676" y="334925"/>
                </a:lnTo>
                <a:lnTo>
                  <a:pt x="404511" y="317898"/>
                </a:lnTo>
                <a:lnTo>
                  <a:pt x="382999" y="314553"/>
                </a:lnTo>
                <a:close/>
              </a:path>
              <a:path w="422275" h="346710">
                <a:moveTo>
                  <a:pt x="374111" y="290968"/>
                </a:moveTo>
                <a:lnTo>
                  <a:pt x="382999" y="314553"/>
                </a:lnTo>
                <a:lnTo>
                  <a:pt x="404511" y="317898"/>
                </a:lnTo>
                <a:lnTo>
                  <a:pt x="390676" y="334925"/>
                </a:lnTo>
                <a:lnTo>
                  <a:pt x="398921" y="334925"/>
                </a:lnTo>
                <a:lnTo>
                  <a:pt x="410568" y="320591"/>
                </a:lnTo>
                <a:lnTo>
                  <a:pt x="374111" y="290968"/>
                </a:lnTo>
                <a:close/>
              </a:path>
              <a:path w="422275" h="346710">
                <a:moveTo>
                  <a:pt x="16017" y="0"/>
                </a:moveTo>
                <a:lnTo>
                  <a:pt x="0" y="19712"/>
                </a:lnTo>
                <a:lnTo>
                  <a:pt x="358093" y="310680"/>
                </a:lnTo>
                <a:lnTo>
                  <a:pt x="382999" y="314553"/>
                </a:lnTo>
                <a:lnTo>
                  <a:pt x="374111" y="290968"/>
                </a:lnTo>
                <a:lnTo>
                  <a:pt x="1601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8934" y="4373360"/>
            <a:ext cx="728472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64045" y="4393499"/>
            <a:ext cx="533400" cy="356235"/>
          </a:xfrm>
          <a:custGeom>
            <a:avLst/>
            <a:gdLst/>
            <a:ahLst/>
            <a:cxnLst/>
            <a:rect l="l" t="t" r="r" b="b"/>
            <a:pathLst>
              <a:path w="533400" h="356235">
                <a:moveTo>
                  <a:pt x="59808" y="248452"/>
                </a:moveTo>
                <a:lnTo>
                  <a:pt x="52183" y="251005"/>
                </a:lnTo>
                <a:lnTo>
                  <a:pt x="0" y="355727"/>
                </a:lnTo>
                <a:lnTo>
                  <a:pt x="61110" y="352524"/>
                </a:lnTo>
                <a:lnTo>
                  <a:pt x="28042" y="352524"/>
                </a:lnTo>
                <a:lnTo>
                  <a:pt x="14113" y="331284"/>
                </a:lnTo>
                <a:lnTo>
                  <a:pt x="53395" y="305523"/>
                </a:lnTo>
                <a:lnTo>
                  <a:pt x="74917" y="262333"/>
                </a:lnTo>
                <a:lnTo>
                  <a:pt x="72363" y="254708"/>
                </a:lnTo>
                <a:lnTo>
                  <a:pt x="59808" y="248452"/>
                </a:lnTo>
                <a:close/>
              </a:path>
              <a:path w="533400" h="356235">
                <a:moveTo>
                  <a:pt x="53395" y="305523"/>
                </a:moveTo>
                <a:lnTo>
                  <a:pt x="14113" y="331284"/>
                </a:lnTo>
                <a:lnTo>
                  <a:pt x="28042" y="352524"/>
                </a:lnTo>
                <a:lnTo>
                  <a:pt x="35599" y="347568"/>
                </a:lnTo>
                <a:lnTo>
                  <a:pt x="32444" y="347568"/>
                </a:lnTo>
                <a:lnTo>
                  <a:pt x="20412" y="329222"/>
                </a:lnTo>
                <a:lnTo>
                  <a:pt x="42154" y="328082"/>
                </a:lnTo>
                <a:lnTo>
                  <a:pt x="53395" y="305523"/>
                </a:lnTo>
                <a:close/>
              </a:path>
              <a:path w="533400" h="356235">
                <a:moveTo>
                  <a:pt x="115512" y="324238"/>
                </a:moveTo>
                <a:lnTo>
                  <a:pt x="67324" y="326763"/>
                </a:lnTo>
                <a:lnTo>
                  <a:pt x="28042" y="352524"/>
                </a:lnTo>
                <a:lnTo>
                  <a:pt x="61110" y="352524"/>
                </a:lnTo>
                <a:lnTo>
                  <a:pt x="116842" y="349603"/>
                </a:lnTo>
                <a:lnTo>
                  <a:pt x="122223" y="343627"/>
                </a:lnTo>
                <a:lnTo>
                  <a:pt x="121489" y="329618"/>
                </a:lnTo>
                <a:lnTo>
                  <a:pt x="115512" y="324238"/>
                </a:lnTo>
                <a:close/>
              </a:path>
              <a:path w="533400" h="356235">
                <a:moveTo>
                  <a:pt x="42154" y="328082"/>
                </a:moveTo>
                <a:lnTo>
                  <a:pt x="20412" y="329222"/>
                </a:lnTo>
                <a:lnTo>
                  <a:pt x="32444" y="347568"/>
                </a:lnTo>
                <a:lnTo>
                  <a:pt x="42154" y="328082"/>
                </a:lnTo>
                <a:close/>
              </a:path>
              <a:path w="533400" h="356235">
                <a:moveTo>
                  <a:pt x="67324" y="326763"/>
                </a:moveTo>
                <a:lnTo>
                  <a:pt x="42154" y="328082"/>
                </a:lnTo>
                <a:lnTo>
                  <a:pt x="32444" y="347568"/>
                </a:lnTo>
                <a:lnTo>
                  <a:pt x="35599" y="347568"/>
                </a:lnTo>
                <a:lnTo>
                  <a:pt x="67324" y="326763"/>
                </a:lnTo>
                <a:close/>
              </a:path>
              <a:path w="533400" h="356235">
                <a:moveTo>
                  <a:pt x="519283" y="0"/>
                </a:moveTo>
                <a:lnTo>
                  <a:pt x="53395" y="305523"/>
                </a:lnTo>
                <a:lnTo>
                  <a:pt x="42154" y="328082"/>
                </a:lnTo>
                <a:lnTo>
                  <a:pt x="67324" y="326763"/>
                </a:lnTo>
                <a:lnTo>
                  <a:pt x="533213" y="21239"/>
                </a:lnTo>
                <a:lnTo>
                  <a:pt x="519283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61405" y="4376408"/>
            <a:ext cx="448055" cy="548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01587" y="4396835"/>
            <a:ext cx="252095" cy="352425"/>
          </a:xfrm>
          <a:custGeom>
            <a:avLst/>
            <a:gdLst/>
            <a:ahLst/>
            <a:cxnLst/>
            <a:rect l="l" t="t" r="r" b="b"/>
            <a:pathLst>
              <a:path w="252095" h="352425">
                <a:moveTo>
                  <a:pt x="156429" y="280366"/>
                </a:moveTo>
                <a:lnTo>
                  <a:pt x="148884" y="283150"/>
                </a:lnTo>
                <a:lnTo>
                  <a:pt x="143013" y="295889"/>
                </a:lnTo>
                <a:lnTo>
                  <a:pt x="145797" y="303433"/>
                </a:lnTo>
                <a:lnTo>
                  <a:pt x="252058" y="352407"/>
                </a:lnTo>
                <a:lnTo>
                  <a:pt x="250949" y="339044"/>
                </a:lnTo>
                <a:lnTo>
                  <a:pt x="227196" y="339044"/>
                </a:lnTo>
                <a:lnTo>
                  <a:pt x="200252" y="300563"/>
                </a:lnTo>
                <a:lnTo>
                  <a:pt x="156429" y="280366"/>
                </a:lnTo>
                <a:close/>
              </a:path>
              <a:path w="252095" h="352425">
                <a:moveTo>
                  <a:pt x="200252" y="300563"/>
                </a:moveTo>
                <a:lnTo>
                  <a:pt x="227196" y="339044"/>
                </a:lnTo>
                <a:lnTo>
                  <a:pt x="236099" y="332811"/>
                </a:lnTo>
                <a:lnTo>
                  <a:pt x="224944" y="332811"/>
                </a:lnTo>
                <a:lnTo>
                  <a:pt x="223144" y="311114"/>
                </a:lnTo>
                <a:lnTo>
                  <a:pt x="200252" y="300563"/>
                </a:lnTo>
                <a:close/>
              </a:path>
              <a:path w="252095" h="352425">
                <a:moveTo>
                  <a:pt x="236246" y="230609"/>
                </a:moveTo>
                <a:lnTo>
                  <a:pt x="222266" y="231768"/>
                </a:lnTo>
                <a:lnTo>
                  <a:pt x="217069" y="237905"/>
                </a:lnTo>
                <a:lnTo>
                  <a:pt x="221060" y="285995"/>
                </a:lnTo>
                <a:lnTo>
                  <a:pt x="248004" y="324476"/>
                </a:lnTo>
                <a:lnTo>
                  <a:pt x="227196" y="339044"/>
                </a:lnTo>
                <a:lnTo>
                  <a:pt x="250949" y="339044"/>
                </a:lnTo>
                <a:lnTo>
                  <a:pt x="242383" y="235804"/>
                </a:lnTo>
                <a:lnTo>
                  <a:pt x="236246" y="230609"/>
                </a:lnTo>
                <a:close/>
              </a:path>
              <a:path w="252095" h="352425">
                <a:moveTo>
                  <a:pt x="223144" y="311114"/>
                </a:moveTo>
                <a:lnTo>
                  <a:pt x="224944" y="332811"/>
                </a:lnTo>
                <a:lnTo>
                  <a:pt x="242916" y="320226"/>
                </a:lnTo>
                <a:lnTo>
                  <a:pt x="223144" y="311114"/>
                </a:lnTo>
                <a:close/>
              </a:path>
              <a:path w="252095" h="352425">
                <a:moveTo>
                  <a:pt x="221060" y="285995"/>
                </a:moveTo>
                <a:lnTo>
                  <a:pt x="223144" y="311114"/>
                </a:lnTo>
                <a:lnTo>
                  <a:pt x="242916" y="320226"/>
                </a:lnTo>
                <a:lnTo>
                  <a:pt x="224944" y="332811"/>
                </a:lnTo>
                <a:lnTo>
                  <a:pt x="236099" y="332811"/>
                </a:lnTo>
                <a:lnTo>
                  <a:pt x="248004" y="324476"/>
                </a:lnTo>
                <a:lnTo>
                  <a:pt x="221060" y="285995"/>
                </a:lnTo>
                <a:close/>
              </a:path>
              <a:path w="252095" h="352425">
                <a:moveTo>
                  <a:pt x="20807" y="0"/>
                </a:moveTo>
                <a:lnTo>
                  <a:pt x="0" y="14568"/>
                </a:lnTo>
                <a:lnTo>
                  <a:pt x="200252" y="300563"/>
                </a:lnTo>
                <a:lnTo>
                  <a:pt x="223144" y="311114"/>
                </a:lnTo>
                <a:lnTo>
                  <a:pt x="221060" y="285995"/>
                </a:lnTo>
                <a:lnTo>
                  <a:pt x="2080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03422" y="4370313"/>
            <a:ext cx="1395984" cy="5273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43588" y="4391847"/>
            <a:ext cx="1202690" cy="362585"/>
          </a:xfrm>
          <a:custGeom>
            <a:avLst/>
            <a:gdLst/>
            <a:ahLst/>
            <a:cxnLst/>
            <a:rect l="l" t="t" r="r" b="b"/>
            <a:pathLst>
              <a:path w="1202689" h="362585">
                <a:moveTo>
                  <a:pt x="1129362" y="325187"/>
                </a:moveTo>
                <a:lnTo>
                  <a:pt x="1082828" y="337960"/>
                </a:lnTo>
                <a:lnTo>
                  <a:pt x="1078851" y="344948"/>
                </a:lnTo>
                <a:lnTo>
                  <a:pt x="1082564" y="358476"/>
                </a:lnTo>
                <a:lnTo>
                  <a:pt x="1089552" y="362454"/>
                </a:lnTo>
                <a:lnTo>
                  <a:pt x="1181293" y="337271"/>
                </a:lnTo>
                <a:lnTo>
                  <a:pt x="1174756" y="337271"/>
                </a:lnTo>
                <a:lnTo>
                  <a:pt x="1129362" y="325187"/>
                </a:lnTo>
                <a:close/>
              </a:path>
              <a:path w="1202689" h="362585">
                <a:moveTo>
                  <a:pt x="1153668" y="318515"/>
                </a:moveTo>
                <a:lnTo>
                  <a:pt x="1129362" y="325187"/>
                </a:lnTo>
                <a:lnTo>
                  <a:pt x="1174756" y="337271"/>
                </a:lnTo>
                <a:lnTo>
                  <a:pt x="1175639" y="333954"/>
                </a:lnTo>
                <a:lnTo>
                  <a:pt x="1169018" y="333954"/>
                </a:lnTo>
                <a:lnTo>
                  <a:pt x="1153668" y="318515"/>
                </a:lnTo>
                <a:close/>
              </a:path>
              <a:path w="1202689" h="362585">
                <a:moveTo>
                  <a:pt x="1111843" y="248492"/>
                </a:moveTo>
                <a:lnTo>
                  <a:pt x="1101895" y="258382"/>
                </a:lnTo>
                <a:lnTo>
                  <a:pt x="1101872" y="266423"/>
                </a:lnTo>
                <a:lnTo>
                  <a:pt x="1135896" y="300642"/>
                </a:lnTo>
                <a:lnTo>
                  <a:pt x="1181289" y="312726"/>
                </a:lnTo>
                <a:lnTo>
                  <a:pt x="1174756" y="337271"/>
                </a:lnTo>
                <a:lnTo>
                  <a:pt x="1181293" y="337271"/>
                </a:lnTo>
                <a:lnTo>
                  <a:pt x="1202381" y="331482"/>
                </a:lnTo>
                <a:lnTo>
                  <a:pt x="1119883" y="248514"/>
                </a:lnTo>
                <a:lnTo>
                  <a:pt x="1111843" y="248492"/>
                </a:lnTo>
                <a:close/>
              </a:path>
              <a:path w="1202689" h="362585">
                <a:moveTo>
                  <a:pt x="1174662" y="312752"/>
                </a:moveTo>
                <a:lnTo>
                  <a:pt x="1153668" y="318515"/>
                </a:lnTo>
                <a:lnTo>
                  <a:pt x="1169018" y="333954"/>
                </a:lnTo>
                <a:lnTo>
                  <a:pt x="1174662" y="312752"/>
                </a:lnTo>
                <a:close/>
              </a:path>
              <a:path w="1202689" h="362585">
                <a:moveTo>
                  <a:pt x="1181282" y="312752"/>
                </a:moveTo>
                <a:lnTo>
                  <a:pt x="1174662" y="312752"/>
                </a:lnTo>
                <a:lnTo>
                  <a:pt x="1169018" y="333954"/>
                </a:lnTo>
                <a:lnTo>
                  <a:pt x="1175639" y="333954"/>
                </a:lnTo>
                <a:lnTo>
                  <a:pt x="1181282" y="312752"/>
                </a:lnTo>
                <a:close/>
              </a:path>
              <a:path w="1202689" h="362585">
                <a:moveTo>
                  <a:pt x="6534" y="0"/>
                </a:moveTo>
                <a:lnTo>
                  <a:pt x="0" y="24545"/>
                </a:lnTo>
                <a:lnTo>
                  <a:pt x="1129362" y="325187"/>
                </a:lnTo>
                <a:lnTo>
                  <a:pt x="1153668" y="318515"/>
                </a:lnTo>
                <a:lnTo>
                  <a:pt x="1135896" y="300642"/>
                </a:lnTo>
                <a:lnTo>
                  <a:pt x="6534" y="0"/>
                </a:lnTo>
                <a:close/>
              </a:path>
              <a:path w="1202689" h="362585">
                <a:moveTo>
                  <a:pt x="1135896" y="300642"/>
                </a:moveTo>
                <a:lnTo>
                  <a:pt x="1153668" y="318515"/>
                </a:lnTo>
                <a:lnTo>
                  <a:pt x="1174662" y="312752"/>
                </a:lnTo>
                <a:lnTo>
                  <a:pt x="1181282" y="312752"/>
                </a:lnTo>
                <a:lnTo>
                  <a:pt x="1135896" y="30064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01542" y="4373360"/>
            <a:ext cx="661415" cy="5516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57345" y="4393982"/>
            <a:ext cx="465455" cy="355600"/>
          </a:xfrm>
          <a:custGeom>
            <a:avLst/>
            <a:gdLst/>
            <a:ahLst/>
            <a:cxnLst/>
            <a:rect l="l" t="t" r="r" b="b"/>
            <a:pathLst>
              <a:path w="465454" h="355600">
                <a:moveTo>
                  <a:pt x="52588" y="244255"/>
                </a:moveTo>
                <a:lnTo>
                  <a:pt x="45148" y="247307"/>
                </a:lnTo>
                <a:lnTo>
                  <a:pt x="0" y="355246"/>
                </a:lnTo>
                <a:lnTo>
                  <a:pt x="42408" y="350198"/>
                </a:lnTo>
                <a:lnTo>
                  <a:pt x="27769" y="350198"/>
                </a:lnTo>
                <a:lnTo>
                  <a:pt x="12467" y="329925"/>
                </a:lnTo>
                <a:lnTo>
                  <a:pt x="49960" y="301626"/>
                </a:lnTo>
                <a:lnTo>
                  <a:pt x="68581" y="257107"/>
                </a:lnTo>
                <a:lnTo>
                  <a:pt x="65530" y="249668"/>
                </a:lnTo>
                <a:lnTo>
                  <a:pt x="52588" y="244255"/>
                </a:lnTo>
                <a:close/>
              </a:path>
              <a:path w="465454" h="355600">
                <a:moveTo>
                  <a:pt x="49960" y="301626"/>
                </a:moveTo>
                <a:lnTo>
                  <a:pt x="12467" y="329925"/>
                </a:lnTo>
                <a:lnTo>
                  <a:pt x="27769" y="350198"/>
                </a:lnTo>
                <a:lnTo>
                  <a:pt x="34705" y="344963"/>
                </a:lnTo>
                <a:lnTo>
                  <a:pt x="31833" y="344963"/>
                </a:lnTo>
                <a:lnTo>
                  <a:pt x="18616" y="327451"/>
                </a:lnTo>
                <a:lnTo>
                  <a:pt x="40234" y="324878"/>
                </a:lnTo>
                <a:lnTo>
                  <a:pt x="49960" y="301626"/>
                </a:lnTo>
                <a:close/>
              </a:path>
              <a:path w="465454" h="355600">
                <a:moveTo>
                  <a:pt x="113179" y="316194"/>
                </a:moveTo>
                <a:lnTo>
                  <a:pt x="65263" y="321898"/>
                </a:lnTo>
                <a:lnTo>
                  <a:pt x="27769" y="350198"/>
                </a:lnTo>
                <a:lnTo>
                  <a:pt x="42408" y="350198"/>
                </a:lnTo>
                <a:lnTo>
                  <a:pt x="116182" y="341416"/>
                </a:lnTo>
                <a:lnTo>
                  <a:pt x="121156" y="335098"/>
                </a:lnTo>
                <a:lnTo>
                  <a:pt x="119498" y="321167"/>
                </a:lnTo>
                <a:lnTo>
                  <a:pt x="113179" y="316194"/>
                </a:lnTo>
                <a:close/>
              </a:path>
              <a:path w="465454" h="355600">
                <a:moveTo>
                  <a:pt x="40234" y="324878"/>
                </a:moveTo>
                <a:lnTo>
                  <a:pt x="18616" y="327451"/>
                </a:lnTo>
                <a:lnTo>
                  <a:pt x="31833" y="344963"/>
                </a:lnTo>
                <a:lnTo>
                  <a:pt x="40234" y="324878"/>
                </a:lnTo>
                <a:close/>
              </a:path>
              <a:path w="465454" h="355600">
                <a:moveTo>
                  <a:pt x="65263" y="321898"/>
                </a:moveTo>
                <a:lnTo>
                  <a:pt x="40234" y="324878"/>
                </a:lnTo>
                <a:lnTo>
                  <a:pt x="31833" y="344963"/>
                </a:lnTo>
                <a:lnTo>
                  <a:pt x="34705" y="344963"/>
                </a:lnTo>
                <a:lnTo>
                  <a:pt x="65263" y="321898"/>
                </a:lnTo>
                <a:close/>
              </a:path>
              <a:path w="465454" h="355600">
                <a:moveTo>
                  <a:pt x="449573" y="0"/>
                </a:moveTo>
                <a:lnTo>
                  <a:pt x="49960" y="301626"/>
                </a:lnTo>
                <a:lnTo>
                  <a:pt x="40234" y="324878"/>
                </a:lnTo>
                <a:lnTo>
                  <a:pt x="65263" y="321898"/>
                </a:lnTo>
                <a:lnTo>
                  <a:pt x="464875" y="20273"/>
                </a:lnTo>
                <a:lnTo>
                  <a:pt x="449573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96813" y="4382504"/>
            <a:ext cx="499872" cy="533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51648" y="4404279"/>
            <a:ext cx="302895" cy="336550"/>
          </a:xfrm>
          <a:custGeom>
            <a:avLst/>
            <a:gdLst/>
            <a:ahLst/>
            <a:cxnLst/>
            <a:rect l="l" t="t" r="r" b="b"/>
            <a:pathLst>
              <a:path w="302895" h="336550">
                <a:moveTo>
                  <a:pt x="30147" y="217270"/>
                </a:moveTo>
                <a:lnTo>
                  <a:pt x="23437" y="221702"/>
                </a:lnTo>
                <a:lnTo>
                  <a:pt x="0" y="336332"/>
                </a:lnTo>
                <a:lnTo>
                  <a:pt x="31888" y="326014"/>
                </a:lnTo>
                <a:lnTo>
                  <a:pt x="26268" y="326014"/>
                </a:lnTo>
                <a:lnTo>
                  <a:pt x="7338" y="309079"/>
                </a:lnTo>
                <a:lnTo>
                  <a:pt x="38656" y="274067"/>
                </a:lnTo>
                <a:lnTo>
                  <a:pt x="48323" y="226790"/>
                </a:lnTo>
                <a:lnTo>
                  <a:pt x="43891" y="220080"/>
                </a:lnTo>
                <a:lnTo>
                  <a:pt x="30147" y="217270"/>
                </a:lnTo>
                <a:close/>
              </a:path>
              <a:path w="302895" h="336550">
                <a:moveTo>
                  <a:pt x="38656" y="274067"/>
                </a:moveTo>
                <a:lnTo>
                  <a:pt x="7338" y="309079"/>
                </a:lnTo>
                <a:lnTo>
                  <a:pt x="26268" y="326014"/>
                </a:lnTo>
                <a:lnTo>
                  <a:pt x="31566" y="320090"/>
                </a:lnTo>
                <a:lnTo>
                  <a:pt x="29245" y="320090"/>
                </a:lnTo>
                <a:lnTo>
                  <a:pt x="12893" y="305464"/>
                </a:lnTo>
                <a:lnTo>
                  <a:pt x="33606" y="298761"/>
                </a:lnTo>
                <a:lnTo>
                  <a:pt x="38656" y="274067"/>
                </a:lnTo>
                <a:close/>
              </a:path>
              <a:path w="302895" h="336550">
                <a:moveTo>
                  <a:pt x="103498" y="276144"/>
                </a:moveTo>
                <a:lnTo>
                  <a:pt x="57586" y="291001"/>
                </a:lnTo>
                <a:lnTo>
                  <a:pt x="26268" y="326014"/>
                </a:lnTo>
                <a:lnTo>
                  <a:pt x="31888" y="326014"/>
                </a:lnTo>
                <a:lnTo>
                  <a:pt x="111319" y="300310"/>
                </a:lnTo>
                <a:lnTo>
                  <a:pt x="114978" y="293150"/>
                </a:lnTo>
                <a:lnTo>
                  <a:pt x="110658" y="279803"/>
                </a:lnTo>
                <a:lnTo>
                  <a:pt x="103498" y="276144"/>
                </a:lnTo>
                <a:close/>
              </a:path>
              <a:path w="302895" h="336550">
                <a:moveTo>
                  <a:pt x="33606" y="298761"/>
                </a:moveTo>
                <a:lnTo>
                  <a:pt x="12893" y="305464"/>
                </a:lnTo>
                <a:lnTo>
                  <a:pt x="29245" y="320090"/>
                </a:lnTo>
                <a:lnTo>
                  <a:pt x="33606" y="298761"/>
                </a:lnTo>
                <a:close/>
              </a:path>
              <a:path w="302895" h="336550">
                <a:moveTo>
                  <a:pt x="57586" y="291001"/>
                </a:moveTo>
                <a:lnTo>
                  <a:pt x="33606" y="298761"/>
                </a:lnTo>
                <a:lnTo>
                  <a:pt x="29245" y="320090"/>
                </a:lnTo>
                <a:lnTo>
                  <a:pt x="31566" y="320090"/>
                </a:lnTo>
                <a:lnTo>
                  <a:pt x="57586" y="291001"/>
                </a:lnTo>
                <a:close/>
              </a:path>
              <a:path w="302895" h="336550">
                <a:moveTo>
                  <a:pt x="283805" y="0"/>
                </a:moveTo>
                <a:lnTo>
                  <a:pt x="38656" y="274067"/>
                </a:lnTo>
                <a:lnTo>
                  <a:pt x="33606" y="298761"/>
                </a:lnTo>
                <a:lnTo>
                  <a:pt x="57586" y="291001"/>
                </a:lnTo>
                <a:lnTo>
                  <a:pt x="302737" y="16934"/>
                </a:lnTo>
                <a:lnTo>
                  <a:pt x="283805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861159"/>
              </p:ext>
            </p:extLst>
          </p:nvPr>
        </p:nvGraphicFramePr>
        <p:xfrm>
          <a:off x="1066800" y="4816820"/>
          <a:ext cx="9542779" cy="204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632616" y="5204957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 addresses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08675" y="520800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3"/>
          <p:cNvSpPr txBox="1"/>
          <p:nvPr/>
        </p:nvSpPr>
        <p:spPr>
          <a:xfrm>
            <a:off x="533400" y="929011"/>
            <a:ext cx="10315963" cy="38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aligned, permuted 4-byte words</a:t>
            </a: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1 cache-line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marR="13055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bytes move across the bus on a miss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3055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100%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a[rand()%</a:t>
            </a:r>
            <a:r>
              <a:rPr kumimoji="1" sz="2400" dirty="0" err="1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warpSize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];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983230">
              <a:lnSpc>
                <a:spcPts val="2110"/>
              </a:lnSpc>
              <a:spcBef>
                <a:spcPts val="130"/>
              </a:spcBef>
            </a:pPr>
            <a:r>
              <a:rPr lang="en-US" sz="2400" spc="-5" dirty="0">
                <a:latin typeface="Comic Sans MS" panose="030F0702030302020204" pitchFamily="66" charset="0"/>
                <a:cs typeface="Arial" panose="020B0604020202020204"/>
              </a:rPr>
              <a:t>  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 from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</a:t>
            </a:r>
            <a:r>
              <a:rPr sz="2400" spc="-7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warp</a:t>
            </a:r>
          </a:p>
          <a:p>
            <a:pPr marL="4354830">
              <a:lnSpc>
                <a:spcPts val="2110"/>
              </a:lnSpc>
            </a:pPr>
            <a:r>
              <a:rPr sz="2000" b="1" spc="-10" dirty="0">
                <a:latin typeface="Arial" panose="020B0604020202020204"/>
                <a:cs typeface="Arial" panose="020B0604020202020204"/>
              </a:rPr>
              <a:t>...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  <a:ea typeface="微软雅黑" panose="020B0503020204020204" pitchFamily="34" charset="-122"/>
                <a:cs typeface="Calibri Light" panose="020F0302020204030204" pitchFamily="34" charset="0"/>
              </a:rPr>
              <a:t>CACHING 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 txBox="1">
            <a:spLocks noGrp="1"/>
          </p:cNvSpPr>
          <p:nvPr>
            <p:ph type="sldNum" sz="quarter" idx="12"/>
          </p:nvPr>
        </p:nvSpPr>
        <p:spPr>
          <a:xfrm>
            <a:off x="8390601" y="5798073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9188235" y="5128692"/>
            <a:ext cx="1380490" cy="204470"/>
          </a:xfrm>
          <a:custGeom>
            <a:avLst/>
            <a:gdLst/>
            <a:ahLst/>
            <a:cxnLst/>
            <a:rect l="l" t="t" r="r" b="b"/>
            <a:pathLst>
              <a:path w="1380490" h="204470">
                <a:moveTo>
                  <a:pt x="0" y="204342"/>
                </a:moveTo>
                <a:lnTo>
                  <a:pt x="1380481" y="204342"/>
                </a:lnTo>
                <a:lnTo>
                  <a:pt x="1380481" y="0"/>
                </a:lnTo>
                <a:lnTo>
                  <a:pt x="0" y="0"/>
                </a:lnTo>
                <a:lnTo>
                  <a:pt x="0" y="20434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48024" y="5128692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0" y="0"/>
                </a:moveTo>
                <a:lnTo>
                  <a:pt x="2720692" y="0"/>
                </a:lnTo>
                <a:lnTo>
                  <a:pt x="2720692" y="204343"/>
                </a:lnTo>
                <a:lnTo>
                  <a:pt x="0" y="20434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2E0B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83230" y="4681500"/>
            <a:ext cx="859536" cy="53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9086" y="4703430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9" y="239631"/>
                </a:moveTo>
                <a:lnTo>
                  <a:pt x="64028" y="241278"/>
                </a:lnTo>
                <a:lnTo>
                  <a:pt x="0" y="339206"/>
                </a:lnTo>
                <a:lnTo>
                  <a:pt x="116759" y="346737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5" y="339293"/>
                </a:lnTo>
                <a:lnTo>
                  <a:pt x="16866" y="316574"/>
                </a:lnTo>
                <a:lnTo>
                  <a:pt x="58881" y="295566"/>
                </a:lnTo>
                <a:lnTo>
                  <a:pt x="85288" y="255178"/>
                </a:lnTo>
                <a:lnTo>
                  <a:pt x="83640" y="247308"/>
                </a:lnTo>
                <a:lnTo>
                  <a:pt x="71899" y="239631"/>
                </a:lnTo>
                <a:close/>
              </a:path>
              <a:path w="661670" h="347345">
                <a:moveTo>
                  <a:pt x="58881" y="295566"/>
                </a:moveTo>
                <a:lnTo>
                  <a:pt x="16866" y="316574"/>
                </a:lnTo>
                <a:lnTo>
                  <a:pt x="28225" y="339293"/>
                </a:lnTo>
                <a:lnTo>
                  <a:pt x="37041" y="334885"/>
                </a:lnTo>
                <a:lnTo>
                  <a:pt x="33173" y="334885"/>
                </a:lnTo>
                <a:lnTo>
                  <a:pt x="23361" y="315260"/>
                </a:lnTo>
                <a:lnTo>
                  <a:pt x="46004" y="315260"/>
                </a:lnTo>
                <a:lnTo>
                  <a:pt x="58881" y="295566"/>
                </a:lnTo>
                <a:close/>
              </a:path>
              <a:path w="661670" h="347345">
                <a:moveTo>
                  <a:pt x="70240" y="318284"/>
                </a:moveTo>
                <a:lnTo>
                  <a:pt x="28225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5" y="321391"/>
                </a:lnTo>
                <a:lnTo>
                  <a:pt x="70240" y="318284"/>
                </a:lnTo>
                <a:close/>
              </a:path>
              <a:path w="661670" h="347345">
                <a:moveTo>
                  <a:pt x="23361" y="315260"/>
                </a:moveTo>
                <a:lnTo>
                  <a:pt x="33173" y="334885"/>
                </a:lnTo>
                <a:lnTo>
                  <a:pt x="45088" y="316662"/>
                </a:lnTo>
                <a:lnTo>
                  <a:pt x="23361" y="315260"/>
                </a:lnTo>
                <a:close/>
              </a:path>
              <a:path w="661670" h="347345">
                <a:moveTo>
                  <a:pt x="45088" y="316662"/>
                </a:moveTo>
                <a:lnTo>
                  <a:pt x="33173" y="334885"/>
                </a:lnTo>
                <a:lnTo>
                  <a:pt x="37041" y="334885"/>
                </a:lnTo>
                <a:lnTo>
                  <a:pt x="70240" y="318284"/>
                </a:lnTo>
                <a:lnTo>
                  <a:pt x="45088" y="316662"/>
                </a:lnTo>
                <a:close/>
              </a:path>
              <a:path w="661670" h="347345">
                <a:moveTo>
                  <a:pt x="649994" y="0"/>
                </a:moveTo>
                <a:lnTo>
                  <a:pt x="58881" y="295566"/>
                </a:lnTo>
                <a:lnTo>
                  <a:pt x="45088" y="316662"/>
                </a:lnTo>
                <a:lnTo>
                  <a:pt x="70240" y="318284"/>
                </a:lnTo>
                <a:lnTo>
                  <a:pt x="661353" y="22717"/>
                </a:lnTo>
                <a:lnTo>
                  <a:pt x="649994" y="0"/>
                </a:lnTo>
                <a:close/>
              </a:path>
              <a:path w="661670" h="347345">
                <a:moveTo>
                  <a:pt x="46004" y="315260"/>
                </a:moveTo>
                <a:lnTo>
                  <a:pt x="23361" y="315260"/>
                </a:lnTo>
                <a:lnTo>
                  <a:pt x="45088" y="316662"/>
                </a:lnTo>
                <a:lnTo>
                  <a:pt x="46004" y="31526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44596" y="5131566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2720691" y="0"/>
                </a:moveTo>
                <a:lnTo>
                  <a:pt x="0" y="0"/>
                </a:lnTo>
                <a:lnTo>
                  <a:pt x="0" y="204343"/>
                </a:lnTo>
                <a:lnTo>
                  <a:pt x="2720691" y="204343"/>
                </a:lnTo>
                <a:lnTo>
                  <a:pt x="2720691" y="0"/>
                </a:lnTo>
                <a:close/>
              </a:path>
            </a:pathLst>
          </a:custGeom>
          <a:solidFill>
            <a:srgbClr val="EF56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44596" y="5131566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0" y="0"/>
                </a:moveTo>
                <a:lnTo>
                  <a:pt x="2720692" y="0"/>
                </a:lnTo>
                <a:lnTo>
                  <a:pt x="2720692" y="204343"/>
                </a:lnTo>
                <a:lnTo>
                  <a:pt x="0" y="20434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2E0B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56580" y="5510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0521" y="5507000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pc="-5" dirty="0">
                <a:latin typeface="Arial" panose="020B0604020202020204"/>
                <a:cs typeface="Arial" panose="020B0604020202020204"/>
              </a:rPr>
              <a:t>3</a:t>
            </a:r>
            <a:r>
              <a:rPr dirty="0">
                <a:latin typeface="Arial" panose="020B0604020202020204"/>
                <a:cs typeface="Arial" panose="020B0604020202020204"/>
              </a:rPr>
              <a:t>2	</a:t>
            </a:r>
            <a:r>
              <a:rPr spc="-5" dirty="0">
                <a:latin typeface="Arial" panose="020B0604020202020204"/>
                <a:cs typeface="Arial" panose="020B0604020202020204"/>
              </a:rPr>
              <a:t>6</a:t>
            </a:r>
            <a:r>
              <a:rPr dirty="0">
                <a:latin typeface="Arial" panose="020B0604020202020204"/>
                <a:cs typeface="Arial" panose="020B0604020202020204"/>
              </a:rPr>
              <a:t>4	</a:t>
            </a:r>
            <a:r>
              <a:rPr spc="-5" dirty="0">
                <a:latin typeface="Arial" panose="020B0604020202020204"/>
                <a:cs typeface="Arial" panose="020B0604020202020204"/>
              </a:rPr>
              <a:t>9</a:t>
            </a:r>
            <a:r>
              <a:rPr dirty="0">
                <a:latin typeface="Arial" panose="020B0604020202020204"/>
                <a:cs typeface="Arial" panose="020B0604020202020204"/>
              </a:rPr>
              <a:t>6	</a:t>
            </a:r>
            <a:r>
              <a:rPr spc="-5" dirty="0">
                <a:latin typeface="Arial" panose="020B0604020202020204"/>
                <a:cs typeface="Arial" panose="020B0604020202020204"/>
              </a:rPr>
              <a:t>12</a:t>
            </a:r>
            <a:r>
              <a:rPr dirty="0">
                <a:latin typeface="Arial" panose="020B0604020202020204"/>
                <a:cs typeface="Arial" panose="020B0604020202020204"/>
              </a:rPr>
              <a:t>8	</a:t>
            </a:r>
            <a:r>
              <a:rPr spc="-5" dirty="0">
                <a:latin typeface="Arial" panose="020B0604020202020204"/>
                <a:cs typeface="Arial" panose="020B0604020202020204"/>
              </a:rPr>
              <a:t>16</a:t>
            </a:r>
            <a:r>
              <a:rPr dirty="0">
                <a:latin typeface="Arial" panose="020B0604020202020204"/>
                <a:cs typeface="Arial" panose="020B0604020202020204"/>
              </a:rPr>
              <a:t>0	</a:t>
            </a:r>
            <a:r>
              <a:rPr spc="-5" dirty="0">
                <a:latin typeface="Arial" panose="020B0604020202020204"/>
                <a:cs typeface="Arial" panose="020B0604020202020204"/>
              </a:rPr>
              <a:t>19</a:t>
            </a:r>
            <a:r>
              <a:rPr dirty="0">
                <a:latin typeface="Arial" panose="020B0604020202020204"/>
                <a:cs typeface="Arial" panose="020B0604020202020204"/>
              </a:rPr>
              <a:t>2	</a:t>
            </a:r>
            <a:r>
              <a:rPr spc="-5" dirty="0">
                <a:latin typeface="Arial" panose="020B0604020202020204"/>
                <a:cs typeface="Arial" panose="020B0604020202020204"/>
              </a:rPr>
              <a:t>22</a:t>
            </a:r>
            <a:r>
              <a:rPr dirty="0">
                <a:latin typeface="Arial" panose="020B0604020202020204"/>
                <a:cs typeface="Arial" panose="020B0604020202020204"/>
              </a:rPr>
              <a:t>4	</a:t>
            </a:r>
            <a:r>
              <a:rPr spc="-5" dirty="0">
                <a:latin typeface="Arial" panose="020B0604020202020204"/>
                <a:cs typeface="Arial" panose="020B0604020202020204"/>
              </a:rPr>
              <a:t>25</a:t>
            </a:r>
            <a:r>
              <a:rPr dirty="0">
                <a:latin typeface="Arial" panose="020B0604020202020204"/>
                <a:cs typeface="Arial" panose="020B0604020202020204"/>
              </a:rPr>
              <a:t>6	</a:t>
            </a:r>
            <a:r>
              <a:rPr spc="-5" dirty="0">
                <a:latin typeface="Arial" panose="020B0604020202020204"/>
                <a:cs typeface="Arial" panose="020B0604020202020204"/>
              </a:rPr>
              <a:t>28</a:t>
            </a:r>
            <a:r>
              <a:rPr dirty="0">
                <a:latin typeface="Arial" panose="020B0604020202020204"/>
                <a:cs typeface="Arial" panose="020B0604020202020204"/>
              </a:rPr>
              <a:t>8	</a:t>
            </a:r>
            <a:r>
              <a:rPr spc="-5" dirty="0">
                <a:latin typeface="Arial" panose="020B0604020202020204"/>
                <a:cs typeface="Arial" panose="020B0604020202020204"/>
              </a:rPr>
              <a:t>32</a:t>
            </a:r>
            <a:r>
              <a:rPr dirty="0">
                <a:latin typeface="Arial" panose="020B0604020202020204"/>
                <a:cs typeface="Arial" panose="020B0604020202020204"/>
              </a:rPr>
              <a:t>0	</a:t>
            </a:r>
            <a:r>
              <a:rPr spc="-5" dirty="0">
                <a:latin typeface="Arial" panose="020B0604020202020204"/>
                <a:cs typeface="Arial" panose="020B0604020202020204"/>
              </a:rPr>
              <a:t>35</a:t>
            </a:r>
            <a:r>
              <a:rPr dirty="0">
                <a:latin typeface="Arial" panose="020B0604020202020204"/>
                <a:cs typeface="Arial" panose="020B0604020202020204"/>
              </a:rPr>
              <a:t>2	</a:t>
            </a:r>
            <a:r>
              <a:rPr spc="-5" dirty="0">
                <a:latin typeface="Arial" panose="020B0604020202020204"/>
                <a:cs typeface="Arial" panose="020B0604020202020204"/>
              </a:rPr>
              <a:t>38</a:t>
            </a:r>
            <a:r>
              <a:rPr dirty="0">
                <a:latin typeface="Arial" panose="020B0604020202020204"/>
                <a:cs typeface="Arial" panose="020B0604020202020204"/>
              </a:rPr>
              <a:t>4	</a:t>
            </a:r>
            <a:r>
              <a:rPr spc="-5" dirty="0">
                <a:latin typeface="Arial" panose="020B0604020202020204"/>
                <a:cs typeface="Arial" panose="020B0604020202020204"/>
              </a:rPr>
              <a:t>41</a:t>
            </a:r>
            <a:r>
              <a:rPr dirty="0">
                <a:latin typeface="Arial" panose="020B0604020202020204"/>
                <a:cs typeface="Arial" panose="020B0604020202020204"/>
              </a:rPr>
              <a:t>6	</a:t>
            </a:r>
            <a:r>
              <a:rPr spc="-5" dirty="0">
                <a:latin typeface="Arial" panose="020B0604020202020204"/>
                <a:cs typeface="Arial" panose="020B0604020202020204"/>
              </a:rPr>
              <a:t>448</a:t>
            </a:r>
            <a:endParaRPr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 addresses</a:t>
            </a:r>
          </a:p>
        </p:txBody>
      </p:sp>
      <p:sp>
        <p:nvSpPr>
          <p:cNvPr id="18" name="object 18"/>
          <p:cNvSpPr/>
          <p:nvPr/>
        </p:nvSpPr>
        <p:spPr>
          <a:xfrm>
            <a:off x="1027405" y="5131566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2720691" y="0"/>
                </a:moveTo>
                <a:lnTo>
                  <a:pt x="0" y="0"/>
                </a:lnTo>
                <a:lnTo>
                  <a:pt x="0" y="204343"/>
                </a:lnTo>
                <a:lnTo>
                  <a:pt x="2720691" y="204343"/>
                </a:lnTo>
                <a:lnTo>
                  <a:pt x="2720691" y="0"/>
                </a:lnTo>
                <a:close/>
              </a:path>
            </a:pathLst>
          </a:custGeom>
          <a:solidFill>
            <a:srgbClr val="EF56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7405" y="5131566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0" y="0"/>
                </a:moveTo>
                <a:lnTo>
                  <a:pt x="2720692" y="0"/>
                </a:lnTo>
                <a:lnTo>
                  <a:pt x="2720692" y="204343"/>
                </a:lnTo>
                <a:lnTo>
                  <a:pt x="0" y="20434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2E0B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87536" y="5128692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2720691" y="0"/>
                </a:moveTo>
                <a:lnTo>
                  <a:pt x="0" y="0"/>
                </a:lnTo>
                <a:lnTo>
                  <a:pt x="0" y="204342"/>
                </a:lnTo>
                <a:lnTo>
                  <a:pt x="2720691" y="204342"/>
                </a:lnTo>
                <a:lnTo>
                  <a:pt x="272069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67543" y="5128697"/>
            <a:ext cx="2720975" cy="204470"/>
          </a:xfrm>
          <a:custGeom>
            <a:avLst/>
            <a:gdLst/>
            <a:ahLst/>
            <a:cxnLst/>
            <a:rect l="l" t="t" r="r" b="b"/>
            <a:pathLst>
              <a:path w="2720975" h="204470">
                <a:moveTo>
                  <a:pt x="0" y="0"/>
                </a:moveTo>
                <a:lnTo>
                  <a:pt x="2720692" y="0"/>
                </a:lnTo>
                <a:lnTo>
                  <a:pt x="2720692" y="204343"/>
                </a:lnTo>
                <a:lnTo>
                  <a:pt x="0" y="20434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2E0B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39262" y="4687595"/>
            <a:ext cx="859536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94999" y="4709187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8" y="239632"/>
                </a:moveTo>
                <a:lnTo>
                  <a:pt x="64028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4"/>
                </a:lnTo>
                <a:lnTo>
                  <a:pt x="28224" y="339294"/>
                </a:lnTo>
                <a:lnTo>
                  <a:pt x="16865" y="316575"/>
                </a:lnTo>
                <a:lnTo>
                  <a:pt x="58880" y="295567"/>
                </a:lnTo>
                <a:lnTo>
                  <a:pt x="85286" y="255179"/>
                </a:lnTo>
                <a:lnTo>
                  <a:pt x="83639" y="247308"/>
                </a:lnTo>
                <a:lnTo>
                  <a:pt x="71898" y="239632"/>
                </a:lnTo>
                <a:close/>
              </a:path>
              <a:path w="661670" h="347345">
                <a:moveTo>
                  <a:pt x="58880" y="295567"/>
                </a:moveTo>
                <a:lnTo>
                  <a:pt x="16865" y="316575"/>
                </a:lnTo>
                <a:lnTo>
                  <a:pt x="28224" y="339294"/>
                </a:lnTo>
                <a:lnTo>
                  <a:pt x="37043" y="334885"/>
                </a:lnTo>
                <a:lnTo>
                  <a:pt x="33173" y="334885"/>
                </a:lnTo>
                <a:lnTo>
                  <a:pt x="23361" y="315262"/>
                </a:lnTo>
                <a:lnTo>
                  <a:pt x="46003" y="315262"/>
                </a:lnTo>
                <a:lnTo>
                  <a:pt x="58880" y="295567"/>
                </a:lnTo>
                <a:close/>
              </a:path>
              <a:path w="661670" h="347345">
                <a:moveTo>
                  <a:pt x="70240" y="318285"/>
                </a:moveTo>
                <a:lnTo>
                  <a:pt x="28224" y="339294"/>
                </a:lnTo>
                <a:lnTo>
                  <a:pt x="122937" y="339294"/>
                </a:lnTo>
                <a:lnTo>
                  <a:pt x="123703" y="327431"/>
                </a:lnTo>
                <a:lnTo>
                  <a:pt x="118394" y="321391"/>
                </a:lnTo>
                <a:lnTo>
                  <a:pt x="70240" y="318285"/>
                </a:lnTo>
                <a:close/>
              </a:path>
              <a:path w="661670" h="347345">
                <a:moveTo>
                  <a:pt x="23361" y="315262"/>
                </a:moveTo>
                <a:lnTo>
                  <a:pt x="33173" y="334885"/>
                </a:lnTo>
                <a:lnTo>
                  <a:pt x="45087" y="316663"/>
                </a:lnTo>
                <a:lnTo>
                  <a:pt x="23361" y="315262"/>
                </a:lnTo>
                <a:close/>
              </a:path>
              <a:path w="661670" h="347345">
                <a:moveTo>
                  <a:pt x="45087" y="316663"/>
                </a:moveTo>
                <a:lnTo>
                  <a:pt x="33173" y="334885"/>
                </a:lnTo>
                <a:lnTo>
                  <a:pt x="37043" y="334885"/>
                </a:lnTo>
                <a:lnTo>
                  <a:pt x="70240" y="318285"/>
                </a:lnTo>
                <a:lnTo>
                  <a:pt x="45087" y="316663"/>
                </a:lnTo>
                <a:close/>
              </a:path>
              <a:path w="661670" h="347345">
                <a:moveTo>
                  <a:pt x="649993" y="0"/>
                </a:moveTo>
                <a:lnTo>
                  <a:pt x="58880" y="295567"/>
                </a:lnTo>
                <a:lnTo>
                  <a:pt x="45087" y="316663"/>
                </a:lnTo>
                <a:lnTo>
                  <a:pt x="70240" y="318285"/>
                </a:lnTo>
                <a:lnTo>
                  <a:pt x="661353" y="22719"/>
                </a:lnTo>
                <a:lnTo>
                  <a:pt x="649993" y="0"/>
                </a:lnTo>
                <a:close/>
              </a:path>
              <a:path w="661670" h="347345">
                <a:moveTo>
                  <a:pt x="46003" y="315262"/>
                </a:moveTo>
                <a:lnTo>
                  <a:pt x="23361" y="315262"/>
                </a:lnTo>
                <a:lnTo>
                  <a:pt x="45087" y="316663"/>
                </a:lnTo>
                <a:lnTo>
                  <a:pt x="46003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36671" y="4678451"/>
            <a:ext cx="856488" cy="536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90193" y="4700561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8" y="239631"/>
                </a:moveTo>
                <a:lnTo>
                  <a:pt x="64027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4" y="339293"/>
                </a:lnTo>
                <a:lnTo>
                  <a:pt x="16865" y="316575"/>
                </a:lnTo>
                <a:lnTo>
                  <a:pt x="58879" y="295567"/>
                </a:lnTo>
                <a:lnTo>
                  <a:pt x="85286" y="255178"/>
                </a:lnTo>
                <a:lnTo>
                  <a:pt x="83639" y="247308"/>
                </a:lnTo>
                <a:lnTo>
                  <a:pt x="71898" y="239631"/>
                </a:lnTo>
                <a:close/>
              </a:path>
              <a:path w="661670" h="347345">
                <a:moveTo>
                  <a:pt x="58879" y="295567"/>
                </a:moveTo>
                <a:lnTo>
                  <a:pt x="16865" y="316575"/>
                </a:lnTo>
                <a:lnTo>
                  <a:pt x="28224" y="339293"/>
                </a:lnTo>
                <a:lnTo>
                  <a:pt x="37040" y="334885"/>
                </a:lnTo>
                <a:lnTo>
                  <a:pt x="33172" y="334885"/>
                </a:lnTo>
                <a:lnTo>
                  <a:pt x="23360" y="315262"/>
                </a:lnTo>
                <a:lnTo>
                  <a:pt x="46002" y="315262"/>
                </a:lnTo>
                <a:lnTo>
                  <a:pt x="58879" y="295567"/>
                </a:lnTo>
                <a:close/>
              </a:path>
              <a:path w="661670" h="347345">
                <a:moveTo>
                  <a:pt x="70238" y="318285"/>
                </a:moveTo>
                <a:lnTo>
                  <a:pt x="28224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4" y="321391"/>
                </a:lnTo>
                <a:lnTo>
                  <a:pt x="70238" y="318285"/>
                </a:lnTo>
                <a:close/>
              </a:path>
              <a:path w="661670" h="347345">
                <a:moveTo>
                  <a:pt x="23360" y="315262"/>
                </a:moveTo>
                <a:lnTo>
                  <a:pt x="33172" y="334885"/>
                </a:lnTo>
                <a:lnTo>
                  <a:pt x="45086" y="316663"/>
                </a:lnTo>
                <a:lnTo>
                  <a:pt x="23360" y="315262"/>
                </a:lnTo>
                <a:close/>
              </a:path>
              <a:path w="661670" h="347345">
                <a:moveTo>
                  <a:pt x="45086" y="316663"/>
                </a:moveTo>
                <a:lnTo>
                  <a:pt x="33172" y="334885"/>
                </a:lnTo>
                <a:lnTo>
                  <a:pt x="37040" y="334885"/>
                </a:lnTo>
                <a:lnTo>
                  <a:pt x="70238" y="318285"/>
                </a:lnTo>
                <a:lnTo>
                  <a:pt x="45086" y="316663"/>
                </a:lnTo>
                <a:close/>
              </a:path>
              <a:path w="661670" h="347345">
                <a:moveTo>
                  <a:pt x="649993" y="0"/>
                </a:moveTo>
                <a:lnTo>
                  <a:pt x="58879" y="295567"/>
                </a:lnTo>
                <a:lnTo>
                  <a:pt x="45086" y="316663"/>
                </a:lnTo>
                <a:lnTo>
                  <a:pt x="70238" y="318285"/>
                </a:lnTo>
                <a:lnTo>
                  <a:pt x="661352" y="22719"/>
                </a:lnTo>
                <a:lnTo>
                  <a:pt x="649993" y="0"/>
                </a:lnTo>
                <a:close/>
              </a:path>
              <a:path w="661670" h="347345">
                <a:moveTo>
                  <a:pt x="46002" y="315262"/>
                </a:moveTo>
                <a:lnTo>
                  <a:pt x="23360" y="315262"/>
                </a:lnTo>
                <a:lnTo>
                  <a:pt x="45086" y="316663"/>
                </a:lnTo>
                <a:lnTo>
                  <a:pt x="46002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59303" y="4678451"/>
            <a:ext cx="856488" cy="536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14161" y="4700561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8" y="239631"/>
                </a:moveTo>
                <a:lnTo>
                  <a:pt x="64028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4" y="339293"/>
                </a:lnTo>
                <a:lnTo>
                  <a:pt x="16865" y="316575"/>
                </a:lnTo>
                <a:lnTo>
                  <a:pt x="58880" y="295567"/>
                </a:lnTo>
                <a:lnTo>
                  <a:pt x="85286" y="255178"/>
                </a:lnTo>
                <a:lnTo>
                  <a:pt x="83639" y="247308"/>
                </a:lnTo>
                <a:lnTo>
                  <a:pt x="71898" y="239631"/>
                </a:lnTo>
                <a:close/>
              </a:path>
              <a:path w="661670" h="347345">
                <a:moveTo>
                  <a:pt x="58880" y="295567"/>
                </a:moveTo>
                <a:lnTo>
                  <a:pt x="16865" y="316575"/>
                </a:lnTo>
                <a:lnTo>
                  <a:pt x="28224" y="339293"/>
                </a:lnTo>
                <a:lnTo>
                  <a:pt x="37040" y="334885"/>
                </a:lnTo>
                <a:lnTo>
                  <a:pt x="33173" y="334885"/>
                </a:lnTo>
                <a:lnTo>
                  <a:pt x="23360" y="315262"/>
                </a:lnTo>
                <a:lnTo>
                  <a:pt x="46003" y="315262"/>
                </a:lnTo>
                <a:lnTo>
                  <a:pt x="58880" y="295567"/>
                </a:lnTo>
                <a:close/>
              </a:path>
              <a:path w="661670" h="347345">
                <a:moveTo>
                  <a:pt x="70238" y="318285"/>
                </a:moveTo>
                <a:lnTo>
                  <a:pt x="28224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4" y="321391"/>
                </a:lnTo>
                <a:lnTo>
                  <a:pt x="70238" y="318285"/>
                </a:lnTo>
                <a:close/>
              </a:path>
              <a:path w="661670" h="347345">
                <a:moveTo>
                  <a:pt x="23360" y="315262"/>
                </a:moveTo>
                <a:lnTo>
                  <a:pt x="33173" y="334885"/>
                </a:lnTo>
                <a:lnTo>
                  <a:pt x="45087" y="316663"/>
                </a:lnTo>
                <a:lnTo>
                  <a:pt x="23360" y="315262"/>
                </a:lnTo>
                <a:close/>
              </a:path>
              <a:path w="661670" h="347345">
                <a:moveTo>
                  <a:pt x="45087" y="316663"/>
                </a:moveTo>
                <a:lnTo>
                  <a:pt x="33173" y="334885"/>
                </a:lnTo>
                <a:lnTo>
                  <a:pt x="37040" y="334885"/>
                </a:lnTo>
                <a:lnTo>
                  <a:pt x="70238" y="318285"/>
                </a:lnTo>
                <a:lnTo>
                  <a:pt x="45087" y="316663"/>
                </a:lnTo>
                <a:close/>
              </a:path>
              <a:path w="661670" h="347345">
                <a:moveTo>
                  <a:pt x="649993" y="0"/>
                </a:moveTo>
                <a:lnTo>
                  <a:pt x="58880" y="295567"/>
                </a:lnTo>
                <a:lnTo>
                  <a:pt x="45087" y="316663"/>
                </a:lnTo>
                <a:lnTo>
                  <a:pt x="70238" y="318285"/>
                </a:lnTo>
                <a:lnTo>
                  <a:pt x="661352" y="22719"/>
                </a:lnTo>
                <a:lnTo>
                  <a:pt x="649993" y="0"/>
                </a:lnTo>
                <a:close/>
              </a:path>
              <a:path w="661670" h="347345">
                <a:moveTo>
                  <a:pt x="46003" y="315262"/>
                </a:moveTo>
                <a:lnTo>
                  <a:pt x="23360" y="315262"/>
                </a:lnTo>
                <a:lnTo>
                  <a:pt x="45087" y="316663"/>
                </a:lnTo>
                <a:lnTo>
                  <a:pt x="46003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12486" y="4684547"/>
            <a:ext cx="856488" cy="5364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65882" y="4706319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8" y="239631"/>
                </a:moveTo>
                <a:lnTo>
                  <a:pt x="64028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5" y="339293"/>
                </a:lnTo>
                <a:lnTo>
                  <a:pt x="16865" y="316575"/>
                </a:lnTo>
                <a:lnTo>
                  <a:pt x="58880" y="295567"/>
                </a:lnTo>
                <a:lnTo>
                  <a:pt x="85288" y="255178"/>
                </a:lnTo>
                <a:lnTo>
                  <a:pt x="83640" y="247308"/>
                </a:lnTo>
                <a:lnTo>
                  <a:pt x="71898" y="239631"/>
                </a:lnTo>
                <a:close/>
              </a:path>
              <a:path w="661670" h="347345">
                <a:moveTo>
                  <a:pt x="58880" y="295567"/>
                </a:moveTo>
                <a:lnTo>
                  <a:pt x="16865" y="316575"/>
                </a:lnTo>
                <a:lnTo>
                  <a:pt x="28225" y="339293"/>
                </a:lnTo>
                <a:lnTo>
                  <a:pt x="37041" y="334885"/>
                </a:lnTo>
                <a:lnTo>
                  <a:pt x="33173" y="334885"/>
                </a:lnTo>
                <a:lnTo>
                  <a:pt x="23361" y="315262"/>
                </a:lnTo>
                <a:lnTo>
                  <a:pt x="46003" y="315262"/>
                </a:lnTo>
                <a:lnTo>
                  <a:pt x="58880" y="295567"/>
                </a:lnTo>
                <a:close/>
              </a:path>
              <a:path w="661670" h="347345">
                <a:moveTo>
                  <a:pt x="70239" y="318285"/>
                </a:moveTo>
                <a:lnTo>
                  <a:pt x="28225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5" y="321391"/>
                </a:lnTo>
                <a:lnTo>
                  <a:pt x="70239" y="318285"/>
                </a:lnTo>
                <a:close/>
              </a:path>
              <a:path w="661670" h="347345">
                <a:moveTo>
                  <a:pt x="23361" y="315262"/>
                </a:moveTo>
                <a:lnTo>
                  <a:pt x="33173" y="334885"/>
                </a:lnTo>
                <a:lnTo>
                  <a:pt x="45087" y="316663"/>
                </a:lnTo>
                <a:lnTo>
                  <a:pt x="23361" y="315262"/>
                </a:lnTo>
                <a:close/>
              </a:path>
              <a:path w="661670" h="347345">
                <a:moveTo>
                  <a:pt x="45087" y="316663"/>
                </a:moveTo>
                <a:lnTo>
                  <a:pt x="33173" y="334885"/>
                </a:lnTo>
                <a:lnTo>
                  <a:pt x="37041" y="334885"/>
                </a:lnTo>
                <a:lnTo>
                  <a:pt x="70239" y="318285"/>
                </a:lnTo>
                <a:lnTo>
                  <a:pt x="45087" y="316663"/>
                </a:lnTo>
                <a:close/>
              </a:path>
              <a:path w="661670" h="347345">
                <a:moveTo>
                  <a:pt x="649994" y="0"/>
                </a:moveTo>
                <a:lnTo>
                  <a:pt x="58880" y="295567"/>
                </a:lnTo>
                <a:lnTo>
                  <a:pt x="45087" y="316663"/>
                </a:lnTo>
                <a:lnTo>
                  <a:pt x="70239" y="318285"/>
                </a:lnTo>
                <a:lnTo>
                  <a:pt x="661353" y="22719"/>
                </a:lnTo>
                <a:lnTo>
                  <a:pt x="649994" y="0"/>
                </a:lnTo>
                <a:close/>
              </a:path>
              <a:path w="661670" h="347345">
                <a:moveTo>
                  <a:pt x="46003" y="315262"/>
                </a:moveTo>
                <a:lnTo>
                  <a:pt x="23361" y="315262"/>
                </a:lnTo>
                <a:lnTo>
                  <a:pt x="45087" y="316663"/>
                </a:lnTo>
                <a:lnTo>
                  <a:pt x="46003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35118" y="4684547"/>
            <a:ext cx="856488" cy="53644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89850" y="4706319"/>
            <a:ext cx="661670" cy="347345"/>
          </a:xfrm>
          <a:custGeom>
            <a:avLst/>
            <a:gdLst/>
            <a:ahLst/>
            <a:cxnLst/>
            <a:rect l="l" t="t" r="r" b="b"/>
            <a:pathLst>
              <a:path w="661670" h="347345">
                <a:moveTo>
                  <a:pt x="71899" y="239631"/>
                </a:moveTo>
                <a:lnTo>
                  <a:pt x="64028" y="241279"/>
                </a:lnTo>
                <a:lnTo>
                  <a:pt x="0" y="339208"/>
                </a:lnTo>
                <a:lnTo>
                  <a:pt x="116759" y="346739"/>
                </a:lnTo>
                <a:lnTo>
                  <a:pt x="122800" y="341430"/>
                </a:lnTo>
                <a:lnTo>
                  <a:pt x="122937" y="339293"/>
                </a:lnTo>
                <a:lnTo>
                  <a:pt x="28225" y="339293"/>
                </a:lnTo>
                <a:lnTo>
                  <a:pt x="16865" y="316575"/>
                </a:lnTo>
                <a:lnTo>
                  <a:pt x="58880" y="295567"/>
                </a:lnTo>
                <a:lnTo>
                  <a:pt x="85288" y="255178"/>
                </a:lnTo>
                <a:lnTo>
                  <a:pt x="83640" y="247308"/>
                </a:lnTo>
                <a:lnTo>
                  <a:pt x="71899" y="239631"/>
                </a:lnTo>
                <a:close/>
              </a:path>
              <a:path w="661670" h="347345">
                <a:moveTo>
                  <a:pt x="58880" y="295567"/>
                </a:moveTo>
                <a:lnTo>
                  <a:pt x="16865" y="316575"/>
                </a:lnTo>
                <a:lnTo>
                  <a:pt x="28225" y="339293"/>
                </a:lnTo>
                <a:lnTo>
                  <a:pt x="37041" y="334885"/>
                </a:lnTo>
                <a:lnTo>
                  <a:pt x="33173" y="334885"/>
                </a:lnTo>
                <a:lnTo>
                  <a:pt x="23361" y="315262"/>
                </a:lnTo>
                <a:lnTo>
                  <a:pt x="46003" y="315262"/>
                </a:lnTo>
                <a:lnTo>
                  <a:pt x="58880" y="295567"/>
                </a:lnTo>
                <a:close/>
              </a:path>
              <a:path w="661670" h="347345">
                <a:moveTo>
                  <a:pt x="70239" y="318285"/>
                </a:moveTo>
                <a:lnTo>
                  <a:pt x="28225" y="339293"/>
                </a:lnTo>
                <a:lnTo>
                  <a:pt x="122937" y="339293"/>
                </a:lnTo>
                <a:lnTo>
                  <a:pt x="123703" y="327431"/>
                </a:lnTo>
                <a:lnTo>
                  <a:pt x="118395" y="321391"/>
                </a:lnTo>
                <a:lnTo>
                  <a:pt x="70239" y="318285"/>
                </a:lnTo>
                <a:close/>
              </a:path>
              <a:path w="661670" h="347345">
                <a:moveTo>
                  <a:pt x="23361" y="315262"/>
                </a:moveTo>
                <a:lnTo>
                  <a:pt x="33173" y="334885"/>
                </a:lnTo>
                <a:lnTo>
                  <a:pt x="45087" y="316663"/>
                </a:lnTo>
                <a:lnTo>
                  <a:pt x="23361" y="315262"/>
                </a:lnTo>
                <a:close/>
              </a:path>
              <a:path w="661670" h="347345">
                <a:moveTo>
                  <a:pt x="45087" y="316663"/>
                </a:moveTo>
                <a:lnTo>
                  <a:pt x="33173" y="334885"/>
                </a:lnTo>
                <a:lnTo>
                  <a:pt x="37041" y="334885"/>
                </a:lnTo>
                <a:lnTo>
                  <a:pt x="70239" y="318285"/>
                </a:lnTo>
                <a:lnTo>
                  <a:pt x="45087" y="316663"/>
                </a:lnTo>
                <a:close/>
              </a:path>
              <a:path w="661670" h="347345">
                <a:moveTo>
                  <a:pt x="649994" y="0"/>
                </a:moveTo>
                <a:lnTo>
                  <a:pt x="58880" y="295567"/>
                </a:lnTo>
                <a:lnTo>
                  <a:pt x="45087" y="316663"/>
                </a:lnTo>
                <a:lnTo>
                  <a:pt x="70239" y="318285"/>
                </a:lnTo>
                <a:lnTo>
                  <a:pt x="661353" y="22719"/>
                </a:lnTo>
                <a:lnTo>
                  <a:pt x="649994" y="0"/>
                </a:lnTo>
                <a:close/>
              </a:path>
              <a:path w="661670" h="347345">
                <a:moveTo>
                  <a:pt x="46003" y="315262"/>
                </a:moveTo>
                <a:lnTo>
                  <a:pt x="23361" y="315262"/>
                </a:lnTo>
                <a:lnTo>
                  <a:pt x="45087" y="316663"/>
                </a:lnTo>
                <a:lnTo>
                  <a:pt x="46003" y="31526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/>
          <p:nvPr/>
        </p:nvSpPr>
        <p:spPr>
          <a:xfrm>
            <a:off x="266738" y="809818"/>
            <a:ext cx="10706062" cy="4267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misaligned, consecutive 4-byte words</a:t>
            </a:r>
            <a:r>
              <a:rPr 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,</a:t>
            </a:r>
            <a:r>
              <a:rPr lang="zh-CN" altLang="en-US"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800" spc="-5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e.g.</a:t>
            </a:r>
            <a:r>
              <a:rPr lang="zh-CN" altLang="en-US" sz="2800" spc="-5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sz="2800" spc="-5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bytes[126, 253]</a:t>
            </a:r>
            <a:endParaRPr sz="2800" spc="-5" dirty="0">
              <a:solidFill>
                <a:srgbClr val="FF000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2 cache-lines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marR="142557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256 bytes move across the bus on misses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425575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50%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a[idx-2];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983230">
              <a:lnSpc>
                <a:spcPts val="2150"/>
              </a:lnSpc>
              <a:spcBef>
                <a:spcPts val="130"/>
              </a:spcBef>
            </a:pPr>
            <a:r>
              <a:rPr lang="en-US" sz="2400" spc="-5" dirty="0">
                <a:solidFill>
                  <a:schemeClr val="accent6">
                    <a:lumMod val="50000"/>
                  </a:schemeClr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 from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</a:t>
            </a:r>
            <a:r>
              <a:rPr sz="2400" spc="-5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warp</a:t>
            </a:r>
            <a:endParaRPr sz="2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Arial" panose="020B0604020202020204"/>
            </a:endParaRPr>
          </a:p>
          <a:p>
            <a:pPr marL="4354830">
              <a:lnSpc>
                <a:spcPts val="2150"/>
              </a:lnSpc>
            </a:pPr>
            <a:r>
              <a:rPr sz="2000" b="1" spc="-10" dirty="0">
                <a:latin typeface="Arial" panose="020B0604020202020204"/>
                <a:cs typeface="Arial" panose="020B0604020202020204"/>
              </a:rPr>
              <a:t>...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CACHING 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xfrm>
            <a:off x="8313143" y="5710948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933641" y="4740890"/>
            <a:ext cx="481584" cy="54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75580" y="4763594"/>
            <a:ext cx="286385" cy="344805"/>
          </a:xfrm>
          <a:custGeom>
            <a:avLst/>
            <a:gdLst/>
            <a:ahLst/>
            <a:cxnLst/>
            <a:rect l="l" t="t" r="r" b="b"/>
            <a:pathLst>
              <a:path w="286385" h="344804">
                <a:moveTo>
                  <a:pt x="185068" y="280041"/>
                </a:moveTo>
                <a:lnTo>
                  <a:pt x="177758" y="283391"/>
                </a:lnTo>
                <a:lnTo>
                  <a:pt x="172872" y="296541"/>
                </a:lnTo>
                <a:lnTo>
                  <a:pt x="176222" y="303851"/>
                </a:lnTo>
                <a:lnTo>
                  <a:pt x="285901" y="344596"/>
                </a:lnTo>
                <a:lnTo>
                  <a:pt x="284068" y="333164"/>
                </a:lnTo>
                <a:lnTo>
                  <a:pt x="260097" y="333164"/>
                </a:lnTo>
                <a:lnTo>
                  <a:pt x="230303" y="296846"/>
                </a:lnTo>
                <a:lnTo>
                  <a:pt x="185068" y="280041"/>
                </a:lnTo>
                <a:close/>
              </a:path>
              <a:path w="286385" h="344804">
                <a:moveTo>
                  <a:pt x="230303" y="296846"/>
                </a:moveTo>
                <a:lnTo>
                  <a:pt x="260097" y="333164"/>
                </a:lnTo>
                <a:lnTo>
                  <a:pt x="267464" y="327120"/>
                </a:lnTo>
                <a:lnTo>
                  <a:pt x="257375" y="327120"/>
                </a:lnTo>
                <a:lnTo>
                  <a:pt x="253929" y="305623"/>
                </a:lnTo>
                <a:lnTo>
                  <a:pt x="230303" y="296846"/>
                </a:lnTo>
                <a:close/>
              </a:path>
              <a:path w="286385" h="344804">
                <a:moveTo>
                  <a:pt x="260866" y="224354"/>
                </a:moveTo>
                <a:lnTo>
                  <a:pt x="247016" y="226574"/>
                </a:lnTo>
                <a:lnTo>
                  <a:pt x="242302" y="233089"/>
                </a:lnTo>
                <a:lnTo>
                  <a:pt x="249940" y="280736"/>
                </a:lnTo>
                <a:lnTo>
                  <a:pt x="279734" y="317055"/>
                </a:lnTo>
                <a:lnTo>
                  <a:pt x="260097" y="333164"/>
                </a:lnTo>
                <a:lnTo>
                  <a:pt x="284068" y="333164"/>
                </a:lnTo>
                <a:lnTo>
                  <a:pt x="267381" y="229068"/>
                </a:lnTo>
                <a:lnTo>
                  <a:pt x="260866" y="224354"/>
                </a:lnTo>
                <a:close/>
              </a:path>
              <a:path w="286385" h="344804">
                <a:moveTo>
                  <a:pt x="253929" y="305623"/>
                </a:moveTo>
                <a:lnTo>
                  <a:pt x="257375" y="327120"/>
                </a:lnTo>
                <a:lnTo>
                  <a:pt x="274337" y="313204"/>
                </a:lnTo>
                <a:lnTo>
                  <a:pt x="253929" y="305623"/>
                </a:lnTo>
                <a:close/>
              </a:path>
              <a:path w="286385" h="344804">
                <a:moveTo>
                  <a:pt x="249940" y="280736"/>
                </a:moveTo>
                <a:lnTo>
                  <a:pt x="253929" y="305623"/>
                </a:lnTo>
                <a:lnTo>
                  <a:pt x="274337" y="313204"/>
                </a:lnTo>
                <a:lnTo>
                  <a:pt x="257375" y="327120"/>
                </a:lnTo>
                <a:lnTo>
                  <a:pt x="267464" y="327120"/>
                </a:lnTo>
                <a:lnTo>
                  <a:pt x="279734" y="317055"/>
                </a:lnTo>
                <a:lnTo>
                  <a:pt x="249940" y="280736"/>
                </a:lnTo>
                <a:close/>
              </a:path>
              <a:path w="286385" h="344804">
                <a:moveTo>
                  <a:pt x="19638" y="0"/>
                </a:moveTo>
                <a:lnTo>
                  <a:pt x="0" y="16109"/>
                </a:lnTo>
                <a:lnTo>
                  <a:pt x="230303" y="296846"/>
                </a:lnTo>
                <a:lnTo>
                  <a:pt x="253929" y="305623"/>
                </a:lnTo>
                <a:lnTo>
                  <a:pt x="249940" y="280736"/>
                </a:lnTo>
                <a:lnTo>
                  <a:pt x="1963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16520" y="4750034"/>
            <a:ext cx="307848" cy="548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08659" y="4771340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200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200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1" y="303656"/>
                </a:lnTo>
                <a:lnTo>
                  <a:pt x="46944" y="282200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1" y="303656"/>
                </a:moveTo>
                <a:lnTo>
                  <a:pt x="49663" y="322724"/>
                </a:lnTo>
                <a:lnTo>
                  <a:pt x="71596" y="322188"/>
                </a:lnTo>
                <a:lnTo>
                  <a:pt x="60171" y="303656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1" y="303656"/>
                </a:lnTo>
                <a:lnTo>
                  <a:pt x="71596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200"/>
                </a:lnTo>
                <a:lnTo>
                  <a:pt x="60171" y="303656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07376" y="4746987"/>
            <a:ext cx="1508760" cy="536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1391" y="4768020"/>
            <a:ext cx="1314450" cy="373380"/>
          </a:xfrm>
          <a:custGeom>
            <a:avLst/>
            <a:gdLst/>
            <a:ahLst/>
            <a:cxnLst/>
            <a:rect l="l" t="t" r="r" b="b"/>
            <a:pathLst>
              <a:path w="1314450" h="373379">
                <a:moveTo>
                  <a:pt x="83747" y="258433"/>
                </a:moveTo>
                <a:lnTo>
                  <a:pt x="0" y="340139"/>
                </a:lnTo>
                <a:lnTo>
                  <a:pt x="112344" y="372821"/>
                </a:lnTo>
                <a:lnTo>
                  <a:pt x="119392" y="368950"/>
                </a:lnTo>
                <a:lnTo>
                  <a:pt x="123310" y="355480"/>
                </a:lnTo>
                <a:lnTo>
                  <a:pt x="119439" y="348432"/>
                </a:lnTo>
                <a:lnTo>
                  <a:pt x="112271" y="346346"/>
                </a:lnTo>
                <a:lnTo>
                  <a:pt x="27531" y="346346"/>
                </a:lnTo>
                <a:lnTo>
                  <a:pt x="21371" y="321706"/>
                </a:lnTo>
                <a:lnTo>
                  <a:pt x="66945" y="310312"/>
                </a:lnTo>
                <a:lnTo>
                  <a:pt x="101485" y="276614"/>
                </a:lnTo>
                <a:lnTo>
                  <a:pt x="101584" y="268574"/>
                </a:lnTo>
                <a:lnTo>
                  <a:pt x="91787" y="258532"/>
                </a:lnTo>
                <a:lnTo>
                  <a:pt x="83747" y="258433"/>
                </a:lnTo>
                <a:close/>
              </a:path>
              <a:path w="1314450" h="373379">
                <a:moveTo>
                  <a:pt x="66945" y="310312"/>
                </a:moveTo>
                <a:lnTo>
                  <a:pt x="21371" y="321706"/>
                </a:lnTo>
                <a:lnTo>
                  <a:pt x="27531" y="346346"/>
                </a:lnTo>
                <a:lnTo>
                  <a:pt x="40449" y="343117"/>
                </a:lnTo>
                <a:lnTo>
                  <a:pt x="33320" y="343117"/>
                </a:lnTo>
                <a:lnTo>
                  <a:pt x="27999" y="321831"/>
                </a:lnTo>
                <a:lnTo>
                  <a:pt x="55138" y="321831"/>
                </a:lnTo>
                <a:lnTo>
                  <a:pt x="66945" y="310312"/>
                </a:lnTo>
                <a:close/>
              </a:path>
              <a:path w="1314450" h="373379">
                <a:moveTo>
                  <a:pt x="73105" y="334953"/>
                </a:moveTo>
                <a:lnTo>
                  <a:pt x="27531" y="346346"/>
                </a:lnTo>
                <a:lnTo>
                  <a:pt x="112271" y="346346"/>
                </a:lnTo>
                <a:lnTo>
                  <a:pt x="73105" y="334953"/>
                </a:lnTo>
                <a:close/>
              </a:path>
              <a:path w="1314450" h="373379">
                <a:moveTo>
                  <a:pt x="27999" y="321831"/>
                </a:moveTo>
                <a:lnTo>
                  <a:pt x="33320" y="343117"/>
                </a:lnTo>
                <a:lnTo>
                  <a:pt x="48904" y="327913"/>
                </a:lnTo>
                <a:lnTo>
                  <a:pt x="27999" y="321831"/>
                </a:lnTo>
                <a:close/>
              </a:path>
              <a:path w="1314450" h="373379">
                <a:moveTo>
                  <a:pt x="48904" y="327913"/>
                </a:moveTo>
                <a:lnTo>
                  <a:pt x="33320" y="343117"/>
                </a:lnTo>
                <a:lnTo>
                  <a:pt x="40449" y="343117"/>
                </a:lnTo>
                <a:lnTo>
                  <a:pt x="73105" y="334953"/>
                </a:lnTo>
                <a:lnTo>
                  <a:pt x="48904" y="327913"/>
                </a:lnTo>
                <a:close/>
              </a:path>
              <a:path w="1314450" h="373379">
                <a:moveTo>
                  <a:pt x="1308188" y="0"/>
                </a:moveTo>
                <a:lnTo>
                  <a:pt x="66945" y="310312"/>
                </a:lnTo>
                <a:lnTo>
                  <a:pt x="48904" y="327913"/>
                </a:lnTo>
                <a:lnTo>
                  <a:pt x="73105" y="334953"/>
                </a:lnTo>
                <a:lnTo>
                  <a:pt x="1314349" y="24641"/>
                </a:lnTo>
                <a:lnTo>
                  <a:pt x="1308188" y="0"/>
                </a:lnTo>
                <a:close/>
              </a:path>
              <a:path w="1314450" h="373379">
                <a:moveTo>
                  <a:pt x="55138" y="321831"/>
                </a:moveTo>
                <a:lnTo>
                  <a:pt x="27999" y="321831"/>
                </a:lnTo>
                <a:lnTo>
                  <a:pt x="48904" y="327913"/>
                </a:lnTo>
                <a:lnTo>
                  <a:pt x="55138" y="32183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68464" y="4737843"/>
            <a:ext cx="755903" cy="536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11509" y="4760730"/>
            <a:ext cx="558800" cy="339090"/>
          </a:xfrm>
          <a:custGeom>
            <a:avLst/>
            <a:gdLst/>
            <a:ahLst/>
            <a:cxnLst/>
            <a:rect l="l" t="t" r="r" b="b"/>
            <a:pathLst>
              <a:path w="558800" h="339089">
                <a:moveTo>
                  <a:pt x="441812" y="312502"/>
                </a:moveTo>
                <a:lnTo>
                  <a:pt x="436082" y="318143"/>
                </a:lnTo>
                <a:lnTo>
                  <a:pt x="435971" y="332172"/>
                </a:lnTo>
                <a:lnTo>
                  <a:pt x="441613" y="337902"/>
                </a:lnTo>
                <a:lnTo>
                  <a:pt x="558612" y="338819"/>
                </a:lnTo>
                <a:lnTo>
                  <a:pt x="557529" y="336868"/>
                </a:lnTo>
                <a:lnTo>
                  <a:pt x="530456" y="336868"/>
                </a:lnTo>
                <a:lnTo>
                  <a:pt x="490064" y="312880"/>
                </a:lnTo>
                <a:lnTo>
                  <a:pt x="441812" y="312502"/>
                </a:lnTo>
                <a:close/>
              </a:path>
              <a:path w="558800" h="339089">
                <a:moveTo>
                  <a:pt x="490064" y="312880"/>
                </a:moveTo>
                <a:lnTo>
                  <a:pt x="530456" y="336868"/>
                </a:lnTo>
                <a:lnTo>
                  <a:pt x="533279" y="332113"/>
                </a:lnTo>
                <a:lnTo>
                  <a:pt x="525837" y="332113"/>
                </a:lnTo>
                <a:lnTo>
                  <a:pt x="515269" y="313078"/>
                </a:lnTo>
                <a:lnTo>
                  <a:pt x="490064" y="312880"/>
                </a:lnTo>
                <a:close/>
              </a:path>
              <a:path w="558800" h="339089">
                <a:moveTo>
                  <a:pt x="494088" y="234312"/>
                </a:moveTo>
                <a:lnTo>
                  <a:pt x="481824" y="241122"/>
                </a:lnTo>
                <a:lnTo>
                  <a:pt x="479612" y="248852"/>
                </a:lnTo>
                <a:lnTo>
                  <a:pt x="503035" y="291043"/>
                </a:lnTo>
                <a:lnTo>
                  <a:pt x="543425" y="315029"/>
                </a:lnTo>
                <a:lnTo>
                  <a:pt x="530456" y="336868"/>
                </a:lnTo>
                <a:lnTo>
                  <a:pt x="557529" y="336868"/>
                </a:lnTo>
                <a:lnTo>
                  <a:pt x="501820" y="236524"/>
                </a:lnTo>
                <a:lnTo>
                  <a:pt x="494088" y="234312"/>
                </a:lnTo>
                <a:close/>
              </a:path>
              <a:path w="558800" h="339089">
                <a:moveTo>
                  <a:pt x="515269" y="313078"/>
                </a:moveTo>
                <a:lnTo>
                  <a:pt x="525837" y="332113"/>
                </a:lnTo>
                <a:lnTo>
                  <a:pt x="537041" y="313249"/>
                </a:lnTo>
                <a:lnTo>
                  <a:pt x="515269" y="313078"/>
                </a:lnTo>
                <a:close/>
              </a:path>
              <a:path w="558800" h="339089">
                <a:moveTo>
                  <a:pt x="503035" y="291043"/>
                </a:moveTo>
                <a:lnTo>
                  <a:pt x="515269" y="313078"/>
                </a:lnTo>
                <a:lnTo>
                  <a:pt x="537041" y="313249"/>
                </a:lnTo>
                <a:lnTo>
                  <a:pt x="525837" y="332113"/>
                </a:lnTo>
                <a:lnTo>
                  <a:pt x="533279" y="332113"/>
                </a:lnTo>
                <a:lnTo>
                  <a:pt x="543425" y="315029"/>
                </a:lnTo>
                <a:lnTo>
                  <a:pt x="503035" y="291043"/>
                </a:lnTo>
                <a:close/>
              </a:path>
              <a:path w="558800" h="339089">
                <a:moveTo>
                  <a:pt x="12969" y="0"/>
                </a:moveTo>
                <a:lnTo>
                  <a:pt x="0" y="21838"/>
                </a:lnTo>
                <a:lnTo>
                  <a:pt x="490064" y="312880"/>
                </a:lnTo>
                <a:lnTo>
                  <a:pt x="515269" y="313078"/>
                </a:lnTo>
                <a:lnTo>
                  <a:pt x="503035" y="291043"/>
                </a:lnTo>
                <a:lnTo>
                  <a:pt x="1296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40602" y="802277"/>
            <a:ext cx="9983558" cy="4103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All threads in a warp request the same 4-byte word</a:t>
            </a: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a single cache-line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4 bytes</a:t>
            </a:r>
          </a:p>
          <a:p>
            <a:pPr marL="822960" marR="13436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bytes move across the bus on a miss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3436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3.125%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(4/128), load 128 bytes, only using 4 bytes</a:t>
            </a: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a[40];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995930">
              <a:lnSpc>
                <a:spcPct val="100000"/>
              </a:lnSpc>
              <a:spcBef>
                <a:spcPts val="60"/>
              </a:spcBef>
            </a:pPr>
            <a:r>
              <a:rPr sz="2400" spc="-7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</a:t>
            </a:r>
            <a:r>
              <a:rPr sz="2400" b="1" spc="-112" baseline="-28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...</a:t>
            </a:r>
            <a:r>
              <a:rPr sz="2400" spc="-7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from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</a:t>
            </a:r>
            <a:r>
              <a:rPr sz="2400" spc="1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warp</a:t>
            </a:r>
          </a:p>
        </p:txBody>
      </p:sp>
      <p:sp>
        <p:nvSpPr>
          <p:cNvPr id="18" name="object 18"/>
          <p:cNvSpPr/>
          <p:nvPr/>
        </p:nvSpPr>
        <p:spPr>
          <a:xfrm>
            <a:off x="4116520" y="4743938"/>
            <a:ext cx="420624" cy="5394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70039" y="4764797"/>
            <a:ext cx="226695" cy="343535"/>
          </a:xfrm>
          <a:custGeom>
            <a:avLst/>
            <a:gdLst/>
            <a:ahLst/>
            <a:cxnLst/>
            <a:rect l="l" t="t" r="r" b="b"/>
            <a:pathLst>
              <a:path w="226695" h="343535">
                <a:moveTo>
                  <a:pt x="10811" y="221054"/>
                </a:moveTo>
                <a:lnTo>
                  <a:pt x="4892" y="226498"/>
                </a:lnTo>
                <a:lnTo>
                  <a:pt x="0" y="343397"/>
                </a:lnTo>
                <a:lnTo>
                  <a:pt x="28088" y="329030"/>
                </a:lnTo>
                <a:lnTo>
                  <a:pt x="24291" y="329030"/>
                </a:lnTo>
                <a:lnTo>
                  <a:pt x="2905" y="315325"/>
                </a:lnTo>
                <a:lnTo>
                  <a:pt x="28252" y="275772"/>
                </a:lnTo>
                <a:lnTo>
                  <a:pt x="30270" y="227559"/>
                </a:lnTo>
                <a:lnTo>
                  <a:pt x="24827" y="221641"/>
                </a:lnTo>
                <a:lnTo>
                  <a:pt x="10811" y="221054"/>
                </a:lnTo>
                <a:close/>
              </a:path>
              <a:path w="226695" h="343535">
                <a:moveTo>
                  <a:pt x="28252" y="275772"/>
                </a:moveTo>
                <a:lnTo>
                  <a:pt x="2905" y="315325"/>
                </a:lnTo>
                <a:lnTo>
                  <a:pt x="24291" y="329030"/>
                </a:lnTo>
                <a:lnTo>
                  <a:pt x="28342" y="322708"/>
                </a:lnTo>
                <a:lnTo>
                  <a:pt x="26287" y="322708"/>
                </a:lnTo>
                <a:lnTo>
                  <a:pt x="7815" y="310870"/>
                </a:lnTo>
                <a:lnTo>
                  <a:pt x="27198" y="300955"/>
                </a:lnTo>
                <a:lnTo>
                  <a:pt x="28252" y="275772"/>
                </a:lnTo>
                <a:close/>
              </a:path>
              <a:path w="226695" h="343535">
                <a:moveTo>
                  <a:pt x="92598" y="267502"/>
                </a:moveTo>
                <a:lnTo>
                  <a:pt x="49637" y="289477"/>
                </a:lnTo>
                <a:lnTo>
                  <a:pt x="24291" y="329030"/>
                </a:lnTo>
                <a:lnTo>
                  <a:pt x="28088" y="329030"/>
                </a:lnTo>
                <a:lnTo>
                  <a:pt x="104165" y="290116"/>
                </a:lnTo>
                <a:lnTo>
                  <a:pt x="106638" y="282464"/>
                </a:lnTo>
                <a:lnTo>
                  <a:pt x="100249" y="269975"/>
                </a:lnTo>
                <a:lnTo>
                  <a:pt x="92598" y="267502"/>
                </a:lnTo>
                <a:close/>
              </a:path>
              <a:path w="226695" h="343535">
                <a:moveTo>
                  <a:pt x="27198" y="300955"/>
                </a:moveTo>
                <a:lnTo>
                  <a:pt x="7815" y="310870"/>
                </a:lnTo>
                <a:lnTo>
                  <a:pt x="26287" y="322708"/>
                </a:lnTo>
                <a:lnTo>
                  <a:pt x="27198" y="300955"/>
                </a:lnTo>
                <a:close/>
              </a:path>
              <a:path w="226695" h="343535">
                <a:moveTo>
                  <a:pt x="49637" y="289477"/>
                </a:moveTo>
                <a:lnTo>
                  <a:pt x="27198" y="300955"/>
                </a:lnTo>
                <a:lnTo>
                  <a:pt x="26287" y="322708"/>
                </a:lnTo>
                <a:lnTo>
                  <a:pt x="28342" y="322708"/>
                </a:lnTo>
                <a:lnTo>
                  <a:pt x="49637" y="289477"/>
                </a:lnTo>
                <a:close/>
              </a:path>
              <a:path w="226695" h="343535">
                <a:moveTo>
                  <a:pt x="204975" y="0"/>
                </a:moveTo>
                <a:lnTo>
                  <a:pt x="28252" y="275772"/>
                </a:lnTo>
                <a:lnTo>
                  <a:pt x="27198" y="300955"/>
                </a:lnTo>
                <a:lnTo>
                  <a:pt x="49637" y="289477"/>
                </a:lnTo>
                <a:lnTo>
                  <a:pt x="226360" y="13704"/>
                </a:lnTo>
                <a:lnTo>
                  <a:pt x="204975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25791" y="4728217"/>
            <a:ext cx="2008632" cy="5090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04519" y="4767747"/>
            <a:ext cx="1814195" cy="356235"/>
          </a:xfrm>
          <a:custGeom>
            <a:avLst/>
            <a:gdLst/>
            <a:ahLst/>
            <a:cxnLst/>
            <a:rect l="l" t="t" r="r" b="b"/>
            <a:pathLst>
              <a:path w="1814195" h="356235">
                <a:moveTo>
                  <a:pt x="89993" y="239756"/>
                </a:moveTo>
                <a:lnTo>
                  <a:pt x="0" y="314528"/>
                </a:lnTo>
                <a:lnTo>
                  <a:pt x="109382" y="356061"/>
                </a:lnTo>
                <a:lnTo>
                  <a:pt x="116716" y="352762"/>
                </a:lnTo>
                <a:lnTo>
                  <a:pt x="121696" y="339648"/>
                </a:lnTo>
                <a:lnTo>
                  <a:pt x="118398" y="332314"/>
                </a:lnTo>
                <a:lnTo>
                  <a:pt x="93631" y="322910"/>
                </a:lnTo>
                <a:lnTo>
                  <a:pt x="26954" y="322910"/>
                </a:lnTo>
                <a:lnTo>
                  <a:pt x="22777" y="297855"/>
                </a:lnTo>
                <a:lnTo>
                  <a:pt x="69109" y="290131"/>
                </a:lnTo>
                <a:lnTo>
                  <a:pt x="106225" y="259294"/>
                </a:lnTo>
                <a:lnTo>
                  <a:pt x="106965" y="251287"/>
                </a:lnTo>
                <a:lnTo>
                  <a:pt x="98000" y="240497"/>
                </a:lnTo>
                <a:lnTo>
                  <a:pt x="89993" y="239756"/>
                </a:lnTo>
                <a:close/>
              </a:path>
              <a:path w="1814195" h="356235">
                <a:moveTo>
                  <a:pt x="69109" y="290131"/>
                </a:moveTo>
                <a:lnTo>
                  <a:pt x="22777" y="297855"/>
                </a:lnTo>
                <a:lnTo>
                  <a:pt x="26954" y="322910"/>
                </a:lnTo>
                <a:lnTo>
                  <a:pt x="43500" y="320151"/>
                </a:lnTo>
                <a:lnTo>
                  <a:pt x="32976" y="320151"/>
                </a:lnTo>
                <a:lnTo>
                  <a:pt x="29370" y="298509"/>
                </a:lnTo>
                <a:lnTo>
                  <a:pt x="59025" y="298509"/>
                </a:lnTo>
                <a:lnTo>
                  <a:pt x="69109" y="290131"/>
                </a:lnTo>
                <a:close/>
              </a:path>
              <a:path w="1814195" h="356235">
                <a:moveTo>
                  <a:pt x="73288" y="315185"/>
                </a:moveTo>
                <a:lnTo>
                  <a:pt x="26954" y="322910"/>
                </a:lnTo>
                <a:lnTo>
                  <a:pt x="93631" y="322910"/>
                </a:lnTo>
                <a:lnTo>
                  <a:pt x="73288" y="315185"/>
                </a:lnTo>
                <a:close/>
              </a:path>
              <a:path w="1814195" h="356235">
                <a:moveTo>
                  <a:pt x="29370" y="298509"/>
                </a:moveTo>
                <a:lnTo>
                  <a:pt x="32976" y="320151"/>
                </a:lnTo>
                <a:lnTo>
                  <a:pt x="49723" y="306238"/>
                </a:lnTo>
                <a:lnTo>
                  <a:pt x="29370" y="298509"/>
                </a:lnTo>
                <a:close/>
              </a:path>
              <a:path w="1814195" h="356235">
                <a:moveTo>
                  <a:pt x="49723" y="306238"/>
                </a:moveTo>
                <a:lnTo>
                  <a:pt x="32976" y="320151"/>
                </a:lnTo>
                <a:lnTo>
                  <a:pt x="43500" y="320151"/>
                </a:lnTo>
                <a:lnTo>
                  <a:pt x="73288" y="315185"/>
                </a:lnTo>
                <a:lnTo>
                  <a:pt x="49723" y="306238"/>
                </a:lnTo>
                <a:close/>
              </a:path>
              <a:path w="1814195" h="356235">
                <a:moveTo>
                  <a:pt x="1809451" y="0"/>
                </a:moveTo>
                <a:lnTo>
                  <a:pt x="69109" y="290131"/>
                </a:lnTo>
                <a:lnTo>
                  <a:pt x="49723" y="306238"/>
                </a:lnTo>
                <a:lnTo>
                  <a:pt x="73288" y="315185"/>
                </a:lnTo>
                <a:lnTo>
                  <a:pt x="1813628" y="25054"/>
                </a:lnTo>
                <a:lnTo>
                  <a:pt x="1809451" y="0"/>
                </a:lnTo>
                <a:close/>
              </a:path>
              <a:path w="1814195" h="356235">
                <a:moveTo>
                  <a:pt x="59025" y="298509"/>
                </a:moveTo>
                <a:lnTo>
                  <a:pt x="29370" y="298509"/>
                </a:lnTo>
                <a:lnTo>
                  <a:pt x="49723" y="306238"/>
                </a:lnTo>
                <a:lnTo>
                  <a:pt x="59025" y="298509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127839"/>
              </p:ext>
            </p:extLst>
          </p:nvPr>
        </p:nvGraphicFramePr>
        <p:xfrm>
          <a:off x="813681" y="5165580"/>
          <a:ext cx="9542779" cy="204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379497" y="5553717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 addresses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79814" y="557553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CACHING 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xfrm>
            <a:off x="7907624" y="5895285"/>
            <a:ext cx="2560320" cy="32861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353358" y="4527703"/>
            <a:ext cx="2974848" cy="560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80280" y="4548910"/>
            <a:ext cx="2779395" cy="412115"/>
          </a:xfrm>
          <a:custGeom>
            <a:avLst/>
            <a:gdLst/>
            <a:ahLst/>
            <a:cxnLst/>
            <a:rect l="l" t="t" r="r" b="b"/>
            <a:pathLst>
              <a:path w="2779395" h="412114">
                <a:moveTo>
                  <a:pt x="92806" y="295104"/>
                </a:moveTo>
                <a:lnTo>
                  <a:pt x="0" y="366354"/>
                </a:lnTo>
                <a:lnTo>
                  <a:pt x="107702" y="412069"/>
                </a:lnTo>
                <a:lnTo>
                  <a:pt x="115158" y="409056"/>
                </a:lnTo>
                <a:lnTo>
                  <a:pt x="120638" y="396143"/>
                </a:lnTo>
                <a:lnTo>
                  <a:pt x="117626" y="388687"/>
                </a:lnTo>
                <a:lnTo>
                  <a:pt x="87187" y="375767"/>
                </a:lnTo>
                <a:lnTo>
                  <a:pt x="26616" y="375767"/>
                </a:lnTo>
                <a:lnTo>
                  <a:pt x="23408" y="350570"/>
                </a:lnTo>
                <a:lnTo>
                  <a:pt x="69998" y="344637"/>
                </a:lnTo>
                <a:lnTo>
                  <a:pt x="108273" y="315252"/>
                </a:lnTo>
                <a:lnTo>
                  <a:pt x="109321" y="307280"/>
                </a:lnTo>
                <a:lnTo>
                  <a:pt x="100779" y="296152"/>
                </a:lnTo>
                <a:lnTo>
                  <a:pt x="92806" y="295104"/>
                </a:lnTo>
                <a:close/>
              </a:path>
              <a:path w="2779395" h="412114">
                <a:moveTo>
                  <a:pt x="69998" y="344637"/>
                </a:moveTo>
                <a:lnTo>
                  <a:pt x="23408" y="350570"/>
                </a:lnTo>
                <a:lnTo>
                  <a:pt x="26616" y="375767"/>
                </a:lnTo>
                <a:lnTo>
                  <a:pt x="46431" y="373244"/>
                </a:lnTo>
                <a:lnTo>
                  <a:pt x="32736" y="373244"/>
                </a:lnTo>
                <a:lnTo>
                  <a:pt x="29965" y="351480"/>
                </a:lnTo>
                <a:lnTo>
                  <a:pt x="61085" y="351480"/>
                </a:lnTo>
                <a:lnTo>
                  <a:pt x="69998" y="344637"/>
                </a:lnTo>
                <a:close/>
              </a:path>
              <a:path w="2779395" h="412114">
                <a:moveTo>
                  <a:pt x="73207" y="369834"/>
                </a:moveTo>
                <a:lnTo>
                  <a:pt x="26616" y="375767"/>
                </a:lnTo>
                <a:lnTo>
                  <a:pt x="87187" y="375767"/>
                </a:lnTo>
                <a:lnTo>
                  <a:pt x="73207" y="369834"/>
                </a:lnTo>
                <a:close/>
              </a:path>
              <a:path w="2779395" h="412114">
                <a:moveTo>
                  <a:pt x="29965" y="351480"/>
                </a:moveTo>
                <a:lnTo>
                  <a:pt x="32736" y="373244"/>
                </a:lnTo>
                <a:lnTo>
                  <a:pt x="50005" y="359986"/>
                </a:lnTo>
                <a:lnTo>
                  <a:pt x="29965" y="351480"/>
                </a:lnTo>
                <a:close/>
              </a:path>
              <a:path w="2779395" h="412114">
                <a:moveTo>
                  <a:pt x="50005" y="359986"/>
                </a:moveTo>
                <a:lnTo>
                  <a:pt x="32736" y="373244"/>
                </a:lnTo>
                <a:lnTo>
                  <a:pt x="46431" y="373244"/>
                </a:lnTo>
                <a:lnTo>
                  <a:pt x="73207" y="369834"/>
                </a:lnTo>
                <a:lnTo>
                  <a:pt x="50005" y="359986"/>
                </a:lnTo>
                <a:close/>
              </a:path>
              <a:path w="2779395" h="412114">
                <a:moveTo>
                  <a:pt x="2776160" y="0"/>
                </a:moveTo>
                <a:lnTo>
                  <a:pt x="69998" y="344637"/>
                </a:lnTo>
                <a:lnTo>
                  <a:pt x="50005" y="359986"/>
                </a:lnTo>
                <a:lnTo>
                  <a:pt x="73207" y="369834"/>
                </a:lnTo>
                <a:lnTo>
                  <a:pt x="2779368" y="25196"/>
                </a:lnTo>
                <a:lnTo>
                  <a:pt x="2776160" y="0"/>
                </a:lnTo>
                <a:close/>
              </a:path>
              <a:path w="2779395" h="412114">
                <a:moveTo>
                  <a:pt x="61085" y="351480"/>
                </a:moveTo>
                <a:lnTo>
                  <a:pt x="29965" y="351480"/>
                </a:lnTo>
                <a:lnTo>
                  <a:pt x="50005" y="359986"/>
                </a:lnTo>
                <a:lnTo>
                  <a:pt x="61085" y="35148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26582" y="4527703"/>
            <a:ext cx="1054608" cy="554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80020" y="4549733"/>
            <a:ext cx="859155" cy="374015"/>
          </a:xfrm>
          <a:custGeom>
            <a:avLst/>
            <a:gdLst/>
            <a:ahLst/>
            <a:cxnLst/>
            <a:rect l="l" t="t" r="r" b="b"/>
            <a:pathLst>
              <a:path w="859154" h="374014">
                <a:moveTo>
                  <a:pt x="79588" y="263377"/>
                </a:moveTo>
                <a:lnTo>
                  <a:pt x="71612" y="264393"/>
                </a:lnTo>
                <a:lnTo>
                  <a:pt x="0" y="356920"/>
                </a:lnTo>
                <a:lnTo>
                  <a:pt x="115790" y="373712"/>
                </a:lnTo>
                <a:lnTo>
                  <a:pt x="122233" y="368901"/>
                </a:lnTo>
                <a:lnTo>
                  <a:pt x="123632" y="359252"/>
                </a:lnTo>
                <a:lnTo>
                  <a:pt x="28122" y="359252"/>
                </a:lnTo>
                <a:lnTo>
                  <a:pt x="18605" y="335702"/>
                </a:lnTo>
                <a:lnTo>
                  <a:pt x="62164" y="318099"/>
                </a:lnTo>
                <a:lnTo>
                  <a:pt x="91699" y="279939"/>
                </a:lnTo>
                <a:lnTo>
                  <a:pt x="90683" y="271962"/>
                </a:lnTo>
                <a:lnTo>
                  <a:pt x="79588" y="263377"/>
                </a:lnTo>
                <a:close/>
              </a:path>
              <a:path w="859154" h="374014">
                <a:moveTo>
                  <a:pt x="62164" y="318099"/>
                </a:moveTo>
                <a:lnTo>
                  <a:pt x="18605" y="335702"/>
                </a:lnTo>
                <a:lnTo>
                  <a:pt x="28122" y="359252"/>
                </a:lnTo>
                <a:lnTo>
                  <a:pt x="38028" y="355249"/>
                </a:lnTo>
                <a:lnTo>
                  <a:pt x="33411" y="355249"/>
                </a:lnTo>
                <a:lnTo>
                  <a:pt x="25190" y="334907"/>
                </a:lnTo>
                <a:lnTo>
                  <a:pt x="49155" y="334907"/>
                </a:lnTo>
                <a:lnTo>
                  <a:pt x="62164" y="318099"/>
                </a:lnTo>
                <a:close/>
              </a:path>
              <a:path w="859154" h="374014">
                <a:moveTo>
                  <a:pt x="71680" y="341649"/>
                </a:moveTo>
                <a:lnTo>
                  <a:pt x="28122" y="359252"/>
                </a:lnTo>
                <a:lnTo>
                  <a:pt x="123632" y="359252"/>
                </a:lnTo>
                <a:lnTo>
                  <a:pt x="124246" y="355018"/>
                </a:lnTo>
                <a:lnTo>
                  <a:pt x="119435" y="348575"/>
                </a:lnTo>
                <a:lnTo>
                  <a:pt x="71680" y="341649"/>
                </a:lnTo>
                <a:close/>
              </a:path>
              <a:path w="859154" h="374014">
                <a:moveTo>
                  <a:pt x="25190" y="334907"/>
                </a:moveTo>
                <a:lnTo>
                  <a:pt x="33411" y="355249"/>
                </a:lnTo>
                <a:lnTo>
                  <a:pt x="46736" y="338032"/>
                </a:lnTo>
                <a:lnTo>
                  <a:pt x="25190" y="334907"/>
                </a:lnTo>
                <a:close/>
              </a:path>
              <a:path w="859154" h="374014">
                <a:moveTo>
                  <a:pt x="46736" y="338032"/>
                </a:moveTo>
                <a:lnTo>
                  <a:pt x="33411" y="355249"/>
                </a:lnTo>
                <a:lnTo>
                  <a:pt x="38028" y="355249"/>
                </a:lnTo>
                <a:lnTo>
                  <a:pt x="71680" y="341649"/>
                </a:lnTo>
                <a:lnTo>
                  <a:pt x="46736" y="338032"/>
                </a:lnTo>
                <a:close/>
              </a:path>
              <a:path w="859154" h="374014">
                <a:moveTo>
                  <a:pt x="849297" y="0"/>
                </a:moveTo>
                <a:lnTo>
                  <a:pt x="62164" y="318099"/>
                </a:lnTo>
                <a:lnTo>
                  <a:pt x="46736" y="338032"/>
                </a:lnTo>
                <a:lnTo>
                  <a:pt x="71680" y="341649"/>
                </a:lnTo>
                <a:lnTo>
                  <a:pt x="858814" y="23549"/>
                </a:lnTo>
                <a:lnTo>
                  <a:pt x="849297" y="0"/>
                </a:lnTo>
                <a:close/>
              </a:path>
              <a:path w="859154" h="374014">
                <a:moveTo>
                  <a:pt x="49155" y="334907"/>
                </a:moveTo>
                <a:lnTo>
                  <a:pt x="25190" y="334907"/>
                </a:lnTo>
                <a:lnTo>
                  <a:pt x="46736" y="338032"/>
                </a:lnTo>
                <a:lnTo>
                  <a:pt x="49155" y="334907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14333" y="4527703"/>
            <a:ext cx="3456432" cy="554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54438" y="4548880"/>
            <a:ext cx="3262629" cy="405765"/>
          </a:xfrm>
          <a:custGeom>
            <a:avLst/>
            <a:gdLst/>
            <a:ahLst/>
            <a:cxnLst/>
            <a:rect l="l" t="t" r="r" b="b"/>
            <a:pathLst>
              <a:path w="3262629" h="405764">
                <a:moveTo>
                  <a:pt x="3189144" y="362791"/>
                </a:moveTo>
                <a:lnTo>
                  <a:pt x="3145134" y="382583"/>
                </a:lnTo>
                <a:lnTo>
                  <a:pt x="3142280" y="390100"/>
                </a:lnTo>
                <a:lnTo>
                  <a:pt x="3148035" y="402894"/>
                </a:lnTo>
                <a:lnTo>
                  <a:pt x="3155553" y="405748"/>
                </a:lnTo>
                <a:lnTo>
                  <a:pt x="3240074" y="367737"/>
                </a:lnTo>
                <a:lnTo>
                  <a:pt x="3235879" y="367737"/>
                </a:lnTo>
                <a:lnTo>
                  <a:pt x="3189144" y="362791"/>
                </a:lnTo>
                <a:close/>
              </a:path>
              <a:path w="3262629" h="405764">
                <a:moveTo>
                  <a:pt x="3212131" y="352453"/>
                </a:moveTo>
                <a:lnTo>
                  <a:pt x="3189144" y="362791"/>
                </a:lnTo>
                <a:lnTo>
                  <a:pt x="3235879" y="367737"/>
                </a:lnTo>
                <a:lnTo>
                  <a:pt x="3236133" y="365342"/>
                </a:lnTo>
                <a:lnTo>
                  <a:pt x="3229678" y="365342"/>
                </a:lnTo>
                <a:lnTo>
                  <a:pt x="3212131" y="352453"/>
                </a:lnTo>
                <a:close/>
              </a:path>
              <a:path w="3262629" h="405764">
                <a:moveTo>
                  <a:pt x="3167962" y="288495"/>
                </a:moveTo>
                <a:lnTo>
                  <a:pt x="3160014" y="289712"/>
                </a:lnTo>
                <a:lnTo>
                  <a:pt x="3151709" y="301017"/>
                </a:lnTo>
                <a:lnTo>
                  <a:pt x="3152926" y="308966"/>
                </a:lnTo>
                <a:lnTo>
                  <a:pt x="3191815" y="337531"/>
                </a:lnTo>
                <a:lnTo>
                  <a:pt x="3238554" y="342478"/>
                </a:lnTo>
                <a:lnTo>
                  <a:pt x="3235879" y="367737"/>
                </a:lnTo>
                <a:lnTo>
                  <a:pt x="3240074" y="367737"/>
                </a:lnTo>
                <a:lnTo>
                  <a:pt x="3262261" y="357758"/>
                </a:lnTo>
                <a:lnTo>
                  <a:pt x="3167962" y="288495"/>
                </a:lnTo>
                <a:close/>
              </a:path>
              <a:path w="3262629" h="405764">
                <a:moveTo>
                  <a:pt x="3231987" y="343523"/>
                </a:moveTo>
                <a:lnTo>
                  <a:pt x="3212131" y="352453"/>
                </a:lnTo>
                <a:lnTo>
                  <a:pt x="3229678" y="365342"/>
                </a:lnTo>
                <a:lnTo>
                  <a:pt x="3231987" y="343523"/>
                </a:lnTo>
                <a:close/>
              </a:path>
              <a:path w="3262629" h="405764">
                <a:moveTo>
                  <a:pt x="3238443" y="343523"/>
                </a:moveTo>
                <a:lnTo>
                  <a:pt x="3231987" y="343523"/>
                </a:lnTo>
                <a:lnTo>
                  <a:pt x="3229678" y="365342"/>
                </a:lnTo>
                <a:lnTo>
                  <a:pt x="3236133" y="365342"/>
                </a:lnTo>
                <a:lnTo>
                  <a:pt x="3238443" y="343523"/>
                </a:lnTo>
                <a:close/>
              </a:path>
              <a:path w="3262629" h="405764">
                <a:moveTo>
                  <a:pt x="2673" y="0"/>
                </a:moveTo>
                <a:lnTo>
                  <a:pt x="0" y="25259"/>
                </a:lnTo>
                <a:lnTo>
                  <a:pt x="3189144" y="362791"/>
                </a:lnTo>
                <a:lnTo>
                  <a:pt x="3212131" y="352453"/>
                </a:lnTo>
                <a:lnTo>
                  <a:pt x="3191815" y="337531"/>
                </a:lnTo>
                <a:lnTo>
                  <a:pt x="2673" y="0"/>
                </a:lnTo>
                <a:close/>
              </a:path>
              <a:path w="3262629" h="405764">
                <a:moveTo>
                  <a:pt x="3191815" y="337531"/>
                </a:moveTo>
                <a:lnTo>
                  <a:pt x="3212131" y="352453"/>
                </a:lnTo>
                <a:lnTo>
                  <a:pt x="3231987" y="343523"/>
                </a:lnTo>
                <a:lnTo>
                  <a:pt x="3238443" y="343523"/>
                </a:lnTo>
                <a:lnTo>
                  <a:pt x="3238554" y="342478"/>
                </a:lnTo>
                <a:lnTo>
                  <a:pt x="3191815" y="33753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43574" y="4539894"/>
            <a:ext cx="310896" cy="548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37866" y="4561200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15301" y="4527703"/>
            <a:ext cx="2225040" cy="5364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56325" y="4548973"/>
            <a:ext cx="2029460" cy="382905"/>
          </a:xfrm>
          <a:custGeom>
            <a:avLst/>
            <a:gdLst/>
            <a:ahLst/>
            <a:cxnLst/>
            <a:rect l="l" t="t" r="r" b="b"/>
            <a:pathLst>
              <a:path w="2029459" h="382904">
                <a:moveTo>
                  <a:pt x="1956033" y="341428"/>
                </a:moveTo>
                <a:lnTo>
                  <a:pt x="1911004" y="358776"/>
                </a:lnTo>
                <a:lnTo>
                  <a:pt x="1907743" y="366127"/>
                </a:lnTo>
                <a:lnTo>
                  <a:pt x="1912786" y="379216"/>
                </a:lnTo>
                <a:lnTo>
                  <a:pt x="1920135" y="382478"/>
                </a:lnTo>
                <a:lnTo>
                  <a:pt x="2007216" y="348929"/>
                </a:lnTo>
                <a:lnTo>
                  <a:pt x="2002412" y="348929"/>
                </a:lnTo>
                <a:lnTo>
                  <a:pt x="1956033" y="341428"/>
                </a:lnTo>
                <a:close/>
              </a:path>
              <a:path w="2029459" h="382904">
                <a:moveTo>
                  <a:pt x="1979553" y="332367"/>
                </a:moveTo>
                <a:lnTo>
                  <a:pt x="1956033" y="341428"/>
                </a:lnTo>
                <a:lnTo>
                  <a:pt x="2002412" y="348929"/>
                </a:lnTo>
                <a:lnTo>
                  <a:pt x="2002854" y="346199"/>
                </a:lnTo>
                <a:lnTo>
                  <a:pt x="1996366" y="346199"/>
                </a:lnTo>
                <a:lnTo>
                  <a:pt x="1979553" y="332367"/>
                </a:lnTo>
                <a:close/>
              </a:path>
              <a:path w="2029459" h="382904">
                <a:moveTo>
                  <a:pt x="1938961" y="266082"/>
                </a:moveTo>
                <a:lnTo>
                  <a:pt x="1930957" y="266861"/>
                </a:lnTo>
                <a:lnTo>
                  <a:pt x="1922045" y="277694"/>
                </a:lnTo>
                <a:lnTo>
                  <a:pt x="1922824" y="285697"/>
                </a:lnTo>
                <a:lnTo>
                  <a:pt x="1960089" y="316355"/>
                </a:lnTo>
                <a:lnTo>
                  <a:pt x="2006467" y="323856"/>
                </a:lnTo>
                <a:lnTo>
                  <a:pt x="2002412" y="348929"/>
                </a:lnTo>
                <a:lnTo>
                  <a:pt x="2007216" y="348929"/>
                </a:lnTo>
                <a:lnTo>
                  <a:pt x="2029316" y="340415"/>
                </a:lnTo>
                <a:lnTo>
                  <a:pt x="1938961" y="266082"/>
                </a:lnTo>
                <a:close/>
              </a:path>
              <a:path w="2029459" h="382904">
                <a:moveTo>
                  <a:pt x="1999869" y="324540"/>
                </a:moveTo>
                <a:lnTo>
                  <a:pt x="1979553" y="332367"/>
                </a:lnTo>
                <a:lnTo>
                  <a:pt x="1996366" y="346199"/>
                </a:lnTo>
                <a:lnTo>
                  <a:pt x="1999869" y="324540"/>
                </a:lnTo>
                <a:close/>
              </a:path>
              <a:path w="2029459" h="382904">
                <a:moveTo>
                  <a:pt x="2006357" y="324540"/>
                </a:moveTo>
                <a:lnTo>
                  <a:pt x="1999869" y="324540"/>
                </a:lnTo>
                <a:lnTo>
                  <a:pt x="1996366" y="346199"/>
                </a:lnTo>
                <a:lnTo>
                  <a:pt x="2002854" y="346199"/>
                </a:lnTo>
                <a:lnTo>
                  <a:pt x="2006357" y="324540"/>
                </a:lnTo>
                <a:close/>
              </a:path>
              <a:path w="2029459" h="382904">
                <a:moveTo>
                  <a:pt x="4055" y="0"/>
                </a:moveTo>
                <a:lnTo>
                  <a:pt x="0" y="25073"/>
                </a:lnTo>
                <a:lnTo>
                  <a:pt x="1956033" y="341428"/>
                </a:lnTo>
                <a:lnTo>
                  <a:pt x="1979553" y="332367"/>
                </a:lnTo>
                <a:lnTo>
                  <a:pt x="1960089" y="316355"/>
                </a:lnTo>
                <a:lnTo>
                  <a:pt x="4055" y="0"/>
                </a:lnTo>
                <a:close/>
              </a:path>
              <a:path w="2029459" h="382904">
                <a:moveTo>
                  <a:pt x="1960089" y="316355"/>
                </a:moveTo>
                <a:lnTo>
                  <a:pt x="1979553" y="332367"/>
                </a:lnTo>
                <a:lnTo>
                  <a:pt x="1999869" y="324540"/>
                </a:lnTo>
                <a:lnTo>
                  <a:pt x="2006357" y="324540"/>
                </a:lnTo>
                <a:lnTo>
                  <a:pt x="2006467" y="323856"/>
                </a:lnTo>
                <a:lnTo>
                  <a:pt x="1960089" y="316355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42350" y="4549038"/>
            <a:ext cx="310896" cy="548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35931" y="4569826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1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9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41334"/>
              </p:ext>
            </p:extLst>
          </p:nvPr>
        </p:nvGraphicFramePr>
        <p:xfrm>
          <a:off x="1110584" y="4974210"/>
          <a:ext cx="9542779" cy="204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676400" y="5362347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 addresses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52459" y="53653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17"/>
          <p:cNvSpPr txBox="1"/>
          <p:nvPr/>
        </p:nvSpPr>
        <p:spPr>
          <a:xfrm>
            <a:off x="152400" y="978403"/>
            <a:ext cx="10820400" cy="3551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scattered 4-byte words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N cache-lines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N*128 bytes move across the bus on a miss</a:t>
            </a: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</a:t>
            </a:r>
            <a:r>
              <a:rPr kumimoji="1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/ (N*128) (3.125% worst case N=32)  </a:t>
            </a:r>
            <a:endParaRPr kumimoji="1" lang="en-US" sz="2400" dirty="0">
              <a:solidFill>
                <a:srgbClr val="7030A0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a[rand()];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995930">
              <a:lnSpc>
                <a:spcPts val="2080"/>
              </a:lnSpc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     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/>
              </a:rPr>
              <a:t>addresses from...a warp</a:t>
            </a:r>
            <a:endParaRPr sz="2800" spc="-5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754380" y="142892"/>
            <a:ext cx="9464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CACHING 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144876"/>
            <a:ext cx="506222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NON-CACHING LOAD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234439" y="4227576"/>
            <a:ext cx="2974848" cy="560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88794" y="4248783"/>
            <a:ext cx="2779395" cy="412115"/>
          </a:xfrm>
          <a:custGeom>
            <a:avLst/>
            <a:gdLst/>
            <a:ahLst/>
            <a:cxnLst/>
            <a:rect l="l" t="t" r="r" b="b"/>
            <a:pathLst>
              <a:path w="2779395" h="412114">
                <a:moveTo>
                  <a:pt x="92806" y="295104"/>
                </a:moveTo>
                <a:lnTo>
                  <a:pt x="0" y="366354"/>
                </a:lnTo>
                <a:lnTo>
                  <a:pt x="107702" y="412069"/>
                </a:lnTo>
                <a:lnTo>
                  <a:pt x="115158" y="409056"/>
                </a:lnTo>
                <a:lnTo>
                  <a:pt x="120638" y="396143"/>
                </a:lnTo>
                <a:lnTo>
                  <a:pt x="117626" y="388687"/>
                </a:lnTo>
                <a:lnTo>
                  <a:pt x="87187" y="375767"/>
                </a:lnTo>
                <a:lnTo>
                  <a:pt x="26616" y="375767"/>
                </a:lnTo>
                <a:lnTo>
                  <a:pt x="23408" y="350570"/>
                </a:lnTo>
                <a:lnTo>
                  <a:pt x="69998" y="344637"/>
                </a:lnTo>
                <a:lnTo>
                  <a:pt x="108273" y="315252"/>
                </a:lnTo>
                <a:lnTo>
                  <a:pt x="109321" y="307280"/>
                </a:lnTo>
                <a:lnTo>
                  <a:pt x="100779" y="296152"/>
                </a:lnTo>
                <a:lnTo>
                  <a:pt x="92806" y="295104"/>
                </a:lnTo>
                <a:close/>
              </a:path>
              <a:path w="2779395" h="412114">
                <a:moveTo>
                  <a:pt x="69998" y="344637"/>
                </a:moveTo>
                <a:lnTo>
                  <a:pt x="23408" y="350570"/>
                </a:lnTo>
                <a:lnTo>
                  <a:pt x="26616" y="375767"/>
                </a:lnTo>
                <a:lnTo>
                  <a:pt x="46431" y="373244"/>
                </a:lnTo>
                <a:lnTo>
                  <a:pt x="32736" y="373244"/>
                </a:lnTo>
                <a:lnTo>
                  <a:pt x="29965" y="351480"/>
                </a:lnTo>
                <a:lnTo>
                  <a:pt x="61085" y="351480"/>
                </a:lnTo>
                <a:lnTo>
                  <a:pt x="69998" y="344637"/>
                </a:lnTo>
                <a:close/>
              </a:path>
              <a:path w="2779395" h="412114">
                <a:moveTo>
                  <a:pt x="73207" y="369834"/>
                </a:moveTo>
                <a:lnTo>
                  <a:pt x="26616" y="375767"/>
                </a:lnTo>
                <a:lnTo>
                  <a:pt x="87187" y="375767"/>
                </a:lnTo>
                <a:lnTo>
                  <a:pt x="73207" y="369834"/>
                </a:lnTo>
                <a:close/>
              </a:path>
              <a:path w="2779395" h="412114">
                <a:moveTo>
                  <a:pt x="29965" y="351480"/>
                </a:moveTo>
                <a:lnTo>
                  <a:pt x="32736" y="373244"/>
                </a:lnTo>
                <a:lnTo>
                  <a:pt x="50005" y="359986"/>
                </a:lnTo>
                <a:lnTo>
                  <a:pt x="29965" y="351480"/>
                </a:lnTo>
                <a:close/>
              </a:path>
              <a:path w="2779395" h="412114">
                <a:moveTo>
                  <a:pt x="50005" y="359986"/>
                </a:moveTo>
                <a:lnTo>
                  <a:pt x="32736" y="373244"/>
                </a:lnTo>
                <a:lnTo>
                  <a:pt x="46431" y="373244"/>
                </a:lnTo>
                <a:lnTo>
                  <a:pt x="73207" y="369834"/>
                </a:lnTo>
                <a:lnTo>
                  <a:pt x="50005" y="359986"/>
                </a:lnTo>
                <a:close/>
              </a:path>
              <a:path w="2779395" h="412114">
                <a:moveTo>
                  <a:pt x="2776160" y="0"/>
                </a:moveTo>
                <a:lnTo>
                  <a:pt x="69998" y="344637"/>
                </a:lnTo>
                <a:lnTo>
                  <a:pt x="50005" y="359986"/>
                </a:lnTo>
                <a:lnTo>
                  <a:pt x="73207" y="369834"/>
                </a:lnTo>
                <a:lnTo>
                  <a:pt x="2779368" y="25196"/>
                </a:lnTo>
                <a:lnTo>
                  <a:pt x="2776160" y="0"/>
                </a:lnTo>
                <a:close/>
              </a:path>
              <a:path w="2779395" h="412114">
                <a:moveTo>
                  <a:pt x="61085" y="351480"/>
                </a:moveTo>
                <a:lnTo>
                  <a:pt x="29965" y="351480"/>
                </a:lnTo>
                <a:lnTo>
                  <a:pt x="50005" y="359986"/>
                </a:lnTo>
                <a:lnTo>
                  <a:pt x="61085" y="35148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35096" y="4227576"/>
            <a:ext cx="1054608" cy="554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88534" y="4249606"/>
            <a:ext cx="859155" cy="374015"/>
          </a:xfrm>
          <a:custGeom>
            <a:avLst/>
            <a:gdLst/>
            <a:ahLst/>
            <a:cxnLst/>
            <a:rect l="l" t="t" r="r" b="b"/>
            <a:pathLst>
              <a:path w="859154" h="374014">
                <a:moveTo>
                  <a:pt x="79588" y="263377"/>
                </a:moveTo>
                <a:lnTo>
                  <a:pt x="71612" y="264393"/>
                </a:lnTo>
                <a:lnTo>
                  <a:pt x="0" y="356920"/>
                </a:lnTo>
                <a:lnTo>
                  <a:pt x="115790" y="373712"/>
                </a:lnTo>
                <a:lnTo>
                  <a:pt x="122233" y="368901"/>
                </a:lnTo>
                <a:lnTo>
                  <a:pt x="123632" y="359252"/>
                </a:lnTo>
                <a:lnTo>
                  <a:pt x="28122" y="359252"/>
                </a:lnTo>
                <a:lnTo>
                  <a:pt x="18605" y="335702"/>
                </a:lnTo>
                <a:lnTo>
                  <a:pt x="62164" y="318099"/>
                </a:lnTo>
                <a:lnTo>
                  <a:pt x="91699" y="279939"/>
                </a:lnTo>
                <a:lnTo>
                  <a:pt x="90683" y="271962"/>
                </a:lnTo>
                <a:lnTo>
                  <a:pt x="79588" y="263377"/>
                </a:lnTo>
                <a:close/>
              </a:path>
              <a:path w="859154" h="374014">
                <a:moveTo>
                  <a:pt x="62164" y="318099"/>
                </a:moveTo>
                <a:lnTo>
                  <a:pt x="18605" y="335702"/>
                </a:lnTo>
                <a:lnTo>
                  <a:pt x="28122" y="359252"/>
                </a:lnTo>
                <a:lnTo>
                  <a:pt x="38028" y="355249"/>
                </a:lnTo>
                <a:lnTo>
                  <a:pt x="33411" y="355249"/>
                </a:lnTo>
                <a:lnTo>
                  <a:pt x="25190" y="334907"/>
                </a:lnTo>
                <a:lnTo>
                  <a:pt x="49155" y="334907"/>
                </a:lnTo>
                <a:lnTo>
                  <a:pt x="62164" y="318099"/>
                </a:lnTo>
                <a:close/>
              </a:path>
              <a:path w="859154" h="374014">
                <a:moveTo>
                  <a:pt x="71680" y="341649"/>
                </a:moveTo>
                <a:lnTo>
                  <a:pt x="28122" y="359252"/>
                </a:lnTo>
                <a:lnTo>
                  <a:pt x="123632" y="359252"/>
                </a:lnTo>
                <a:lnTo>
                  <a:pt x="124246" y="355018"/>
                </a:lnTo>
                <a:lnTo>
                  <a:pt x="119435" y="348575"/>
                </a:lnTo>
                <a:lnTo>
                  <a:pt x="71680" y="341649"/>
                </a:lnTo>
                <a:close/>
              </a:path>
              <a:path w="859154" h="374014">
                <a:moveTo>
                  <a:pt x="25190" y="334907"/>
                </a:moveTo>
                <a:lnTo>
                  <a:pt x="33411" y="355249"/>
                </a:lnTo>
                <a:lnTo>
                  <a:pt x="46736" y="338032"/>
                </a:lnTo>
                <a:lnTo>
                  <a:pt x="25190" y="334907"/>
                </a:lnTo>
                <a:close/>
              </a:path>
              <a:path w="859154" h="374014">
                <a:moveTo>
                  <a:pt x="46736" y="338032"/>
                </a:moveTo>
                <a:lnTo>
                  <a:pt x="33411" y="355249"/>
                </a:lnTo>
                <a:lnTo>
                  <a:pt x="38028" y="355249"/>
                </a:lnTo>
                <a:lnTo>
                  <a:pt x="71680" y="341649"/>
                </a:lnTo>
                <a:lnTo>
                  <a:pt x="46736" y="338032"/>
                </a:lnTo>
                <a:close/>
              </a:path>
              <a:path w="859154" h="374014">
                <a:moveTo>
                  <a:pt x="849297" y="0"/>
                </a:moveTo>
                <a:lnTo>
                  <a:pt x="62164" y="318099"/>
                </a:lnTo>
                <a:lnTo>
                  <a:pt x="46736" y="338032"/>
                </a:lnTo>
                <a:lnTo>
                  <a:pt x="71680" y="341649"/>
                </a:lnTo>
                <a:lnTo>
                  <a:pt x="858814" y="23549"/>
                </a:lnTo>
                <a:lnTo>
                  <a:pt x="849297" y="0"/>
                </a:lnTo>
                <a:close/>
              </a:path>
              <a:path w="859154" h="374014">
                <a:moveTo>
                  <a:pt x="49155" y="334907"/>
                </a:moveTo>
                <a:lnTo>
                  <a:pt x="25190" y="334907"/>
                </a:lnTo>
                <a:lnTo>
                  <a:pt x="46736" y="338032"/>
                </a:lnTo>
                <a:lnTo>
                  <a:pt x="49155" y="334907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22847" y="4227576"/>
            <a:ext cx="3456432" cy="554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62952" y="4248753"/>
            <a:ext cx="3262629" cy="405765"/>
          </a:xfrm>
          <a:custGeom>
            <a:avLst/>
            <a:gdLst/>
            <a:ahLst/>
            <a:cxnLst/>
            <a:rect l="l" t="t" r="r" b="b"/>
            <a:pathLst>
              <a:path w="3262629" h="405764">
                <a:moveTo>
                  <a:pt x="3189144" y="362791"/>
                </a:moveTo>
                <a:lnTo>
                  <a:pt x="3145134" y="382583"/>
                </a:lnTo>
                <a:lnTo>
                  <a:pt x="3142280" y="390100"/>
                </a:lnTo>
                <a:lnTo>
                  <a:pt x="3148035" y="402894"/>
                </a:lnTo>
                <a:lnTo>
                  <a:pt x="3155553" y="405748"/>
                </a:lnTo>
                <a:lnTo>
                  <a:pt x="3240074" y="367737"/>
                </a:lnTo>
                <a:lnTo>
                  <a:pt x="3235879" y="367737"/>
                </a:lnTo>
                <a:lnTo>
                  <a:pt x="3189144" y="362791"/>
                </a:lnTo>
                <a:close/>
              </a:path>
              <a:path w="3262629" h="405764">
                <a:moveTo>
                  <a:pt x="3212131" y="352453"/>
                </a:moveTo>
                <a:lnTo>
                  <a:pt x="3189144" y="362791"/>
                </a:lnTo>
                <a:lnTo>
                  <a:pt x="3235879" y="367737"/>
                </a:lnTo>
                <a:lnTo>
                  <a:pt x="3236133" y="365342"/>
                </a:lnTo>
                <a:lnTo>
                  <a:pt x="3229678" y="365342"/>
                </a:lnTo>
                <a:lnTo>
                  <a:pt x="3212131" y="352453"/>
                </a:lnTo>
                <a:close/>
              </a:path>
              <a:path w="3262629" h="405764">
                <a:moveTo>
                  <a:pt x="3167962" y="288495"/>
                </a:moveTo>
                <a:lnTo>
                  <a:pt x="3160014" y="289712"/>
                </a:lnTo>
                <a:lnTo>
                  <a:pt x="3151709" y="301017"/>
                </a:lnTo>
                <a:lnTo>
                  <a:pt x="3152926" y="308966"/>
                </a:lnTo>
                <a:lnTo>
                  <a:pt x="3191815" y="337531"/>
                </a:lnTo>
                <a:lnTo>
                  <a:pt x="3238554" y="342478"/>
                </a:lnTo>
                <a:lnTo>
                  <a:pt x="3235879" y="367737"/>
                </a:lnTo>
                <a:lnTo>
                  <a:pt x="3240074" y="367737"/>
                </a:lnTo>
                <a:lnTo>
                  <a:pt x="3262261" y="357758"/>
                </a:lnTo>
                <a:lnTo>
                  <a:pt x="3167962" y="288495"/>
                </a:lnTo>
                <a:close/>
              </a:path>
              <a:path w="3262629" h="405764">
                <a:moveTo>
                  <a:pt x="3231987" y="343523"/>
                </a:moveTo>
                <a:lnTo>
                  <a:pt x="3212131" y="352453"/>
                </a:lnTo>
                <a:lnTo>
                  <a:pt x="3229678" y="365342"/>
                </a:lnTo>
                <a:lnTo>
                  <a:pt x="3231987" y="343523"/>
                </a:lnTo>
                <a:close/>
              </a:path>
              <a:path w="3262629" h="405764">
                <a:moveTo>
                  <a:pt x="3238443" y="343523"/>
                </a:moveTo>
                <a:lnTo>
                  <a:pt x="3231987" y="343523"/>
                </a:lnTo>
                <a:lnTo>
                  <a:pt x="3229678" y="365342"/>
                </a:lnTo>
                <a:lnTo>
                  <a:pt x="3236133" y="365342"/>
                </a:lnTo>
                <a:lnTo>
                  <a:pt x="3238443" y="343523"/>
                </a:lnTo>
                <a:close/>
              </a:path>
              <a:path w="3262629" h="405764">
                <a:moveTo>
                  <a:pt x="2673" y="0"/>
                </a:moveTo>
                <a:lnTo>
                  <a:pt x="0" y="25259"/>
                </a:lnTo>
                <a:lnTo>
                  <a:pt x="3189144" y="362791"/>
                </a:lnTo>
                <a:lnTo>
                  <a:pt x="3212131" y="352453"/>
                </a:lnTo>
                <a:lnTo>
                  <a:pt x="3191815" y="337531"/>
                </a:lnTo>
                <a:lnTo>
                  <a:pt x="2673" y="0"/>
                </a:lnTo>
                <a:close/>
              </a:path>
              <a:path w="3262629" h="405764">
                <a:moveTo>
                  <a:pt x="3191815" y="337531"/>
                </a:moveTo>
                <a:lnTo>
                  <a:pt x="3212131" y="352453"/>
                </a:lnTo>
                <a:lnTo>
                  <a:pt x="3231987" y="343523"/>
                </a:lnTo>
                <a:lnTo>
                  <a:pt x="3238443" y="343523"/>
                </a:lnTo>
                <a:lnTo>
                  <a:pt x="3238554" y="342478"/>
                </a:lnTo>
                <a:lnTo>
                  <a:pt x="3191815" y="33753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52088" y="4239767"/>
            <a:ext cx="310896" cy="548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46380" y="4261073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0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8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32960" y="4227576"/>
            <a:ext cx="2225040" cy="5364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64839" y="4248846"/>
            <a:ext cx="2029460" cy="382905"/>
          </a:xfrm>
          <a:custGeom>
            <a:avLst/>
            <a:gdLst/>
            <a:ahLst/>
            <a:cxnLst/>
            <a:rect l="l" t="t" r="r" b="b"/>
            <a:pathLst>
              <a:path w="2029459" h="382904">
                <a:moveTo>
                  <a:pt x="1956033" y="341428"/>
                </a:moveTo>
                <a:lnTo>
                  <a:pt x="1911004" y="358776"/>
                </a:lnTo>
                <a:lnTo>
                  <a:pt x="1907743" y="366127"/>
                </a:lnTo>
                <a:lnTo>
                  <a:pt x="1912786" y="379216"/>
                </a:lnTo>
                <a:lnTo>
                  <a:pt x="1920135" y="382478"/>
                </a:lnTo>
                <a:lnTo>
                  <a:pt x="2007216" y="348929"/>
                </a:lnTo>
                <a:lnTo>
                  <a:pt x="2002412" y="348929"/>
                </a:lnTo>
                <a:lnTo>
                  <a:pt x="1956033" y="341428"/>
                </a:lnTo>
                <a:close/>
              </a:path>
              <a:path w="2029459" h="382904">
                <a:moveTo>
                  <a:pt x="1979553" y="332367"/>
                </a:moveTo>
                <a:lnTo>
                  <a:pt x="1956033" y="341428"/>
                </a:lnTo>
                <a:lnTo>
                  <a:pt x="2002412" y="348929"/>
                </a:lnTo>
                <a:lnTo>
                  <a:pt x="2002854" y="346199"/>
                </a:lnTo>
                <a:lnTo>
                  <a:pt x="1996366" y="346199"/>
                </a:lnTo>
                <a:lnTo>
                  <a:pt x="1979553" y="332367"/>
                </a:lnTo>
                <a:close/>
              </a:path>
              <a:path w="2029459" h="382904">
                <a:moveTo>
                  <a:pt x="1938961" y="266082"/>
                </a:moveTo>
                <a:lnTo>
                  <a:pt x="1930957" y="266861"/>
                </a:lnTo>
                <a:lnTo>
                  <a:pt x="1922045" y="277694"/>
                </a:lnTo>
                <a:lnTo>
                  <a:pt x="1922824" y="285697"/>
                </a:lnTo>
                <a:lnTo>
                  <a:pt x="1960089" y="316355"/>
                </a:lnTo>
                <a:lnTo>
                  <a:pt x="2006467" y="323856"/>
                </a:lnTo>
                <a:lnTo>
                  <a:pt x="2002412" y="348929"/>
                </a:lnTo>
                <a:lnTo>
                  <a:pt x="2007216" y="348929"/>
                </a:lnTo>
                <a:lnTo>
                  <a:pt x="2029316" y="340415"/>
                </a:lnTo>
                <a:lnTo>
                  <a:pt x="1938961" y="266082"/>
                </a:lnTo>
                <a:close/>
              </a:path>
              <a:path w="2029459" h="382904">
                <a:moveTo>
                  <a:pt x="1999869" y="324540"/>
                </a:moveTo>
                <a:lnTo>
                  <a:pt x="1979553" y="332367"/>
                </a:lnTo>
                <a:lnTo>
                  <a:pt x="1996366" y="346199"/>
                </a:lnTo>
                <a:lnTo>
                  <a:pt x="1999869" y="324540"/>
                </a:lnTo>
                <a:close/>
              </a:path>
              <a:path w="2029459" h="382904">
                <a:moveTo>
                  <a:pt x="2006357" y="324540"/>
                </a:moveTo>
                <a:lnTo>
                  <a:pt x="1999869" y="324540"/>
                </a:lnTo>
                <a:lnTo>
                  <a:pt x="1996366" y="346199"/>
                </a:lnTo>
                <a:lnTo>
                  <a:pt x="2002854" y="346199"/>
                </a:lnTo>
                <a:lnTo>
                  <a:pt x="2006357" y="324540"/>
                </a:lnTo>
                <a:close/>
              </a:path>
              <a:path w="2029459" h="382904">
                <a:moveTo>
                  <a:pt x="4055" y="0"/>
                </a:moveTo>
                <a:lnTo>
                  <a:pt x="0" y="25073"/>
                </a:lnTo>
                <a:lnTo>
                  <a:pt x="1956033" y="341428"/>
                </a:lnTo>
                <a:lnTo>
                  <a:pt x="1979553" y="332367"/>
                </a:lnTo>
                <a:lnTo>
                  <a:pt x="1960089" y="316355"/>
                </a:lnTo>
                <a:lnTo>
                  <a:pt x="4055" y="0"/>
                </a:lnTo>
                <a:close/>
              </a:path>
              <a:path w="2029459" h="382904">
                <a:moveTo>
                  <a:pt x="1960089" y="316355"/>
                </a:moveTo>
                <a:lnTo>
                  <a:pt x="1979553" y="332367"/>
                </a:lnTo>
                <a:lnTo>
                  <a:pt x="1999869" y="324540"/>
                </a:lnTo>
                <a:lnTo>
                  <a:pt x="2006357" y="324540"/>
                </a:lnTo>
                <a:lnTo>
                  <a:pt x="2006467" y="323856"/>
                </a:lnTo>
                <a:lnTo>
                  <a:pt x="1960089" y="316355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50864" y="4248911"/>
            <a:ext cx="310896" cy="548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44445" y="4269699"/>
            <a:ext cx="118110" cy="354330"/>
          </a:xfrm>
          <a:custGeom>
            <a:avLst/>
            <a:gdLst/>
            <a:ahLst/>
            <a:cxnLst/>
            <a:rect l="l" t="t" r="r" b="b"/>
            <a:pathLst>
              <a:path w="118110" h="354329">
                <a:moveTo>
                  <a:pt x="13797" y="239269"/>
                </a:moveTo>
                <a:lnTo>
                  <a:pt x="1855" y="246631"/>
                </a:lnTo>
                <a:lnTo>
                  <a:pt x="0" y="254454"/>
                </a:lnTo>
                <a:lnTo>
                  <a:pt x="61400" y="354051"/>
                </a:lnTo>
                <a:lnTo>
                  <a:pt x="75116" y="329163"/>
                </a:lnTo>
                <a:lnTo>
                  <a:pt x="48089" y="329163"/>
                </a:lnTo>
                <a:lnTo>
                  <a:pt x="46944" y="282199"/>
                </a:lnTo>
                <a:lnTo>
                  <a:pt x="21621" y="241124"/>
                </a:lnTo>
                <a:lnTo>
                  <a:pt x="13797" y="239269"/>
                </a:lnTo>
                <a:close/>
              </a:path>
              <a:path w="118110" h="354329">
                <a:moveTo>
                  <a:pt x="46944" y="282199"/>
                </a:moveTo>
                <a:lnTo>
                  <a:pt x="48089" y="329163"/>
                </a:lnTo>
                <a:lnTo>
                  <a:pt x="73482" y="328543"/>
                </a:lnTo>
                <a:lnTo>
                  <a:pt x="73340" y="322724"/>
                </a:lnTo>
                <a:lnTo>
                  <a:pt x="49663" y="322724"/>
                </a:lnTo>
                <a:lnTo>
                  <a:pt x="60172" y="303655"/>
                </a:lnTo>
                <a:lnTo>
                  <a:pt x="46944" y="282199"/>
                </a:lnTo>
                <a:close/>
              </a:path>
              <a:path w="118110" h="354329">
                <a:moveTo>
                  <a:pt x="103351" y="237084"/>
                </a:moveTo>
                <a:lnTo>
                  <a:pt x="95627" y="239320"/>
                </a:lnTo>
                <a:lnTo>
                  <a:pt x="72336" y="281582"/>
                </a:lnTo>
                <a:lnTo>
                  <a:pt x="73482" y="328543"/>
                </a:lnTo>
                <a:lnTo>
                  <a:pt x="48089" y="329163"/>
                </a:lnTo>
                <a:lnTo>
                  <a:pt x="75116" y="329163"/>
                </a:lnTo>
                <a:lnTo>
                  <a:pt x="117872" y="251579"/>
                </a:lnTo>
                <a:lnTo>
                  <a:pt x="115637" y="243855"/>
                </a:lnTo>
                <a:lnTo>
                  <a:pt x="103351" y="237084"/>
                </a:lnTo>
                <a:close/>
              </a:path>
              <a:path w="118110" h="354329">
                <a:moveTo>
                  <a:pt x="60172" y="303655"/>
                </a:moveTo>
                <a:lnTo>
                  <a:pt x="49663" y="322724"/>
                </a:lnTo>
                <a:lnTo>
                  <a:pt x="71597" y="322188"/>
                </a:lnTo>
                <a:lnTo>
                  <a:pt x="60172" y="303655"/>
                </a:lnTo>
                <a:close/>
              </a:path>
              <a:path w="118110" h="354329">
                <a:moveTo>
                  <a:pt x="72336" y="281582"/>
                </a:moveTo>
                <a:lnTo>
                  <a:pt x="60172" y="303655"/>
                </a:lnTo>
                <a:lnTo>
                  <a:pt x="71597" y="322188"/>
                </a:lnTo>
                <a:lnTo>
                  <a:pt x="49663" y="322724"/>
                </a:lnTo>
                <a:lnTo>
                  <a:pt x="73340" y="322724"/>
                </a:lnTo>
                <a:lnTo>
                  <a:pt x="72336" y="281582"/>
                </a:lnTo>
                <a:close/>
              </a:path>
              <a:path w="118110" h="354329">
                <a:moveTo>
                  <a:pt x="65468" y="0"/>
                </a:moveTo>
                <a:lnTo>
                  <a:pt x="40076" y="619"/>
                </a:lnTo>
                <a:lnTo>
                  <a:pt x="46944" y="282199"/>
                </a:lnTo>
                <a:lnTo>
                  <a:pt x="60172" y="303655"/>
                </a:lnTo>
                <a:lnTo>
                  <a:pt x="72336" y="281582"/>
                </a:lnTo>
                <a:lnTo>
                  <a:pt x="65468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84914" y="5062220"/>
            <a:ext cx="9133840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  <a:tabLst>
                <a:tab pos="678815" algn="l"/>
                <a:tab pos="1357630" algn="l"/>
                <a:tab pos="1969135" algn="l"/>
                <a:tab pos="2656840" algn="l"/>
                <a:tab pos="3338195" algn="l"/>
                <a:tab pos="4017010" algn="l"/>
                <a:tab pos="4664075" algn="l"/>
                <a:tab pos="5345430" algn="l"/>
                <a:tab pos="6038215" algn="l"/>
                <a:tab pos="6719570" algn="l"/>
                <a:tab pos="7397750" algn="l"/>
                <a:tab pos="8045450" algn="l"/>
                <a:tab pos="8726805" algn="l"/>
              </a:tabLst>
            </a:pPr>
            <a:r>
              <a:rPr sz="1800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6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9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12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16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25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r>
              <a:rPr sz="1800" dirty="0">
                <a:latin typeface="Arial" panose="020B0604020202020204"/>
                <a:cs typeface="Arial" panose="020B0604020202020204"/>
              </a:rPr>
              <a:t>8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32</a:t>
            </a:r>
            <a:r>
              <a:rPr sz="1800" dirty="0"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35</a:t>
            </a:r>
            <a:r>
              <a:rPr sz="1800" dirty="0">
                <a:latin typeface="Arial" panose="020B0604020202020204"/>
                <a:cs typeface="Arial" panose="020B0604020202020204"/>
              </a:rPr>
              <a:t>2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38</a:t>
            </a:r>
            <a:r>
              <a:rPr sz="1800" dirty="0">
                <a:latin typeface="Arial" panose="020B0604020202020204"/>
                <a:cs typeface="Arial" panose="020B0604020202020204"/>
              </a:rPr>
              <a:t>4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41</a:t>
            </a:r>
            <a:r>
              <a:rPr sz="1800" dirty="0">
                <a:latin typeface="Arial" panose="020B0604020202020204"/>
                <a:cs typeface="Arial" panose="020B0604020202020204"/>
              </a:rPr>
              <a:t>6	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448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R="762635" algn="ctr">
              <a:lnSpc>
                <a:spcPts val="2075"/>
              </a:lnSpc>
            </a:pPr>
            <a:r>
              <a:rPr sz="2000" spc="-5" dirty="0">
                <a:latin typeface="Arial" panose="020B0604020202020204"/>
                <a:cs typeface="Arial" panose="020B0604020202020204"/>
              </a:rPr>
              <a:t>Memory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addresses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0973" y="50652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027725" y="4674086"/>
          <a:ext cx="9384664" cy="204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04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38100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EF56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2E0B41"/>
                      </a:solidFill>
                      <a:prstDash val="solid"/>
                    </a:lnL>
                    <a:lnR w="28575">
                      <a:solidFill>
                        <a:srgbClr val="2E0B41"/>
                      </a:solidFill>
                      <a:prstDash val="solid"/>
                    </a:lnR>
                    <a:lnT w="28575">
                      <a:solidFill>
                        <a:srgbClr val="2E0B41"/>
                      </a:solidFill>
                      <a:prstDash val="solid"/>
                    </a:lnT>
                    <a:lnB w="28575">
                      <a:solidFill>
                        <a:srgbClr val="2E0B4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17"/>
          <p:cNvSpPr txBox="1"/>
          <p:nvPr/>
        </p:nvSpPr>
        <p:spPr>
          <a:xfrm>
            <a:off x="650494" y="1155169"/>
            <a:ext cx="10068260" cy="30546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Warp requests 32 scattered 4-byte words</a:t>
            </a: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Addresses fall within N segments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needs 128 bytes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N*32 bytes move across the bus on a miss</a:t>
            </a: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Bus utilization: </a:t>
            </a:r>
            <a:r>
              <a:rPr kumimoji="1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 / (N*32) (12.5% worst case N = 32)  </a:t>
            </a:r>
            <a:endParaRPr kumimoji="1" lang="en-US" sz="2400" dirty="0">
              <a:solidFill>
                <a:srgbClr val="7030A0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177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c = a[rand()]; </a:t>
            </a:r>
            <a:r>
              <a:rPr kumimoji="1" sz="2400" dirty="0">
                <a:solidFill>
                  <a:srgbClr val="00B0F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–Xptxas –dlcm=cg</a:t>
            </a:r>
          </a:p>
          <a:p>
            <a:pPr marL="2995930">
              <a:lnSpc>
                <a:spcPts val="2080"/>
              </a:lnSpc>
            </a:pPr>
            <a:r>
              <a:rPr lang="en-US" sz="2000" spc="-5" dirty="0">
                <a:latin typeface="Arial" panose="020B0604020202020204"/>
                <a:cs typeface="Arial" panose="020B0604020202020204"/>
              </a:rPr>
              <a:t>  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addresses </a:t>
            </a:r>
            <a:r>
              <a:rPr sz="2000" spc="-140" dirty="0">
                <a:latin typeface="Arial" panose="020B0604020202020204"/>
                <a:cs typeface="Arial" panose="020B0604020202020204"/>
              </a:rPr>
              <a:t>from</a:t>
            </a:r>
            <a:r>
              <a:rPr sz="3000" b="1" spc="-209" baseline="-31000" dirty="0">
                <a:latin typeface="Arial" panose="020B0604020202020204"/>
                <a:cs typeface="Arial" panose="020B0604020202020204"/>
              </a:rPr>
              <a:t>.</a:t>
            </a:r>
            <a:r>
              <a:rPr sz="2000" spc="-140" dirty="0">
                <a:latin typeface="Arial" panose="020B0604020202020204"/>
                <a:cs typeface="Arial" panose="020B0604020202020204"/>
              </a:rPr>
              <a:t>a</a:t>
            </a:r>
            <a:r>
              <a:rPr sz="3000" b="1" spc="-209" baseline="-31000" dirty="0">
                <a:latin typeface="Arial" panose="020B0604020202020204"/>
                <a:cs typeface="Arial" panose="020B0604020202020204"/>
              </a:rPr>
              <a:t>..</a:t>
            </a:r>
            <a:r>
              <a:rPr sz="3000" b="1" spc="-127" baseline="-3100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warp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5235" y="114300"/>
            <a:ext cx="917892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G</a:t>
            </a:r>
            <a:r>
              <a:rPr lang="en-US" altLang="en-US" sz="3200" spc="-5" dirty="0">
                <a:latin typeface="Comic Sans MS" panose="030F0702030302020204" pitchFamily="66" charset="0"/>
              </a:rPr>
              <a:t>PU </a:t>
            </a:r>
            <a:r>
              <a:rPr lang="zh-CN" altLang="en-US" sz="3200" spc="-5" dirty="0">
                <a:latin typeface="Comic Sans MS" panose="030F0702030302020204" pitchFamily="66" charset="0"/>
              </a:rPr>
              <a:t>MEM OPTIMIZATION GUIDELINES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15" name="object 13"/>
          <p:cNvSpPr txBox="1"/>
          <p:nvPr/>
        </p:nvSpPr>
        <p:spPr>
          <a:xfrm>
            <a:off x="342900" y="849489"/>
            <a:ext cx="10287000" cy="51783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Strive for perfect coalescing</a:t>
            </a:r>
          </a:p>
          <a:p>
            <a:pPr marL="822960" lvl="2" indent="-282575" defTabSz="1139825" fontAlgn="base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(Align starting address - may require padding)</a:t>
            </a:r>
          </a:p>
          <a:p>
            <a:pPr marL="822960" lvl="2" indent="-282575" defTabSz="1139825" fontAlgn="base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warp should access within a contiguous region</a:t>
            </a: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Have enough concurrent accesses to saturate the bus</a:t>
            </a:r>
            <a:endParaRPr lang="en-US" sz="2800" spc="-5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22960" lvl="2" indent="-282575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Process several elements per thread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Multiple loads get pipelined</a:t>
            </a:r>
          </a:p>
          <a:p>
            <a:pPr marL="1097280" lvl="3" indent="-282575" defTabSz="1139825" fontAlgn="base">
              <a:lnSpc>
                <a:spcPct val="125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Indexing calculations can often be reused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6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Launch enough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warps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to maximize throughput</a:t>
            </a:r>
          </a:p>
          <a:p>
            <a:pPr marL="1097280" lvl="3" indent="-282575" defTabSz="1139825" fontAlgn="base">
              <a:lnSpc>
                <a:spcPct val="125000"/>
              </a:lnSpc>
              <a:spcBef>
                <a:spcPts val="159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Latency is hidden by switching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warps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Use all the caches!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10728"/>
            <a:ext cx="8229600" cy="1231106"/>
          </a:xfrm>
        </p:spPr>
        <p:txBody>
          <a:bodyPr>
            <a:normAutofit/>
          </a:bodyPr>
          <a:lstStyle/>
          <a:p>
            <a:pPr marL="12700" defTabSz="1139825" eaLnBrk="1" hangingPunct="1">
              <a:lnSpc>
                <a:spcPct val="125000"/>
              </a:lnSpc>
              <a:spcBef>
                <a:spcPts val="515"/>
              </a:spcBef>
              <a:defRPr/>
            </a:pPr>
            <a:r>
              <a:rPr lang="en-US" altLang="zh-CN" sz="32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 MEMORY</a:t>
            </a:r>
            <a:endParaRPr lang="en-US" altLang="en-US" sz="32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20715"/>
            <a:ext cx="2468880" cy="328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0" y="144559"/>
            <a:ext cx="45021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omic Sans MS" panose="030F0702030302020204" pitchFamily="66" charset="0"/>
              </a:rPr>
              <a:t>SHARED</a:t>
            </a:r>
            <a:r>
              <a:rPr sz="3200" b="1" spc="-50" dirty="0">
                <a:latin typeface="Comic Sans MS" panose="030F0702030302020204" pitchFamily="66" charset="0"/>
              </a:rPr>
              <a:t> </a:t>
            </a:r>
            <a:r>
              <a:rPr sz="3200" b="1" spc="-5" dirty="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12" name="object 10"/>
          <p:cNvSpPr txBox="1"/>
          <p:nvPr/>
        </p:nvSpPr>
        <p:spPr>
          <a:xfrm>
            <a:off x="266700" y="791003"/>
            <a:ext cx="10439400" cy="5094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Uses: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Inter-thread communication within a block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Cache data to reduce redundant global memory accesses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like CPU cache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Use it to improve global memory access patterns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The shared memory is expected to be a low-latency memory near each processor core (much like an L1 cache) 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Can be managed (allocate and free) via programming API</a:t>
            </a:r>
            <a:endParaRPr kumimoji="1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Organization: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 banks, 4-byte wide banks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Successive 4-byte words belong to different banks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600" y="144876"/>
            <a:ext cx="460629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SHARED MEMORY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4300" y="1257300"/>
            <a:ext cx="10858500" cy="2752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微软雅黑" panose="020B0503020204020204" pitchFamily="34" charset="-122"/>
              <a:buChar char="»"/>
            </a:pP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</a:rPr>
              <a:t>Performance:</a:t>
            </a:r>
          </a:p>
          <a:p>
            <a:pPr marL="822960" marR="289179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Typically: 4 bytes per bank per 1 or 2 clocks per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multiprocessor  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2960" marR="289179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 accesses are issued per 32 threads (warp)</a:t>
            </a:r>
          </a:p>
          <a:p>
            <a:pPr marL="822960" marR="508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srgbClr val="00B05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serialization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if N threads of 32 access different 4-byte words in the same bank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kumimoji="1" lang="en-US" sz="2400" dirty="0">
                <a:solidFill>
                  <a:srgbClr val="FF000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bank conflict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sz="2400" dirty="0">
                <a:solidFill>
                  <a:srgbClr val="FF000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accesses are  executed serially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144559"/>
            <a:ext cx="75203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BANK ADDRESSING EXAMPLES</a:t>
            </a:r>
          </a:p>
        </p:txBody>
      </p:sp>
      <p:sp>
        <p:nvSpPr>
          <p:cNvPr id="259" name="object 25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48493" y="1451650"/>
            <a:ext cx="33900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eaLnBrk="0" fontAlgn="base" hangingPunct="0">
              <a:spcBef>
                <a:spcPts val="100"/>
              </a:spcBef>
              <a:spcAft>
                <a:spcPct val="0"/>
              </a:spcAft>
            </a:pPr>
            <a:r>
              <a:rPr kumimoji="1" lang="zh-CN" altLang="en-US" sz="2800" b="1" spc="-5" dirty="0">
                <a:latin typeface="Comic Sans MS" panose="030F0702030302020204" pitchFamily="66" charset="0"/>
                <a:ea typeface="微软雅黑" panose="020B0503020204020204" charset="-122"/>
                <a:cs typeface="+mj-cs"/>
              </a:rPr>
              <a:t>No Bank Conflicts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40007" y="1418844"/>
            <a:ext cx="355639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eaLnBrk="0" fontAlgn="base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</a:pPr>
            <a:r>
              <a:rPr kumimoji="1" sz="2800" b="1" spc="-5" dirty="0">
                <a:latin typeface="Comic Sans MS" panose="030F0702030302020204" pitchFamily="66" charset="0"/>
                <a:ea typeface="微软雅黑" panose="020B0503020204020204" charset="-122"/>
                <a:cs typeface="+mj-cs"/>
              </a:rPr>
              <a:t>No Bank Conflicts</a:t>
            </a:r>
          </a:p>
        </p:txBody>
      </p:sp>
      <p:sp>
        <p:nvSpPr>
          <p:cNvPr id="5" name="object 5"/>
          <p:cNvSpPr/>
          <p:nvPr/>
        </p:nvSpPr>
        <p:spPr>
          <a:xfrm>
            <a:off x="3551939" y="5097431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3888" y="5006339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1"/>
                </a:lnTo>
                <a:lnTo>
                  <a:pt x="0" y="342899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51939" y="500633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51939" y="500633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51939" y="500633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23888" y="509743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51939" y="5074411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51939" y="420909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23888" y="4114800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51939" y="41148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51939" y="4114800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51939" y="41148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23888" y="420589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51939" y="396906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23888" y="386619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51939" y="38661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51939" y="386619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51939" y="38661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23888" y="395728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51939" y="3720465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23888" y="36261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51939" y="36261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51939" y="36261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51939" y="36261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23888" y="37172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51939" y="347186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23888" y="3377565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51939" y="3377565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51939" y="3377565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51939" y="3377565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23888" y="3468656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51939" y="3231832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23888" y="312896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51939" y="312896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51939" y="312896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51939" y="312896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23888" y="322005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51939" y="2983229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19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923888" y="288893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51939" y="28889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51939" y="288893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51939" y="28889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23888" y="298002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51939" y="2743200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30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23888" y="2640329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551939" y="264032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51939" y="264032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551939" y="264032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923888" y="273142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551939" y="2491390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4">
                <a:moveTo>
                  <a:pt x="1371949" y="0"/>
                </a:moveTo>
                <a:lnTo>
                  <a:pt x="0" y="0"/>
                </a:lnTo>
                <a:lnTo>
                  <a:pt x="0" y="251809"/>
                </a:lnTo>
                <a:lnTo>
                  <a:pt x="1371949" y="251809"/>
                </a:lnTo>
                <a:lnTo>
                  <a:pt x="137194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923888" y="2400300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551939" y="24003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90992" y="240029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551939" y="24003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923888" y="249139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869613" y="2468371"/>
            <a:ext cx="737235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5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221547" y="4555807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1547" y="4692967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221547" y="4830127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25859" y="5097431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97809" y="5006339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1"/>
                </a:lnTo>
                <a:lnTo>
                  <a:pt x="0" y="342899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5859" y="500633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5859" y="500633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25859" y="500633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97808" y="509743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625859" y="5074411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25859" y="420909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997809" y="4114800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5859" y="41148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25859" y="4114800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5859" y="41148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997808" y="420589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25859" y="396906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997809" y="386619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25859" y="38661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25859" y="386619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25859" y="38661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997808" y="395728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25859" y="3720465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997809" y="36261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25859" y="36261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25859" y="36261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25859" y="36261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997808" y="37172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25859" y="347186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997809" y="3377565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25859" y="3377565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25859" y="3377565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25859" y="3377565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997808" y="3468656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25859" y="3231832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997809" y="312896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25859" y="312896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25859" y="312896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25859" y="312896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997808" y="322005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25859" y="2983229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19">
                <a:moveTo>
                  <a:pt x="0" y="248602"/>
                </a:moveTo>
                <a:lnTo>
                  <a:pt x="1371949" y="248602"/>
                </a:lnTo>
                <a:lnTo>
                  <a:pt x="1371949" y="0"/>
                </a:lnTo>
                <a:lnTo>
                  <a:pt x="0" y="0"/>
                </a:lnTo>
                <a:lnTo>
                  <a:pt x="0" y="248602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997809" y="288893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25859" y="28889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25859" y="288893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25859" y="28889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997808" y="298002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25859" y="2743200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30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997809" y="2640329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25859" y="264032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25859" y="2640329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25859" y="2640329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997808" y="273142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25859" y="2491390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4">
                <a:moveTo>
                  <a:pt x="1371949" y="0"/>
                </a:moveTo>
                <a:lnTo>
                  <a:pt x="0" y="0"/>
                </a:lnTo>
                <a:lnTo>
                  <a:pt x="0" y="251809"/>
                </a:lnTo>
                <a:lnTo>
                  <a:pt x="1371949" y="251809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997809" y="2400300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25859" y="24003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25859" y="2400300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25859" y="2400300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997808" y="249139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841934" y="2468371"/>
            <a:ext cx="939800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5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1295467" y="4555807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295467" y="4692967"/>
            <a:ext cx="100965" cy="78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295467" y="4830127"/>
            <a:ext cx="100965" cy="78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966979" y="2553971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0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559559" y="50799"/>
                </a:lnTo>
                <a:lnTo>
                  <a:pt x="1457959" y="0"/>
                </a:lnTo>
                <a:close/>
              </a:path>
              <a:path w="1584960" h="127000">
                <a:moveTo>
                  <a:pt x="1470659" y="76199"/>
                </a:moveTo>
                <a:lnTo>
                  <a:pt x="1457960" y="76199"/>
                </a:lnTo>
                <a:lnTo>
                  <a:pt x="1470659" y="76200"/>
                </a:lnTo>
                <a:close/>
              </a:path>
              <a:path w="1584960" h="127000">
                <a:moveTo>
                  <a:pt x="1559559" y="50799"/>
                </a:moveTo>
                <a:lnTo>
                  <a:pt x="1457960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559559" y="50799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966979" y="2794001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0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559559" y="50799"/>
                </a:lnTo>
                <a:lnTo>
                  <a:pt x="1457959" y="0"/>
                </a:lnTo>
                <a:close/>
              </a:path>
              <a:path w="1584960" h="127000">
                <a:moveTo>
                  <a:pt x="1470659" y="76199"/>
                </a:moveTo>
                <a:lnTo>
                  <a:pt x="1457960" y="76199"/>
                </a:lnTo>
                <a:lnTo>
                  <a:pt x="1470659" y="76200"/>
                </a:lnTo>
                <a:close/>
              </a:path>
              <a:path w="1584960" h="127000">
                <a:moveTo>
                  <a:pt x="1559559" y="50799"/>
                </a:moveTo>
                <a:lnTo>
                  <a:pt x="1457960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559559" y="50799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966979" y="3042603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966979" y="3282633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966979" y="3531236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966979" y="3779838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966979" y="4019868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966979" y="4268471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7000"/>
                </a:lnTo>
                <a:lnTo>
                  <a:pt x="1559559" y="76200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200"/>
                </a:lnTo>
                <a:lnTo>
                  <a:pt x="1470659" y="50800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800"/>
                </a:lnTo>
                <a:lnTo>
                  <a:pt x="1470659" y="76200"/>
                </a:lnTo>
                <a:lnTo>
                  <a:pt x="1559562" y="76198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966979" y="5160010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59" y="76199"/>
                </a:moveTo>
                <a:lnTo>
                  <a:pt x="1457959" y="126999"/>
                </a:lnTo>
                <a:lnTo>
                  <a:pt x="1559560" y="76199"/>
                </a:lnTo>
                <a:lnTo>
                  <a:pt x="1457959" y="76199"/>
                </a:lnTo>
                <a:close/>
              </a:path>
              <a:path w="1584960" h="127000">
                <a:moveTo>
                  <a:pt x="1457959" y="50799"/>
                </a:moveTo>
                <a:lnTo>
                  <a:pt x="1457959" y="76199"/>
                </a:lnTo>
                <a:lnTo>
                  <a:pt x="1470659" y="76199"/>
                </a:lnTo>
                <a:lnTo>
                  <a:pt x="1470659" y="50799"/>
                </a:lnTo>
                <a:lnTo>
                  <a:pt x="1457959" y="50799"/>
                </a:lnTo>
                <a:close/>
              </a:path>
              <a:path w="1584960" h="127000">
                <a:moveTo>
                  <a:pt x="1457959" y="0"/>
                </a:moveTo>
                <a:lnTo>
                  <a:pt x="1457959" y="50799"/>
                </a:lnTo>
                <a:lnTo>
                  <a:pt x="1470659" y="50799"/>
                </a:lnTo>
                <a:lnTo>
                  <a:pt x="1470659" y="76199"/>
                </a:lnTo>
                <a:lnTo>
                  <a:pt x="1559561" y="76199"/>
                </a:lnTo>
                <a:lnTo>
                  <a:pt x="1584959" y="63500"/>
                </a:lnTo>
                <a:lnTo>
                  <a:pt x="1457959" y="0"/>
                </a:lnTo>
                <a:close/>
              </a:path>
              <a:path w="1584960" h="127000">
                <a:moveTo>
                  <a:pt x="0" y="50799"/>
                </a:moveTo>
                <a:lnTo>
                  <a:pt x="0" y="76199"/>
                </a:lnTo>
                <a:lnTo>
                  <a:pt x="1457959" y="76199"/>
                </a:lnTo>
                <a:lnTo>
                  <a:pt x="1457959" y="50799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817524" y="506599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7" y="0"/>
                </a:moveTo>
                <a:lnTo>
                  <a:pt x="0" y="0"/>
                </a:lnTo>
                <a:lnTo>
                  <a:pt x="0" y="251808"/>
                </a:lnTo>
                <a:lnTo>
                  <a:pt x="1371947" y="251808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0189472" y="497490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2" y="251808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817524" y="497490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7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817524" y="497490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817524" y="497490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0189474" y="506599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8817524" y="5040883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8817524" y="417766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7" y="248601"/>
                </a:lnTo>
                <a:lnTo>
                  <a:pt x="1371947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0189472" y="40833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817524" y="40833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817524" y="40833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817524" y="40833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0189474" y="41744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817524" y="3937636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7" y="240030"/>
                </a:lnTo>
                <a:lnTo>
                  <a:pt x="1371947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0189472" y="383476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899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817524" y="383476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817524" y="383476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817524" y="383476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0189474" y="392585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817524" y="368903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3"/>
                </a:moveTo>
                <a:lnTo>
                  <a:pt x="1371947" y="248603"/>
                </a:lnTo>
                <a:lnTo>
                  <a:pt x="1371947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0189472" y="359473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817524" y="35947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817524" y="359473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817524" y="35947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0189474" y="368582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817524" y="344043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7" y="248601"/>
                </a:lnTo>
                <a:lnTo>
                  <a:pt x="1371947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0189472" y="334613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817524" y="33461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817524" y="334613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817524" y="33461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0189474" y="343722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817524" y="320040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7" y="240030"/>
                </a:lnTo>
                <a:lnTo>
                  <a:pt x="1371947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0189472" y="309753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817524" y="309753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817524" y="309753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817524" y="309753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0189474" y="318862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817524" y="295179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19">
                <a:moveTo>
                  <a:pt x="0" y="248603"/>
                </a:moveTo>
                <a:lnTo>
                  <a:pt x="1371947" y="248603"/>
                </a:lnTo>
                <a:lnTo>
                  <a:pt x="1371947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0189472" y="285750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817524" y="28575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817524" y="285750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8817524" y="28575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0189474" y="294859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817524" y="271176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30">
                <a:moveTo>
                  <a:pt x="0" y="240030"/>
                </a:moveTo>
                <a:lnTo>
                  <a:pt x="1371947" y="240030"/>
                </a:lnTo>
                <a:lnTo>
                  <a:pt x="1371947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0189472" y="260889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817524" y="26088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817524" y="260889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817524" y="26088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0189474" y="269998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817524" y="245995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4">
                <a:moveTo>
                  <a:pt x="1371947" y="0"/>
                </a:moveTo>
                <a:lnTo>
                  <a:pt x="0" y="0"/>
                </a:lnTo>
                <a:lnTo>
                  <a:pt x="0" y="251807"/>
                </a:lnTo>
                <a:lnTo>
                  <a:pt x="1371947" y="251807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0189472" y="23688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817524" y="23688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817524" y="23688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817524" y="23688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0189474" y="24599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 txBox="1"/>
          <p:nvPr/>
        </p:nvSpPr>
        <p:spPr>
          <a:xfrm>
            <a:off x="9135198" y="2434844"/>
            <a:ext cx="737235" cy="201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7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8" name="object 188"/>
          <p:cNvSpPr/>
          <p:nvPr/>
        </p:nvSpPr>
        <p:spPr>
          <a:xfrm>
            <a:off x="9487132" y="4524375"/>
            <a:ext cx="100965" cy="781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9487132" y="4661534"/>
            <a:ext cx="100965" cy="781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9487132" y="4798695"/>
            <a:ext cx="100965" cy="781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5891445" y="506599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7263393" y="497490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5891445" y="497490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5891445" y="497490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5891445" y="497490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263393" y="506599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 txBox="1"/>
          <p:nvPr/>
        </p:nvSpPr>
        <p:spPr>
          <a:xfrm>
            <a:off x="6044019" y="5040883"/>
            <a:ext cx="106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8" name="object 198"/>
          <p:cNvSpPr/>
          <p:nvPr/>
        </p:nvSpPr>
        <p:spPr>
          <a:xfrm>
            <a:off x="5891445" y="417766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263393" y="40833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5891445" y="40833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5891445" y="40833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5891445" y="40833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7263393" y="41744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5891445" y="3937636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7263393" y="383476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899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5891445" y="383476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5891445" y="383476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5891445" y="383476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7263393" y="392585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5891445" y="368903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7263393" y="359473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5891445" y="35947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5891445" y="359473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5891445" y="35947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7263393" y="368582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5891445" y="344043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7263393" y="334613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5891445" y="33461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5891445" y="334613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5891445" y="334613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7263393" y="343722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5891445" y="320040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7263393" y="309753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5891445" y="309753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5891445" y="309753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5891445" y="309753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7263393" y="318862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5891445" y="295179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19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7263393" y="285750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5891445" y="28575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5891445" y="285750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5891445" y="28575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7263393" y="294859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5891445" y="271176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30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7263393" y="260889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5891445" y="26088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5891445" y="260889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5891445" y="260889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7263393" y="269998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5891445" y="245995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4">
                <a:moveTo>
                  <a:pt x="1371949" y="0"/>
                </a:moveTo>
                <a:lnTo>
                  <a:pt x="0" y="0"/>
                </a:lnTo>
                <a:lnTo>
                  <a:pt x="0" y="251807"/>
                </a:lnTo>
                <a:lnTo>
                  <a:pt x="1371949" y="251807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7263393" y="23688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5891445" y="23688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5891445" y="23688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5891445" y="23688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7263393" y="24599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 txBox="1"/>
          <p:nvPr/>
        </p:nvSpPr>
        <p:spPr>
          <a:xfrm>
            <a:off x="6107519" y="2434844"/>
            <a:ext cx="939800" cy="201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7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7" name="object 247"/>
          <p:cNvSpPr/>
          <p:nvPr/>
        </p:nvSpPr>
        <p:spPr>
          <a:xfrm>
            <a:off x="6561052" y="4524375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6561052" y="4661534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6561052" y="4798695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7230662" y="2573481"/>
            <a:ext cx="1586865" cy="296545"/>
          </a:xfrm>
          <a:custGeom>
            <a:avLst/>
            <a:gdLst/>
            <a:ahLst/>
            <a:cxnLst/>
            <a:rect l="l" t="t" r="r" b="b"/>
            <a:pathLst>
              <a:path w="1586865" h="296544">
                <a:moveTo>
                  <a:pt x="1459392" y="246127"/>
                </a:moveTo>
                <a:lnTo>
                  <a:pt x="1451785" y="296354"/>
                </a:lnTo>
                <a:lnTo>
                  <a:pt x="1586862" y="252586"/>
                </a:lnTo>
                <a:lnTo>
                  <a:pt x="1580397" y="248029"/>
                </a:lnTo>
                <a:lnTo>
                  <a:pt x="1471951" y="248029"/>
                </a:lnTo>
                <a:lnTo>
                  <a:pt x="1459392" y="246127"/>
                </a:lnTo>
                <a:close/>
              </a:path>
              <a:path w="1586865" h="296544">
                <a:moveTo>
                  <a:pt x="1463195" y="221013"/>
                </a:moveTo>
                <a:lnTo>
                  <a:pt x="1459392" y="246127"/>
                </a:lnTo>
                <a:lnTo>
                  <a:pt x="1471951" y="248029"/>
                </a:lnTo>
                <a:lnTo>
                  <a:pt x="1475755" y="222915"/>
                </a:lnTo>
                <a:lnTo>
                  <a:pt x="1463195" y="221013"/>
                </a:lnTo>
                <a:close/>
              </a:path>
              <a:path w="1586865" h="296544">
                <a:moveTo>
                  <a:pt x="1470802" y="170787"/>
                </a:moveTo>
                <a:lnTo>
                  <a:pt x="1463195" y="221013"/>
                </a:lnTo>
                <a:lnTo>
                  <a:pt x="1475755" y="222915"/>
                </a:lnTo>
                <a:lnTo>
                  <a:pt x="1471951" y="248029"/>
                </a:lnTo>
                <a:lnTo>
                  <a:pt x="1580397" y="248029"/>
                </a:lnTo>
                <a:lnTo>
                  <a:pt x="1470802" y="170787"/>
                </a:lnTo>
                <a:close/>
              </a:path>
              <a:path w="1586865" h="296544">
                <a:moveTo>
                  <a:pt x="3803" y="0"/>
                </a:moveTo>
                <a:lnTo>
                  <a:pt x="0" y="25114"/>
                </a:lnTo>
                <a:lnTo>
                  <a:pt x="1459392" y="246127"/>
                </a:lnTo>
                <a:lnTo>
                  <a:pt x="1463195" y="221013"/>
                </a:lnTo>
                <a:lnTo>
                  <a:pt x="3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7225856" y="2815283"/>
            <a:ext cx="1591945" cy="996950"/>
          </a:xfrm>
          <a:custGeom>
            <a:avLst/>
            <a:gdLst/>
            <a:ahLst/>
            <a:cxnLst/>
            <a:rect l="l" t="t" r="r" b="b"/>
            <a:pathLst>
              <a:path w="1591945" h="996950">
                <a:moveTo>
                  <a:pt x="1477118" y="940329"/>
                </a:moveTo>
                <a:lnTo>
                  <a:pt x="1450287" y="983466"/>
                </a:lnTo>
                <a:lnTo>
                  <a:pt x="1591668" y="996622"/>
                </a:lnTo>
                <a:lnTo>
                  <a:pt x="1561218" y="947037"/>
                </a:lnTo>
                <a:lnTo>
                  <a:pt x="1487902" y="947037"/>
                </a:lnTo>
                <a:lnTo>
                  <a:pt x="1477118" y="940329"/>
                </a:lnTo>
                <a:close/>
              </a:path>
              <a:path w="1591945" h="996950">
                <a:moveTo>
                  <a:pt x="1490533" y="918760"/>
                </a:moveTo>
                <a:lnTo>
                  <a:pt x="1477118" y="940329"/>
                </a:lnTo>
                <a:lnTo>
                  <a:pt x="1487902" y="947037"/>
                </a:lnTo>
                <a:lnTo>
                  <a:pt x="1501319" y="925469"/>
                </a:lnTo>
                <a:lnTo>
                  <a:pt x="1490533" y="918760"/>
                </a:lnTo>
                <a:close/>
              </a:path>
              <a:path w="1591945" h="996950">
                <a:moveTo>
                  <a:pt x="1517364" y="875624"/>
                </a:moveTo>
                <a:lnTo>
                  <a:pt x="1490533" y="918760"/>
                </a:lnTo>
                <a:lnTo>
                  <a:pt x="1501319" y="925469"/>
                </a:lnTo>
                <a:lnTo>
                  <a:pt x="1487902" y="947037"/>
                </a:lnTo>
                <a:lnTo>
                  <a:pt x="1561218" y="947037"/>
                </a:lnTo>
                <a:lnTo>
                  <a:pt x="1517364" y="875624"/>
                </a:lnTo>
                <a:close/>
              </a:path>
              <a:path w="1591945" h="996950">
                <a:moveTo>
                  <a:pt x="13415" y="0"/>
                </a:moveTo>
                <a:lnTo>
                  <a:pt x="0" y="21568"/>
                </a:lnTo>
                <a:lnTo>
                  <a:pt x="1477118" y="940329"/>
                </a:lnTo>
                <a:lnTo>
                  <a:pt x="1490533" y="918760"/>
                </a:lnTo>
                <a:lnTo>
                  <a:pt x="134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7232564" y="3011171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59" h="127000">
                <a:moveTo>
                  <a:pt x="1457960" y="0"/>
                </a:moveTo>
                <a:lnTo>
                  <a:pt x="1457960" y="127000"/>
                </a:lnTo>
                <a:lnTo>
                  <a:pt x="1559560" y="76200"/>
                </a:lnTo>
                <a:lnTo>
                  <a:pt x="1470660" y="76200"/>
                </a:lnTo>
                <a:lnTo>
                  <a:pt x="1470660" y="50800"/>
                </a:lnTo>
                <a:lnTo>
                  <a:pt x="1559560" y="50800"/>
                </a:lnTo>
                <a:lnTo>
                  <a:pt x="1457960" y="0"/>
                </a:lnTo>
                <a:close/>
              </a:path>
              <a:path w="1584959" h="127000">
                <a:moveTo>
                  <a:pt x="1457960" y="50800"/>
                </a:moveTo>
                <a:lnTo>
                  <a:pt x="0" y="50800"/>
                </a:lnTo>
                <a:lnTo>
                  <a:pt x="0" y="76200"/>
                </a:lnTo>
                <a:lnTo>
                  <a:pt x="1457960" y="76200"/>
                </a:lnTo>
                <a:lnTo>
                  <a:pt x="1457960" y="50800"/>
                </a:lnTo>
                <a:close/>
              </a:path>
              <a:path w="1584959" h="127000">
                <a:moveTo>
                  <a:pt x="1559560" y="50800"/>
                </a:moveTo>
                <a:lnTo>
                  <a:pt x="1470660" y="50800"/>
                </a:lnTo>
                <a:lnTo>
                  <a:pt x="1470660" y="76200"/>
                </a:lnTo>
                <a:lnTo>
                  <a:pt x="1559560" y="76200"/>
                </a:lnTo>
                <a:lnTo>
                  <a:pt x="1584960" y="63500"/>
                </a:lnTo>
                <a:lnTo>
                  <a:pt x="155956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7227260" y="2581391"/>
            <a:ext cx="1590675" cy="744855"/>
          </a:xfrm>
          <a:custGeom>
            <a:avLst/>
            <a:gdLst/>
            <a:ahLst/>
            <a:cxnLst/>
            <a:rect l="l" t="t" r="r" b="b"/>
            <a:pathLst>
              <a:path w="1590675" h="744854">
                <a:moveTo>
                  <a:pt x="1469569" y="46156"/>
                </a:moveTo>
                <a:lnTo>
                  <a:pt x="0" y="721770"/>
                </a:lnTo>
                <a:lnTo>
                  <a:pt x="10609" y="744848"/>
                </a:lnTo>
                <a:lnTo>
                  <a:pt x="1480179" y="69234"/>
                </a:lnTo>
                <a:lnTo>
                  <a:pt x="1469569" y="46156"/>
                </a:lnTo>
                <a:close/>
              </a:path>
              <a:path w="1590675" h="744854">
                <a:moveTo>
                  <a:pt x="1561212" y="40850"/>
                </a:moveTo>
                <a:lnTo>
                  <a:pt x="1481109" y="40850"/>
                </a:lnTo>
                <a:lnTo>
                  <a:pt x="1491719" y="63929"/>
                </a:lnTo>
                <a:lnTo>
                  <a:pt x="1480179" y="69234"/>
                </a:lnTo>
                <a:lnTo>
                  <a:pt x="1501399" y="115389"/>
                </a:lnTo>
                <a:lnTo>
                  <a:pt x="1561212" y="40850"/>
                </a:lnTo>
                <a:close/>
              </a:path>
              <a:path w="1590675" h="744854">
                <a:moveTo>
                  <a:pt x="1481109" y="40850"/>
                </a:moveTo>
                <a:lnTo>
                  <a:pt x="1469569" y="46156"/>
                </a:lnTo>
                <a:lnTo>
                  <a:pt x="1480179" y="69234"/>
                </a:lnTo>
                <a:lnTo>
                  <a:pt x="1491719" y="63929"/>
                </a:lnTo>
                <a:lnTo>
                  <a:pt x="1481109" y="40850"/>
                </a:lnTo>
                <a:close/>
              </a:path>
              <a:path w="1590675" h="744854">
                <a:moveTo>
                  <a:pt x="1448349" y="0"/>
                </a:moveTo>
                <a:lnTo>
                  <a:pt x="1469569" y="46156"/>
                </a:lnTo>
                <a:lnTo>
                  <a:pt x="1481109" y="40850"/>
                </a:lnTo>
                <a:lnTo>
                  <a:pt x="1561212" y="40850"/>
                </a:lnTo>
                <a:lnTo>
                  <a:pt x="1590264" y="4645"/>
                </a:lnTo>
                <a:lnTo>
                  <a:pt x="14483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7230596" y="3271646"/>
            <a:ext cx="1587500" cy="304800"/>
          </a:xfrm>
          <a:custGeom>
            <a:avLst/>
            <a:gdLst/>
            <a:ahLst/>
            <a:cxnLst/>
            <a:rect l="l" t="t" r="r" b="b"/>
            <a:pathLst>
              <a:path w="1587500" h="304800">
                <a:moveTo>
                  <a:pt x="1459494" y="50187"/>
                </a:moveTo>
                <a:lnTo>
                  <a:pt x="0" y="279110"/>
                </a:lnTo>
                <a:lnTo>
                  <a:pt x="3935" y="304203"/>
                </a:lnTo>
                <a:lnTo>
                  <a:pt x="1463429" y="75279"/>
                </a:lnTo>
                <a:lnTo>
                  <a:pt x="1459494" y="50187"/>
                </a:lnTo>
                <a:close/>
              </a:path>
              <a:path w="1587500" h="304800">
                <a:moveTo>
                  <a:pt x="1579681" y="48219"/>
                </a:moveTo>
                <a:lnTo>
                  <a:pt x="1472039" y="48219"/>
                </a:lnTo>
                <a:lnTo>
                  <a:pt x="1475974" y="73312"/>
                </a:lnTo>
                <a:lnTo>
                  <a:pt x="1463429" y="75279"/>
                </a:lnTo>
                <a:lnTo>
                  <a:pt x="1471301" y="125465"/>
                </a:lnTo>
                <a:lnTo>
                  <a:pt x="1579681" y="48219"/>
                </a:lnTo>
                <a:close/>
              </a:path>
              <a:path w="1587500" h="304800">
                <a:moveTo>
                  <a:pt x="1472039" y="48219"/>
                </a:moveTo>
                <a:lnTo>
                  <a:pt x="1459494" y="50187"/>
                </a:lnTo>
                <a:lnTo>
                  <a:pt x="1463429" y="75279"/>
                </a:lnTo>
                <a:lnTo>
                  <a:pt x="1475974" y="73312"/>
                </a:lnTo>
                <a:lnTo>
                  <a:pt x="1472039" y="48219"/>
                </a:lnTo>
                <a:close/>
              </a:path>
              <a:path w="1587500" h="304800">
                <a:moveTo>
                  <a:pt x="1451622" y="0"/>
                </a:moveTo>
                <a:lnTo>
                  <a:pt x="1459494" y="50187"/>
                </a:lnTo>
                <a:lnTo>
                  <a:pt x="1472039" y="48219"/>
                </a:lnTo>
                <a:lnTo>
                  <a:pt x="1579681" y="48219"/>
                </a:lnTo>
                <a:lnTo>
                  <a:pt x="1586928" y="43054"/>
                </a:lnTo>
                <a:lnTo>
                  <a:pt x="14516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7228823" y="3799770"/>
            <a:ext cx="1588770" cy="524510"/>
          </a:xfrm>
          <a:custGeom>
            <a:avLst/>
            <a:gdLst/>
            <a:ahLst/>
            <a:cxnLst/>
            <a:rect l="l" t="t" r="r" b="b"/>
            <a:pathLst>
              <a:path w="1588770" h="524510">
                <a:moveTo>
                  <a:pt x="1463595" y="475489"/>
                </a:moveTo>
                <a:lnTo>
                  <a:pt x="1448629" y="524035"/>
                </a:lnTo>
                <a:lnTo>
                  <a:pt x="1588701" y="500768"/>
                </a:lnTo>
                <a:lnTo>
                  <a:pt x="1566163" y="479231"/>
                </a:lnTo>
                <a:lnTo>
                  <a:pt x="1475733" y="479231"/>
                </a:lnTo>
                <a:lnTo>
                  <a:pt x="1463595" y="475489"/>
                </a:lnTo>
                <a:close/>
              </a:path>
              <a:path w="1588770" h="524510">
                <a:moveTo>
                  <a:pt x="1471078" y="451216"/>
                </a:moveTo>
                <a:lnTo>
                  <a:pt x="1463595" y="475489"/>
                </a:lnTo>
                <a:lnTo>
                  <a:pt x="1475733" y="479231"/>
                </a:lnTo>
                <a:lnTo>
                  <a:pt x="1483216" y="454958"/>
                </a:lnTo>
                <a:lnTo>
                  <a:pt x="1471078" y="451216"/>
                </a:lnTo>
                <a:close/>
              </a:path>
              <a:path w="1588770" h="524510">
                <a:moveTo>
                  <a:pt x="1486044" y="402671"/>
                </a:moveTo>
                <a:lnTo>
                  <a:pt x="1471078" y="451216"/>
                </a:lnTo>
                <a:lnTo>
                  <a:pt x="1483216" y="454958"/>
                </a:lnTo>
                <a:lnTo>
                  <a:pt x="1475733" y="479231"/>
                </a:lnTo>
                <a:lnTo>
                  <a:pt x="1566163" y="479231"/>
                </a:lnTo>
                <a:lnTo>
                  <a:pt x="1486044" y="402671"/>
                </a:lnTo>
                <a:close/>
              </a:path>
              <a:path w="1588770" h="524510">
                <a:moveTo>
                  <a:pt x="7482" y="0"/>
                </a:moveTo>
                <a:lnTo>
                  <a:pt x="0" y="24272"/>
                </a:lnTo>
                <a:lnTo>
                  <a:pt x="1463595" y="475489"/>
                </a:lnTo>
                <a:lnTo>
                  <a:pt x="1471078" y="451216"/>
                </a:lnTo>
                <a:lnTo>
                  <a:pt x="74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7232564" y="3988437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59" h="127000">
                <a:moveTo>
                  <a:pt x="1457960" y="76199"/>
                </a:moveTo>
                <a:lnTo>
                  <a:pt x="1457960" y="126999"/>
                </a:lnTo>
                <a:lnTo>
                  <a:pt x="1559560" y="76199"/>
                </a:lnTo>
                <a:lnTo>
                  <a:pt x="1457960" y="76199"/>
                </a:lnTo>
                <a:close/>
              </a:path>
              <a:path w="1584959" h="127000">
                <a:moveTo>
                  <a:pt x="1457960" y="50799"/>
                </a:moveTo>
                <a:lnTo>
                  <a:pt x="1457960" y="76199"/>
                </a:lnTo>
                <a:lnTo>
                  <a:pt x="1470660" y="76199"/>
                </a:lnTo>
                <a:lnTo>
                  <a:pt x="1470660" y="50799"/>
                </a:lnTo>
                <a:lnTo>
                  <a:pt x="1457960" y="50799"/>
                </a:lnTo>
                <a:close/>
              </a:path>
              <a:path w="1584959" h="127000">
                <a:moveTo>
                  <a:pt x="1457960" y="0"/>
                </a:moveTo>
                <a:lnTo>
                  <a:pt x="1457960" y="50799"/>
                </a:lnTo>
                <a:lnTo>
                  <a:pt x="1470660" y="50799"/>
                </a:lnTo>
                <a:lnTo>
                  <a:pt x="1470660" y="76199"/>
                </a:lnTo>
                <a:lnTo>
                  <a:pt x="1559562" y="76198"/>
                </a:lnTo>
                <a:lnTo>
                  <a:pt x="1584960" y="63499"/>
                </a:lnTo>
                <a:lnTo>
                  <a:pt x="1457960" y="0"/>
                </a:lnTo>
                <a:close/>
              </a:path>
              <a:path w="1584959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7226337" y="4289468"/>
            <a:ext cx="1591310" cy="902969"/>
          </a:xfrm>
          <a:custGeom>
            <a:avLst/>
            <a:gdLst/>
            <a:ahLst/>
            <a:cxnLst/>
            <a:rect l="l" t="t" r="r" b="b"/>
            <a:pathLst>
              <a:path w="1591309" h="902970">
                <a:moveTo>
                  <a:pt x="1474269" y="851415"/>
                </a:moveTo>
                <a:lnTo>
                  <a:pt x="1449364" y="895691"/>
                </a:lnTo>
                <a:lnTo>
                  <a:pt x="1591186" y="902609"/>
                </a:lnTo>
                <a:lnTo>
                  <a:pt x="1560767" y="857641"/>
                </a:lnTo>
                <a:lnTo>
                  <a:pt x="1485338" y="857641"/>
                </a:lnTo>
                <a:lnTo>
                  <a:pt x="1474269" y="851415"/>
                </a:lnTo>
                <a:close/>
              </a:path>
              <a:path w="1591309" h="902970">
                <a:moveTo>
                  <a:pt x="1486722" y="829277"/>
                </a:moveTo>
                <a:lnTo>
                  <a:pt x="1474269" y="851415"/>
                </a:lnTo>
                <a:lnTo>
                  <a:pt x="1485338" y="857641"/>
                </a:lnTo>
                <a:lnTo>
                  <a:pt x="1497792" y="835503"/>
                </a:lnTo>
                <a:lnTo>
                  <a:pt x="1486722" y="829277"/>
                </a:lnTo>
                <a:close/>
              </a:path>
              <a:path w="1591309" h="902970">
                <a:moveTo>
                  <a:pt x="1511627" y="785001"/>
                </a:moveTo>
                <a:lnTo>
                  <a:pt x="1486722" y="829277"/>
                </a:lnTo>
                <a:lnTo>
                  <a:pt x="1497792" y="835503"/>
                </a:lnTo>
                <a:lnTo>
                  <a:pt x="1485338" y="857641"/>
                </a:lnTo>
                <a:lnTo>
                  <a:pt x="1560767" y="857641"/>
                </a:lnTo>
                <a:lnTo>
                  <a:pt x="1511627" y="785001"/>
                </a:lnTo>
                <a:close/>
              </a:path>
              <a:path w="1591309" h="902970">
                <a:moveTo>
                  <a:pt x="12452" y="0"/>
                </a:moveTo>
                <a:lnTo>
                  <a:pt x="0" y="22138"/>
                </a:lnTo>
                <a:lnTo>
                  <a:pt x="1474269" y="851415"/>
                </a:lnTo>
                <a:lnTo>
                  <a:pt x="1486722" y="829277"/>
                </a:lnTo>
                <a:lnTo>
                  <a:pt x="12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7223462" y="3563302"/>
            <a:ext cx="1594485" cy="1637664"/>
          </a:xfrm>
          <a:custGeom>
            <a:avLst/>
            <a:gdLst/>
            <a:ahLst/>
            <a:cxnLst/>
            <a:rect l="l" t="t" r="r" b="b"/>
            <a:pathLst>
              <a:path w="1594484" h="1637664">
                <a:moveTo>
                  <a:pt x="1496389" y="82161"/>
                </a:moveTo>
                <a:lnTo>
                  <a:pt x="0" y="1619918"/>
                </a:lnTo>
                <a:lnTo>
                  <a:pt x="18202" y="1637632"/>
                </a:lnTo>
                <a:lnTo>
                  <a:pt x="1514593" y="99875"/>
                </a:lnTo>
                <a:lnTo>
                  <a:pt x="1496389" y="82161"/>
                </a:lnTo>
                <a:close/>
              </a:path>
              <a:path w="1594484" h="1637664">
                <a:moveTo>
                  <a:pt x="1570810" y="73060"/>
                </a:moveTo>
                <a:lnTo>
                  <a:pt x="1505245" y="73060"/>
                </a:lnTo>
                <a:lnTo>
                  <a:pt x="1523450" y="90774"/>
                </a:lnTo>
                <a:lnTo>
                  <a:pt x="1514593" y="99875"/>
                </a:lnTo>
                <a:lnTo>
                  <a:pt x="1551001" y="135303"/>
                </a:lnTo>
                <a:lnTo>
                  <a:pt x="1570810" y="73060"/>
                </a:lnTo>
                <a:close/>
              </a:path>
              <a:path w="1594484" h="1637664">
                <a:moveTo>
                  <a:pt x="1505245" y="73060"/>
                </a:moveTo>
                <a:lnTo>
                  <a:pt x="1496389" y="82161"/>
                </a:lnTo>
                <a:lnTo>
                  <a:pt x="1514593" y="99875"/>
                </a:lnTo>
                <a:lnTo>
                  <a:pt x="1523450" y="90774"/>
                </a:lnTo>
                <a:lnTo>
                  <a:pt x="1505245" y="73060"/>
                </a:lnTo>
                <a:close/>
              </a:path>
              <a:path w="1594484" h="1637664">
                <a:moveTo>
                  <a:pt x="1594062" y="0"/>
                </a:moveTo>
                <a:lnTo>
                  <a:pt x="1459981" y="46733"/>
                </a:lnTo>
                <a:lnTo>
                  <a:pt x="1496389" y="82161"/>
                </a:lnTo>
                <a:lnTo>
                  <a:pt x="1505245" y="73060"/>
                </a:lnTo>
                <a:lnTo>
                  <a:pt x="1570810" y="73060"/>
                </a:lnTo>
                <a:lnTo>
                  <a:pt x="1594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object 2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34569" y="1418844"/>
            <a:ext cx="383636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eaLnBrk="0" fontAlgn="base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</a:pPr>
            <a:r>
              <a:rPr kumimoji="1" sz="2800" b="1" spc="-5" dirty="0">
                <a:latin typeface="Comic Sans MS" panose="030F0702030302020204" pitchFamily="66" charset="0"/>
                <a:ea typeface="微软雅黑" panose="020B0503020204020204" charset="-122"/>
                <a:cs typeface="+mj-cs"/>
              </a:rPr>
              <a:t>2-way Bank Conflicts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52048" y="1434084"/>
            <a:ext cx="392535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eaLnBrk="0" fontAlgn="base" hangingPunct="0">
              <a:spcBef>
                <a:spcPts val="100"/>
              </a:spcBef>
              <a:spcAft>
                <a:spcPct val="0"/>
              </a:spcAft>
            </a:pPr>
            <a:r>
              <a:rPr kumimoji="1" sz="2800" b="1" spc="-5" dirty="0">
                <a:latin typeface="Comic Sans MS" panose="030F0702030302020204" pitchFamily="66" charset="0"/>
                <a:ea typeface="微软雅黑" panose="020B0503020204020204" charset="-122"/>
                <a:cs typeface="+mj-cs"/>
              </a:rPr>
              <a:t>16-way Bank Conflicts</a:t>
            </a:r>
          </a:p>
        </p:txBody>
      </p:sp>
      <p:sp>
        <p:nvSpPr>
          <p:cNvPr id="5" name="object 5"/>
          <p:cNvSpPr/>
          <p:nvPr/>
        </p:nvSpPr>
        <p:spPr>
          <a:xfrm>
            <a:off x="574282" y="502348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1"/>
                </a:moveTo>
                <a:lnTo>
                  <a:pt x="1371948" y="248601"/>
                </a:lnTo>
                <a:lnTo>
                  <a:pt x="1371948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46230" y="492918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2" y="251808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4282" y="492918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1"/>
                </a:lnTo>
                <a:lnTo>
                  <a:pt x="1371948" y="91091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282" y="492918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82" y="492918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46231" y="502027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4282" y="477488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3"/>
                </a:moveTo>
                <a:lnTo>
                  <a:pt x="1371948" y="248603"/>
                </a:lnTo>
                <a:lnTo>
                  <a:pt x="1371948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46230" y="468058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0"/>
                </a:lnTo>
                <a:lnTo>
                  <a:pt x="0" y="342899"/>
                </a:lnTo>
                <a:lnTo>
                  <a:pt x="91092" y="251808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82" y="468058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8" y="91090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4282" y="468058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4282" y="468058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46231" y="477167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82" y="4534852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30"/>
                </a:moveTo>
                <a:lnTo>
                  <a:pt x="1371948" y="240030"/>
                </a:lnTo>
                <a:lnTo>
                  <a:pt x="1371948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46230" y="443198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4282" y="443198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4282" y="443198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4282" y="443198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46231" y="452307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4282" y="4283044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5">
                <a:moveTo>
                  <a:pt x="1371948" y="0"/>
                </a:moveTo>
                <a:lnTo>
                  <a:pt x="0" y="0"/>
                </a:lnTo>
                <a:lnTo>
                  <a:pt x="0" y="251807"/>
                </a:lnTo>
                <a:lnTo>
                  <a:pt x="1371948" y="251807"/>
                </a:lnTo>
                <a:lnTo>
                  <a:pt x="1371948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46230" y="419195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4282" y="419195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4282" y="419195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4282" y="419195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46231" y="428304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6856" y="4260595"/>
            <a:ext cx="1066800" cy="103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28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29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5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4282" y="339471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1"/>
                </a:moveTo>
                <a:lnTo>
                  <a:pt x="1371948" y="248601"/>
                </a:lnTo>
                <a:lnTo>
                  <a:pt x="1371948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46230" y="330041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4282" y="330041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4282" y="330041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74282" y="330041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46231" y="339150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74282" y="315468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29"/>
                </a:moveTo>
                <a:lnTo>
                  <a:pt x="1371948" y="240029"/>
                </a:lnTo>
                <a:lnTo>
                  <a:pt x="1371948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46230" y="305181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74282" y="305181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8" y="91090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74282" y="305181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4282" y="305181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46231" y="314290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74282" y="290607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19">
                <a:moveTo>
                  <a:pt x="0" y="248603"/>
                </a:moveTo>
                <a:lnTo>
                  <a:pt x="1371948" y="248603"/>
                </a:lnTo>
                <a:lnTo>
                  <a:pt x="1371948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46230" y="281178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74282" y="281178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0"/>
                </a:lnTo>
                <a:lnTo>
                  <a:pt x="1371948" y="91090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4282" y="281178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74282" y="281178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46231" y="290287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74282" y="266604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30">
                <a:moveTo>
                  <a:pt x="0" y="240029"/>
                </a:moveTo>
                <a:lnTo>
                  <a:pt x="1371948" y="240029"/>
                </a:lnTo>
                <a:lnTo>
                  <a:pt x="1371948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46230" y="256317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74282" y="25631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74282" y="256317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4282" y="25631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46231" y="265426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74282" y="241423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4">
                <a:moveTo>
                  <a:pt x="1371948" y="0"/>
                </a:moveTo>
                <a:lnTo>
                  <a:pt x="0" y="0"/>
                </a:lnTo>
                <a:lnTo>
                  <a:pt x="0" y="251807"/>
                </a:lnTo>
                <a:lnTo>
                  <a:pt x="1371948" y="251807"/>
                </a:lnTo>
                <a:lnTo>
                  <a:pt x="1371948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46230" y="232314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74282" y="23231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40" y="0"/>
                </a:moveTo>
                <a:lnTo>
                  <a:pt x="91091" y="0"/>
                </a:lnTo>
                <a:lnTo>
                  <a:pt x="0" y="91092"/>
                </a:lnTo>
                <a:lnTo>
                  <a:pt x="1371948" y="91092"/>
                </a:lnTo>
                <a:lnTo>
                  <a:pt x="1463040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74282" y="232314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74282" y="23231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46231" y="241423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90356" y="2389123"/>
            <a:ext cx="939800" cy="1278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209599" y="3758565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09599" y="3895725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209599" y="4032884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15401" y="2476818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60" h="127000">
                <a:moveTo>
                  <a:pt x="1457960" y="76199"/>
                </a:moveTo>
                <a:lnTo>
                  <a:pt x="1457960" y="127000"/>
                </a:lnTo>
                <a:lnTo>
                  <a:pt x="1559560" y="76200"/>
                </a:lnTo>
                <a:lnTo>
                  <a:pt x="1457960" y="76199"/>
                </a:lnTo>
                <a:close/>
              </a:path>
              <a:path w="1584960" h="127000">
                <a:moveTo>
                  <a:pt x="1457960" y="50799"/>
                </a:moveTo>
                <a:lnTo>
                  <a:pt x="1457960" y="76199"/>
                </a:lnTo>
                <a:lnTo>
                  <a:pt x="1470661" y="76200"/>
                </a:lnTo>
                <a:lnTo>
                  <a:pt x="1470661" y="50800"/>
                </a:lnTo>
                <a:lnTo>
                  <a:pt x="1457960" y="50799"/>
                </a:lnTo>
                <a:close/>
              </a:path>
              <a:path w="1584960" h="127000">
                <a:moveTo>
                  <a:pt x="1457960" y="0"/>
                </a:moveTo>
                <a:lnTo>
                  <a:pt x="1457960" y="50799"/>
                </a:lnTo>
                <a:lnTo>
                  <a:pt x="1470661" y="50800"/>
                </a:lnTo>
                <a:lnTo>
                  <a:pt x="1470661" y="76200"/>
                </a:lnTo>
                <a:lnTo>
                  <a:pt x="1559562" y="76198"/>
                </a:lnTo>
                <a:lnTo>
                  <a:pt x="1584960" y="63500"/>
                </a:lnTo>
                <a:lnTo>
                  <a:pt x="1457960" y="0"/>
                </a:lnTo>
                <a:close/>
              </a:path>
              <a:path w="1584960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13433" y="2767801"/>
            <a:ext cx="1587500" cy="304800"/>
          </a:xfrm>
          <a:custGeom>
            <a:avLst/>
            <a:gdLst/>
            <a:ahLst/>
            <a:cxnLst/>
            <a:rect l="l" t="t" r="r" b="b"/>
            <a:pathLst>
              <a:path w="1587500" h="304800">
                <a:moveTo>
                  <a:pt x="1459494" y="254017"/>
                </a:moveTo>
                <a:lnTo>
                  <a:pt x="1451622" y="304203"/>
                </a:lnTo>
                <a:lnTo>
                  <a:pt x="1586927" y="261150"/>
                </a:lnTo>
                <a:lnTo>
                  <a:pt x="1579680" y="255985"/>
                </a:lnTo>
                <a:lnTo>
                  <a:pt x="1472039" y="255985"/>
                </a:lnTo>
                <a:lnTo>
                  <a:pt x="1459494" y="254017"/>
                </a:lnTo>
                <a:close/>
              </a:path>
              <a:path w="1587500" h="304800">
                <a:moveTo>
                  <a:pt x="1463429" y="228923"/>
                </a:moveTo>
                <a:lnTo>
                  <a:pt x="1459494" y="254017"/>
                </a:lnTo>
                <a:lnTo>
                  <a:pt x="1472039" y="255985"/>
                </a:lnTo>
                <a:lnTo>
                  <a:pt x="1475974" y="230891"/>
                </a:lnTo>
                <a:lnTo>
                  <a:pt x="1463429" y="228923"/>
                </a:lnTo>
                <a:close/>
              </a:path>
              <a:path w="1587500" h="304800">
                <a:moveTo>
                  <a:pt x="1471301" y="178737"/>
                </a:moveTo>
                <a:lnTo>
                  <a:pt x="1463429" y="228923"/>
                </a:lnTo>
                <a:lnTo>
                  <a:pt x="1475974" y="230891"/>
                </a:lnTo>
                <a:lnTo>
                  <a:pt x="1472039" y="255985"/>
                </a:lnTo>
                <a:lnTo>
                  <a:pt x="1579680" y="255985"/>
                </a:lnTo>
                <a:lnTo>
                  <a:pt x="1471301" y="178737"/>
                </a:lnTo>
                <a:close/>
              </a:path>
              <a:path w="1587500" h="304800">
                <a:moveTo>
                  <a:pt x="3935" y="0"/>
                </a:moveTo>
                <a:lnTo>
                  <a:pt x="0" y="25093"/>
                </a:lnTo>
                <a:lnTo>
                  <a:pt x="1459494" y="254017"/>
                </a:lnTo>
                <a:lnTo>
                  <a:pt x="1463429" y="228923"/>
                </a:lnTo>
                <a:lnTo>
                  <a:pt x="39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11659" y="3016815"/>
            <a:ext cx="1588770" cy="524510"/>
          </a:xfrm>
          <a:custGeom>
            <a:avLst/>
            <a:gdLst/>
            <a:ahLst/>
            <a:cxnLst/>
            <a:rect l="l" t="t" r="r" b="b"/>
            <a:pathLst>
              <a:path w="1588770" h="524510">
                <a:moveTo>
                  <a:pt x="1463596" y="475489"/>
                </a:moveTo>
                <a:lnTo>
                  <a:pt x="1448630" y="524035"/>
                </a:lnTo>
                <a:lnTo>
                  <a:pt x="1588701" y="500768"/>
                </a:lnTo>
                <a:lnTo>
                  <a:pt x="1566164" y="479231"/>
                </a:lnTo>
                <a:lnTo>
                  <a:pt x="1475734" y="479231"/>
                </a:lnTo>
                <a:lnTo>
                  <a:pt x="1463596" y="475489"/>
                </a:lnTo>
                <a:close/>
              </a:path>
              <a:path w="1588770" h="524510">
                <a:moveTo>
                  <a:pt x="1471079" y="451216"/>
                </a:moveTo>
                <a:lnTo>
                  <a:pt x="1463596" y="475489"/>
                </a:lnTo>
                <a:lnTo>
                  <a:pt x="1475734" y="479231"/>
                </a:lnTo>
                <a:lnTo>
                  <a:pt x="1483217" y="454958"/>
                </a:lnTo>
                <a:lnTo>
                  <a:pt x="1471079" y="451216"/>
                </a:lnTo>
                <a:close/>
              </a:path>
              <a:path w="1588770" h="524510">
                <a:moveTo>
                  <a:pt x="1486046" y="402671"/>
                </a:moveTo>
                <a:lnTo>
                  <a:pt x="1471079" y="451216"/>
                </a:lnTo>
                <a:lnTo>
                  <a:pt x="1483217" y="454958"/>
                </a:lnTo>
                <a:lnTo>
                  <a:pt x="1475734" y="479231"/>
                </a:lnTo>
                <a:lnTo>
                  <a:pt x="1566164" y="479231"/>
                </a:lnTo>
                <a:lnTo>
                  <a:pt x="1486046" y="402671"/>
                </a:lnTo>
                <a:close/>
              </a:path>
              <a:path w="1588770" h="524510">
                <a:moveTo>
                  <a:pt x="7484" y="0"/>
                </a:moveTo>
                <a:lnTo>
                  <a:pt x="0" y="24272"/>
                </a:lnTo>
                <a:lnTo>
                  <a:pt x="1463596" y="475489"/>
                </a:lnTo>
                <a:lnTo>
                  <a:pt x="1471079" y="451216"/>
                </a:lnTo>
                <a:lnTo>
                  <a:pt x="74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10045" y="3257466"/>
            <a:ext cx="1590675" cy="753110"/>
          </a:xfrm>
          <a:custGeom>
            <a:avLst/>
            <a:gdLst/>
            <a:ahLst/>
            <a:cxnLst/>
            <a:rect l="l" t="t" r="r" b="b"/>
            <a:pathLst>
              <a:path w="1590675" h="753110">
                <a:moveTo>
                  <a:pt x="1469807" y="706702"/>
                </a:moveTo>
                <a:lnTo>
                  <a:pt x="1448382" y="752763"/>
                </a:lnTo>
                <a:lnTo>
                  <a:pt x="1590315" y="748750"/>
                </a:lnTo>
                <a:lnTo>
                  <a:pt x="1561141" y="712059"/>
                </a:lnTo>
                <a:lnTo>
                  <a:pt x="1481324" y="712059"/>
                </a:lnTo>
                <a:lnTo>
                  <a:pt x="1469807" y="706702"/>
                </a:lnTo>
                <a:close/>
              </a:path>
              <a:path w="1590675" h="753110">
                <a:moveTo>
                  <a:pt x="1480520" y="683671"/>
                </a:moveTo>
                <a:lnTo>
                  <a:pt x="1469807" y="706702"/>
                </a:lnTo>
                <a:lnTo>
                  <a:pt x="1481324" y="712059"/>
                </a:lnTo>
                <a:lnTo>
                  <a:pt x="1492036" y="689028"/>
                </a:lnTo>
                <a:lnTo>
                  <a:pt x="1480520" y="683671"/>
                </a:lnTo>
                <a:close/>
              </a:path>
              <a:path w="1590675" h="753110">
                <a:moveTo>
                  <a:pt x="1501945" y="637611"/>
                </a:moveTo>
                <a:lnTo>
                  <a:pt x="1480520" y="683671"/>
                </a:lnTo>
                <a:lnTo>
                  <a:pt x="1492036" y="689028"/>
                </a:lnTo>
                <a:lnTo>
                  <a:pt x="1481324" y="712059"/>
                </a:lnTo>
                <a:lnTo>
                  <a:pt x="1561141" y="712059"/>
                </a:lnTo>
                <a:lnTo>
                  <a:pt x="1501945" y="637611"/>
                </a:lnTo>
                <a:close/>
              </a:path>
              <a:path w="1590675" h="753110">
                <a:moveTo>
                  <a:pt x="10712" y="0"/>
                </a:moveTo>
                <a:lnTo>
                  <a:pt x="0" y="23030"/>
                </a:lnTo>
                <a:lnTo>
                  <a:pt x="1469807" y="706702"/>
                </a:lnTo>
                <a:lnTo>
                  <a:pt x="1480520" y="683671"/>
                </a:lnTo>
                <a:lnTo>
                  <a:pt x="10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05716" y="2540317"/>
            <a:ext cx="1595120" cy="1877060"/>
          </a:xfrm>
          <a:custGeom>
            <a:avLst/>
            <a:gdLst/>
            <a:ahLst/>
            <a:cxnLst/>
            <a:rect l="l" t="t" r="r" b="b"/>
            <a:pathLst>
              <a:path w="1595120" h="1877060">
                <a:moveTo>
                  <a:pt x="1502815" y="88642"/>
                </a:moveTo>
                <a:lnTo>
                  <a:pt x="0" y="1860590"/>
                </a:lnTo>
                <a:lnTo>
                  <a:pt x="19371" y="1877019"/>
                </a:lnTo>
                <a:lnTo>
                  <a:pt x="1522186" y="105071"/>
                </a:lnTo>
                <a:lnTo>
                  <a:pt x="1502815" y="88642"/>
                </a:lnTo>
                <a:close/>
              </a:path>
              <a:path w="1595120" h="1877060">
                <a:moveTo>
                  <a:pt x="1575343" y="78959"/>
                </a:moveTo>
                <a:lnTo>
                  <a:pt x="1511026" y="78959"/>
                </a:lnTo>
                <a:lnTo>
                  <a:pt x="1530398" y="95388"/>
                </a:lnTo>
                <a:lnTo>
                  <a:pt x="1522186" y="105071"/>
                </a:lnTo>
                <a:lnTo>
                  <a:pt x="1560929" y="137929"/>
                </a:lnTo>
                <a:lnTo>
                  <a:pt x="1575343" y="78959"/>
                </a:lnTo>
                <a:close/>
              </a:path>
              <a:path w="1595120" h="1877060">
                <a:moveTo>
                  <a:pt x="1511026" y="78959"/>
                </a:moveTo>
                <a:lnTo>
                  <a:pt x="1502815" y="88642"/>
                </a:lnTo>
                <a:lnTo>
                  <a:pt x="1522186" y="105071"/>
                </a:lnTo>
                <a:lnTo>
                  <a:pt x="1530398" y="95388"/>
                </a:lnTo>
                <a:lnTo>
                  <a:pt x="1511026" y="78959"/>
                </a:lnTo>
                <a:close/>
              </a:path>
              <a:path w="1595120" h="1877060">
                <a:moveTo>
                  <a:pt x="1594645" y="0"/>
                </a:moveTo>
                <a:lnTo>
                  <a:pt x="1464072" y="55783"/>
                </a:lnTo>
                <a:lnTo>
                  <a:pt x="1502815" y="88642"/>
                </a:lnTo>
                <a:lnTo>
                  <a:pt x="1511026" y="78959"/>
                </a:lnTo>
                <a:lnTo>
                  <a:pt x="1575343" y="78959"/>
                </a:lnTo>
                <a:lnTo>
                  <a:pt x="1594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06323" y="3028951"/>
            <a:ext cx="1594485" cy="1629410"/>
          </a:xfrm>
          <a:custGeom>
            <a:avLst/>
            <a:gdLst/>
            <a:ahLst/>
            <a:cxnLst/>
            <a:rect l="l" t="t" r="r" b="b"/>
            <a:pathLst>
              <a:path w="1594485" h="1629410">
                <a:moveTo>
                  <a:pt x="1496150" y="81903"/>
                </a:moveTo>
                <a:lnTo>
                  <a:pt x="0" y="1611321"/>
                </a:lnTo>
                <a:lnTo>
                  <a:pt x="18157" y="1629083"/>
                </a:lnTo>
                <a:lnTo>
                  <a:pt x="1514306" y="99664"/>
                </a:lnTo>
                <a:lnTo>
                  <a:pt x="1496150" y="81903"/>
                </a:lnTo>
                <a:close/>
              </a:path>
              <a:path w="1594485" h="1629410">
                <a:moveTo>
                  <a:pt x="1570649" y="72824"/>
                </a:moveTo>
                <a:lnTo>
                  <a:pt x="1505032" y="72824"/>
                </a:lnTo>
                <a:lnTo>
                  <a:pt x="1523188" y="90585"/>
                </a:lnTo>
                <a:lnTo>
                  <a:pt x="1514306" y="99664"/>
                </a:lnTo>
                <a:lnTo>
                  <a:pt x="1550620" y="135188"/>
                </a:lnTo>
                <a:lnTo>
                  <a:pt x="1570649" y="72824"/>
                </a:lnTo>
                <a:close/>
              </a:path>
              <a:path w="1594485" h="1629410">
                <a:moveTo>
                  <a:pt x="1505032" y="72824"/>
                </a:moveTo>
                <a:lnTo>
                  <a:pt x="1496150" y="81903"/>
                </a:lnTo>
                <a:lnTo>
                  <a:pt x="1514306" y="99664"/>
                </a:lnTo>
                <a:lnTo>
                  <a:pt x="1523188" y="90585"/>
                </a:lnTo>
                <a:lnTo>
                  <a:pt x="1505032" y="72824"/>
                </a:lnTo>
                <a:close/>
              </a:path>
              <a:path w="1594485" h="1629410">
                <a:moveTo>
                  <a:pt x="1594037" y="0"/>
                </a:moveTo>
                <a:lnTo>
                  <a:pt x="1459837" y="46379"/>
                </a:lnTo>
                <a:lnTo>
                  <a:pt x="1496150" y="81903"/>
                </a:lnTo>
                <a:lnTo>
                  <a:pt x="1505032" y="72824"/>
                </a:lnTo>
                <a:lnTo>
                  <a:pt x="1570649" y="72824"/>
                </a:lnTo>
                <a:lnTo>
                  <a:pt x="15940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07061" y="3517582"/>
            <a:ext cx="1593850" cy="1390015"/>
          </a:xfrm>
          <a:custGeom>
            <a:avLst/>
            <a:gdLst/>
            <a:ahLst/>
            <a:cxnLst/>
            <a:rect l="l" t="t" r="r" b="b"/>
            <a:pathLst>
              <a:path w="1593850" h="1390014">
                <a:moveTo>
                  <a:pt x="1489183" y="73825"/>
                </a:moveTo>
                <a:lnTo>
                  <a:pt x="0" y="1370595"/>
                </a:lnTo>
                <a:lnTo>
                  <a:pt x="16681" y="1389751"/>
                </a:lnTo>
                <a:lnTo>
                  <a:pt x="1505864" y="92980"/>
                </a:lnTo>
                <a:lnTo>
                  <a:pt x="1489183" y="73825"/>
                </a:lnTo>
                <a:close/>
              </a:path>
              <a:path w="1593850" h="1390014">
                <a:moveTo>
                  <a:pt x="1566327" y="65486"/>
                </a:moveTo>
                <a:lnTo>
                  <a:pt x="1498760" y="65486"/>
                </a:lnTo>
                <a:lnTo>
                  <a:pt x="1515440" y="84641"/>
                </a:lnTo>
                <a:lnTo>
                  <a:pt x="1505864" y="92980"/>
                </a:lnTo>
                <a:lnTo>
                  <a:pt x="1539224" y="131290"/>
                </a:lnTo>
                <a:lnTo>
                  <a:pt x="1566327" y="65486"/>
                </a:lnTo>
                <a:close/>
              </a:path>
              <a:path w="1593850" h="1390014">
                <a:moveTo>
                  <a:pt x="1498760" y="65486"/>
                </a:moveTo>
                <a:lnTo>
                  <a:pt x="1489183" y="73825"/>
                </a:lnTo>
                <a:lnTo>
                  <a:pt x="1505864" y="92980"/>
                </a:lnTo>
                <a:lnTo>
                  <a:pt x="1515440" y="84641"/>
                </a:lnTo>
                <a:lnTo>
                  <a:pt x="1498760" y="65486"/>
                </a:lnTo>
                <a:close/>
              </a:path>
              <a:path w="1593850" h="1390014">
                <a:moveTo>
                  <a:pt x="1593300" y="0"/>
                </a:moveTo>
                <a:lnTo>
                  <a:pt x="1455822" y="35514"/>
                </a:lnTo>
                <a:lnTo>
                  <a:pt x="1489183" y="73825"/>
                </a:lnTo>
                <a:lnTo>
                  <a:pt x="1498760" y="65486"/>
                </a:lnTo>
                <a:lnTo>
                  <a:pt x="1566327" y="65486"/>
                </a:lnTo>
                <a:lnTo>
                  <a:pt x="1593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907985" y="4006216"/>
            <a:ext cx="1592580" cy="1150620"/>
          </a:xfrm>
          <a:custGeom>
            <a:avLst/>
            <a:gdLst/>
            <a:ahLst/>
            <a:cxnLst/>
            <a:rect l="l" t="t" r="r" b="b"/>
            <a:pathLst>
              <a:path w="1592579" h="1150620">
                <a:moveTo>
                  <a:pt x="1481863" y="63852"/>
                </a:moveTo>
                <a:lnTo>
                  <a:pt x="0" y="1129832"/>
                </a:lnTo>
                <a:lnTo>
                  <a:pt x="14832" y="1150452"/>
                </a:lnTo>
                <a:lnTo>
                  <a:pt x="1496695" y="84472"/>
                </a:lnTo>
                <a:lnTo>
                  <a:pt x="1481863" y="63852"/>
                </a:lnTo>
                <a:close/>
              </a:path>
              <a:path w="1592579" h="1150620">
                <a:moveTo>
                  <a:pt x="1562738" y="56437"/>
                </a:moveTo>
                <a:lnTo>
                  <a:pt x="1492171" y="56437"/>
                </a:lnTo>
                <a:lnTo>
                  <a:pt x="1507003" y="77057"/>
                </a:lnTo>
                <a:lnTo>
                  <a:pt x="1496695" y="84472"/>
                </a:lnTo>
                <a:lnTo>
                  <a:pt x="1526360" y="125710"/>
                </a:lnTo>
                <a:lnTo>
                  <a:pt x="1562738" y="56437"/>
                </a:lnTo>
                <a:close/>
              </a:path>
              <a:path w="1592579" h="1150620">
                <a:moveTo>
                  <a:pt x="1492171" y="56437"/>
                </a:moveTo>
                <a:lnTo>
                  <a:pt x="1481863" y="63852"/>
                </a:lnTo>
                <a:lnTo>
                  <a:pt x="1496695" y="84472"/>
                </a:lnTo>
                <a:lnTo>
                  <a:pt x="1507003" y="77057"/>
                </a:lnTo>
                <a:lnTo>
                  <a:pt x="1492171" y="56437"/>
                </a:lnTo>
                <a:close/>
              </a:path>
              <a:path w="1592579" h="1150620">
                <a:moveTo>
                  <a:pt x="1592375" y="0"/>
                </a:moveTo>
                <a:lnTo>
                  <a:pt x="1452198" y="22613"/>
                </a:lnTo>
                <a:lnTo>
                  <a:pt x="1481863" y="63852"/>
                </a:lnTo>
                <a:lnTo>
                  <a:pt x="1492171" y="56437"/>
                </a:lnTo>
                <a:lnTo>
                  <a:pt x="1562738" y="56437"/>
                </a:lnTo>
                <a:lnTo>
                  <a:pt x="1592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908694" y="3506798"/>
            <a:ext cx="1591945" cy="996950"/>
          </a:xfrm>
          <a:custGeom>
            <a:avLst/>
            <a:gdLst/>
            <a:ahLst/>
            <a:cxnLst/>
            <a:rect l="l" t="t" r="r" b="b"/>
            <a:pathLst>
              <a:path w="1591945" h="996950">
                <a:moveTo>
                  <a:pt x="13415" y="0"/>
                </a:moveTo>
                <a:lnTo>
                  <a:pt x="0" y="21568"/>
                </a:lnTo>
                <a:lnTo>
                  <a:pt x="86272" y="75229"/>
                </a:lnTo>
                <a:lnTo>
                  <a:pt x="99688" y="53661"/>
                </a:lnTo>
                <a:lnTo>
                  <a:pt x="13415" y="0"/>
                </a:lnTo>
                <a:close/>
              </a:path>
              <a:path w="1591945" h="996950">
                <a:moveTo>
                  <a:pt x="164392" y="93907"/>
                </a:moveTo>
                <a:lnTo>
                  <a:pt x="150977" y="115474"/>
                </a:lnTo>
                <a:lnTo>
                  <a:pt x="237249" y="169137"/>
                </a:lnTo>
                <a:lnTo>
                  <a:pt x="250666" y="147568"/>
                </a:lnTo>
                <a:lnTo>
                  <a:pt x="164392" y="93907"/>
                </a:lnTo>
                <a:close/>
              </a:path>
              <a:path w="1591945" h="996950">
                <a:moveTo>
                  <a:pt x="315370" y="187813"/>
                </a:moveTo>
                <a:lnTo>
                  <a:pt x="301955" y="209382"/>
                </a:lnTo>
                <a:lnTo>
                  <a:pt x="388227" y="263043"/>
                </a:lnTo>
                <a:lnTo>
                  <a:pt x="401643" y="241476"/>
                </a:lnTo>
                <a:lnTo>
                  <a:pt x="315370" y="187813"/>
                </a:lnTo>
                <a:close/>
              </a:path>
              <a:path w="1591945" h="996950">
                <a:moveTo>
                  <a:pt x="466347" y="281721"/>
                </a:moveTo>
                <a:lnTo>
                  <a:pt x="452932" y="303289"/>
                </a:lnTo>
                <a:lnTo>
                  <a:pt x="539205" y="356951"/>
                </a:lnTo>
                <a:lnTo>
                  <a:pt x="552621" y="335382"/>
                </a:lnTo>
                <a:lnTo>
                  <a:pt x="466347" y="281721"/>
                </a:lnTo>
                <a:close/>
              </a:path>
              <a:path w="1591945" h="996950">
                <a:moveTo>
                  <a:pt x="617325" y="375629"/>
                </a:moveTo>
                <a:lnTo>
                  <a:pt x="603910" y="397197"/>
                </a:lnTo>
                <a:lnTo>
                  <a:pt x="690182" y="450858"/>
                </a:lnTo>
                <a:lnTo>
                  <a:pt x="703599" y="429290"/>
                </a:lnTo>
                <a:lnTo>
                  <a:pt x="617325" y="375629"/>
                </a:lnTo>
                <a:close/>
              </a:path>
              <a:path w="1591945" h="996950">
                <a:moveTo>
                  <a:pt x="768303" y="469536"/>
                </a:moveTo>
                <a:lnTo>
                  <a:pt x="754888" y="491105"/>
                </a:lnTo>
                <a:lnTo>
                  <a:pt x="841160" y="544766"/>
                </a:lnTo>
                <a:lnTo>
                  <a:pt x="854576" y="523198"/>
                </a:lnTo>
                <a:lnTo>
                  <a:pt x="768303" y="469536"/>
                </a:lnTo>
                <a:close/>
              </a:path>
              <a:path w="1591945" h="996950">
                <a:moveTo>
                  <a:pt x="919280" y="563444"/>
                </a:moveTo>
                <a:lnTo>
                  <a:pt x="905865" y="585012"/>
                </a:lnTo>
                <a:lnTo>
                  <a:pt x="992137" y="638674"/>
                </a:lnTo>
                <a:lnTo>
                  <a:pt x="1005554" y="617105"/>
                </a:lnTo>
                <a:lnTo>
                  <a:pt x="919280" y="563444"/>
                </a:lnTo>
                <a:close/>
              </a:path>
              <a:path w="1591945" h="996950">
                <a:moveTo>
                  <a:pt x="1070258" y="657351"/>
                </a:moveTo>
                <a:lnTo>
                  <a:pt x="1056843" y="678919"/>
                </a:lnTo>
                <a:lnTo>
                  <a:pt x="1143115" y="732581"/>
                </a:lnTo>
                <a:lnTo>
                  <a:pt x="1156531" y="711013"/>
                </a:lnTo>
                <a:lnTo>
                  <a:pt x="1070258" y="657351"/>
                </a:lnTo>
                <a:close/>
              </a:path>
              <a:path w="1591945" h="996950">
                <a:moveTo>
                  <a:pt x="1221235" y="751258"/>
                </a:moveTo>
                <a:lnTo>
                  <a:pt x="1207820" y="772826"/>
                </a:lnTo>
                <a:lnTo>
                  <a:pt x="1294093" y="826488"/>
                </a:lnTo>
                <a:lnTo>
                  <a:pt x="1307509" y="804919"/>
                </a:lnTo>
                <a:lnTo>
                  <a:pt x="1221235" y="751258"/>
                </a:lnTo>
                <a:close/>
              </a:path>
              <a:path w="1591945" h="996950">
                <a:moveTo>
                  <a:pt x="1517364" y="875624"/>
                </a:moveTo>
                <a:lnTo>
                  <a:pt x="1450287" y="983465"/>
                </a:lnTo>
                <a:lnTo>
                  <a:pt x="1591666" y="996622"/>
                </a:lnTo>
                <a:lnTo>
                  <a:pt x="1517364" y="875624"/>
                </a:lnTo>
                <a:close/>
              </a:path>
              <a:path w="1591945" h="996950">
                <a:moveTo>
                  <a:pt x="1372213" y="845165"/>
                </a:moveTo>
                <a:lnTo>
                  <a:pt x="1358798" y="866734"/>
                </a:lnTo>
                <a:lnTo>
                  <a:pt x="1445070" y="920395"/>
                </a:lnTo>
                <a:lnTo>
                  <a:pt x="1458487" y="898827"/>
                </a:lnTo>
                <a:lnTo>
                  <a:pt x="1372213" y="8451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00361" y="502027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72310" y="492918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500361" y="492918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500361" y="492918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500361" y="492918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72310" y="502027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3500361" y="4995164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500361" y="413194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872310" y="403764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500361" y="40376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500361" y="403764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500361" y="40376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872310" y="412873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500361" y="3891916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29"/>
                </a:moveTo>
                <a:lnTo>
                  <a:pt x="1371949" y="240029"/>
                </a:lnTo>
                <a:lnTo>
                  <a:pt x="1371949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872310" y="378904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500361" y="378904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500361" y="378904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500361" y="378904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872310" y="388013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500361" y="364331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872310" y="354901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899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500361" y="354901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500361" y="354901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500361" y="354901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872310" y="364010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500361" y="339471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872310" y="330041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500361" y="330041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500361" y="330041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500361" y="330041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872310" y="339150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500361" y="315468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29">
                <a:moveTo>
                  <a:pt x="0" y="240029"/>
                </a:moveTo>
                <a:lnTo>
                  <a:pt x="1371949" y="240029"/>
                </a:lnTo>
                <a:lnTo>
                  <a:pt x="1371949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872310" y="305181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500361" y="305181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500361" y="305181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500361" y="305181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872310" y="314290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500361" y="290607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5" h="248919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872310" y="281178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500361" y="281178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500361" y="281178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500361" y="281178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872310" y="290287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500361" y="266604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5" h="240030">
                <a:moveTo>
                  <a:pt x="0" y="240029"/>
                </a:moveTo>
                <a:lnTo>
                  <a:pt x="1371949" y="240029"/>
                </a:lnTo>
                <a:lnTo>
                  <a:pt x="1371949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872310" y="256317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500361" y="25631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500361" y="256317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500361" y="25631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872310" y="265426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500361" y="241423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5" h="252094">
                <a:moveTo>
                  <a:pt x="1371949" y="0"/>
                </a:moveTo>
                <a:lnTo>
                  <a:pt x="0" y="0"/>
                </a:lnTo>
                <a:lnTo>
                  <a:pt x="0" y="251807"/>
                </a:lnTo>
                <a:lnTo>
                  <a:pt x="1371949" y="251807"/>
                </a:lnTo>
                <a:lnTo>
                  <a:pt x="1371949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872310" y="232314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39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500361" y="23231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1463039" y="0"/>
                </a:moveTo>
                <a:lnTo>
                  <a:pt x="91092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500361" y="232314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39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500361" y="232314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39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872310" y="241423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/>
          <p:nvPr/>
        </p:nvSpPr>
        <p:spPr>
          <a:xfrm>
            <a:off x="3818036" y="2389123"/>
            <a:ext cx="737235" cy="201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</a:p>
          <a:p>
            <a:pPr marL="12700">
              <a:lnSpc>
                <a:spcPts val="197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</a:p>
        </p:txBody>
      </p:sp>
      <p:sp>
        <p:nvSpPr>
          <p:cNvPr id="129" name="object 129"/>
          <p:cNvSpPr/>
          <p:nvPr/>
        </p:nvSpPr>
        <p:spPr>
          <a:xfrm>
            <a:off x="4169968" y="4478654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169968" y="4615815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4169968" y="4752975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891445" y="5054568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9" y="0"/>
                </a:moveTo>
                <a:lnTo>
                  <a:pt x="0" y="0"/>
                </a:lnTo>
                <a:lnTo>
                  <a:pt x="0" y="251808"/>
                </a:lnTo>
                <a:lnTo>
                  <a:pt x="1371949" y="251808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7263393" y="496347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0" y="251808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91445" y="49634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9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891445" y="496347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891445" y="49634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263393" y="505456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5891445" y="5031740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5891445" y="4166236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263393" y="407193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891445" y="40719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5891445" y="407193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891445" y="40719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263393" y="416302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891445" y="3926206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29"/>
                </a:moveTo>
                <a:lnTo>
                  <a:pt x="1371949" y="240029"/>
                </a:lnTo>
                <a:lnTo>
                  <a:pt x="1371949" y="0"/>
                </a:lnTo>
                <a:lnTo>
                  <a:pt x="0" y="0"/>
                </a:lnTo>
                <a:lnTo>
                  <a:pt x="0" y="240029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7263393" y="382333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891445" y="38233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5891445" y="382333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891445" y="382333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263393" y="391442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5891445" y="3677602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7263393" y="3583306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5891445" y="358330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5891445" y="3583306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891445" y="3583306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263393" y="3674397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5891445" y="3429001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1"/>
                </a:moveTo>
                <a:lnTo>
                  <a:pt x="1371949" y="248601"/>
                </a:lnTo>
                <a:lnTo>
                  <a:pt x="1371949" y="0"/>
                </a:lnTo>
                <a:lnTo>
                  <a:pt x="0" y="0"/>
                </a:lnTo>
                <a:lnTo>
                  <a:pt x="0" y="248601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7263393" y="3334702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891445" y="333470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891445" y="3334702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5891445" y="3334702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7263393" y="3425793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5891445" y="3188971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29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7263393" y="308610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891445" y="30861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5891445" y="308610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5891445" y="308610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7263393" y="317719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5891445" y="294036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19">
                <a:moveTo>
                  <a:pt x="0" y="248603"/>
                </a:moveTo>
                <a:lnTo>
                  <a:pt x="1371949" y="248603"/>
                </a:lnTo>
                <a:lnTo>
                  <a:pt x="1371949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7263393" y="284607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0" y="251807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891445" y="284607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9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5891445" y="284607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5891445" y="284607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263393" y="293716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5891445" y="270033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30">
                <a:moveTo>
                  <a:pt x="0" y="240030"/>
                </a:moveTo>
                <a:lnTo>
                  <a:pt x="1371949" y="240030"/>
                </a:lnTo>
                <a:lnTo>
                  <a:pt x="1371949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263393" y="25974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891445" y="25974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5891445" y="25974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891445" y="25974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263393" y="26885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891445" y="244852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4">
                <a:moveTo>
                  <a:pt x="1371949" y="0"/>
                </a:moveTo>
                <a:lnTo>
                  <a:pt x="0" y="0"/>
                </a:lnTo>
                <a:lnTo>
                  <a:pt x="0" y="251807"/>
                </a:lnTo>
                <a:lnTo>
                  <a:pt x="1371949" y="251807"/>
                </a:lnTo>
                <a:lnTo>
                  <a:pt x="1371949" y="0"/>
                </a:lnTo>
                <a:close/>
              </a:path>
            </a:pathLst>
          </a:custGeom>
          <a:solidFill>
            <a:srgbClr val="5D1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7263393" y="235743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0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0" y="251809"/>
                </a:lnTo>
                <a:lnTo>
                  <a:pt x="91090" y="0"/>
                </a:lnTo>
                <a:close/>
              </a:path>
            </a:pathLst>
          </a:custGeom>
          <a:solidFill>
            <a:srgbClr val="4B1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891445" y="23574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9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7D44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891445" y="235743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5891445" y="23574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263393" y="244852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 txBox="1"/>
          <p:nvPr/>
        </p:nvSpPr>
        <p:spPr>
          <a:xfrm>
            <a:off x="6107519" y="2425700"/>
            <a:ext cx="939800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3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3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5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Thread</a:t>
            </a:r>
            <a:r>
              <a:rPr sz="18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8" name="object 188"/>
          <p:cNvSpPr/>
          <p:nvPr/>
        </p:nvSpPr>
        <p:spPr>
          <a:xfrm>
            <a:off x="6561052" y="4512945"/>
            <a:ext cx="100965" cy="78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6561052" y="4650104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6561052" y="4787265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7232564" y="2511108"/>
            <a:ext cx="1584960" cy="127000"/>
          </a:xfrm>
          <a:custGeom>
            <a:avLst/>
            <a:gdLst/>
            <a:ahLst/>
            <a:cxnLst/>
            <a:rect l="l" t="t" r="r" b="b"/>
            <a:pathLst>
              <a:path w="1584959" h="127000">
                <a:moveTo>
                  <a:pt x="1457960" y="0"/>
                </a:moveTo>
                <a:lnTo>
                  <a:pt x="1457960" y="127000"/>
                </a:lnTo>
                <a:lnTo>
                  <a:pt x="1559560" y="76200"/>
                </a:lnTo>
                <a:lnTo>
                  <a:pt x="1470660" y="76200"/>
                </a:lnTo>
                <a:lnTo>
                  <a:pt x="1470660" y="50800"/>
                </a:lnTo>
                <a:lnTo>
                  <a:pt x="1559559" y="50799"/>
                </a:lnTo>
                <a:lnTo>
                  <a:pt x="1457960" y="0"/>
                </a:lnTo>
                <a:close/>
              </a:path>
              <a:path w="1584959" h="127000">
                <a:moveTo>
                  <a:pt x="1470660" y="76199"/>
                </a:moveTo>
                <a:lnTo>
                  <a:pt x="1457960" y="76199"/>
                </a:lnTo>
                <a:lnTo>
                  <a:pt x="1470660" y="76200"/>
                </a:lnTo>
                <a:close/>
              </a:path>
              <a:path w="1584959" h="127000">
                <a:moveTo>
                  <a:pt x="1559559" y="50799"/>
                </a:moveTo>
                <a:lnTo>
                  <a:pt x="1457960" y="50799"/>
                </a:lnTo>
                <a:lnTo>
                  <a:pt x="1470660" y="50800"/>
                </a:lnTo>
                <a:lnTo>
                  <a:pt x="1470660" y="76200"/>
                </a:lnTo>
                <a:lnTo>
                  <a:pt x="1559562" y="76198"/>
                </a:lnTo>
                <a:lnTo>
                  <a:pt x="1584960" y="63500"/>
                </a:lnTo>
                <a:lnTo>
                  <a:pt x="1559559" y="50799"/>
                </a:lnTo>
                <a:close/>
              </a:path>
              <a:path w="1584959" h="127000">
                <a:moveTo>
                  <a:pt x="0" y="50798"/>
                </a:moveTo>
                <a:lnTo>
                  <a:pt x="0" y="76198"/>
                </a:lnTo>
                <a:lnTo>
                  <a:pt x="1457960" y="76199"/>
                </a:lnTo>
                <a:lnTo>
                  <a:pt x="1457960" y="50799"/>
                </a:lnTo>
                <a:lnTo>
                  <a:pt x="0" y="5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7224467" y="2804853"/>
            <a:ext cx="1593215" cy="1321435"/>
          </a:xfrm>
          <a:custGeom>
            <a:avLst/>
            <a:gdLst/>
            <a:ahLst/>
            <a:cxnLst/>
            <a:rect l="l" t="t" r="r" b="b"/>
            <a:pathLst>
              <a:path w="1593215" h="1321435">
                <a:moveTo>
                  <a:pt x="1487117" y="1250194"/>
                </a:moveTo>
                <a:lnTo>
                  <a:pt x="1454730" y="1289331"/>
                </a:lnTo>
                <a:lnTo>
                  <a:pt x="1593057" y="1321377"/>
                </a:lnTo>
                <a:lnTo>
                  <a:pt x="1565197" y="1258290"/>
                </a:lnTo>
                <a:lnTo>
                  <a:pt x="1496900" y="1258290"/>
                </a:lnTo>
                <a:lnTo>
                  <a:pt x="1487117" y="1250194"/>
                </a:lnTo>
                <a:close/>
              </a:path>
              <a:path w="1593215" h="1321435">
                <a:moveTo>
                  <a:pt x="1503310" y="1230626"/>
                </a:moveTo>
                <a:lnTo>
                  <a:pt x="1487117" y="1250194"/>
                </a:lnTo>
                <a:lnTo>
                  <a:pt x="1496900" y="1258290"/>
                </a:lnTo>
                <a:lnTo>
                  <a:pt x="1513094" y="1238722"/>
                </a:lnTo>
                <a:lnTo>
                  <a:pt x="1503310" y="1230626"/>
                </a:lnTo>
                <a:close/>
              </a:path>
              <a:path w="1593215" h="1321435">
                <a:moveTo>
                  <a:pt x="1535697" y="1191488"/>
                </a:moveTo>
                <a:lnTo>
                  <a:pt x="1503310" y="1230626"/>
                </a:lnTo>
                <a:lnTo>
                  <a:pt x="1513094" y="1238722"/>
                </a:lnTo>
                <a:lnTo>
                  <a:pt x="1496900" y="1258290"/>
                </a:lnTo>
                <a:lnTo>
                  <a:pt x="1565197" y="1258290"/>
                </a:lnTo>
                <a:lnTo>
                  <a:pt x="1535697" y="1191488"/>
                </a:lnTo>
                <a:close/>
              </a:path>
              <a:path w="1593215" h="1321435">
                <a:moveTo>
                  <a:pt x="16193" y="0"/>
                </a:moveTo>
                <a:lnTo>
                  <a:pt x="0" y="19569"/>
                </a:lnTo>
                <a:lnTo>
                  <a:pt x="1487117" y="1250194"/>
                </a:lnTo>
                <a:lnTo>
                  <a:pt x="1503310" y="1230626"/>
                </a:lnTo>
                <a:lnTo>
                  <a:pt x="161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7228823" y="2551341"/>
            <a:ext cx="1588770" cy="524510"/>
          </a:xfrm>
          <a:custGeom>
            <a:avLst/>
            <a:gdLst/>
            <a:ahLst/>
            <a:cxnLst/>
            <a:rect l="l" t="t" r="r" b="b"/>
            <a:pathLst>
              <a:path w="1588770" h="524510">
                <a:moveTo>
                  <a:pt x="1463595" y="48546"/>
                </a:moveTo>
                <a:lnTo>
                  <a:pt x="0" y="499764"/>
                </a:lnTo>
                <a:lnTo>
                  <a:pt x="7482" y="524036"/>
                </a:lnTo>
                <a:lnTo>
                  <a:pt x="1471078" y="72818"/>
                </a:lnTo>
                <a:lnTo>
                  <a:pt x="1463595" y="48546"/>
                </a:lnTo>
                <a:close/>
              </a:path>
              <a:path w="1588770" h="524510">
                <a:moveTo>
                  <a:pt x="1566162" y="44804"/>
                </a:moveTo>
                <a:lnTo>
                  <a:pt x="1475733" y="44804"/>
                </a:lnTo>
                <a:lnTo>
                  <a:pt x="1483216" y="69076"/>
                </a:lnTo>
                <a:lnTo>
                  <a:pt x="1471078" y="72818"/>
                </a:lnTo>
                <a:lnTo>
                  <a:pt x="1486044" y="121363"/>
                </a:lnTo>
                <a:lnTo>
                  <a:pt x="1566162" y="44804"/>
                </a:lnTo>
                <a:close/>
              </a:path>
              <a:path w="1588770" h="524510">
                <a:moveTo>
                  <a:pt x="1475733" y="44804"/>
                </a:moveTo>
                <a:lnTo>
                  <a:pt x="1463595" y="48546"/>
                </a:lnTo>
                <a:lnTo>
                  <a:pt x="1471078" y="72818"/>
                </a:lnTo>
                <a:lnTo>
                  <a:pt x="1483216" y="69076"/>
                </a:lnTo>
                <a:lnTo>
                  <a:pt x="1475733" y="44804"/>
                </a:lnTo>
                <a:close/>
              </a:path>
              <a:path w="1588770" h="524510">
                <a:moveTo>
                  <a:pt x="1448629" y="0"/>
                </a:moveTo>
                <a:lnTo>
                  <a:pt x="1463595" y="48546"/>
                </a:lnTo>
                <a:lnTo>
                  <a:pt x="1475733" y="44804"/>
                </a:lnTo>
                <a:lnTo>
                  <a:pt x="1566162" y="44804"/>
                </a:lnTo>
                <a:lnTo>
                  <a:pt x="1588701" y="23266"/>
                </a:lnTo>
                <a:lnTo>
                  <a:pt x="1448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7226712" y="3291999"/>
            <a:ext cx="1591310" cy="834390"/>
          </a:xfrm>
          <a:custGeom>
            <a:avLst/>
            <a:gdLst/>
            <a:ahLst/>
            <a:cxnLst/>
            <a:rect l="l" t="t" r="r" b="b"/>
            <a:pathLst>
              <a:path w="1591309" h="834389">
                <a:moveTo>
                  <a:pt x="1472247" y="786979"/>
                </a:moveTo>
                <a:lnTo>
                  <a:pt x="1448837" y="832063"/>
                </a:lnTo>
                <a:lnTo>
                  <a:pt x="1590812" y="834231"/>
                </a:lnTo>
                <a:lnTo>
                  <a:pt x="1560737" y="792830"/>
                </a:lnTo>
                <a:lnTo>
                  <a:pt x="1483516" y="792830"/>
                </a:lnTo>
                <a:lnTo>
                  <a:pt x="1472247" y="786979"/>
                </a:lnTo>
                <a:close/>
              </a:path>
              <a:path w="1591309" h="834389">
                <a:moveTo>
                  <a:pt x="1483952" y="764436"/>
                </a:moveTo>
                <a:lnTo>
                  <a:pt x="1472247" y="786979"/>
                </a:lnTo>
                <a:lnTo>
                  <a:pt x="1483516" y="792830"/>
                </a:lnTo>
                <a:lnTo>
                  <a:pt x="1495221" y="770288"/>
                </a:lnTo>
                <a:lnTo>
                  <a:pt x="1483952" y="764436"/>
                </a:lnTo>
                <a:close/>
              </a:path>
              <a:path w="1591309" h="834389">
                <a:moveTo>
                  <a:pt x="1507361" y="719352"/>
                </a:moveTo>
                <a:lnTo>
                  <a:pt x="1483952" y="764436"/>
                </a:lnTo>
                <a:lnTo>
                  <a:pt x="1495221" y="770288"/>
                </a:lnTo>
                <a:lnTo>
                  <a:pt x="1483516" y="792830"/>
                </a:lnTo>
                <a:lnTo>
                  <a:pt x="1560737" y="792830"/>
                </a:lnTo>
                <a:lnTo>
                  <a:pt x="1507361" y="719352"/>
                </a:lnTo>
                <a:close/>
              </a:path>
              <a:path w="1591309" h="834389">
                <a:moveTo>
                  <a:pt x="11704" y="0"/>
                </a:moveTo>
                <a:lnTo>
                  <a:pt x="0" y="22542"/>
                </a:lnTo>
                <a:lnTo>
                  <a:pt x="1472247" y="786979"/>
                </a:lnTo>
                <a:lnTo>
                  <a:pt x="1483952" y="764436"/>
                </a:lnTo>
                <a:lnTo>
                  <a:pt x="11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7225898" y="2574607"/>
            <a:ext cx="1591945" cy="988694"/>
          </a:xfrm>
          <a:custGeom>
            <a:avLst/>
            <a:gdLst/>
            <a:ahLst/>
            <a:cxnLst/>
            <a:rect l="l" t="t" r="r" b="b"/>
            <a:pathLst>
              <a:path w="1591945" h="988695">
                <a:moveTo>
                  <a:pt x="1476858" y="55844"/>
                </a:moveTo>
                <a:lnTo>
                  <a:pt x="0" y="966454"/>
                </a:lnTo>
                <a:lnTo>
                  <a:pt x="13331" y="988075"/>
                </a:lnTo>
                <a:lnTo>
                  <a:pt x="1490189" y="77465"/>
                </a:lnTo>
                <a:lnTo>
                  <a:pt x="1476858" y="55844"/>
                </a:lnTo>
                <a:close/>
              </a:path>
              <a:path w="1591945" h="988695">
                <a:moveTo>
                  <a:pt x="1561160" y="49179"/>
                </a:moveTo>
                <a:lnTo>
                  <a:pt x="1487667" y="49179"/>
                </a:lnTo>
                <a:lnTo>
                  <a:pt x="1500999" y="70799"/>
                </a:lnTo>
                <a:lnTo>
                  <a:pt x="1490189" y="77465"/>
                </a:lnTo>
                <a:lnTo>
                  <a:pt x="1516851" y="120705"/>
                </a:lnTo>
                <a:lnTo>
                  <a:pt x="1561160" y="49179"/>
                </a:lnTo>
                <a:close/>
              </a:path>
              <a:path w="1591945" h="988695">
                <a:moveTo>
                  <a:pt x="1487667" y="49179"/>
                </a:moveTo>
                <a:lnTo>
                  <a:pt x="1476858" y="55844"/>
                </a:lnTo>
                <a:lnTo>
                  <a:pt x="1490189" y="77465"/>
                </a:lnTo>
                <a:lnTo>
                  <a:pt x="1500999" y="70799"/>
                </a:lnTo>
                <a:lnTo>
                  <a:pt x="1487667" y="49179"/>
                </a:lnTo>
                <a:close/>
              </a:path>
              <a:path w="1591945" h="988695">
                <a:moveTo>
                  <a:pt x="1591626" y="0"/>
                </a:moveTo>
                <a:lnTo>
                  <a:pt x="1450196" y="12603"/>
                </a:lnTo>
                <a:lnTo>
                  <a:pt x="1476858" y="55844"/>
                </a:lnTo>
                <a:lnTo>
                  <a:pt x="1487667" y="49179"/>
                </a:lnTo>
                <a:lnTo>
                  <a:pt x="1561160" y="49179"/>
                </a:lnTo>
                <a:lnTo>
                  <a:pt x="15916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230006" y="3788036"/>
            <a:ext cx="1588135" cy="375285"/>
          </a:xfrm>
          <a:custGeom>
            <a:avLst/>
            <a:gdLst/>
            <a:ahLst/>
            <a:cxnLst/>
            <a:rect l="l" t="t" r="r" b="b"/>
            <a:pathLst>
              <a:path w="1588134" h="375285">
                <a:moveTo>
                  <a:pt x="1460560" y="325066"/>
                </a:moveTo>
                <a:lnTo>
                  <a:pt x="1450333" y="374826"/>
                </a:lnTo>
                <a:lnTo>
                  <a:pt x="1587517" y="338194"/>
                </a:lnTo>
                <a:lnTo>
                  <a:pt x="1574073" y="327623"/>
                </a:lnTo>
                <a:lnTo>
                  <a:pt x="1473001" y="327623"/>
                </a:lnTo>
                <a:lnTo>
                  <a:pt x="1460560" y="325066"/>
                </a:lnTo>
                <a:close/>
              </a:path>
              <a:path w="1588134" h="375285">
                <a:moveTo>
                  <a:pt x="1465674" y="300186"/>
                </a:moveTo>
                <a:lnTo>
                  <a:pt x="1460560" y="325066"/>
                </a:lnTo>
                <a:lnTo>
                  <a:pt x="1473001" y="327623"/>
                </a:lnTo>
                <a:lnTo>
                  <a:pt x="1478114" y="302743"/>
                </a:lnTo>
                <a:lnTo>
                  <a:pt x="1465674" y="300186"/>
                </a:lnTo>
                <a:close/>
              </a:path>
              <a:path w="1588134" h="375285">
                <a:moveTo>
                  <a:pt x="1475901" y="250426"/>
                </a:moveTo>
                <a:lnTo>
                  <a:pt x="1465674" y="300186"/>
                </a:lnTo>
                <a:lnTo>
                  <a:pt x="1478114" y="302743"/>
                </a:lnTo>
                <a:lnTo>
                  <a:pt x="1473001" y="327623"/>
                </a:lnTo>
                <a:lnTo>
                  <a:pt x="1574073" y="327623"/>
                </a:lnTo>
                <a:lnTo>
                  <a:pt x="1475901" y="250426"/>
                </a:lnTo>
                <a:close/>
              </a:path>
              <a:path w="1588134" h="375285">
                <a:moveTo>
                  <a:pt x="5114" y="0"/>
                </a:moveTo>
                <a:lnTo>
                  <a:pt x="0" y="24879"/>
                </a:lnTo>
                <a:lnTo>
                  <a:pt x="1460560" y="325066"/>
                </a:lnTo>
                <a:lnTo>
                  <a:pt x="1465674" y="300186"/>
                </a:lnTo>
                <a:lnTo>
                  <a:pt x="5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7223941" y="2574607"/>
            <a:ext cx="1593850" cy="1475740"/>
          </a:xfrm>
          <a:custGeom>
            <a:avLst/>
            <a:gdLst/>
            <a:ahLst/>
            <a:cxnLst/>
            <a:rect l="l" t="t" r="r" b="b"/>
            <a:pathLst>
              <a:path w="1593850" h="1475739">
                <a:moveTo>
                  <a:pt x="1491723" y="76909"/>
                </a:moveTo>
                <a:lnTo>
                  <a:pt x="0" y="1456574"/>
                </a:lnTo>
                <a:lnTo>
                  <a:pt x="17246" y="1475221"/>
                </a:lnTo>
                <a:lnTo>
                  <a:pt x="1508969" y="95556"/>
                </a:lnTo>
                <a:lnTo>
                  <a:pt x="1491723" y="76909"/>
                </a:lnTo>
                <a:close/>
              </a:path>
              <a:path w="1593850" h="1475739">
                <a:moveTo>
                  <a:pt x="1567820" y="68286"/>
                </a:moveTo>
                <a:lnTo>
                  <a:pt x="1501046" y="68286"/>
                </a:lnTo>
                <a:lnTo>
                  <a:pt x="1518292" y="86934"/>
                </a:lnTo>
                <a:lnTo>
                  <a:pt x="1508969" y="95556"/>
                </a:lnTo>
                <a:lnTo>
                  <a:pt x="1543462" y="132850"/>
                </a:lnTo>
                <a:lnTo>
                  <a:pt x="1567820" y="68286"/>
                </a:lnTo>
                <a:close/>
              </a:path>
              <a:path w="1593850" h="1475739">
                <a:moveTo>
                  <a:pt x="1501046" y="68286"/>
                </a:moveTo>
                <a:lnTo>
                  <a:pt x="1491723" y="76909"/>
                </a:lnTo>
                <a:lnTo>
                  <a:pt x="1508969" y="95556"/>
                </a:lnTo>
                <a:lnTo>
                  <a:pt x="1518292" y="86934"/>
                </a:lnTo>
                <a:lnTo>
                  <a:pt x="1501046" y="68286"/>
                </a:lnTo>
                <a:close/>
              </a:path>
              <a:path w="1593850" h="1475739">
                <a:moveTo>
                  <a:pt x="1593583" y="0"/>
                </a:moveTo>
                <a:lnTo>
                  <a:pt x="1457231" y="39615"/>
                </a:lnTo>
                <a:lnTo>
                  <a:pt x="1491723" y="76909"/>
                </a:lnTo>
                <a:lnTo>
                  <a:pt x="1501046" y="68286"/>
                </a:lnTo>
                <a:lnTo>
                  <a:pt x="1567820" y="68286"/>
                </a:lnTo>
                <a:lnTo>
                  <a:pt x="1593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7231265" y="4076045"/>
            <a:ext cx="1586865" cy="226060"/>
          </a:xfrm>
          <a:custGeom>
            <a:avLst/>
            <a:gdLst/>
            <a:ahLst/>
            <a:cxnLst/>
            <a:rect l="l" t="t" r="r" b="b"/>
            <a:pathLst>
              <a:path w="1586865" h="226060">
                <a:moveTo>
                  <a:pt x="1458625" y="50533"/>
                </a:moveTo>
                <a:lnTo>
                  <a:pt x="0" y="200428"/>
                </a:lnTo>
                <a:lnTo>
                  <a:pt x="2597" y="225696"/>
                </a:lnTo>
                <a:lnTo>
                  <a:pt x="1461222" y="75801"/>
                </a:lnTo>
                <a:lnTo>
                  <a:pt x="1458625" y="50533"/>
                </a:lnTo>
                <a:close/>
              </a:path>
              <a:path w="1586865" h="226060">
                <a:moveTo>
                  <a:pt x="1583744" y="49235"/>
                </a:moveTo>
                <a:lnTo>
                  <a:pt x="1471260" y="49235"/>
                </a:lnTo>
                <a:lnTo>
                  <a:pt x="1473856" y="74503"/>
                </a:lnTo>
                <a:lnTo>
                  <a:pt x="1461222" y="75801"/>
                </a:lnTo>
                <a:lnTo>
                  <a:pt x="1466415" y="126334"/>
                </a:lnTo>
                <a:lnTo>
                  <a:pt x="1586259" y="50185"/>
                </a:lnTo>
                <a:lnTo>
                  <a:pt x="1583744" y="49235"/>
                </a:lnTo>
                <a:close/>
              </a:path>
              <a:path w="1586865" h="226060">
                <a:moveTo>
                  <a:pt x="1471260" y="49235"/>
                </a:moveTo>
                <a:lnTo>
                  <a:pt x="1458625" y="50533"/>
                </a:lnTo>
                <a:lnTo>
                  <a:pt x="1461222" y="75801"/>
                </a:lnTo>
                <a:lnTo>
                  <a:pt x="1473856" y="74503"/>
                </a:lnTo>
                <a:lnTo>
                  <a:pt x="1471260" y="49235"/>
                </a:lnTo>
                <a:close/>
              </a:path>
              <a:path w="1586865" h="226060">
                <a:moveTo>
                  <a:pt x="1453432" y="0"/>
                </a:moveTo>
                <a:lnTo>
                  <a:pt x="1458625" y="50533"/>
                </a:lnTo>
                <a:lnTo>
                  <a:pt x="1471260" y="49235"/>
                </a:lnTo>
                <a:lnTo>
                  <a:pt x="1583744" y="49235"/>
                </a:lnTo>
                <a:lnTo>
                  <a:pt x="1453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225530" y="4126231"/>
            <a:ext cx="1592580" cy="1065530"/>
          </a:xfrm>
          <a:custGeom>
            <a:avLst/>
            <a:gdLst/>
            <a:ahLst/>
            <a:cxnLst/>
            <a:rect l="l" t="t" r="r" b="b"/>
            <a:pathLst>
              <a:path w="1592579" h="1065529">
                <a:moveTo>
                  <a:pt x="1479220" y="59769"/>
                </a:moveTo>
                <a:lnTo>
                  <a:pt x="0" y="1043843"/>
                </a:lnTo>
                <a:lnTo>
                  <a:pt x="14069" y="1064991"/>
                </a:lnTo>
                <a:lnTo>
                  <a:pt x="1493289" y="80917"/>
                </a:lnTo>
                <a:lnTo>
                  <a:pt x="1479220" y="59769"/>
                </a:lnTo>
                <a:close/>
              </a:path>
              <a:path w="1592579" h="1065529">
                <a:moveTo>
                  <a:pt x="1561791" y="52735"/>
                </a:moveTo>
                <a:lnTo>
                  <a:pt x="1489793" y="52735"/>
                </a:lnTo>
                <a:lnTo>
                  <a:pt x="1503862" y="73883"/>
                </a:lnTo>
                <a:lnTo>
                  <a:pt x="1493289" y="80917"/>
                </a:lnTo>
                <a:lnTo>
                  <a:pt x="1521426" y="123212"/>
                </a:lnTo>
                <a:lnTo>
                  <a:pt x="1561791" y="52735"/>
                </a:lnTo>
                <a:close/>
              </a:path>
              <a:path w="1592579" h="1065529">
                <a:moveTo>
                  <a:pt x="1489793" y="52735"/>
                </a:moveTo>
                <a:lnTo>
                  <a:pt x="1479220" y="59769"/>
                </a:lnTo>
                <a:lnTo>
                  <a:pt x="1493289" y="80917"/>
                </a:lnTo>
                <a:lnTo>
                  <a:pt x="1503862" y="73883"/>
                </a:lnTo>
                <a:lnTo>
                  <a:pt x="1489793" y="52735"/>
                </a:lnTo>
                <a:close/>
              </a:path>
              <a:path w="1592579" h="1065529">
                <a:moveTo>
                  <a:pt x="1591994" y="0"/>
                </a:moveTo>
                <a:lnTo>
                  <a:pt x="1451082" y="17473"/>
                </a:lnTo>
                <a:lnTo>
                  <a:pt x="1479220" y="59769"/>
                </a:lnTo>
                <a:lnTo>
                  <a:pt x="1489793" y="52735"/>
                </a:lnTo>
                <a:lnTo>
                  <a:pt x="1561791" y="52735"/>
                </a:lnTo>
                <a:lnTo>
                  <a:pt x="1591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8817524" y="4251961"/>
            <a:ext cx="1372235" cy="231775"/>
          </a:xfrm>
          <a:custGeom>
            <a:avLst/>
            <a:gdLst/>
            <a:ahLst/>
            <a:cxnLst/>
            <a:rect l="l" t="t" r="r" b="b"/>
            <a:pathLst>
              <a:path w="1372234" h="231775">
                <a:moveTo>
                  <a:pt x="0" y="231456"/>
                </a:moveTo>
                <a:lnTo>
                  <a:pt x="1371947" y="231456"/>
                </a:lnTo>
                <a:lnTo>
                  <a:pt x="1371947" y="0"/>
                </a:lnTo>
                <a:lnTo>
                  <a:pt x="0" y="0"/>
                </a:lnTo>
                <a:lnTo>
                  <a:pt x="0" y="231456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0189472" y="414051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817524" y="414051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817524" y="414051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8817524" y="414051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0189474" y="423160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8817524" y="400335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20">
                <a:moveTo>
                  <a:pt x="0" y="248603"/>
                </a:moveTo>
                <a:lnTo>
                  <a:pt x="1371947" y="248603"/>
                </a:lnTo>
                <a:lnTo>
                  <a:pt x="1371947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0189472" y="390906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8817524" y="390906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8817524" y="390906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8817524" y="390906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0189474" y="400015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8817524" y="5054568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7" y="0"/>
                </a:moveTo>
                <a:lnTo>
                  <a:pt x="0" y="0"/>
                </a:lnTo>
                <a:lnTo>
                  <a:pt x="0" y="251808"/>
                </a:lnTo>
                <a:lnTo>
                  <a:pt x="1371947" y="251808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0189472" y="496347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1"/>
                </a:lnTo>
                <a:lnTo>
                  <a:pt x="0" y="342900"/>
                </a:lnTo>
                <a:lnTo>
                  <a:pt x="91092" y="251808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8817524" y="49634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1"/>
                </a:lnTo>
                <a:lnTo>
                  <a:pt x="1371947" y="91091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8817524" y="496347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8817524" y="496347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0189474" y="505456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 txBox="1"/>
          <p:nvPr/>
        </p:nvSpPr>
        <p:spPr>
          <a:xfrm>
            <a:off x="8817524" y="5031740"/>
            <a:ext cx="1367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31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9" name="object 219"/>
          <p:cNvSpPr/>
          <p:nvPr/>
        </p:nvSpPr>
        <p:spPr>
          <a:xfrm>
            <a:off x="8817524" y="375154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5">
                <a:moveTo>
                  <a:pt x="1371947" y="0"/>
                </a:moveTo>
                <a:lnTo>
                  <a:pt x="0" y="0"/>
                </a:lnTo>
                <a:lnTo>
                  <a:pt x="0" y="251807"/>
                </a:lnTo>
                <a:lnTo>
                  <a:pt x="1371947" y="251807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0189472" y="366045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899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8817524" y="366045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8817524" y="366045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8817524" y="366045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0189474" y="375154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 txBox="1"/>
          <p:nvPr/>
        </p:nvSpPr>
        <p:spPr>
          <a:xfrm>
            <a:off x="9135198" y="3727195"/>
            <a:ext cx="737235" cy="78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6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7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89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8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9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9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6" name="object 226"/>
          <p:cNvSpPr/>
          <p:nvPr/>
        </p:nvSpPr>
        <p:spPr>
          <a:xfrm>
            <a:off x="8817524" y="2940367"/>
            <a:ext cx="1372235" cy="248920"/>
          </a:xfrm>
          <a:custGeom>
            <a:avLst/>
            <a:gdLst/>
            <a:ahLst/>
            <a:cxnLst/>
            <a:rect l="l" t="t" r="r" b="b"/>
            <a:pathLst>
              <a:path w="1372234" h="248919">
                <a:moveTo>
                  <a:pt x="0" y="248603"/>
                </a:moveTo>
                <a:lnTo>
                  <a:pt x="1371947" y="248603"/>
                </a:lnTo>
                <a:lnTo>
                  <a:pt x="1371947" y="0"/>
                </a:lnTo>
                <a:lnTo>
                  <a:pt x="0" y="0"/>
                </a:lnTo>
                <a:lnTo>
                  <a:pt x="0" y="248603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0189472" y="2846071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0"/>
                </a:lnTo>
                <a:lnTo>
                  <a:pt x="0" y="342900"/>
                </a:lnTo>
                <a:lnTo>
                  <a:pt x="91092" y="251807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8817524" y="284607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0"/>
                </a:lnTo>
                <a:lnTo>
                  <a:pt x="1371947" y="91090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8817524" y="2846071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8817524" y="2846071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0189474" y="2937162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8817524" y="2700337"/>
            <a:ext cx="1372235" cy="240029"/>
          </a:xfrm>
          <a:custGeom>
            <a:avLst/>
            <a:gdLst/>
            <a:ahLst/>
            <a:cxnLst/>
            <a:rect l="l" t="t" r="r" b="b"/>
            <a:pathLst>
              <a:path w="1372234" h="240030">
                <a:moveTo>
                  <a:pt x="0" y="240030"/>
                </a:moveTo>
                <a:lnTo>
                  <a:pt x="1371947" y="240030"/>
                </a:lnTo>
                <a:lnTo>
                  <a:pt x="1371947" y="0"/>
                </a:lnTo>
                <a:lnTo>
                  <a:pt x="0" y="0"/>
                </a:lnTo>
                <a:lnTo>
                  <a:pt x="0" y="24003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0189472" y="259746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8817524" y="25974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8817524" y="259746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8817524" y="259746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0189474" y="268855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8817524" y="2448529"/>
            <a:ext cx="1372235" cy="252095"/>
          </a:xfrm>
          <a:custGeom>
            <a:avLst/>
            <a:gdLst/>
            <a:ahLst/>
            <a:cxnLst/>
            <a:rect l="l" t="t" r="r" b="b"/>
            <a:pathLst>
              <a:path w="1372234" h="252094">
                <a:moveTo>
                  <a:pt x="1371947" y="0"/>
                </a:moveTo>
                <a:lnTo>
                  <a:pt x="0" y="0"/>
                </a:lnTo>
                <a:lnTo>
                  <a:pt x="0" y="251807"/>
                </a:lnTo>
                <a:lnTo>
                  <a:pt x="1371947" y="251807"/>
                </a:lnTo>
                <a:lnTo>
                  <a:pt x="1371947" y="0"/>
                </a:lnTo>
                <a:close/>
              </a:path>
            </a:pathLst>
          </a:custGeom>
          <a:solidFill>
            <a:srgbClr val="0085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0189472" y="2357437"/>
            <a:ext cx="91440" cy="342900"/>
          </a:xfrm>
          <a:custGeom>
            <a:avLst/>
            <a:gdLst/>
            <a:ahLst/>
            <a:cxnLst/>
            <a:rect l="l" t="t" r="r" b="b"/>
            <a:pathLst>
              <a:path w="91440" h="342900">
                <a:moveTo>
                  <a:pt x="91092" y="0"/>
                </a:moveTo>
                <a:lnTo>
                  <a:pt x="0" y="91092"/>
                </a:lnTo>
                <a:lnTo>
                  <a:pt x="0" y="342900"/>
                </a:lnTo>
                <a:lnTo>
                  <a:pt x="91092" y="251809"/>
                </a:lnTo>
                <a:lnTo>
                  <a:pt x="91092" y="0"/>
                </a:lnTo>
                <a:close/>
              </a:path>
            </a:pathLst>
          </a:custGeom>
          <a:solidFill>
            <a:srgbClr val="006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8817524" y="23574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1463039" y="0"/>
                </a:moveTo>
                <a:lnTo>
                  <a:pt x="91090" y="0"/>
                </a:lnTo>
                <a:lnTo>
                  <a:pt x="0" y="91092"/>
                </a:lnTo>
                <a:lnTo>
                  <a:pt x="1371947" y="91092"/>
                </a:lnTo>
                <a:lnTo>
                  <a:pt x="1463039" y="0"/>
                </a:lnTo>
                <a:close/>
              </a:path>
            </a:pathLst>
          </a:custGeom>
          <a:solidFill>
            <a:srgbClr val="329D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8817524" y="2357437"/>
            <a:ext cx="1463040" cy="342900"/>
          </a:xfrm>
          <a:custGeom>
            <a:avLst/>
            <a:gdLst/>
            <a:ahLst/>
            <a:cxnLst/>
            <a:rect l="l" t="t" r="r" b="b"/>
            <a:pathLst>
              <a:path w="1463040" h="342900">
                <a:moveTo>
                  <a:pt x="0" y="91091"/>
                </a:moveTo>
                <a:lnTo>
                  <a:pt x="91091" y="0"/>
                </a:lnTo>
                <a:lnTo>
                  <a:pt x="1463040" y="0"/>
                </a:lnTo>
                <a:lnTo>
                  <a:pt x="1463040" y="251808"/>
                </a:lnTo>
                <a:lnTo>
                  <a:pt x="1371949" y="342900"/>
                </a:lnTo>
                <a:lnTo>
                  <a:pt x="0" y="342900"/>
                </a:lnTo>
                <a:lnTo>
                  <a:pt x="0" y="910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8817524" y="2357437"/>
            <a:ext cx="1463040" cy="91440"/>
          </a:xfrm>
          <a:custGeom>
            <a:avLst/>
            <a:gdLst/>
            <a:ahLst/>
            <a:cxnLst/>
            <a:rect l="l" t="t" r="r" b="b"/>
            <a:pathLst>
              <a:path w="1463040" h="91439">
                <a:moveTo>
                  <a:pt x="0" y="91091"/>
                </a:moveTo>
                <a:lnTo>
                  <a:pt x="1371949" y="91091"/>
                </a:lnTo>
                <a:lnTo>
                  <a:pt x="14630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0189474" y="2448528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80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 txBox="1"/>
          <p:nvPr/>
        </p:nvSpPr>
        <p:spPr>
          <a:xfrm>
            <a:off x="9135198" y="2425700"/>
            <a:ext cx="7372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5"/>
              </a:lnSpc>
              <a:spcBef>
                <a:spcPts val="100"/>
              </a:spcBef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0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20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1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65"/>
              </a:lnSpc>
            </a:pPr>
            <a:r>
              <a:rPr sz="1800" spc="-5" dirty="0">
                <a:latin typeface="Arial" panose="020B0604020202020204"/>
                <a:cs typeface="Arial" panose="020B0604020202020204"/>
              </a:rPr>
              <a:t>Bank</a:t>
            </a:r>
            <a:r>
              <a:rPr sz="18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5" name="object 245"/>
          <p:cNvSpPr/>
          <p:nvPr/>
        </p:nvSpPr>
        <p:spPr>
          <a:xfrm>
            <a:off x="9487132" y="4547234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9487132" y="4821554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9487132" y="4684395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9487132" y="3244214"/>
            <a:ext cx="100965" cy="78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9487132" y="3518534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9487132" y="3381375"/>
            <a:ext cx="100965" cy="78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 txBox="1"/>
          <p:nvPr/>
        </p:nvSpPr>
        <p:spPr>
          <a:xfrm>
            <a:off x="8347624" y="2322067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x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2" name="object 252"/>
          <p:cNvSpPr txBox="1"/>
          <p:nvPr/>
        </p:nvSpPr>
        <p:spPr>
          <a:xfrm>
            <a:off x="8439064" y="4309364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x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1</a:t>
            </a:r>
            <a:r>
              <a:rPr sz="1800" dirty="0">
                <a:latin typeface="Arial" panose="020B0604020202020204"/>
                <a:cs typeface="Arial" panose="020B0604020202020204"/>
              </a:rPr>
              <a:t>6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6" name="object 2"/>
          <p:cNvSpPr txBox="1">
            <a:spLocks noGrp="1"/>
          </p:cNvSpPr>
          <p:nvPr>
            <p:ph type="title"/>
          </p:nvPr>
        </p:nvSpPr>
        <p:spPr>
          <a:xfrm>
            <a:off x="2057400" y="144559"/>
            <a:ext cx="75203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5" dirty="0">
                <a:latin typeface="Comic Sans MS" panose="030F0702030302020204" pitchFamily="66" charset="0"/>
              </a:rPr>
              <a:t>BANK ADDRESSING EXAMPLES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79" y="208775"/>
            <a:ext cx="112012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800" spc="-5" dirty="0">
                <a:latin typeface="Comic Sans MS" panose="030F0702030302020204" pitchFamily="66" charset="0"/>
              </a:rPr>
              <a:t>SHARED MEMORY: AVOIDING BANK CONFLICTS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6309359" y="457889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03520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3440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3359" y="4095836"/>
            <a:ext cx="640080" cy="471805"/>
          </a:xfrm>
          <a:custGeom>
            <a:avLst/>
            <a:gdLst/>
            <a:ahLst/>
            <a:cxnLst/>
            <a:rect l="l" t="t" r="r" b="b"/>
            <a:pathLst>
              <a:path w="640079" h="471804">
                <a:moveTo>
                  <a:pt x="0" y="471576"/>
                </a:moveTo>
                <a:lnTo>
                  <a:pt x="640079" y="471576"/>
                </a:lnTo>
                <a:lnTo>
                  <a:pt x="640079" y="0"/>
                </a:lnTo>
                <a:lnTo>
                  <a:pt x="0" y="0"/>
                </a:lnTo>
                <a:lnTo>
                  <a:pt x="0" y="471576"/>
                </a:lnTo>
                <a:close/>
              </a:path>
            </a:pathLst>
          </a:custGeom>
          <a:solidFill>
            <a:srgbClr val="73B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23359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09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03520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63440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23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60"/>
                </a:lnTo>
                <a:lnTo>
                  <a:pt x="640079" y="480060"/>
                </a:lnTo>
                <a:lnTo>
                  <a:pt x="640079" y="0"/>
                </a:lnTo>
                <a:close/>
              </a:path>
            </a:pathLst>
          </a:custGeom>
          <a:solidFill>
            <a:srgbClr val="73B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23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09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80" y="0"/>
                </a:moveTo>
                <a:lnTo>
                  <a:pt x="0" y="0"/>
                </a:lnTo>
                <a:lnTo>
                  <a:pt x="0" y="480059"/>
                </a:lnTo>
                <a:lnTo>
                  <a:pt x="640080" y="480059"/>
                </a:lnTo>
                <a:lnTo>
                  <a:pt x="64008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09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0352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0352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6344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80" y="0"/>
                </a:moveTo>
                <a:lnTo>
                  <a:pt x="0" y="0"/>
                </a:lnTo>
                <a:lnTo>
                  <a:pt x="0" y="480059"/>
                </a:lnTo>
                <a:lnTo>
                  <a:pt x="640080" y="480059"/>
                </a:lnTo>
                <a:lnTo>
                  <a:pt x="64008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6344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23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73B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23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86476" y="4177275"/>
            <a:ext cx="91440" cy="68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39741" y="3589198"/>
            <a:ext cx="1601470" cy="1623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kern="0" spc="-5" dirty="0">
                <a:solidFill>
                  <a:srgbClr val="92D050"/>
                </a:solidFill>
                <a:latin typeface="Comic Sans MS" panose="030F0702030302020204" pitchFamily="66" charset="0"/>
              </a:rPr>
              <a:t>Bank 0</a:t>
            </a: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sz="2400" kern="0" spc="-5" dirty="0">
                <a:solidFill>
                  <a:srgbClr val="FF0000"/>
                </a:solidFill>
                <a:latin typeface="Comic Sans MS" panose="030F0702030302020204" pitchFamily="66" charset="0"/>
              </a:rPr>
              <a:t>Bank 1</a:t>
            </a:r>
            <a:endParaRPr lang="en-US" sz="2400" kern="0" spc="-5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lang="en-US" altLang="zh-CN" sz="2400" kern="0" spc="-5" dirty="0">
                <a:solidFill>
                  <a:srgbClr val="000000"/>
                </a:solidFill>
                <a:latin typeface="Comic Sans MS" panose="030F0702030302020204" pitchFamily="66" charset="0"/>
              </a:rPr>
              <a:t>……</a:t>
            </a: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sz="2400" kern="0" spc="-5" dirty="0">
                <a:solidFill>
                  <a:srgbClr val="00B0F0"/>
                </a:solidFill>
                <a:latin typeface="Comic Sans MS" panose="030F0702030302020204" pitchFamily="66" charset="0"/>
              </a:rPr>
              <a:t>Bank 31</a:t>
            </a:r>
          </a:p>
        </p:txBody>
      </p:sp>
      <p:sp>
        <p:nvSpPr>
          <p:cNvPr id="27" name="object 27"/>
          <p:cNvSpPr/>
          <p:nvPr/>
        </p:nvSpPr>
        <p:spPr>
          <a:xfrm>
            <a:off x="4768216" y="5226222"/>
            <a:ext cx="91439" cy="67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51096" y="5226222"/>
            <a:ext cx="91439" cy="67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33976" y="5226222"/>
            <a:ext cx="91440" cy="685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03550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020484" y="4567412"/>
            <a:ext cx="648970" cy="480059"/>
          </a:xfrm>
          <a:custGeom>
            <a:avLst/>
            <a:gdLst/>
            <a:ahLst/>
            <a:cxnLst/>
            <a:rect l="l" t="t" r="r" b="b"/>
            <a:pathLst>
              <a:path w="648970" h="480060">
                <a:moveTo>
                  <a:pt x="0" y="480060"/>
                </a:moveTo>
                <a:lnTo>
                  <a:pt x="648705" y="480060"/>
                </a:lnTo>
                <a:lnTo>
                  <a:pt x="648705" y="0"/>
                </a:lnTo>
                <a:lnTo>
                  <a:pt x="0" y="0"/>
                </a:lnTo>
                <a:lnTo>
                  <a:pt x="0" y="48006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020484" y="4567412"/>
            <a:ext cx="664210" cy="480059"/>
          </a:xfrm>
          <a:custGeom>
            <a:avLst/>
            <a:gdLst/>
            <a:ahLst/>
            <a:cxnLst/>
            <a:rect l="l" t="t" r="r" b="b"/>
            <a:pathLst>
              <a:path w="664210" h="480060">
                <a:moveTo>
                  <a:pt x="0" y="0"/>
                </a:moveTo>
                <a:lnTo>
                  <a:pt x="663658" y="0"/>
                </a:lnTo>
                <a:lnTo>
                  <a:pt x="663658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94130" y="4511691"/>
            <a:ext cx="89536" cy="685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88571" y="4784215"/>
            <a:ext cx="91439" cy="685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669190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09359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4248678" y="3253442"/>
          <a:ext cx="2700654" cy="18055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2333">
                <a:tc>
                  <a:txBody>
                    <a:bodyPr/>
                    <a:lstStyle/>
                    <a:p>
                      <a:pPr marL="31750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681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73BD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solidFill>
                      <a:srgbClr val="73BD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006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5410" marB="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5410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541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110" marB="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427116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1124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5132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97636" y="5535886"/>
            <a:ext cx="26352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object 25"/>
          <p:cNvSpPr txBox="1"/>
          <p:nvPr/>
        </p:nvSpPr>
        <p:spPr>
          <a:xfrm>
            <a:off x="0" y="1037579"/>
            <a:ext cx="10390011" cy="2321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800" b="0" i="0">
                <a:solidFill>
                  <a:srgbClr val="5E5E5E"/>
                </a:solidFill>
                <a:latin typeface="Trebuchet MS" panose="020B0603020202020204"/>
                <a:ea typeface="+mn-ea"/>
                <a:cs typeface="Trebuchet MS" panose="020B060302020202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22960" marR="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srgbClr val="7030A0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32x32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hared </a:t>
            </a: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MEM array</a:t>
            </a:r>
          </a:p>
          <a:p>
            <a:pPr marL="822960" marR="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accesses a column:</a:t>
            </a: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32-way bank conflicts (threads in a warp access the same bank)</a:t>
            </a:r>
          </a:p>
          <a:p>
            <a:pPr marL="814705" marR="2661285" lvl="3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    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wa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r</a:t>
            </a:r>
            <a:r>
              <a:rPr kumimoji="0" lang="en-US" sz="2400" b="0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s: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6309359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03520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63440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23359" y="409583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09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03520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63440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23359" y="3615776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09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80" y="0"/>
                </a:moveTo>
                <a:lnTo>
                  <a:pt x="0" y="0"/>
                </a:lnTo>
                <a:lnTo>
                  <a:pt x="0" y="480059"/>
                </a:lnTo>
                <a:lnTo>
                  <a:pt x="640080" y="480059"/>
                </a:lnTo>
                <a:lnTo>
                  <a:pt x="640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09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0352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0352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6344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80" y="0"/>
                </a:moveTo>
                <a:lnTo>
                  <a:pt x="0" y="0"/>
                </a:lnTo>
                <a:lnTo>
                  <a:pt x="0" y="480059"/>
                </a:lnTo>
                <a:lnTo>
                  <a:pt x="640080" y="480059"/>
                </a:lnTo>
                <a:lnTo>
                  <a:pt x="640080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63440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23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23359" y="5419103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86476" y="4177275"/>
            <a:ext cx="91440" cy="68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68216" y="5226222"/>
            <a:ext cx="91439" cy="67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51096" y="5226222"/>
            <a:ext cx="91439" cy="67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33976" y="5226222"/>
            <a:ext cx="91440" cy="68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82985" y="2898511"/>
            <a:ext cx="126668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wa</a:t>
            </a:r>
            <a:r>
              <a:rPr sz="240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2400" dirty="0">
                <a:latin typeface="Comic Sans MS" panose="030F0702030302020204" pitchFamily="66" charset="0"/>
                <a:cs typeface="Calibri" panose="020F0502020204030204" pitchFamily="34" charset="0"/>
              </a:rPr>
              <a:t>s:</a:t>
            </a:r>
          </a:p>
        </p:txBody>
      </p:sp>
      <p:sp>
        <p:nvSpPr>
          <p:cNvPr id="30" name="object 30"/>
          <p:cNvSpPr/>
          <p:nvPr/>
        </p:nvSpPr>
        <p:spPr>
          <a:xfrm>
            <a:off x="6953466" y="4092959"/>
            <a:ext cx="640080" cy="471805"/>
          </a:xfrm>
          <a:custGeom>
            <a:avLst/>
            <a:gdLst/>
            <a:ahLst/>
            <a:cxnLst/>
            <a:rect l="l" t="t" r="r" b="b"/>
            <a:pathLst>
              <a:path w="640079" h="471804">
                <a:moveTo>
                  <a:pt x="0" y="471577"/>
                </a:moveTo>
                <a:lnTo>
                  <a:pt x="640079" y="471577"/>
                </a:lnTo>
                <a:lnTo>
                  <a:pt x="640079" y="0"/>
                </a:lnTo>
                <a:lnTo>
                  <a:pt x="0" y="0"/>
                </a:lnTo>
                <a:lnTo>
                  <a:pt x="0" y="47157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53466" y="4092959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953466" y="3612899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60"/>
                </a:lnTo>
                <a:lnTo>
                  <a:pt x="640079" y="480060"/>
                </a:lnTo>
                <a:lnTo>
                  <a:pt x="640079" y="0"/>
                </a:lnTo>
                <a:close/>
              </a:path>
            </a:pathLst>
          </a:custGeom>
          <a:solidFill>
            <a:srgbClr val="8BC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53466" y="3612899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53466" y="5416227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60"/>
                </a:lnTo>
                <a:lnTo>
                  <a:pt x="640079" y="480060"/>
                </a:lnTo>
                <a:lnTo>
                  <a:pt x="640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53466" y="5416227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15110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04799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20484" y="4567412"/>
            <a:ext cx="664210" cy="480059"/>
          </a:xfrm>
          <a:custGeom>
            <a:avLst/>
            <a:gdLst/>
            <a:ahLst/>
            <a:cxnLst/>
            <a:rect l="l" t="t" r="r" b="b"/>
            <a:pathLst>
              <a:path w="664210" h="480060">
                <a:moveTo>
                  <a:pt x="0" y="0"/>
                </a:moveTo>
                <a:lnTo>
                  <a:pt x="663658" y="0"/>
                </a:lnTo>
                <a:lnTo>
                  <a:pt x="663658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94130" y="4511691"/>
            <a:ext cx="89536" cy="685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83601" y="4773543"/>
            <a:ext cx="91439" cy="685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50590" y="4564537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640079" y="0"/>
                </a:moveTo>
                <a:lnTo>
                  <a:pt x="0" y="0"/>
                </a:lnTo>
                <a:lnTo>
                  <a:pt x="0" y="480059"/>
                </a:lnTo>
                <a:lnTo>
                  <a:pt x="640079" y="480059"/>
                </a:lnTo>
                <a:lnTo>
                  <a:pt x="640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950590" y="4564537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69190" y="4567412"/>
            <a:ext cx="640080" cy="480059"/>
          </a:xfrm>
          <a:custGeom>
            <a:avLst/>
            <a:gdLst/>
            <a:ahLst/>
            <a:cxnLst/>
            <a:rect l="l" t="t" r="r" b="b"/>
            <a:pathLst>
              <a:path w="640079" h="480060">
                <a:moveTo>
                  <a:pt x="0" y="0"/>
                </a:moveTo>
                <a:lnTo>
                  <a:pt x="640080" y="0"/>
                </a:lnTo>
                <a:lnTo>
                  <a:pt x="64008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4" name="object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627952"/>
              </p:ext>
            </p:extLst>
          </p:nvPr>
        </p:nvGraphicFramePr>
        <p:xfrm>
          <a:off x="4020484" y="3253442"/>
          <a:ext cx="3921123" cy="17911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457">
                <a:tc>
                  <a:txBody>
                    <a:bodyPr/>
                    <a:lstStyle/>
                    <a:p>
                      <a:pPr marL="25971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770" algn="ctr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820"/>
                        </a:lnSpc>
                      </a:pPr>
                      <a:r>
                        <a:rPr sz="1600" b="1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padding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73BD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74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192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77"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747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747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7475" marB="0"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0014" marB="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110" marB="0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110" marB="0"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1811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1285" marB="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427116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1124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51328" y="5535886"/>
            <a:ext cx="1447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97636" y="5535886"/>
            <a:ext cx="26352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object 7"/>
          <p:cNvSpPr txBox="1"/>
          <p:nvPr/>
        </p:nvSpPr>
        <p:spPr>
          <a:xfrm>
            <a:off x="152400" y="1002012"/>
            <a:ext cx="11261171" cy="185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Add a column for padding:</a:t>
            </a:r>
            <a:endParaRPr kumimoji="1" lang="en-US" sz="2400" dirty="0">
              <a:solidFill>
                <a:prstClr val="black"/>
              </a:solidFill>
              <a:latin typeface="Comic Sans MS" panose="030F0902030302020204" pitchFamily="66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32x33 SMEM array</a:t>
            </a:r>
          </a:p>
          <a:p>
            <a:pPr marL="822960" lvl="2" indent="-282575" defTabSz="1139825" fontAlgn="base">
              <a:lnSpc>
                <a:spcPct val="125000"/>
              </a:lnSpc>
              <a:spcBef>
                <a:spcPts val="1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Warp accesses a column:</a:t>
            </a:r>
          </a:p>
          <a:p>
            <a:pPr marL="1097280" marR="2661285" lvl="3" indent="-282575" defTabSz="1139825" fontAlgn="base">
              <a:lnSpc>
                <a:spcPct val="125000"/>
              </a:lnSpc>
              <a:spcBef>
                <a:spcPts val="55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sz="2400" dirty="0">
                <a:solidFill>
                  <a:prstClr val="black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 different banks, no bank conflicts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1219358" y="190245"/>
            <a:ext cx="935164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spc="-5" dirty="0">
                <a:latin typeface="Comic Sans MS" panose="030F0702030302020204" pitchFamily="66" charset="0"/>
              </a:rPr>
              <a:t>SHARED MEMORY: AVOIDING BANK CONFLICTS</a:t>
            </a:r>
          </a:p>
        </p:txBody>
      </p:sp>
      <p:sp>
        <p:nvSpPr>
          <p:cNvPr id="2" name="object 26">
            <a:extLst>
              <a:ext uri="{FF2B5EF4-FFF2-40B4-BE49-F238E27FC236}">
                <a16:creationId xmlns:a16="http://schemas.microsoft.com/office/drawing/2014/main" id="{B58CD793-C10F-9B2B-4F97-DED9BF340B73}"/>
              </a:ext>
            </a:extLst>
          </p:cNvPr>
          <p:cNvSpPr txBox="1"/>
          <p:nvPr/>
        </p:nvSpPr>
        <p:spPr>
          <a:xfrm>
            <a:off x="1139741" y="3589198"/>
            <a:ext cx="1601470" cy="1623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kern="0" spc="-5" dirty="0">
                <a:solidFill>
                  <a:srgbClr val="92D050"/>
                </a:solidFill>
                <a:latin typeface="Comic Sans MS" panose="030F0702030302020204" pitchFamily="66" charset="0"/>
              </a:rPr>
              <a:t>Bank 0</a:t>
            </a: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sz="2400" kern="0" spc="-5" dirty="0">
                <a:solidFill>
                  <a:srgbClr val="FF0000"/>
                </a:solidFill>
                <a:latin typeface="Comic Sans MS" panose="030F0702030302020204" pitchFamily="66" charset="0"/>
              </a:rPr>
              <a:t>Bank 1</a:t>
            </a:r>
            <a:endParaRPr lang="en-US" sz="2400" kern="0" spc="-5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lang="en-US" altLang="zh-CN" sz="2400" kern="0" spc="-5" dirty="0">
                <a:solidFill>
                  <a:srgbClr val="000000"/>
                </a:solidFill>
                <a:latin typeface="Comic Sans MS" panose="030F0702030302020204" pitchFamily="66" charset="0"/>
              </a:rPr>
              <a:t>……</a:t>
            </a:r>
          </a:p>
          <a:p>
            <a:pPr marL="12700">
              <a:lnSpc>
                <a:spcPts val="3325"/>
              </a:lnSpc>
              <a:spcBef>
                <a:spcPts val="45"/>
              </a:spcBef>
            </a:pPr>
            <a:r>
              <a:rPr sz="2400" kern="0" spc="-5" dirty="0">
                <a:solidFill>
                  <a:srgbClr val="00B0F0"/>
                </a:solidFill>
                <a:latin typeface="Comic Sans MS" panose="030F0702030302020204" pitchFamily="66" charset="0"/>
              </a:rPr>
              <a:t>Bank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1207</Words>
  <Application>Microsoft Office PowerPoint</Application>
  <PresentationFormat>自定义</PresentationFormat>
  <Paragraphs>297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微软雅黑</vt:lpstr>
      <vt:lpstr>Arial</vt:lpstr>
      <vt:lpstr>Calibri</vt:lpstr>
      <vt:lpstr>Comic Sans MS</vt:lpstr>
      <vt:lpstr>Times New Roman</vt:lpstr>
      <vt:lpstr>Wingdings</vt:lpstr>
      <vt:lpstr>1_Office 主题​​</vt:lpstr>
      <vt:lpstr>PowerPoint 演示文稿</vt:lpstr>
      <vt:lpstr>CUDA OPTIMIZATION,  PART 2</vt:lpstr>
      <vt:lpstr>OUTLINE</vt:lpstr>
      <vt:lpstr>GPU MEM OPERATIONS</vt:lpstr>
      <vt:lpstr>GPU MEM OPERATIONS</vt:lpstr>
      <vt:lpstr>LOAD OPERATION</vt:lpstr>
      <vt:lpstr>CACHING LOAD</vt:lpstr>
      <vt:lpstr>CACHING LOAD</vt:lpstr>
      <vt:lpstr>CACHING LOAD</vt:lpstr>
      <vt:lpstr>CACHING LOAD</vt:lpstr>
      <vt:lpstr>CACHING LOAD</vt:lpstr>
      <vt:lpstr>NON-CACHING LOAD</vt:lpstr>
      <vt:lpstr>GPU MEM OPTIMIZATION GUIDELINES</vt:lpstr>
      <vt:lpstr>SHARED MEMORY</vt:lpstr>
      <vt:lpstr>SHARED MEMORY</vt:lpstr>
      <vt:lpstr>SHARED MEMORY</vt:lpstr>
      <vt:lpstr>BANK ADDRESSING EXAMPLES</vt:lpstr>
      <vt:lpstr>BANK ADDRESSING EXAMPLES</vt:lpstr>
      <vt:lpstr>SHARED MEMORY: AVOIDING BANK CONFLICTS</vt:lpstr>
      <vt:lpstr>SHARED MEMORY: AVOIDING BANK CONFLICTS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CUDA OPTIMIZATION,  PART 2 NVIDIA Corporation</dc:title>
  <dc:creator>德朋朱</dc:creator>
  <cp:lastModifiedBy>達富 鍾</cp:lastModifiedBy>
  <cp:revision>93</cp:revision>
  <dcterms:created xsi:type="dcterms:W3CDTF">2020-11-24T11:30:00Z</dcterms:created>
  <dcterms:modified xsi:type="dcterms:W3CDTF">2026-01-14T09:25:13Z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LastSaved">
    <vt:filetime>2020-11-25T00:00:00Z</vt:filetime>
  </property>
  <property fmtid="{D5CDD505-2E9C-101B-9397-08002B2CF9AE}" pid="4" name="ICV">
    <vt:lpwstr>5F46A7ECC11A4BD4A6910CF30814A221</vt:lpwstr>
  </property>
  <property fmtid="{D5CDD505-2E9C-101B-9397-08002B2CF9AE}" pid="5" name="KSOProductBuildVer">
    <vt:lpwstr>2052-11.1.0.11294</vt:lpwstr>
  </property>
</Properties>
</file>