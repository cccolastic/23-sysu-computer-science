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1" r:id="rId2"/>
    <p:sldId id="322" r:id="rId3"/>
    <p:sldId id="258" r:id="rId4"/>
    <p:sldId id="323" r:id="rId5"/>
    <p:sldId id="260" r:id="rId6"/>
    <p:sldId id="324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25" r:id="rId17"/>
    <p:sldId id="272" r:id="rId18"/>
    <p:sldId id="273" r:id="rId19"/>
    <p:sldId id="274" r:id="rId20"/>
    <p:sldId id="276" r:id="rId21"/>
    <p:sldId id="279" r:id="rId22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97"/>
  </p:normalViewPr>
  <p:slideViewPr>
    <p:cSldViewPr>
      <p:cViewPr varScale="1">
        <p:scale>
          <a:sx n="103" d="100"/>
          <a:sy n="103" d="100"/>
        </p:scale>
        <p:origin x="283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13AA921D-84EC-4620-8B18-B70FDD9ABCAF}"/>
    <pc:docChg chg="undo modSld">
      <pc:chgData name="" userId="60900f52fed158ba" providerId="LiveId" clId="{13AA921D-84EC-4620-8B18-B70FDD9ABCAF}" dt="2025-06-17T14:57:27.346" v="11" actId="1076"/>
      <pc:docMkLst>
        <pc:docMk/>
      </pc:docMkLst>
      <pc:sldChg chg="modSp">
        <pc:chgData name="" userId="60900f52fed158ba" providerId="LiveId" clId="{13AA921D-84EC-4620-8B18-B70FDD9ABCAF}" dt="2025-06-17T14:54:02.812" v="7" actId="14100"/>
        <pc:sldMkLst>
          <pc:docMk/>
          <pc:sldMk cId="0" sldId="265"/>
        </pc:sldMkLst>
        <pc:spChg chg="mod">
          <ac:chgData name="" userId="60900f52fed158ba" providerId="LiveId" clId="{13AA921D-84EC-4620-8B18-B70FDD9ABCAF}" dt="2025-06-17T14:53:33.712" v="0" actId="14100"/>
          <ac:spMkLst>
            <pc:docMk/>
            <pc:sldMk cId="0" sldId="265"/>
            <ac:spMk id="39" creationId="{00000000-0000-0000-0000-000000000000}"/>
          </ac:spMkLst>
        </pc:spChg>
        <pc:spChg chg="mod">
          <ac:chgData name="" userId="60900f52fed158ba" providerId="LiveId" clId="{13AA921D-84EC-4620-8B18-B70FDD9ABCAF}" dt="2025-06-17T14:53:37.034" v="1" actId="14100"/>
          <ac:spMkLst>
            <pc:docMk/>
            <pc:sldMk cId="0" sldId="265"/>
            <ac:spMk id="43" creationId="{00000000-0000-0000-0000-000000000000}"/>
          </ac:spMkLst>
        </pc:spChg>
        <pc:spChg chg="mod">
          <ac:chgData name="" userId="60900f52fed158ba" providerId="LiveId" clId="{13AA921D-84EC-4620-8B18-B70FDD9ABCAF}" dt="2025-06-17T14:53:45.423" v="2" actId="14100"/>
          <ac:spMkLst>
            <pc:docMk/>
            <pc:sldMk cId="0" sldId="265"/>
            <ac:spMk id="106" creationId="{00000000-0000-0000-0000-000000000000}"/>
          </ac:spMkLst>
        </pc:spChg>
        <pc:spChg chg="mod">
          <ac:chgData name="" userId="60900f52fed158ba" providerId="LiveId" clId="{13AA921D-84EC-4620-8B18-B70FDD9ABCAF}" dt="2025-06-17T14:53:50.904" v="3" actId="14100"/>
          <ac:spMkLst>
            <pc:docMk/>
            <pc:sldMk cId="0" sldId="265"/>
            <ac:spMk id="107" creationId="{00000000-0000-0000-0000-000000000000}"/>
          </ac:spMkLst>
        </pc:spChg>
        <pc:spChg chg="mod">
          <ac:chgData name="" userId="60900f52fed158ba" providerId="LiveId" clId="{13AA921D-84EC-4620-8B18-B70FDD9ABCAF}" dt="2025-06-17T14:54:02.812" v="7" actId="14100"/>
          <ac:spMkLst>
            <pc:docMk/>
            <pc:sldMk cId="0" sldId="265"/>
            <ac:spMk id="109" creationId="{00000000-0000-0000-0000-000000000000}"/>
          </ac:spMkLst>
        </pc:spChg>
        <pc:spChg chg="mod">
          <ac:chgData name="" userId="60900f52fed158ba" providerId="LiveId" clId="{13AA921D-84EC-4620-8B18-B70FDD9ABCAF}" dt="2025-06-17T14:53:59.834" v="6" actId="1076"/>
          <ac:spMkLst>
            <pc:docMk/>
            <pc:sldMk cId="0" sldId="265"/>
            <ac:spMk id="110" creationId="{00000000-0000-0000-0000-000000000000}"/>
          </ac:spMkLst>
        </pc:spChg>
      </pc:sldChg>
      <pc:sldChg chg="modSp">
        <pc:chgData name="" userId="60900f52fed158ba" providerId="LiveId" clId="{13AA921D-84EC-4620-8B18-B70FDD9ABCAF}" dt="2025-06-17T14:56:35.170" v="8" actId="14100"/>
        <pc:sldMkLst>
          <pc:docMk/>
          <pc:sldMk cId="0" sldId="272"/>
        </pc:sldMkLst>
        <pc:spChg chg="mod">
          <ac:chgData name="" userId="60900f52fed158ba" providerId="LiveId" clId="{13AA921D-84EC-4620-8B18-B70FDD9ABCAF}" dt="2025-06-17T14:56:35.170" v="8" actId="14100"/>
          <ac:spMkLst>
            <pc:docMk/>
            <pc:sldMk cId="0" sldId="272"/>
            <ac:spMk id="11" creationId="{00000000-0000-0000-0000-000000000000}"/>
          </ac:spMkLst>
        </pc:spChg>
      </pc:sldChg>
      <pc:sldChg chg="modSp">
        <pc:chgData name="" userId="60900f52fed158ba" providerId="LiveId" clId="{13AA921D-84EC-4620-8B18-B70FDD9ABCAF}" dt="2025-06-17T14:57:27.346" v="11" actId="1076"/>
        <pc:sldMkLst>
          <pc:docMk/>
          <pc:sldMk cId="0" sldId="274"/>
        </pc:sldMkLst>
        <pc:spChg chg="mod">
          <ac:chgData name="" userId="60900f52fed158ba" providerId="LiveId" clId="{13AA921D-84EC-4620-8B18-B70FDD9ABCAF}" dt="2025-06-17T14:57:27.346" v="11" actId="1076"/>
          <ac:spMkLst>
            <pc:docMk/>
            <pc:sldMk cId="0" sldId="274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1917387"/>
            <a:ext cx="9326880" cy="132302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5920" y="3497580"/>
            <a:ext cx="7680960" cy="15773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1" y="122868"/>
            <a:ext cx="9628567" cy="49352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40" y="925860"/>
            <a:ext cx="9875520" cy="4073367"/>
          </a:xfrm>
          <a:prstGeom prst="rect">
            <a:avLst/>
          </a:prstGeom>
        </p:spPr>
        <p:txBody>
          <a:bodyPr/>
          <a:lstStyle>
            <a:lvl2pPr marL="882015" indent="-391795">
              <a:buFont typeface="Arial" panose="020B0604020202020204" pitchFamily="34" charset="0"/>
              <a:buChar char="»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6777" y="3966215"/>
            <a:ext cx="9326880" cy="1225868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777" y="2616042"/>
            <a:ext cx="9326880" cy="13501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77841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8640" y="1381602"/>
            <a:ext cx="4848225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8640" y="1957388"/>
            <a:ext cx="4848225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74034" y="1381602"/>
            <a:ext cx="4850130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74034" y="1957388"/>
            <a:ext cx="4850130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3" y="245745"/>
            <a:ext cx="3609975" cy="104584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0063" y="245750"/>
            <a:ext cx="6134100" cy="5267802"/>
          </a:xfrm>
          <a:prstGeom prst="rect">
            <a:avLst/>
          </a:prstGeo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8643" y="1291593"/>
            <a:ext cx="3609975" cy="4221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0745" y="4320541"/>
            <a:ext cx="6583680" cy="51006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50745" y="551498"/>
            <a:ext cx="6583680" cy="370332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50745" y="4830605"/>
            <a:ext cx="6583680" cy="724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1440185"/>
            <a:ext cx="9875520" cy="40733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55280" y="247179"/>
            <a:ext cx="2468880" cy="526637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247179"/>
            <a:ext cx="7223760" cy="52663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536247" y="165887"/>
            <a:ext cx="8515478" cy="493047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549729" y="987581"/>
            <a:ext cx="9873343" cy="409578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marL="925830" lvl="1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549729" y="572044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2025/6/17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48768" y="5720443"/>
            <a:ext cx="3475264" cy="329293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28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0409" y="571019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085" y="42295"/>
            <a:ext cx="794657" cy="74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CN" altLang="en-US" sz="343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8006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6012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44018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92024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08610" indent="-30861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085" b="1" kern="1200" dirty="0">
          <a:solidFill>
            <a:srgbClr val="0070C0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882015" indent="-391795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–"/>
        <a:defRPr kumimoji="1" lang="zh-CN" altLang="en-US" sz="274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2870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4018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5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5166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71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6314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CUDA CONCURRENCY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0935"/>
            <a:ext cx="8229600" cy="369332"/>
          </a:xfrm>
        </p:spPr>
        <p:txBody>
          <a:bodyPr>
            <a:normAutofit fontScale="87500" lnSpcReduction="10000"/>
          </a:bodyPr>
          <a:lstStyle/>
          <a:p>
            <a:endParaRPr lang="en-US" altLang="zh-CN" sz="2000" b="1" dirty="0">
              <a:solidFill>
                <a:srgbClr val="76B900"/>
              </a:solidFill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1</a:t>
            </a:fld>
            <a:endParaRPr spc="-5" dirty="0">
              <a:latin typeface="Comic Sans MS" panose="030F0702030302020204" pitchFamily="66" charset="0"/>
            </a:endParaRPr>
          </a:p>
        </p:txBody>
      </p:sp>
      <p:pic>
        <p:nvPicPr>
          <p:cNvPr id="410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"/>
            <a:ext cx="4246880" cy="661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62400" y="190183"/>
            <a:ext cx="266636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latin typeface="Comic Sans MS" panose="030F0702030302020204" pitchFamily="66" charset="0"/>
              </a:rPr>
              <a:t>A</a:t>
            </a:r>
            <a:r>
              <a:rPr sz="4000" dirty="0">
                <a:latin typeface="Comic Sans MS" panose="030F0702030302020204" pitchFamily="66" charset="0"/>
              </a:rPr>
              <a:t>GE</a:t>
            </a:r>
            <a:r>
              <a:rPr sz="4000" spc="5" dirty="0">
                <a:latin typeface="Comic Sans MS" panose="030F0702030302020204" pitchFamily="66" charset="0"/>
              </a:rPr>
              <a:t>N</a:t>
            </a:r>
            <a:r>
              <a:rPr sz="4000" dirty="0">
                <a:latin typeface="Comic Sans MS" panose="030F0702030302020204" pitchFamily="66" charset="0"/>
              </a:rPr>
              <a:t>DA</a:t>
            </a:r>
            <a:endParaRPr sz="360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5000" y="1104900"/>
            <a:ext cx="7886700" cy="45858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Concurrency - Motivation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Pinned Memory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CUDA Streams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Overlap of Copy and Compute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Use Case: Vector Math/Video Processing Pipeline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Additional Stream Considerations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Copy-Compute Overlap with Managed Memory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Multi-GPU Concurrency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Other Concurrency Scenarios: Kernel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Concurrency, Host/Device Concurrency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Further Study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Homework</a:t>
            </a:r>
          </a:p>
        </p:txBody>
      </p:sp>
      <p:sp>
        <p:nvSpPr>
          <p:cNvPr id="7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2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1102" y="5872479"/>
            <a:ext cx="72390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8C8C8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3</a:t>
            </a:r>
            <a:endParaRPr sz="7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4380" y="114448"/>
            <a:ext cx="9464040" cy="93807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3600" b="1" spc="-5" dirty="0">
                <a:latin typeface="Comic Sans MS" panose="030F0702030302020204" pitchFamily="66" charset="0"/>
              </a:rPr>
              <a:t>MOTIVATION</a:t>
            </a: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Recall </a:t>
            </a:r>
            <a:r>
              <a:rPr sz="1800" b="1" dirty="0">
                <a:solidFill>
                  <a:srgbClr val="76B900"/>
                </a:solidFill>
                <a:latin typeface="Comic Sans MS" panose="030F0702030302020204" pitchFamily="66" charset="0"/>
              </a:rPr>
              <a:t>3 </a:t>
            </a: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steps from session</a:t>
            </a:r>
            <a:r>
              <a:rPr sz="1800" b="1" spc="-5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1800" b="1" dirty="0">
                <a:solidFill>
                  <a:srgbClr val="76B900"/>
                </a:solidFill>
                <a:latin typeface="Comic Sans MS" panose="030F0702030302020204" pitchFamily="66" charset="0"/>
              </a:rPr>
              <a:t>1:</a:t>
            </a:r>
            <a:endParaRPr sz="1800" b="1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133" y="2038477"/>
            <a:ext cx="61585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Naïve implementation leads to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processing flow like</a:t>
            </a:r>
            <a:r>
              <a:rPr spc="3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this: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903" y="3866777"/>
            <a:ext cx="387255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-&gt;Wouldn’t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nice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we could do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this: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316" y="2430731"/>
            <a:ext cx="3704590" cy="332783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85725" rIns="0" bIns="0" rtlCol="0">
            <a:spAutoFit/>
          </a:bodyPr>
          <a:lstStyle/>
          <a:p>
            <a:pPr marL="687070">
              <a:lnSpc>
                <a:spcPct val="100000"/>
              </a:lnSpc>
              <a:spcBef>
                <a:spcPts val="675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1.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data to the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3570" y="2850047"/>
            <a:ext cx="3704590" cy="330860"/>
          </a:xfrm>
          <a:prstGeom prst="rect">
            <a:avLst/>
          </a:prstGeom>
          <a:solidFill>
            <a:srgbClr val="82CAFF"/>
          </a:solidFill>
        </p:spPr>
        <p:txBody>
          <a:bodyPr vert="horz" wrap="square" lIns="0" tIns="83820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660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2. </a:t>
            </a:r>
            <a:r>
              <a:rPr sz="16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Run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kernel(s) on</a:t>
            </a:r>
            <a:r>
              <a:rPr sz="1600" spc="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7823" y="3274471"/>
            <a:ext cx="2416810" cy="314830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67945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535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3.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results to</a:t>
            </a:r>
            <a:r>
              <a:rPr sz="16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host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316" y="4401673"/>
            <a:ext cx="3704590" cy="330860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83820" rIns="0" bIns="0" rtlCol="0">
            <a:spAutoFit/>
          </a:bodyPr>
          <a:lstStyle/>
          <a:p>
            <a:pPr marL="687070">
              <a:lnSpc>
                <a:spcPct val="100000"/>
              </a:lnSpc>
              <a:spcBef>
                <a:spcPts val="660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1.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data to the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871" y="4805610"/>
            <a:ext cx="3704590" cy="332142"/>
          </a:xfrm>
          <a:prstGeom prst="rect">
            <a:avLst/>
          </a:prstGeom>
          <a:solidFill>
            <a:srgbClr val="82CAFF"/>
          </a:solidFill>
        </p:spPr>
        <p:txBody>
          <a:bodyPr vert="horz" wrap="square" lIns="0" tIns="85090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670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2. </a:t>
            </a:r>
            <a:r>
              <a:rPr sz="16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Run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kernel(s) on</a:t>
            </a:r>
            <a:r>
              <a:rPr sz="1600" spc="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4748" y="5209545"/>
            <a:ext cx="2416810" cy="312265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65405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515"/>
              </a:spcBef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3.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results to</a:t>
            </a:r>
            <a:r>
              <a:rPr sz="16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host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7198" y="3634740"/>
            <a:ext cx="101020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du</a:t>
            </a:r>
            <a:r>
              <a:rPr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6292" y="5625084"/>
            <a:ext cx="9821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du</a:t>
            </a:r>
            <a:r>
              <a:rPr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9316" y="3730325"/>
            <a:ext cx="3978910" cy="76200"/>
          </a:xfrm>
          <a:custGeom>
            <a:avLst/>
            <a:gdLst/>
            <a:ahLst/>
            <a:cxnLst/>
            <a:rect l="l" t="t" r="r" b="b"/>
            <a:pathLst>
              <a:path w="397891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63486" y="42862"/>
                </a:lnTo>
                <a:lnTo>
                  <a:pt x="63486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3978910" h="76200">
                <a:moveTo>
                  <a:pt x="76200" y="33337"/>
                </a:moveTo>
                <a:lnTo>
                  <a:pt x="63486" y="33337"/>
                </a:lnTo>
                <a:lnTo>
                  <a:pt x="63486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3978910" h="76200">
                <a:moveTo>
                  <a:pt x="3978667" y="33337"/>
                </a:moveTo>
                <a:lnTo>
                  <a:pt x="76200" y="33337"/>
                </a:lnTo>
                <a:lnTo>
                  <a:pt x="76200" y="42862"/>
                </a:lnTo>
                <a:lnTo>
                  <a:pt x="3978667" y="42862"/>
                </a:lnTo>
                <a:lnTo>
                  <a:pt x="3978667" y="333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12970" y="3730325"/>
            <a:ext cx="4661535" cy="76200"/>
          </a:xfrm>
          <a:custGeom>
            <a:avLst/>
            <a:gdLst/>
            <a:ahLst/>
            <a:cxnLst/>
            <a:rect l="l" t="t" r="r" b="b"/>
            <a:pathLst>
              <a:path w="4661534" h="76200">
                <a:moveTo>
                  <a:pt x="4585281" y="0"/>
                </a:moveTo>
                <a:lnTo>
                  <a:pt x="4585281" y="76200"/>
                </a:lnTo>
                <a:lnTo>
                  <a:pt x="4651956" y="42862"/>
                </a:lnTo>
                <a:lnTo>
                  <a:pt x="4597977" y="42862"/>
                </a:lnTo>
                <a:lnTo>
                  <a:pt x="4597977" y="33337"/>
                </a:lnTo>
                <a:lnTo>
                  <a:pt x="4651956" y="33337"/>
                </a:lnTo>
                <a:lnTo>
                  <a:pt x="4585281" y="0"/>
                </a:lnTo>
                <a:close/>
              </a:path>
              <a:path w="4661534" h="76200">
                <a:moveTo>
                  <a:pt x="4585281" y="33337"/>
                </a:moveTo>
                <a:lnTo>
                  <a:pt x="0" y="33337"/>
                </a:lnTo>
                <a:lnTo>
                  <a:pt x="0" y="42862"/>
                </a:lnTo>
                <a:lnTo>
                  <a:pt x="4585281" y="42862"/>
                </a:lnTo>
                <a:lnTo>
                  <a:pt x="4585281" y="33337"/>
                </a:lnTo>
                <a:close/>
              </a:path>
              <a:path w="4661534" h="76200">
                <a:moveTo>
                  <a:pt x="4651956" y="33337"/>
                </a:moveTo>
                <a:lnTo>
                  <a:pt x="4597977" y="33337"/>
                </a:lnTo>
                <a:lnTo>
                  <a:pt x="4597977" y="42862"/>
                </a:lnTo>
                <a:lnTo>
                  <a:pt x="4651956" y="42862"/>
                </a:lnTo>
                <a:lnTo>
                  <a:pt x="4661481" y="38100"/>
                </a:lnTo>
                <a:lnTo>
                  <a:pt x="4651956" y="333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9316" y="5721334"/>
            <a:ext cx="1356995" cy="76200"/>
          </a:xfrm>
          <a:custGeom>
            <a:avLst/>
            <a:gdLst/>
            <a:ahLst/>
            <a:cxnLst/>
            <a:rect l="l" t="t" r="r" b="b"/>
            <a:pathLst>
              <a:path w="1356995" h="76200">
                <a:moveTo>
                  <a:pt x="76726" y="0"/>
                </a:moveTo>
                <a:lnTo>
                  <a:pt x="0" y="37028"/>
                </a:lnTo>
                <a:lnTo>
                  <a:pt x="75658" y="76192"/>
                </a:lnTo>
                <a:lnTo>
                  <a:pt x="76125" y="42858"/>
                </a:lnTo>
                <a:lnTo>
                  <a:pt x="63426" y="42680"/>
                </a:lnTo>
                <a:lnTo>
                  <a:pt x="63560" y="33156"/>
                </a:lnTo>
                <a:lnTo>
                  <a:pt x="76261" y="33156"/>
                </a:lnTo>
                <a:lnTo>
                  <a:pt x="76726" y="0"/>
                </a:lnTo>
                <a:close/>
              </a:path>
              <a:path w="1356995" h="76200">
                <a:moveTo>
                  <a:pt x="76259" y="33334"/>
                </a:moveTo>
                <a:lnTo>
                  <a:pt x="76125" y="42858"/>
                </a:lnTo>
                <a:lnTo>
                  <a:pt x="1356698" y="60802"/>
                </a:lnTo>
                <a:lnTo>
                  <a:pt x="1356832" y="51278"/>
                </a:lnTo>
                <a:lnTo>
                  <a:pt x="76259" y="33334"/>
                </a:lnTo>
                <a:close/>
              </a:path>
              <a:path w="1356995" h="76200">
                <a:moveTo>
                  <a:pt x="63560" y="33156"/>
                </a:moveTo>
                <a:lnTo>
                  <a:pt x="63426" y="42680"/>
                </a:lnTo>
                <a:lnTo>
                  <a:pt x="76125" y="42858"/>
                </a:lnTo>
                <a:lnTo>
                  <a:pt x="76259" y="33334"/>
                </a:lnTo>
                <a:lnTo>
                  <a:pt x="63560" y="33156"/>
                </a:lnTo>
                <a:close/>
              </a:path>
              <a:path w="1356995" h="76200">
                <a:moveTo>
                  <a:pt x="76261" y="33156"/>
                </a:moveTo>
                <a:lnTo>
                  <a:pt x="63560" y="33156"/>
                </a:lnTo>
                <a:lnTo>
                  <a:pt x="76259" y="33334"/>
                </a:lnTo>
                <a:lnTo>
                  <a:pt x="76261" y="331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28392" y="5720263"/>
            <a:ext cx="1783080" cy="76200"/>
          </a:xfrm>
          <a:custGeom>
            <a:avLst/>
            <a:gdLst/>
            <a:ahLst/>
            <a:cxnLst/>
            <a:rect l="l" t="t" r="r" b="b"/>
            <a:pathLst>
              <a:path w="1783079" h="76200">
                <a:moveTo>
                  <a:pt x="1706786" y="42862"/>
                </a:moveTo>
                <a:lnTo>
                  <a:pt x="1706786" y="76200"/>
                </a:lnTo>
                <a:lnTo>
                  <a:pt x="1773461" y="42862"/>
                </a:lnTo>
                <a:lnTo>
                  <a:pt x="1706786" y="42862"/>
                </a:lnTo>
                <a:close/>
              </a:path>
              <a:path w="1783079" h="76200">
                <a:moveTo>
                  <a:pt x="1706786" y="33337"/>
                </a:moveTo>
                <a:lnTo>
                  <a:pt x="1706786" y="42862"/>
                </a:lnTo>
                <a:lnTo>
                  <a:pt x="1719486" y="42862"/>
                </a:lnTo>
                <a:lnTo>
                  <a:pt x="1719486" y="33337"/>
                </a:lnTo>
                <a:lnTo>
                  <a:pt x="1706786" y="33337"/>
                </a:lnTo>
                <a:close/>
              </a:path>
              <a:path w="1783079" h="76200">
                <a:moveTo>
                  <a:pt x="1706786" y="0"/>
                </a:moveTo>
                <a:lnTo>
                  <a:pt x="1706786" y="33337"/>
                </a:lnTo>
                <a:lnTo>
                  <a:pt x="1719486" y="33337"/>
                </a:lnTo>
                <a:lnTo>
                  <a:pt x="1719486" y="42862"/>
                </a:lnTo>
                <a:lnTo>
                  <a:pt x="1773463" y="42861"/>
                </a:lnTo>
                <a:lnTo>
                  <a:pt x="1782986" y="38100"/>
                </a:lnTo>
                <a:lnTo>
                  <a:pt x="1706786" y="0"/>
                </a:lnTo>
                <a:close/>
              </a:path>
              <a:path w="1783079" h="76200">
                <a:moveTo>
                  <a:pt x="0" y="33336"/>
                </a:moveTo>
                <a:lnTo>
                  <a:pt x="0" y="42861"/>
                </a:lnTo>
                <a:lnTo>
                  <a:pt x="1706786" y="42862"/>
                </a:lnTo>
                <a:lnTo>
                  <a:pt x="1706786" y="33337"/>
                </a:lnTo>
                <a:lnTo>
                  <a:pt x="0" y="333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36364" y="258276"/>
            <a:ext cx="3098806" cy="1785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39144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PINNED MEMORY</a:t>
            </a:r>
            <a:endParaRPr lang="en-US" sz="2000" dirty="0"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4</a:t>
            </a:fld>
            <a:endParaRPr spc="-5" dirty="0">
              <a:latin typeface="Comic Sans MS" panose="030F0702030302020204" pitchFamily="66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24400" y="30861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固定内存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0" y="144876"/>
            <a:ext cx="86709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PINNED (NON-PAGEABLE)</a:t>
            </a:r>
            <a:r>
              <a:rPr sz="3200" b="1" spc="-45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7" name="object 16"/>
          <p:cNvSpPr txBox="1"/>
          <p:nvPr/>
        </p:nvSpPr>
        <p:spPr>
          <a:xfrm>
            <a:off x="731310" y="1104900"/>
            <a:ext cx="9463615" cy="44909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Pinned memory enables: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2778760" indent="-342900">
              <a:lnSpc>
                <a:spcPts val="31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faster Host&lt;-&gt;Device copies  </a:t>
            </a:r>
            <a:endParaRPr lang="en-US" sz="20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2778760" indent="-342900">
              <a:lnSpc>
                <a:spcPts val="31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memcopies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asynchronous 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CPU  </a:t>
            </a:r>
            <a:endParaRPr lang="en-US" sz="20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2778760" indent="-342900">
              <a:lnSpc>
                <a:spcPts val="31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memcopies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asynchronous 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</a:t>
            </a:r>
            <a:r>
              <a:rPr sz="2000" spc="-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Usage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cudaHostAlloc</a:t>
            </a:r>
            <a:r>
              <a:rPr sz="2000" spc="-37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 </a:t>
            </a:r>
            <a:r>
              <a:rPr sz="200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cudaFreeHost</a:t>
            </a:r>
            <a:endParaRPr sz="28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3271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instead of malloc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free or new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</a:t>
            </a:r>
            <a:r>
              <a:rPr spc="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delete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cudaHostRegister</a:t>
            </a:r>
            <a:r>
              <a:rPr sz="2000" spc="-37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/ </a:t>
            </a:r>
            <a:r>
              <a:rPr sz="200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cudaHostUnregister</a:t>
            </a:r>
            <a:endParaRPr sz="28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3271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 regular memory (e.g. allocated with malloc)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after</a:t>
            </a:r>
            <a:r>
              <a:rPr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allocation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Implication: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pinned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is essentially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removed from host virtual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(pageable)</a:t>
            </a:r>
            <a:r>
              <a:rPr sz="2000" spc="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848600" y="5751438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5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7800" y="2400300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CUDA STREAMS</a:t>
            </a:r>
            <a:endParaRPr lang="en-US" sz="2000" dirty="0"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6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131542"/>
            <a:ext cx="898652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STREAMS AND ASYNC API</a:t>
            </a:r>
            <a:r>
              <a:rPr sz="3200" b="1" spc="-65" dirty="0">
                <a:latin typeface="Comic Sans MS" panose="030F0702030302020204" pitchFamily="66" charset="0"/>
              </a:rPr>
              <a:t> </a:t>
            </a:r>
            <a:r>
              <a:rPr sz="3200" b="1" dirty="0">
                <a:latin typeface="Comic Sans MS" panose="030F0702030302020204" pitchFamily="66" charset="0"/>
              </a:rPr>
              <a:t>OVERVIEW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7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6" name="object 14"/>
          <p:cNvSpPr txBox="1"/>
          <p:nvPr/>
        </p:nvSpPr>
        <p:spPr>
          <a:xfrm>
            <a:off x="608189" y="1295867"/>
            <a:ext cx="9907411" cy="4480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API: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193040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launches are asynchronous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CPU  </a:t>
            </a:r>
            <a:endParaRPr lang="en-US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193040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 err="1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(D2H, H2D)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CPU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</a:t>
            </a:r>
            <a:r>
              <a:rPr lang="en-US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(if memory not page-locked)</a:t>
            </a:r>
            <a:endParaRPr sz="1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calls are serialized by the driver (legacy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stream)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and async functions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provide: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1050290" indent="-285750">
              <a:lnSpc>
                <a:spcPts val="2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(D2H, H2D) asynchronous with CPU</a:t>
            </a:r>
            <a:r>
              <a:rPr lang="en-US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 </a:t>
            </a:r>
          </a:p>
          <a:p>
            <a:pPr marL="868045" marR="1050290" indent="-285750">
              <a:lnSpc>
                <a:spcPts val="2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Ability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concurrently execute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and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pc="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memcopy</a:t>
            </a:r>
            <a:endParaRPr sz="1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Concurrent copies in both directions (D2H, H2D) possible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on most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GPUs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= 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sequence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operations that execute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issue-order on</a:t>
            </a:r>
            <a:r>
              <a:rPr sz="2000"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r>
              <a:rPr 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lang="zh-CN" alt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like</a:t>
            </a:r>
            <a:r>
              <a:rPr lang="zh-CN" alt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task queue 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Operations from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different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may be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interleaved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and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memcopy from </a:t>
            </a:r>
            <a:r>
              <a:rPr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different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can be</a:t>
            </a:r>
            <a:r>
              <a:rPr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overlapped</a:t>
            </a:r>
            <a:endParaRPr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184774"/>
            <a:ext cx="5486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STREAM</a:t>
            </a:r>
            <a:r>
              <a:rPr sz="3200" b="1" spc="-70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SEMANTICS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8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8189" y="4300134"/>
            <a:ext cx="101600" cy="16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166" y="1168193"/>
            <a:ext cx="9783445" cy="429540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390525" indent="-342900">
              <a:lnSpc>
                <a:spcPct val="90000"/>
              </a:lnSpc>
              <a:spcBef>
                <a:spcPts val="375"/>
              </a:spcBef>
              <a:buClr>
                <a:srgbClr val="CDCDCD"/>
              </a:buClr>
              <a:buSzPct val="75000"/>
              <a:buAutoNum type="arabicPeriod"/>
              <a:tabLst>
                <a:tab pos="354965" algn="l"/>
                <a:tab pos="355600" algn="l"/>
                <a:tab pos="140271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Two operations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the same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will </a:t>
            </a:r>
            <a:r>
              <a:rPr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execute</a:t>
            </a:r>
            <a:r>
              <a:rPr sz="24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issue-order</a:t>
            </a:r>
            <a:r>
              <a:rPr lang="en-US"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40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GPU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  <a:r>
              <a:rPr lang="en-US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 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after 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will not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begin to execute until 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has</a:t>
            </a:r>
            <a:r>
              <a:rPr sz="24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completed.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100330" indent="-342900">
              <a:lnSpc>
                <a:spcPct val="90000"/>
              </a:lnSpc>
              <a:spcBef>
                <a:spcPts val="1790"/>
              </a:spcBef>
              <a:buClr>
                <a:srgbClr val="CDCDCD"/>
              </a:buClr>
              <a:buSzPct val="75000"/>
              <a:buAutoNum type="arabicPeriod"/>
              <a:tabLst>
                <a:tab pos="354965" algn="l"/>
                <a:tab pos="355600" algn="l"/>
                <a:tab pos="335851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Two operations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separate streams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have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 </a:t>
            </a:r>
            <a:r>
              <a:rPr sz="24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ordering  prescribed</a:t>
            </a:r>
            <a:r>
              <a:rPr sz="2400" i="1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by</a:t>
            </a:r>
            <a:r>
              <a:rPr sz="2400" i="1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i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	</a:t>
            </a:r>
            <a:endParaRPr lang="en-US" sz="240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100330" indent="-342900">
              <a:lnSpc>
                <a:spcPct val="90000"/>
              </a:lnSpc>
              <a:spcBef>
                <a:spcPts val="1790"/>
              </a:spcBef>
              <a:buClr>
                <a:srgbClr val="CDCDCD"/>
              </a:buClr>
              <a:buSzPct val="75000"/>
              <a:buAutoNum type="arabicPeriod"/>
              <a:tabLst>
                <a:tab pos="354965" algn="l"/>
                <a:tab pos="355600" algn="l"/>
                <a:tab pos="335851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1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may execute  before, during, or after</a:t>
            </a:r>
            <a:r>
              <a:rPr lang="en-US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 issued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into stream</a:t>
            </a:r>
            <a:r>
              <a:rPr sz="2400" spc="7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2.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43205" marR="5080">
              <a:lnSpc>
                <a:spcPct val="90000"/>
              </a:lnSpc>
              <a:spcBef>
                <a:spcPts val="1785"/>
              </a:spcBef>
              <a:tabLst>
                <a:tab pos="1898650" algn="l"/>
                <a:tab pos="8074025" algn="l"/>
              </a:tabLst>
            </a:pPr>
            <a:r>
              <a:rPr sz="2400" b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Operation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:	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Usually, </a:t>
            </a:r>
            <a:r>
              <a:rPr sz="24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2400"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</a:t>
            </a:r>
            <a:r>
              <a:rPr sz="2400"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call.	</a:t>
            </a:r>
            <a:endParaRPr lang="en-US" sz="24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43205" marR="5080">
              <a:lnSpc>
                <a:spcPct val="90000"/>
              </a:lnSpc>
              <a:spcBef>
                <a:spcPts val="1785"/>
              </a:spcBef>
              <a:tabLst>
                <a:tab pos="1898650" algn="l"/>
                <a:tab pos="8074025" algn="l"/>
              </a:tabLst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More 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generally,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most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API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calls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take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stream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parameter,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as well  as stream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callbacks.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35662"/>
            <a:ext cx="104025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omic Sans MS" panose="030F0702030302020204" pitchFamily="66" charset="0"/>
              </a:rPr>
              <a:t>STREAM CREATION AND COPY/COMPUTE</a:t>
            </a:r>
            <a:r>
              <a:rPr sz="2800" b="1" spc="-25" dirty="0">
                <a:latin typeface="Comic Sans MS" panose="030F0702030302020204" pitchFamily="66" charset="0"/>
              </a:rPr>
              <a:t> </a:t>
            </a:r>
            <a:r>
              <a:rPr sz="2800" b="1" spc="-5" dirty="0">
                <a:latin typeface="Comic Sans MS" panose="030F0702030302020204" pitchFamily="66" charset="0"/>
              </a:rPr>
              <a:t>OVERLAP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9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5074" y="2995684"/>
            <a:ext cx="7598906" cy="2832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457200" y="1087158"/>
            <a:ext cx="7166610" cy="18312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Requirements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925195" marR="5080" indent="-342900">
              <a:lnSpc>
                <a:spcPts val="3120"/>
              </a:lnSpc>
              <a:spcBef>
                <a:spcPts val="32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D2H </a:t>
            </a:r>
            <a:r>
              <a:rPr sz="20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H2D memcopy from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pinned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 Kernel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and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memcopy in </a:t>
            </a:r>
            <a:r>
              <a:rPr sz="20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different,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non-0</a:t>
            </a:r>
            <a:r>
              <a:rPr sz="20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Code: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114300"/>
            <a:ext cx="4938395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omic Sans MS" panose="030F0702030302020204" pitchFamily="66" charset="0"/>
              </a:rPr>
              <a:t>STREAM</a:t>
            </a:r>
            <a:r>
              <a:rPr b="1" spc="-60" dirty="0">
                <a:latin typeface="Comic Sans MS" panose="030F0702030302020204" pitchFamily="66" charset="0"/>
              </a:rPr>
              <a:t> </a:t>
            </a:r>
            <a:r>
              <a:rPr b="1" spc="-5" dirty="0">
                <a:latin typeface="Comic Sans MS" panose="030F0702030302020204" pitchFamily="66" charset="0"/>
              </a:rPr>
              <a:t>EXAMPLES</a:t>
            </a:r>
          </a:p>
        </p:txBody>
      </p:sp>
      <p:sp>
        <p:nvSpPr>
          <p:cNvPr id="111" name="object 111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10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9794" y="1380235"/>
            <a:ext cx="162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6" name="object 6"/>
          <p:cNvSpPr/>
          <p:nvPr/>
        </p:nvSpPr>
        <p:spPr>
          <a:xfrm>
            <a:off x="3845616" y="142941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5616" y="1429414"/>
            <a:ext cx="822960" cy="213135"/>
          </a:xfrm>
          <a:prstGeom prst="rect">
            <a:avLst/>
          </a:prstGeom>
          <a:ln w="9525">
            <a:solidFill>
              <a:srgbClr val="5C138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20"/>
              </a:lnSpc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60016" y="17037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60016" y="17037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17507" y="1645411"/>
            <a:ext cx="5115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12208" y="1405127"/>
            <a:ext cx="1100327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60016" y="1429414"/>
            <a:ext cx="1005840" cy="205740"/>
          </a:xfrm>
          <a:custGeom>
            <a:avLst/>
            <a:gdLst/>
            <a:ahLst/>
            <a:cxnLst/>
            <a:rect l="l" t="t" r="r" b="b"/>
            <a:pathLst>
              <a:path w="1005839" h="205739">
                <a:moveTo>
                  <a:pt x="1005839" y="0"/>
                </a:moveTo>
                <a:lnTo>
                  <a:pt x="0" y="0"/>
                </a:lnTo>
                <a:lnTo>
                  <a:pt x="0" y="205739"/>
                </a:lnTo>
                <a:lnTo>
                  <a:pt x="1005839" y="205739"/>
                </a:lnTo>
                <a:lnTo>
                  <a:pt x="100583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24029" y="1368043"/>
            <a:ext cx="64182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57295" y="17037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59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57295" y="170373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29795" y="2203196"/>
            <a:ext cx="16299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28" name="object 28"/>
          <p:cNvSpPr/>
          <p:nvPr/>
        </p:nvSpPr>
        <p:spPr>
          <a:xfrm>
            <a:off x="3941064" y="2118360"/>
            <a:ext cx="658367" cy="606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845616" y="22523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45616" y="2252374"/>
            <a:ext cx="822960" cy="213135"/>
          </a:xfrm>
          <a:prstGeom prst="rect">
            <a:avLst/>
          </a:prstGeom>
          <a:ln w="9525">
            <a:solidFill>
              <a:srgbClr val="5C138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20"/>
              </a:lnSpc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60016" y="252669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60016" y="252669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26660" y="2468371"/>
            <a:ext cx="4597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712208" y="2228088"/>
            <a:ext cx="1100327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946903" y="2118360"/>
            <a:ext cx="909264" cy="6065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760016" y="2252374"/>
            <a:ext cx="1005840" cy="205740"/>
          </a:xfrm>
          <a:custGeom>
            <a:avLst/>
            <a:gdLst/>
            <a:ahLst/>
            <a:cxnLst/>
            <a:rect l="l" t="t" r="r" b="b"/>
            <a:pathLst>
              <a:path w="1005839" h="205739">
                <a:moveTo>
                  <a:pt x="1005839" y="0"/>
                </a:moveTo>
                <a:lnTo>
                  <a:pt x="0" y="0"/>
                </a:lnTo>
                <a:lnTo>
                  <a:pt x="0" y="205739"/>
                </a:lnTo>
                <a:lnTo>
                  <a:pt x="1005839" y="205739"/>
                </a:lnTo>
                <a:lnTo>
                  <a:pt x="100583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24029" y="2194052"/>
            <a:ext cx="47288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809488" y="2502407"/>
            <a:ext cx="917447" cy="298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857295" y="252669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59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57295" y="252669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29795" y="3096260"/>
            <a:ext cx="13944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50" name="object 50"/>
          <p:cNvSpPr/>
          <p:nvPr/>
        </p:nvSpPr>
        <p:spPr>
          <a:xfrm>
            <a:off x="3797808" y="3121151"/>
            <a:ext cx="917448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45616" y="314391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45616" y="3143914"/>
            <a:ext cx="822960" cy="213135"/>
          </a:xfrm>
          <a:prstGeom prst="rect">
            <a:avLst/>
          </a:prstGeom>
          <a:ln w="9525">
            <a:solidFill>
              <a:srgbClr val="5C138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20"/>
              </a:lnSpc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712208" y="3395471"/>
            <a:ext cx="917448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760016" y="34182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760016" y="341823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626608" y="3395471"/>
            <a:ext cx="917447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674416" y="341823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674416" y="341823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29795" y="3986276"/>
            <a:ext cx="13944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66" name="object 66"/>
          <p:cNvSpPr/>
          <p:nvPr/>
        </p:nvSpPr>
        <p:spPr>
          <a:xfrm>
            <a:off x="3797808" y="4011167"/>
            <a:ext cx="917448" cy="298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941064" y="3901440"/>
            <a:ext cx="658367" cy="606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845616" y="403545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845616" y="403545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5C1382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118189" y="3977132"/>
            <a:ext cx="277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760016" y="43097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60016" y="4309774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845616" y="43097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39"/>
                </a:lnTo>
                <a:lnTo>
                  <a:pt x="822960" y="205739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845616" y="4309774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0" y="0"/>
                </a:moveTo>
                <a:lnTo>
                  <a:pt x="822960" y="0"/>
                </a:lnTo>
                <a:lnTo>
                  <a:pt x="82296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6FC5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103107" y="4251452"/>
            <a:ext cx="4963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29795" y="4879340"/>
            <a:ext cx="141060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20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sz="2000" dirty="0"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85" name="object 85"/>
          <p:cNvSpPr/>
          <p:nvPr/>
        </p:nvSpPr>
        <p:spPr>
          <a:xfrm>
            <a:off x="4764023" y="4794503"/>
            <a:ext cx="658368" cy="603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845616" y="4926994"/>
            <a:ext cx="2468880" cy="205740"/>
          </a:xfrm>
          <a:custGeom>
            <a:avLst/>
            <a:gdLst/>
            <a:ahLst/>
            <a:cxnLst/>
            <a:rect l="l" t="t" r="r" b="b"/>
            <a:pathLst>
              <a:path w="2468879" h="205739">
                <a:moveTo>
                  <a:pt x="2468880" y="0"/>
                </a:moveTo>
                <a:lnTo>
                  <a:pt x="0" y="0"/>
                </a:lnTo>
                <a:lnTo>
                  <a:pt x="0" y="205739"/>
                </a:lnTo>
                <a:lnTo>
                  <a:pt x="2468880" y="205739"/>
                </a:lnTo>
                <a:lnTo>
                  <a:pt x="246888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845616" y="4926994"/>
            <a:ext cx="2468880" cy="205740"/>
          </a:xfrm>
          <a:custGeom>
            <a:avLst/>
            <a:gdLst/>
            <a:ahLst/>
            <a:cxnLst/>
            <a:rect l="l" t="t" r="r" b="b"/>
            <a:pathLst>
              <a:path w="2468879" h="205739">
                <a:moveTo>
                  <a:pt x="0" y="0"/>
                </a:moveTo>
                <a:lnTo>
                  <a:pt x="2468880" y="0"/>
                </a:lnTo>
                <a:lnTo>
                  <a:pt x="2468880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5C1382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941149" y="4867147"/>
            <a:ext cx="277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K1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712208" y="5178551"/>
            <a:ext cx="917448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840223" y="5068823"/>
            <a:ext cx="688848" cy="6035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4760016" y="5201313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017507" y="5141467"/>
            <a:ext cx="40488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797808" y="5178551"/>
            <a:ext cx="917448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3925823" y="5068823"/>
            <a:ext cx="688848" cy="6035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3845616" y="5201313"/>
            <a:ext cx="822960" cy="205740"/>
          </a:xfrm>
          <a:custGeom>
            <a:avLst/>
            <a:gdLst/>
            <a:ahLst/>
            <a:cxnLst/>
            <a:rect l="l" t="t" r="r" b="b"/>
            <a:pathLst>
              <a:path w="822960" h="205739">
                <a:moveTo>
                  <a:pt x="822960" y="0"/>
                </a:moveTo>
                <a:lnTo>
                  <a:pt x="0" y="0"/>
                </a:lnTo>
                <a:lnTo>
                  <a:pt x="0" y="205740"/>
                </a:lnTo>
                <a:lnTo>
                  <a:pt x="822960" y="205740"/>
                </a:lnTo>
                <a:lnTo>
                  <a:pt x="822960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845616" y="5201313"/>
            <a:ext cx="822960" cy="213135"/>
          </a:xfrm>
          <a:prstGeom prst="rect">
            <a:avLst/>
          </a:prstGeom>
          <a:ln w="9525">
            <a:solidFill>
              <a:srgbClr val="006F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ts val="162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M2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7555992" y="2325623"/>
            <a:ext cx="2459736" cy="12771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7583423" y="2441448"/>
            <a:ext cx="2273807" cy="1118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7617124" y="2366020"/>
            <a:ext cx="2580524" cy="1157605"/>
          </a:xfrm>
          <a:custGeom>
            <a:avLst/>
            <a:gdLst/>
            <a:ahLst/>
            <a:cxnLst/>
            <a:rect l="l" t="t" r="r" b="b"/>
            <a:pathLst>
              <a:path w="2338070" h="1157604">
                <a:moveTo>
                  <a:pt x="2145013" y="0"/>
                </a:moveTo>
                <a:lnTo>
                  <a:pt x="192867" y="0"/>
                </a:lnTo>
                <a:lnTo>
                  <a:pt x="148644" y="5093"/>
                </a:lnTo>
                <a:lnTo>
                  <a:pt x="108049" y="19603"/>
                </a:lnTo>
                <a:lnTo>
                  <a:pt x="72238" y="42370"/>
                </a:lnTo>
                <a:lnTo>
                  <a:pt x="42370" y="72238"/>
                </a:lnTo>
                <a:lnTo>
                  <a:pt x="19603" y="108049"/>
                </a:lnTo>
                <a:lnTo>
                  <a:pt x="5093" y="148644"/>
                </a:lnTo>
                <a:lnTo>
                  <a:pt x="0" y="192867"/>
                </a:lnTo>
                <a:lnTo>
                  <a:pt x="0" y="964319"/>
                </a:lnTo>
                <a:lnTo>
                  <a:pt x="5093" y="1008542"/>
                </a:lnTo>
                <a:lnTo>
                  <a:pt x="19603" y="1049138"/>
                </a:lnTo>
                <a:lnTo>
                  <a:pt x="42370" y="1084948"/>
                </a:lnTo>
                <a:lnTo>
                  <a:pt x="72238" y="1114816"/>
                </a:lnTo>
                <a:lnTo>
                  <a:pt x="108049" y="1137584"/>
                </a:lnTo>
                <a:lnTo>
                  <a:pt x="148644" y="1152093"/>
                </a:lnTo>
                <a:lnTo>
                  <a:pt x="192867" y="1157187"/>
                </a:lnTo>
                <a:lnTo>
                  <a:pt x="2145013" y="1157187"/>
                </a:lnTo>
                <a:lnTo>
                  <a:pt x="2189236" y="1152093"/>
                </a:lnTo>
                <a:lnTo>
                  <a:pt x="2229831" y="1137584"/>
                </a:lnTo>
                <a:lnTo>
                  <a:pt x="2265642" y="1114816"/>
                </a:lnTo>
                <a:lnTo>
                  <a:pt x="2295509" y="1084948"/>
                </a:lnTo>
                <a:lnTo>
                  <a:pt x="2318277" y="1049138"/>
                </a:lnTo>
                <a:lnTo>
                  <a:pt x="2332786" y="1008542"/>
                </a:lnTo>
                <a:lnTo>
                  <a:pt x="2337880" y="964319"/>
                </a:lnTo>
                <a:lnTo>
                  <a:pt x="2337880" y="192867"/>
                </a:lnTo>
                <a:lnTo>
                  <a:pt x="2332786" y="148644"/>
                </a:lnTo>
                <a:lnTo>
                  <a:pt x="2318277" y="108049"/>
                </a:lnTo>
                <a:lnTo>
                  <a:pt x="2295509" y="72238"/>
                </a:lnTo>
                <a:lnTo>
                  <a:pt x="2265642" y="42370"/>
                </a:lnTo>
                <a:lnTo>
                  <a:pt x="2229831" y="19603"/>
                </a:lnTo>
                <a:lnTo>
                  <a:pt x="2189236" y="5093"/>
                </a:lnTo>
                <a:lnTo>
                  <a:pt x="21450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7617124" y="2366020"/>
            <a:ext cx="2560320" cy="1157605"/>
          </a:xfrm>
          <a:custGeom>
            <a:avLst/>
            <a:gdLst/>
            <a:ahLst/>
            <a:cxnLst/>
            <a:rect l="l" t="t" r="r" b="b"/>
            <a:pathLst>
              <a:path w="2338070" h="1157604">
                <a:moveTo>
                  <a:pt x="0" y="192867"/>
                </a:moveTo>
                <a:lnTo>
                  <a:pt x="5093" y="148644"/>
                </a:lnTo>
                <a:lnTo>
                  <a:pt x="19603" y="108049"/>
                </a:lnTo>
                <a:lnTo>
                  <a:pt x="42370" y="72238"/>
                </a:lnTo>
                <a:lnTo>
                  <a:pt x="72238" y="42370"/>
                </a:lnTo>
                <a:lnTo>
                  <a:pt x="108049" y="19603"/>
                </a:lnTo>
                <a:lnTo>
                  <a:pt x="148644" y="5093"/>
                </a:lnTo>
                <a:lnTo>
                  <a:pt x="192867" y="0"/>
                </a:lnTo>
                <a:lnTo>
                  <a:pt x="2145013" y="0"/>
                </a:lnTo>
                <a:lnTo>
                  <a:pt x="2189235" y="5093"/>
                </a:lnTo>
                <a:lnTo>
                  <a:pt x="2229831" y="19603"/>
                </a:lnTo>
                <a:lnTo>
                  <a:pt x="2265642" y="42370"/>
                </a:lnTo>
                <a:lnTo>
                  <a:pt x="2295510" y="72238"/>
                </a:lnTo>
                <a:lnTo>
                  <a:pt x="2318277" y="108049"/>
                </a:lnTo>
                <a:lnTo>
                  <a:pt x="2332787" y="148644"/>
                </a:lnTo>
                <a:lnTo>
                  <a:pt x="2337881" y="192867"/>
                </a:lnTo>
                <a:lnTo>
                  <a:pt x="2337881" y="964320"/>
                </a:lnTo>
                <a:lnTo>
                  <a:pt x="2332787" y="1008543"/>
                </a:lnTo>
                <a:lnTo>
                  <a:pt x="2318277" y="1049138"/>
                </a:lnTo>
                <a:lnTo>
                  <a:pt x="2295510" y="1084949"/>
                </a:lnTo>
                <a:lnTo>
                  <a:pt x="2265642" y="1114817"/>
                </a:lnTo>
                <a:lnTo>
                  <a:pt x="2229831" y="1137584"/>
                </a:lnTo>
                <a:lnTo>
                  <a:pt x="2189235" y="1152094"/>
                </a:lnTo>
                <a:lnTo>
                  <a:pt x="2145013" y="1157188"/>
                </a:lnTo>
                <a:lnTo>
                  <a:pt x="192867" y="1157188"/>
                </a:lnTo>
                <a:lnTo>
                  <a:pt x="148644" y="1152094"/>
                </a:lnTo>
                <a:lnTo>
                  <a:pt x="108049" y="1137584"/>
                </a:lnTo>
                <a:lnTo>
                  <a:pt x="72238" y="1114817"/>
                </a:lnTo>
                <a:lnTo>
                  <a:pt x="42370" y="1084949"/>
                </a:lnTo>
                <a:lnTo>
                  <a:pt x="19603" y="1049138"/>
                </a:lnTo>
                <a:lnTo>
                  <a:pt x="5093" y="1008543"/>
                </a:lnTo>
                <a:lnTo>
                  <a:pt x="0" y="964320"/>
                </a:lnTo>
                <a:lnTo>
                  <a:pt x="0" y="19286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752353" y="2507996"/>
            <a:ext cx="477247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K: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M: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66753" y="2507996"/>
            <a:ext cx="1262672" cy="55874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50"/>
              </a:spcBef>
            </a:pP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cop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752352" y="3065779"/>
            <a:ext cx="22738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Integer: 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r>
              <a:rPr sz="1800" spc="-36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ID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590544" y="5413247"/>
            <a:ext cx="4239767" cy="4297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3631721" y="5521851"/>
            <a:ext cx="3985895" cy="171450"/>
          </a:xfrm>
          <a:custGeom>
            <a:avLst/>
            <a:gdLst/>
            <a:ahLst/>
            <a:cxnLst/>
            <a:rect l="l" t="t" r="r" b="b"/>
            <a:pathLst>
              <a:path w="3985895" h="171450">
                <a:moveTo>
                  <a:pt x="3813953" y="114299"/>
                </a:moveTo>
                <a:lnTo>
                  <a:pt x="3813953" y="171449"/>
                </a:lnTo>
                <a:lnTo>
                  <a:pt x="3928253" y="114299"/>
                </a:lnTo>
                <a:lnTo>
                  <a:pt x="3813953" y="114299"/>
                </a:lnTo>
                <a:close/>
              </a:path>
              <a:path w="3985895" h="171450">
                <a:moveTo>
                  <a:pt x="3813953" y="57149"/>
                </a:moveTo>
                <a:lnTo>
                  <a:pt x="3813953" y="114299"/>
                </a:lnTo>
                <a:lnTo>
                  <a:pt x="3842529" y="114299"/>
                </a:lnTo>
                <a:lnTo>
                  <a:pt x="3842529" y="57149"/>
                </a:lnTo>
                <a:lnTo>
                  <a:pt x="3813953" y="57149"/>
                </a:lnTo>
                <a:close/>
              </a:path>
              <a:path w="3985895" h="171450">
                <a:moveTo>
                  <a:pt x="3813953" y="0"/>
                </a:moveTo>
                <a:lnTo>
                  <a:pt x="3813953" y="57149"/>
                </a:lnTo>
                <a:lnTo>
                  <a:pt x="3842529" y="57149"/>
                </a:lnTo>
                <a:lnTo>
                  <a:pt x="3842529" y="114299"/>
                </a:lnTo>
                <a:lnTo>
                  <a:pt x="3928255" y="114299"/>
                </a:lnTo>
                <a:lnTo>
                  <a:pt x="3985403" y="85725"/>
                </a:lnTo>
                <a:lnTo>
                  <a:pt x="3813953" y="0"/>
                </a:lnTo>
                <a:close/>
              </a:path>
              <a:path w="3985895" h="171450">
                <a:moveTo>
                  <a:pt x="0" y="57149"/>
                </a:moveTo>
                <a:lnTo>
                  <a:pt x="0" y="114299"/>
                </a:lnTo>
                <a:lnTo>
                  <a:pt x="3813953" y="114299"/>
                </a:lnTo>
                <a:lnTo>
                  <a:pt x="3813953" y="57149"/>
                </a:lnTo>
                <a:lnTo>
                  <a:pt x="0" y="57149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311548" y="5647435"/>
            <a:ext cx="100294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70" dirty="0">
                <a:solidFill>
                  <a:srgbClr val="AAAAAA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2000" b="1" dirty="0">
                <a:solidFill>
                  <a:srgbClr val="AAAAAA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ime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780" y="190422"/>
            <a:ext cx="9464040" cy="8420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2800" b="1" spc="-5" dirty="0">
                <a:latin typeface="Comic Sans MS" panose="030F0702030302020204" pitchFamily="66" charset="0"/>
              </a:rPr>
              <a:t>EXAMPLE STREAM </a:t>
            </a:r>
            <a:r>
              <a:rPr sz="2800" b="1" dirty="0">
                <a:latin typeface="Comic Sans MS" panose="030F0702030302020204" pitchFamily="66" charset="0"/>
              </a:rPr>
              <a:t>BEHAVIOR FOR VECTOR</a:t>
            </a:r>
            <a:r>
              <a:rPr sz="2800" b="1" spc="-100" dirty="0">
                <a:latin typeface="Comic Sans MS" panose="030F0702030302020204" pitchFamily="66" charset="0"/>
              </a:rPr>
              <a:t> </a:t>
            </a:r>
            <a:r>
              <a:rPr sz="2800" b="1" spc="-5" dirty="0">
                <a:latin typeface="Comic Sans MS" panose="030F0702030302020204" pitchFamily="66" charset="0"/>
              </a:rPr>
              <a:t>MATH</a:t>
            </a:r>
          </a:p>
          <a:p>
            <a:pPr marL="635" algn="ctr">
              <a:lnSpc>
                <a:spcPct val="100000"/>
              </a:lnSpc>
              <a:spcBef>
                <a:spcPts val="280"/>
              </a:spcBef>
            </a:pPr>
            <a:r>
              <a:rPr sz="2000" b="1" dirty="0">
                <a:solidFill>
                  <a:srgbClr val="76B900"/>
                </a:solidFill>
                <a:latin typeface="Comic Sans MS" panose="030F0702030302020204" pitchFamily="66" charset="0"/>
              </a:rPr>
              <a:t>(assumes </a:t>
            </a:r>
            <a:r>
              <a:rPr sz="20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algorithm</a:t>
            </a:r>
            <a:r>
              <a:rPr sz="2000" b="1" spc="-2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b="1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decomposability)</a:t>
            </a:r>
            <a:endParaRPr sz="2000" b="1" dirty="0">
              <a:latin typeface="Comic Sans MS" panose="030F0702030302020204" pitchFamily="66" charset="0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11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029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029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0925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0925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9891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9891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6424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6424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7320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7320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6286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6286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3392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3392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42884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42884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3254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5" y="0"/>
                </a:moveTo>
                <a:lnTo>
                  <a:pt x="0" y="0"/>
                </a:lnTo>
                <a:lnTo>
                  <a:pt x="0" y="360040"/>
                </a:lnTo>
                <a:lnTo>
                  <a:pt x="125375" y="360040"/>
                </a:lnTo>
                <a:lnTo>
                  <a:pt x="125375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3254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9787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39" y="0"/>
                </a:moveTo>
                <a:lnTo>
                  <a:pt x="0" y="0"/>
                </a:lnTo>
                <a:lnTo>
                  <a:pt x="0" y="360041"/>
                </a:lnTo>
                <a:lnTo>
                  <a:pt x="360039" y="360041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97879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0683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0683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9649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5" y="0"/>
                </a:moveTo>
                <a:lnTo>
                  <a:pt x="0" y="0"/>
                </a:lnTo>
                <a:lnTo>
                  <a:pt x="0" y="360040"/>
                </a:lnTo>
                <a:lnTo>
                  <a:pt x="125375" y="360040"/>
                </a:lnTo>
                <a:lnTo>
                  <a:pt x="125375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96493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661828" y="3933426"/>
            <a:ext cx="342900" cy="360045"/>
          </a:xfrm>
          <a:custGeom>
            <a:avLst/>
            <a:gdLst/>
            <a:ahLst/>
            <a:cxnLst/>
            <a:rect l="l" t="t" r="r" b="b"/>
            <a:pathLst>
              <a:path w="342900" h="360045">
                <a:moveTo>
                  <a:pt x="0" y="360041"/>
                </a:moveTo>
                <a:lnTo>
                  <a:pt x="342579" y="360041"/>
                </a:lnTo>
                <a:lnTo>
                  <a:pt x="342579" y="0"/>
                </a:lnTo>
                <a:lnTo>
                  <a:pt x="0" y="0"/>
                </a:lnTo>
                <a:lnTo>
                  <a:pt x="0" y="360041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6182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7078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7078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6044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6044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04408" y="3933426"/>
            <a:ext cx="342900" cy="360045"/>
          </a:xfrm>
          <a:custGeom>
            <a:avLst/>
            <a:gdLst/>
            <a:ahLst/>
            <a:cxnLst/>
            <a:rect l="l" t="t" r="r" b="b"/>
            <a:pathLst>
              <a:path w="342900" h="360045">
                <a:moveTo>
                  <a:pt x="0" y="360041"/>
                </a:moveTo>
                <a:lnTo>
                  <a:pt x="342579" y="360041"/>
                </a:lnTo>
                <a:lnTo>
                  <a:pt x="342579" y="0"/>
                </a:lnTo>
                <a:lnTo>
                  <a:pt x="0" y="0"/>
                </a:lnTo>
                <a:lnTo>
                  <a:pt x="0" y="360041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0440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1336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1336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60302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60302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34698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60041" y="0"/>
                </a:moveTo>
                <a:lnTo>
                  <a:pt x="0" y="0"/>
                </a:lnTo>
                <a:lnTo>
                  <a:pt x="0" y="360041"/>
                </a:lnTo>
                <a:lnTo>
                  <a:pt x="360041" y="360041"/>
                </a:lnTo>
                <a:lnTo>
                  <a:pt x="360041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346988" y="3933426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60040" y="0"/>
                </a:lnTo>
                <a:lnTo>
                  <a:pt x="36004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5594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180019" y="0"/>
                </a:moveTo>
                <a:lnTo>
                  <a:pt x="0" y="0"/>
                </a:lnTo>
                <a:lnTo>
                  <a:pt x="0" y="356389"/>
                </a:lnTo>
                <a:lnTo>
                  <a:pt x="180019" y="356389"/>
                </a:lnTo>
                <a:lnTo>
                  <a:pt x="180019" y="0"/>
                </a:lnTo>
                <a:close/>
              </a:path>
            </a:pathLst>
          </a:custGeom>
          <a:solidFill>
            <a:srgbClr val="FF7B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755943" y="4293467"/>
            <a:ext cx="180340" cy="356870"/>
          </a:xfrm>
          <a:custGeom>
            <a:avLst/>
            <a:gdLst/>
            <a:ahLst/>
            <a:cxnLst/>
            <a:rect l="l" t="t" r="r" b="b"/>
            <a:pathLst>
              <a:path w="180339" h="356870">
                <a:moveTo>
                  <a:pt x="0" y="0"/>
                </a:moveTo>
                <a:lnTo>
                  <a:pt x="180020" y="0"/>
                </a:lnTo>
                <a:lnTo>
                  <a:pt x="180020" y="356390"/>
                </a:lnTo>
                <a:lnTo>
                  <a:pt x="0" y="35639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94560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125374" y="0"/>
                </a:moveTo>
                <a:lnTo>
                  <a:pt x="0" y="0"/>
                </a:lnTo>
                <a:lnTo>
                  <a:pt x="0" y="360040"/>
                </a:lnTo>
                <a:lnTo>
                  <a:pt x="125374" y="360040"/>
                </a:lnTo>
                <a:lnTo>
                  <a:pt x="125374" y="0"/>
                </a:lnTo>
                <a:close/>
              </a:path>
            </a:pathLst>
          </a:custGeom>
          <a:solidFill>
            <a:srgbClr val="43A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945604" y="4613381"/>
            <a:ext cx="125730" cy="360045"/>
          </a:xfrm>
          <a:custGeom>
            <a:avLst/>
            <a:gdLst/>
            <a:ahLst/>
            <a:cxnLst/>
            <a:rect l="l" t="t" r="r" b="b"/>
            <a:pathLst>
              <a:path w="125729" h="360045">
                <a:moveTo>
                  <a:pt x="0" y="0"/>
                </a:moveTo>
                <a:lnTo>
                  <a:pt x="125375" y="0"/>
                </a:lnTo>
                <a:lnTo>
                  <a:pt x="125375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953511" y="3508247"/>
            <a:ext cx="1389888" cy="19171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994043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6"/>
                </a:moveTo>
                <a:lnTo>
                  <a:pt x="1156646" y="1715617"/>
                </a:lnTo>
                <a:lnTo>
                  <a:pt x="1231506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6"/>
                </a:lnTo>
                <a:close/>
              </a:path>
              <a:path w="1231900" h="1756410">
                <a:moveTo>
                  <a:pt x="1198299" y="1686536"/>
                </a:moveTo>
                <a:lnTo>
                  <a:pt x="1177473" y="1701076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299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299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6"/>
                </a:lnTo>
                <a:lnTo>
                  <a:pt x="1198299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19271" y="3508247"/>
            <a:ext cx="1389888" cy="1917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359437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91128" y="3508247"/>
            <a:ext cx="1392936" cy="19171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733855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6"/>
                </a:moveTo>
                <a:lnTo>
                  <a:pt x="1156646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6"/>
                </a:lnTo>
                <a:close/>
              </a:path>
              <a:path w="1231900" h="1756410">
                <a:moveTo>
                  <a:pt x="1198299" y="1686536"/>
                </a:moveTo>
                <a:lnTo>
                  <a:pt x="1177473" y="1701076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299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299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6"/>
                </a:lnTo>
                <a:lnTo>
                  <a:pt x="1198299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041647" y="3508247"/>
            <a:ext cx="1389888" cy="19171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082294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401311" y="3508247"/>
            <a:ext cx="1392936" cy="19171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443157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6"/>
                </a:moveTo>
                <a:lnTo>
                  <a:pt x="1156646" y="1715617"/>
                </a:lnTo>
                <a:lnTo>
                  <a:pt x="1231506" y="1756286"/>
                </a:lnTo>
                <a:lnTo>
                  <a:pt x="1224926" y="1711492"/>
                </a:lnTo>
                <a:lnTo>
                  <a:pt x="1184744" y="1711492"/>
                </a:lnTo>
                <a:lnTo>
                  <a:pt x="1177473" y="1701076"/>
                </a:lnTo>
                <a:close/>
              </a:path>
              <a:path w="1231900" h="1756410">
                <a:moveTo>
                  <a:pt x="1198298" y="1686536"/>
                </a:moveTo>
                <a:lnTo>
                  <a:pt x="1177473" y="1701076"/>
                </a:lnTo>
                <a:lnTo>
                  <a:pt x="1184744" y="1711492"/>
                </a:lnTo>
                <a:lnTo>
                  <a:pt x="1205570" y="1696952"/>
                </a:lnTo>
                <a:lnTo>
                  <a:pt x="1198298" y="1686536"/>
                </a:lnTo>
                <a:close/>
              </a:path>
              <a:path w="1231900" h="1756410">
                <a:moveTo>
                  <a:pt x="1219125" y="1671996"/>
                </a:moveTo>
                <a:lnTo>
                  <a:pt x="1198298" y="1686536"/>
                </a:lnTo>
                <a:lnTo>
                  <a:pt x="1205570" y="1696952"/>
                </a:lnTo>
                <a:lnTo>
                  <a:pt x="1184744" y="1711492"/>
                </a:lnTo>
                <a:lnTo>
                  <a:pt x="1224926" y="1711492"/>
                </a:lnTo>
                <a:lnTo>
                  <a:pt x="1219125" y="1671996"/>
                </a:lnTo>
                <a:close/>
              </a:path>
              <a:path w="1231900" h="1756410">
                <a:moveTo>
                  <a:pt x="20825" y="0"/>
                </a:moveTo>
                <a:lnTo>
                  <a:pt x="0" y="14540"/>
                </a:lnTo>
                <a:lnTo>
                  <a:pt x="1177473" y="1701076"/>
                </a:lnTo>
                <a:lnTo>
                  <a:pt x="1198298" y="1686536"/>
                </a:lnTo>
                <a:lnTo>
                  <a:pt x="20825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767071" y="3508247"/>
            <a:ext cx="1389888" cy="19171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807106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074920" y="3508247"/>
            <a:ext cx="1392936" cy="19171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117960" y="3529591"/>
            <a:ext cx="1231900" cy="1756410"/>
          </a:xfrm>
          <a:custGeom>
            <a:avLst/>
            <a:gdLst/>
            <a:ahLst/>
            <a:cxnLst/>
            <a:rect l="l" t="t" r="r" b="b"/>
            <a:pathLst>
              <a:path w="1231900" h="1756410">
                <a:moveTo>
                  <a:pt x="1177473" y="1701077"/>
                </a:moveTo>
                <a:lnTo>
                  <a:pt x="1156647" y="1715617"/>
                </a:lnTo>
                <a:lnTo>
                  <a:pt x="1231507" y="1756286"/>
                </a:lnTo>
                <a:lnTo>
                  <a:pt x="1224927" y="1711492"/>
                </a:lnTo>
                <a:lnTo>
                  <a:pt x="1184744" y="1711492"/>
                </a:lnTo>
                <a:lnTo>
                  <a:pt x="1177473" y="1701077"/>
                </a:lnTo>
                <a:close/>
              </a:path>
              <a:path w="1231900" h="1756410">
                <a:moveTo>
                  <a:pt x="1198300" y="1686536"/>
                </a:moveTo>
                <a:lnTo>
                  <a:pt x="1177473" y="1701077"/>
                </a:lnTo>
                <a:lnTo>
                  <a:pt x="1184744" y="1711492"/>
                </a:lnTo>
                <a:lnTo>
                  <a:pt x="1205571" y="1696952"/>
                </a:lnTo>
                <a:lnTo>
                  <a:pt x="1198300" y="1686536"/>
                </a:lnTo>
                <a:close/>
              </a:path>
              <a:path w="1231900" h="1756410">
                <a:moveTo>
                  <a:pt x="1219126" y="1671996"/>
                </a:moveTo>
                <a:lnTo>
                  <a:pt x="1198300" y="1686536"/>
                </a:lnTo>
                <a:lnTo>
                  <a:pt x="1205571" y="1696952"/>
                </a:lnTo>
                <a:lnTo>
                  <a:pt x="1184744" y="1711492"/>
                </a:lnTo>
                <a:lnTo>
                  <a:pt x="1224927" y="1711492"/>
                </a:lnTo>
                <a:lnTo>
                  <a:pt x="1219126" y="1671996"/>
                </a:lnTo>
                <a:close/>
              </a:path>
              <a:path w="1231900" h="1756410">
                <a:moveTo>
                  <a:pt x="20826" y="0"/>
                </a:moveTo>
                <a:lnTo>
                  <a:pt x="0" y="14540"/>
                </a:lnTo>
                <a:lnTo>
                  <a:pt x="1177473" y="1701077"/>
                </a:lnTo>
                <a:lnTo>
                  <a:pt x="1198300" y="1686536"/>
                </a:lnTo>
                <a:lnTo>
                  <a:pt x="20826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160932" y="1588229"/>
          <a:ext cx="5307964" cy="16346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5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marL="55308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H-&gt;D copy</a:t>
                      </a:r>
                      <a:endParaRPr sz="2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6525" marB="0">
                    <a:lnL w="28575">
                      <a:solidFill>
                        <a:srgbClr val="006047"/>
                      </a:solidFill>
                      <a:prstDash val="solid"/>
                    </a:lnL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  <a:lnB w="28575">
                      <a:solidFill>
                        <a:srgbClr val="006047"/>
                      </a:solidFill>
                      <a:prstDash val="solid"/>
                    </a:lnB>
                    <a:solidFill>
                      <a:srgbClr val="76B90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6047"/>
                      </a:solidFill>
                      <a:prstDash val="solid"/>
                    </a:lnL>
                    <a:lnB w="28575">
                      <a:solidFill>
                        <a:srgbClr val="00604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9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kernel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63195" marB="0">
                    <a:lnL w="28575">
                      <a:solidFill>
                        <a:srgbClr val="006047"/>
                      </a:solidFill>
                      <a:prstDash val="solid"/>
                    </a:lnL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  <a:lnB w="28575">
                      <a:solidFill>
                        <a:srgbClr val="006047"/>
                      </a:solidFill>
                      <a:prstDash val="solid"/>
                    </a:lnB>
                    <a:solidFill>
                      <a:srgbClr val="FF7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6047"/>
                      </a:solidFill>
                      <a:prstDash val="solid"/>
                    </a:lnL>
                    <a:lnB w="28575">
                      <a:solidFill>
                        <a:srgbClr val="0060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65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6047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D-&gt;H</a:t>
                      </a:r>
                      <a:r>
                        <a:rPr sz="20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spc="-5" dirty="0">
                          <a:latin typeface="Arial" panose="020B0604020202020204"/>
                          <a:cs typeface="Arial" panose="020B0604020202020204"/>
                        </a:rPr>
                        <a:t>copy</a:t>
                      </a:r>
                      <a:endParaRPr sz="2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1285" marB="0">
                    <a:lnL w="28575">
                      <a:solidFill>
                        <a:srgbClr val="006047"/>
                      </a:solidFill>
                      <a:prstDash val="solid"/>
                    </a:lnL>
                    <a:lnR w="28575">
                      <a:solidFill>
                        <a:srgbClr val="006047"/>
                      </a:solidFill>
                      <a:prstDash val="solid"/>
                    </a:lnR>
                    <a:lnT w="28575">
                      <a:solidFill>
                        <a:srgbClr val="006047"/>
                      </a:solidFill>
                      <a:prstDash val="solid"/>
                    </a:lnT>
                    <a:lnB w="28575">
                      <a:solidFill>
                        <a:srgbClr val="006047"/>
                      </a:solidFill>
                      <a:prstDash val="solid"/>
                    </a:lnB>
                    <a:solidFill>
                      <a:srgbClr val="43A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1394658" y="3257804"/>
            <a:ext cx="131409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r>
              <a:rPr sz="2000" spc="-6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ID: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31562" y="3257804"/>
            <a:ext cx="218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565" algn="l"/>
                <a:tab pos="710565" algn="l"/>
                <a:tab pos="1028065" algn="l"/>
                <a:tab pos="1409065" algn="l"/>
                <a:tab pos="1725930" algn="l"/>
                <a:tab pos="2043430" algn="l"/>
              </a:tabLst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0	1	0	1	0	1	0</a:t>
            </a:r>
            <a:endParaRPr sz="18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06183" y="2740151"/>
            <a:ext cx="4099560" cy="4724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875615" y="1755402"/>
            <a:ext cx="3458845" cy="1374140"/>
          </a:xfrm>
          <a:custGeom>
            <a:avLst/>
            <a:gdLst/>
            <a:ahLst/>
            <a:cxnLst/>
            <a:rect l="l" t="t" r="r" b="b"/>
            <a:pathLst>
              <a:path w="3458845" h="1374139">
                <a:moveTo>
                  <a:pt x="3419768" y="0"/>
                </a:moveTo>
                <a:lnTo>
                  <a:pt x="0" y="0"/>
                </a:lnTo>
                <a:lnTo>
                  <a:pt x="0" y="1334758"/>
                </a:lnTo>
                <a:lnTo>
                  <a:pt x="39002" y="1373760"/>
                </a:lnTo>
                <a:lnTo>
                  <a:pt x="3458770" y="1373760"/>
                </a:lnTo>
                <a:lnTo>
                  <a:pt x="3458770" y="39001"/>
                </a:lnTo>
                <a:lnTo>
                  <a:pt x="3419768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875615" y="1755402"/>
            <a:ext cx="3458845" cy="1374140"/>
          </a:xfrm>
          <a:custGeom>
            <a:avLst/>
            <a:gdLst/>
            <a:ahLst/>
            <a:cxnLst/>
            <a:rect l="l" t="t" r="r" b="b"/>
            <a:pathLst>
              <a:path w="3458845" h="1374139">
                <a:moveTo>
                  <a:pt x="0" y="0"/>
                </a:moveTo>
                <a:lnTo>
                  <a:pt x="3419768" y="0"/>
                </a:lnTo>
                <a:lnTo>
                  <a:pt x="3458770" y="39002"/>
                </a:lnTo>
                <a:lnTo>
                  <a:pt x="3458770" y="1373760"/>
                </a:lnTo>
                <a:lnTo>
                  <a:pt x="39001" y="1373760"/>
                </a:lnTo>
                <a:lnTo>
                  <a:pt x="0" y="133475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376415" y="5260847"/>
            <a:ext cx="4593336" cy="7467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326814" y="3421733"/>
            <a:ext cx="4197350" cy="2565400"/>
          </a:xfrm>
          <a:custGeom>
            <a:avLst/>
            <a:gdLst/>
            <a:ahLst/>
            <a:cxnLst/>
            <a:rect l="l" t="t" r="r" b="b"/>
            <a:pathLst>
              <a:path w="4197350" h="2565400">
                <a:moveTo>
                  <a:pt x="4123993" y="0"/>
                </a:moveTo>
                <a:lnTo>
                  <a:pt x="0" y="0"/>
                </a:lnTo>
                <a:lnTo>
                  <a:pt x="0" y="2492336"/>
                </a:lnTo>
                <a:lnTo>
                  <a:pt x="72824" y="2565161"/>
                </a:lnTo>
                <a:lnTo>
                  <a:pt x="4196819" y="2565161"/>
                </a:lnTo>
                <a:lnTo>
                  <a:pt x="4196819" y="72825"/>
                </a:lnTo>
                <a:lnTo>
                  <a:pt x="4123993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430747" y="3359863"/>
            <a:ext cx="4197350" cy="2565400"/>
          </a:xfrm>
          <a:custGeom>
            <a:avLst/>
            <a:gdLst/>
            <a:ahLst/>
            <a:cxnLst/>
            <a:rect l="l" t="t" r="r" b="b"/>
            <a:pathLst>
              <a:path w="4197350" h="2565400">
                <a:moveTo>
                  <a:pt x="0" y="0"/>
                </a:moveTo>
                <a:lnTo>
                  <a:pt x="4123994" y="0"/>
                </a:lnTo>
                <a:lnTo>
                  <a:pt x="4196819" y="72824"/>
                </a:lnTo>
                <a:lnTo>
                  <a:pt x="4196819" y="2565161"/>
                </a:lnTo>
                <a:lnTo>
                  <a:pt x="72824" y="2565161"/>
                </a:lnTo>
                <a:lnTo>
                  <a:pt x="0" y="24923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545888" y="3336035"/>
            <a:ext cx="877569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5425" marR="5080" indent="-212725" algn="just">
              <a:lnSpc>
                <a:spcPct val="101000"/>
              </a:lnSpc>
              <a:spcBef>
                <a:spcPts val="75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for</a:t>
            </a:r>
            <a:r>
              <a:rPr sz="1400" spc="-105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int  size_t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size_t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03151" y="3336035"/>
            <a:ext cx="664845" cy="67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i =</a:t>
            </a:r>
            <a:r>
              <a:rPr sz="1400" spc="-13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0,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5080">
              <a:lnSpc>
                <a:spcPct val="101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offx</a:t>
            </a:r>
            <a:r>
              <a:rPr sz="1400" spc="-10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=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offy</a:t>
            </a:r>
            <a:r>
              <a:rPr sz="1400" spc="-10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=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70377" y="3346126"/>
            <a:ext cx="1409065" cy="671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-635">
              <a:lnSpc>
                <a:spcPct val="101000"/>
              </a:lnSpc>
              <a:spcBef>
                <a:spcPts val="75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i&lt;c; i++){  (size_x/c)*i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;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(size_y/c)*i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;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6772600" y="4017956"/>
            <a:ext cx="4131809" cy="1947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8000"/>
              </a:lnSpc>
              <a:spcBef>
                <a:spcPts val="135"/>
              </a:spcBef>
            </a:pP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cudaMemcpyAsync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d_x+offx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h_x+offx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 </a:t>
            </a:r>
            <a:r>
              <a:rPr lang="en-US" altLang="zh-CN" sz="1400" spc="-10" dirty="0">
                <a:latin typeface="Comic Sans MS" panose="030F0702030302020204" pitchFamily="66" charset="0"/>
                <a:cs typeface="Lucida Console" panose="020B0609040504020204"/>
              </a:rPr>
              <a:t> 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size_x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/c, </a:t>
            </a: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cudaMemcpyHostToDevice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,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stream[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i%ns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]);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217805">
              <a:lnSpc>
                <a:spcPct val="101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Kernel&lt;&lt;&lt;b/c,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0,  stream[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i%ns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]&gt;&gt;&gt;</a:t>
            </a:r>
            <a:r>
              <a:rPr lang="en-US" altLang="zh-CN" sz="1400" spc="-1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d_x+offx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d_y+offy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  N/c);</a:t>
            </a:r>
            <a:endParaRPr lang="en-US" altLang="zh-CN"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217805">
              <a:lnSpc>
                <a:spcPct val="101000"/>
              </a:lnSpc>
            </a:pP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cudaMemcpyAsync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h_y+offy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8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d_y+offy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430530">
              <a:lnSpc>
                <a:spcPct val="101000"/>
              </a:lnSpc>
            </a:pP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size_y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/c, </a:t>
            </a: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cudaMemcpyDeviceToHost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, 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stream[</a:t>
            </a:r>
            <a:r>
              <a:rPr sz="1400" spc="-10" dirty="0" err="1">
                <a:latin typeface="Comic Sans MS" panose="030F0702030302020204" pitchFamily="66" charset="0"/>
                <a:cs typeface="Lucida Console" panose="020B0609040504020204"/>
              </a:rPr>
              <a:t>i%ns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]);</a:t>
            </a:r>
            <a:endParaRPr lang="en-US" altLang="zh-CN" sz="1400" spc="-1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430530">
              <a:lnSpc>
                <a:spcPct val="101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973847" y="1429003"/>
            <a:ext cx="321691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non-streamed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5080">
              <a:lnSpc>
                <a:spcPct val="100000"/>
              </a:lnSpc>
              <a:spcBef>
                <a:spcPts val="1405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(d_x, h_x, size_x,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cudaMemcpyHostToDevice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);  Kernel&lt;&lt;&lt;b, t&gt;&gt;&gt;(d_x, d_y, N);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(h_y, d_y, size_y,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cudaMemcpyDeviceToHost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842010">
              <a:lnSpc>
                <a:spcPct val="100000"/>
              </a:lnSpc>
              <a:spcBef>
                <a:spcPts val="780"/>
              </a:spcBef>
            </a:pPr>
            <a:r>
              <a:rPr sz="18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streamed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27379" y="5478779"/>
            <a:ext cx="504767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Similar: video processing</a:t>
            </a:r>
            <a:r>
              <a:rPr sz="2400" b="1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pipeline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113983"/>
            <a:ext cx="4546600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omic Sans MS" panose="030F0702030302020204" pitchFamily="66" charset="0"/>
              </a:rPr>
              <a:t>DEFAULT</a:t>
            </a:r>
            <a:r>
              <a:rPr b="1" spc="-75" dirty="0">
                <a:latin typeface="Comic Sans MS" panose="030F0702030302020204" pitchFamily="66" charset="0"/>
              </a:rPr>
              <a:t> </a:t>
            </a:r>
            <a:r>
              <a:rPr b="1" spc="-5" dirty="0">
                <a:latin typeface="Comic Sans MS" panose="030F0702030302020204" pitchFamily="66" charset="0"/>
              </a:rPr>
              <a:t>STREAM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12"/>
          </p:nvPr>
        </p:nvSpPr>
        <p:spPr>
          <a:xfrm>
            <a:off x="7736742" y="5020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12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41060" y="1461246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917986" y="0"/>
                </a:moveTo>
                <a:lnTo>
                  <a:pt x="0" y="0"/>
                </a:lnTo>
                <a:lnTo>
                  <a:pt x="0" y="152398"/>
                </a:lnTo>
                <a:lnTo>
                  <a:pt x="917986" y="152398"/>
                </a:lnTo>
                <a:lnTo>
                  <a:pt x="91798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41060" y="1461246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0" y="0"/>
                </a:moveTo>
                <a:lnTo>
                  <a:pt x="917987" y="0"/>
                </a:lnTo>
                <a:lnTo>
                  <a:pt x="917987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14946" y="1631577"/>
            <a:ext cx="1906270" cy="188595"/>
          </a:xfrm>
          <a:custGeom>
            <a:avLst/>
            <a:gdLst/>
            <a:ahLst/>
            <a:cxnLst/>
            <a:rect l="l" t="t" r="r" b="b"/>
            <a:pathLst>
              <a:path w="1906270" h="188594">
                <a:moveTo>
                  <a:pt x="1906156" y="0"/>
                </a:moveTo>
                <a:lnTo>
                  <a:pt x="0" y="0"/>
                </a:lnTo>
                <a:lnTo>
                  <a:pt x="0" y="188255"/>
                </a:lnTo>
                <a:lnTo>
                  <a:pt x="1906156" y="188255"/>
                </a:lnTo>
                <a:lnTo>
                  <a:pt x="190615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14946" y="1631577"/>
            <a:ext cx="1906270" cy="188595"/>
          </a:xfrm>
          <a:custGeom>
            <a:avLst/>
            <a:gdLst/>
            <a:ahLst/>
            <a:cxnLst/>
            <a:rect l="l" t="t" r="r" b="b"/>
            <a:pathLst>
              <a:path w="1906270" h="188594">
                <a:moveTo>
                  <a:pt x="0" y="0"/>
                </a:moveTo>
                <a:lnTo>
                  <a:pt x="1906157" y="0"/>
                </a:lnTo>
                <a:lnTo>
                  <a:pt x="1906157" y="188256"/>
                </a:lnTo>
                <a:lnTo>
                  <a:pt x="0" y="18825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53143" y="1834004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917986" y="0"/>
                </a:moveTo>
                <a:lnTo>
                  <a:pt x="0" y="0"/>
                </a:lnTo>
                <a:lnTo>
                  <a:pt x="0" y="152400"/>
                </a:lnTo>
                <a:lnTo>
                  <a:pt x="917986" y="152400"/>
                </a:lnTo>
                <a:lnTo>
                  <a:pt x="91798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53143" y="1834004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0" y="0"/>
                </a:moveTo>
                <a:lnTo>
                  <a:pt x="917987" y="0"/>
                </a:lnTo>
                <a:lnTo>
                  <a:pt x="917987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54647" y="1669315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917986" y="0"/>
                </a:moveTo>
                <a:lnTo>
                  <a:pt x="0" y="0"/>
                </a:lnTo>
                <a:lnTo>
                  <a:pt x="0" y="152398"/>
                </a:lnTo>
                <a:lnTo>
                  <a:pt x="917986" y="152398"/>
                </a:lnTo>
                <a:lnTo>
                  <a:pt x="917986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54647" y="1669315"/>
            <a:ext cx="918210" cy="152400"/>
          </a:xfrm>
          <a:custGeom>
            <a:avLst/>
            <a:gdLst/>
            <a:ahLst/>
            <a:cxnLst/>
            <a:rect l="l" t="t" r="r" b="b"/>
            <a:pathLst>
              <a:path w="918210" h="152400">
                <a:moveTo>
                  <a:pt x="0" y="0"/>
                </a:moveTo>
                <a:lnTo>
                  <a:pt x="917987" y="0"/>
                </a:lnTo>
                <a:lnTo>
                  <a:pt x="917987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236542" y="1468899"/>
            <a:ext cx="2296160" cy="152400"/>
          </a:xfrm>
          <a:custGeom>
            <a:avLst/>
            <a:gdLst/>
            <a:ahLst/>
            <a:cxnLst/>
            <a:rect l="l" t="t" r="r" b="b"/>
            <a:pathLst>
              <a:path w="2296159" h="152400">
                <a:moveTo>
                  <a:pt x="2295601" y="0"/>
                </a:moveTo>
                <a:lnTo>
                  <a:pt x="0" y="0"/>
                </a:lnTo>
                <a:lnTo>
                  <a:pt x="0" y="152398"/>
                </a:lnTo>
                <a:lnTo>
                  <a:pt x="2295601" y="152398"/>
                </a:lnTo>
                <a:lnTo>
                  <a:pt x="2295601" y="0"/>
                </a:lnTo>
                <a:close/>
              </a:path>
            </a:pathLst>
          </a:custGeom>
          <a:solidFill>
            <a:srgbClr val="0071C5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36542" y="1468899"/>
            <a:ext cx="2296160" cy="152400"/>
          </a:xfrm>
          <a:custGeom>
            <a:avLst/>
            <a:gdLst/>
            <a:ahLst/>
            <a:cxnLst/>
            <a:rect l="l" t="t" r="r" b="b"/>
            <a:pathLst>
              <a:path w="2296159" h="152400">
                <a:moveTo>
                  <a:pt x="0" y="0"/>
                </a:moveTo>
                <a:lnTo>
                  <a:pt x="2295601" y="0"/>
                </a:lnTo>
                <a:lnTo>
                  <a:pt x="2295601" y="152399"/>
                </a:lnTo>
                <a:lnTo>
                  <a:pt x="0" y="1523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519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36370" y="1389537"/>
            <a:ext cx="0" cy="720090"/>
          </a:xfrm>
          <a:custGeom>
            <a:avLst/>
            <a:gdLst/>
            <a:ahLst/>
            <a:cxnLst/>
            <a:rect l="l" t="t" r="r" b="b"/>
            <a:pathLst>
              <a:path h="720089">
                <a:moveTo>
                  <a:pt x="0" y="0"/>
                </a:moveTo>
                <a:lnTo>
                  <a:pt x="1" y="719482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90386" y="1389537"/>
            <a:ext cx="0" cy="720090"/>
          </a:xfrm>
          <a:custGeom>
            <a:avLst/>
            <a:gdLst/>
            <a:ahLst/>
            <a:cxnLst/>
            <a:rect l="l" t="t" r="r" b="b"/>
            <a:pathLst>
              <a:path h="720089">
                <a:moveTo>
                  <a:pt x="0" y="0"/>
                </a:moveTo>
                <a:lnTo>
                  <a:pt x="1" y="719482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25502" y="1426464"/>
            <a:ext cx="8577072" cy="109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25502" y="1461246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25502" y="1578864"/>
            <a:ext cx="8577072" cy="109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25502" y="1613646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25502" y="1615439"/>
            <a:ext cx="8577072" cy="109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25502" y="1649505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8C8C8C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625502" y="1767839"/>
            <a:ext cx="8577072" cy="109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25502" y="1801905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625502" y="1804416"/>
            <a:ext cx="8577072" cy="1066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625502" y="1837763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25502" y="1956816"/>
            <a:ext cx="8577072" cy="1066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625502" y="1990163"/>
            <a:ext cx="8481060" cy="0"/>
          </a:xfrm>
          <a:custGeom>
            <a:avLst/>
            <a:gdLst/>
            <a:ahLst/>
            <a:cxnLst/>
            <a:rect l="l" t="t" r="r" b="b"/>
            <a:pathLst>
              <a:path w="8481060">
                <a:moveTo>
                  <a:pt x="0" y="0"/>
                </a:moveTo>
                <a:lnTo>
                  <a:pt x="8480611" y="1"/>
                </a:lnTo>
              </a:path>
            </a:pathLst>
          </a:custGeom>
          <a:ln w="2540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1" name="object 12"/>
          <p:cNvSpPr txBox="1"/>
          <p:nvPr/>
        </p:nvSpPr>
        <p:spPr>
          <a:xfrm>
            <a:off x="330102" y="952500"/>
            <a:ext cx="10312595" cy="479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61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Kernels or </a:t>
            </a:r>
            <a:r>
              <a:rPr sz="1600" spc="-1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…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do not specify stream (or use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0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stream)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are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using the </a:t>
            </a:r>
            <a:r>
              <a:rPr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z="1600" spc="1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135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435610" indent="-285750">
              <a:lnSpc>
                <a:spcPts val="1565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Legacy default stream behavior: synchronizing (on the</a:t>
            </a:r>
            <a:r>
              <a:rPr sz="1600" spc="2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device):</a:t>
            </a:r>
            <a:endParaRPr lang="en-US" sz="160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49860">
              <a:lnSpc>
                <a:spcPts val="1565"/>
              </a:lnSpc>
            </a:pPr>
            <a:r>
              <a:rPr lang="en-US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     </a:t>
            </a: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r>
              <a:rPr sz="1400" spc="-9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Arial" panose="020B0604020202020204"/>
              </a:rPr>
              <a:t>1</a:t>
            </a:r>
          </a:p>
          <a:p>
            <a:pPr marL="12700" marR="7535545">
              <a:lnSpc>
                <a:spcPts val="1420"/>
              </a:lnSpc>
              <a:spcBef>
                <a:spcPts val="40"/>
              </a:spcBef>
            </a:pPr>
            <a:r>
              <a:rPr lang="en-US" sz="1400" spc="-5" dirty="0">
                <a:latin typeface="Comic Sans MS" panose="030F0702030302020204" pitchFamily="66" charset="0"/>
                <a:cs typeface="Arial" panose="020B0604020202020204"/>
              </a:rPr>
              <a:t>        </a:t>
            </a: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r>
              <a:rPr sz="1400" spc="-8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Arial" panose="020B0604020202020204"/>
              </a:rPr>
              <a:t>2  </a:t>
            </a:r>
            <a:endParaRPr lang="en-US" sz="1400" dirty="0">
              <a:latin typeface="Comic Sans MS" panose="030F0702030302020204" pitchFamily="66" charset="0"/>
              <a:cs typeface="Arial" panose="020B0604020202020204"/>
            </a:endParaRPr>
          </a:p>
          <a:p>
            <a:pPr marL="12700" marR="7535545">
              <a:lnSpc>
                <a:spcPts val="1420"/>
              </a:lnSpc>
              <a:spcBef>
                <a:spcPts val="40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Default</a:t>
            </a:r>
            <a:r>
              <a:rPr sz="1400" spc="-6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stream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  <a:p>
            <a:pPr marL="1005205" indent="-285750"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 device activity issued prior to the item in the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must complete before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item</a:t>
            </a:r>
            <a:r>
              <a:rPr spc="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begins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marR="46609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 device activity issued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after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item in the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wait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the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item to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finish  </a:t>
            </a:r>
            <a:endParaRPr lang="en-US" spc="-1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marR="46609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 host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share the same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for legacy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behavior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30"/>
              </a:spcBef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indent="-285750"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Consider avoiding use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during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complex concurrency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scenarios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43561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Behavior can be modified to convert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“ordinary”</a:t>
            </a:r>
            <a:r>
              <a:rPr sz="1600" spc="3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nvcc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--default-stream per-thread</a:t>
            </a:r>
            <a:r>
              <a:rPr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…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0520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Each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host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 will get its own “ordinary”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79" y="266584"/>
            <a:ext cx="9267032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 panose="030F0702030302020204" pitchFamily="66" charset="0"/>
              </a:rPr>
              <a:t>CUDALAUNCHHOSTFUNC() (STREAM</a:t>
            </a:r>
            <a:r>
              <a:rPr sz="2400" spc="-25" dirty="0">
                <a:latin typeface="Comic Sans MS" panose="030F0702030302020204" pitchFamily="66" charset="0"/>
              </a:rPr>
              <a:t> </a:t>
            </a:r>
            <a:r>
              <a:rPr sz="2400" spc="-5" dirty="0">
                <a:latin typeface="Comic Sans MS" panose="030F0702030302020204" pitchFamily="66" charset="0"/>
              </a:rPr>
              <a:t>“CALLBACKS”)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13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417901" y="1718674"/>
            <a:ext cx="10521703" cy="2734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Allows definition of 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host-code function that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into a CUDA</a:t>
            </a:r>
            <a:r>
              <a:rPr spc="8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Follows stream semantics: function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not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called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until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execution reaches that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point  </a:t>
            </a:r>
            <a:endParaRPr lang="en-US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 spawned by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driver 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perform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pc="5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work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451485" indent="-285750">
              <a:lnSpc>
                <a:spcPts val="36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Has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limitations: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do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not use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runtime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API calls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(or kernel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launches)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the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function  </a:t>
            </a:r>
            <a:endParaRPr lang="en-US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451485" indent="-285750">
              <a:lnSpc>
                <a:spcPts val="36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Useful for deferring CPU work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until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results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are</a:t>
            </a:r>
            <a:r>
              <a:rPr spc="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ready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cudaLaunchHostFunc() replaces legacy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cudaStreamAddCallback()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1179689" y="5460915"/>
            <a:ext cx="63500" cy="8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7092" y="1355345"/>
            <a:ext cx="9538616" cy="4349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Follow same pattern, except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cudaMemPrefetchAsync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instead of</a:t>
            </a:r>
            <a:r>
              <a:rPr spc="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8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semantics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guarantee that any needed migrations are performed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proper</a:t>
            </a:r>
            <a:r>
              <a:rPr spc="14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order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1435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However,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cudaMemPrefetchAsync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has more work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do than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cudaMemcpyAsync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(updating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page  tables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CPU and</a:t>
            </a:r>
            <a:r>
              <a:rPr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278130" indent="-285750">
              <a:lnSpc>
                <a:spcPts val="17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means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 can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take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substantially more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time to return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than an “ordinary” async call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–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can  introduce unexpected gaps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</a:t>
            </a:r>
            <a:r>
              <a:rPr spc="2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timeline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ts val="18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Behavior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varies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“busy” streams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vs. idle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streams.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Counterintuitively,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“busy” streams may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result in 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better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throughput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4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Read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about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it: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595"/>
              </a:spcBef>
              <a:buFont typeface="Arial" panose="020B0604020202020204" pitchFamily="34" charset="0"/>
              <a:buChar char="•"/>
            </a:pP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https://devblogs.nvidia.com/maximizing-</a:t>
            </a:r>
            <a:r>
              <a:rPr sz="1600" u="sng" spc="-5" dirty="0">
                <a:solidFill>
                  <a:srgbClr val="FF00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unified-memory</a:t>
            </a: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-performance-cuda/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7200" y="297271"/>
            <a:ext cx="10134599" cy="7804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2400" spc="-5" dirty="0">
                <a:latin typeface="Comic Sans MS" panose="030F0702030302020204" pitchFamily="66" charset="0"/>
              </a:rPr>
              <a:t>COPY-COMPUTE OVERLAP WITH </a:t>
            </a:r>
            <a:r>
              <a:rPr lang="en-US" altLang="zh-CN" sz="2400" spc="-5" dirty="0">
                <a:latin typeface="Comic Sans MS" panose="030F0702030302020204" pitchFamily="66" charset="0"/>
              </a:rPr>
              <a:t>UNIFIED</a:t>
            </a:r>
            <a:r>
              <a:rPr sz="2400" spc="-10" dirty="0">
                <a:latin typeface="Comic Sans MS" panose="030F0702030302020204" pitchFamily="66" charset="0"/>
              </a:rPr>
              <a:t> </a:t>
            </a:r>
            <a:r>
              <a:rPr sz="2400" spc="-5" dirty="0">
                <a:latin typeface="Comic Sans MS" panose="030F0702030302020204" pitchFamily="66" charset="0"/>
              </a:rPr>
              <a:t>MEMORY</a:t>
            </a: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In particular, with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demand-paging</a:t>
            </a:r>
            <a:endParaRPr sz="200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9070" y="145056"/>
            <a:ext cx="52515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ASIDE:</a:t>
            </a:r>
            <a:r>
              <a:rPr sz="3200" spc="-7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CUDAEVENT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15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2882" y="849968"/>
            <a:ext cx="10451605" cy="2224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entity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can be placed as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“marker”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a</a:t>
            </a:r>
            <a:r>
              <a:rPr spc="9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8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said 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“recorded” when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is</a:t>
            </a:r>
            <a:r>
              <a:rPr spc="7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said to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“completed” when stream execution reaches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point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where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was recorded  </a:t>
            </a:r>
            <a:endParaRPr lang="en-US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ct val="1830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Most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common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use:</a:t>
            </a:r>
            <a:r>
              <a:rPr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timing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6863" y="4334255"/>
            <a:ext cx="9762744" cy="579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0274" y="2997067"/>
            <a:ext cx="8964930" cy="1831339"/>
          </a:xfrm>
          <a:custGeom>
            <a:avLst/>
            <a:gdLst/>
            <a:ahLst/>
            <a:cxnLst/>
            <a:rect l="l" t="t" r="r" b="b"/>
            <a:pathLst>
              <a:path w="8964930" h="1831339">
                <a:moveTo>
                  <a:pt x="8912715" y="0"/>
                </a:moveTo>
                <a:lnTo>
                  <a:pt x="0" y="0"/>
                </a:lnTo>
                <a:lnTo>
                  <a:pt x="0" y="1779319"/>
                </a:lnTo>
                <a:lnTo>
                  <a:pt x="51990" y="1831309"/>
                </a:lnTo>
                <a:lnTo>
                  <a:pt x="8964705" y="1831309"/>
                </a:lnTo>
                <a:lnTo>
                  <a:pt x="8964705" y="51989"/>
                </a:lnTo>
                <a:lnTo>
                  <a:pt x="8912715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0274" y="2997067"/>
            <a:ext cx="8964930" cy="1831339"/>
          </a:xfrm>
          <a:custGeom>
            <a:avLst/>
            <a:gdLst/>
            <a:ahLst/>
            <a:cxnLst/>
            <a:rect l="l" t="t" r="r" b="b"/>
            <a:pathLst>
              <a:path w="8964930" h="1831339">
                <a:moveTo>
                  <a:pt x="0" y="0"/>
                </a:moveTo>
                <a:lnTo>
                  <a:pt x="8912716" y="0"/>
                </a:lnTo>
                <a:lnTo>
                  <a:pt x="8964706" y="51990"/>
                </a:lnTo>
                <a:lnTo>
                  <a:pt x="8964706" y="1831310"/>
                </a:lnTo>
                <a:lnTo>
                  <a:pt x="51990" y="1831310"/>
                </a:lnTo>
                <a:lnTo>
                  <a:pt x="0" y="17793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965949" y="3084488"/>
          <a:ext cx="8788400" cy="1461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103">
                <a:tc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cudaEvent_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 start,</a:t>
                      </a:r>
                      <a:r>
                        <a:rPr sz="1400" spc="-4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stop;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cudaEvent has its own</a:t>
                      </a:r>
                      <a:r>
                        <a:rPr sz="1400" spc="-4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type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cudaEventCreate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(&amp;start);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cudaEvent must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be</a:t>
                      </a:r>
                      <a:r>
                        <a:rPr sz="1400" spc="-3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created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cudaEventCreate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(&amp;stop);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before</a:t>
                      </a:r>
                      <a:r>
                        <a:rPr sz="1400" spc="-2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use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87">
                <a:tc>
                  <a:txBody>
                    <a:bodyPr/>
                    <a:lstStyle/>
                    <a:p>
                      <a:pPr marL="31750">
                        <a:lnSpc>
                          <a:spcPts val="152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cudaEventRecord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(start);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52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2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“recorded” (issued) into default</a:t>
                      </a:r>
                      <a:r>
                        <a:rPr sz="1400" spc="-5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stream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31750">
                        <a:lnSpc>
                          <a:spcPts val="149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Kernel&lt;&lt;&lt;b,</a:t>
                      </a:r>
                      <a:r>
                        <a:rPr sz="1400" spc="-2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t&gt;&gt;&gt;(…);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49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9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could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be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any set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of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CUDA device</a:t>
                      </a:r>
                      <a:r>
                        <a:rPr sz="1400" spc="-8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activity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cudaEventRecord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(stop);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103">
                <a:tc>
                  <a:txBody>
                    <a:bodyPr/>
                    <a:lstStyle/>
                    <a:p>
                      <a:pPr marL="31750">
                        <a:lnSpc>
                          <a:spcPts val="1450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cudaEventSynchronize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(stop);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145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450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wait for stream execution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to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reach “stop”</a:t>
                      </a:r>
                      <a:r>
                        <a:rPr sz="1400" spc="-9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event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984999" y="4533900"/>
            <a:ext cx="49193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cudaEventElapsedTime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(&amp;float_var, start,</a:t>
            </a:r>
            <a:r>
              <a:rPr sz="1400" spc="-9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stop);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97781" y="4533900"/>
            <a:ext cx="27908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measure Kernel</a:t>
            </a:r>
            <a:r>
              <a:rPr sz="1400" spc="-114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duration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8" name="object 10"/>
          <p:cNvSpPr txBox="1"/>
          <p:nvPr/>
        </p:nvSpPr>
        <p:spPr>
          <a:xfrm>
            <a:off x="548640" y="5002524"/>
            <a:ext cx="9918205" cy="104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Also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useful for arranging complex concurrency</a:t>
            </a:r>
            <a:r>
              <a:rPr spc="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scenarios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8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Event-based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timing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give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unexpected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results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host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activity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complex concurrency</a:t>
            </a:r>
            <a:r>
              <a:rPr spc="15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scenarios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40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MULTI-GPU</a:t>
            </a:r>
            <a:endParaRPr lang="en-US" sz="2800" dirty="0"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16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90500"/>
            <a:ext cx="8666480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mic Sans MS" panose="030F0702030302020204" pitchFamily="66" charset="0"/>
              </a:rPr>
              <a:t>MULTI-GPU </a:t>
            </a:r>
            <a:r>
              <a:rPr dirty="0">
                <a:latin typeface="Comic Sans MS" panose="030F0702030302020204" pitchFamily="66" charset="0"/>
              </a:rPr>
              <a:t>– </a:t>
            </a:r>
            <a:r>
              <a:rPr spc="-5" dirty="0">
                <a:latin typeface="Comic Sans MS" panose="030F0702030302020204" pitchFamily="66" charset="0"/>
              </a:rPr>
              <a:t>DEVICE</a:t>
            </a:r>
            <a:r>
              <a:rPr spc="-70" dirty="0">
                <a:latin typeface="Comic Sans MS" panose="030F0702030302020204" pitchFamily="66" charset="0"/>
              </a:rPr>
              <a:t> </a:t>
            </a:r>
            <a:r>
              <a:rPr spc="-5" dirty="0">
                <a:latin typeface="Comic Sans MS" panose="030F0702030302020204" pitchFamily="66" charset="0"/>
              </a:rPr>
              <a:t>MANAGEMENT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17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439" y="3667280"/>
            <a:ext cx="55957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Multiple host threads can share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2000" spc="-2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439" y="4330419"/>
            <a:ext cx="6349505" cy="1459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single host thread can manage multiple devices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696595">
              <a:lnSpc>
                <a:spcPct val="100000"/>
              </a:lnSpc>
            </a:pPr>
            <a:r>
              <a:rPr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cudaSetDevice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(i)</a:t>
            </a:r>
            <a:r>
              <a:rPr spc="-36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select current device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696595">
              <a:lnSpc>
                <a:spcPct val="100000"/>
              </a:lnSpc>
            </a:pPr>
            <a:r>
              <a:rPr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cudaMemcpyPeerAsync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(…)</a:t>
            </a:r>
            <a:r>
              <a:rPr spc="-415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peer-to-peer copies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576439" y="1203650"/>
            <a:ext cx="9710561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Not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replacement for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OpenMP, MPI,</a:t>
            </a:r>
            <a:r>
              <a:rPr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etc.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Application can query and select</a:t>
            </a:r>
            <a:r>
              <a:rPr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GPUs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696595" marR="2491740">
              <a:lnSpc>
                <a:spcPts val="3100"/>
              </a:lnSpc>
              <a:spcBef>
                <a:spcPts val="360"/>
              </a:spcBef>
            </a:pP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cudaGetDeviceCount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*count)  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cudaSetDevice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device)  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cudaGetDevice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</a:t>
            </a:r>
            <a:r>
              <a:rPr sz="1600" spc="-15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*device)</a:t>
            </a:r>
            <a:endParaRPr sz="1600" dirty="0">
              <a:latin typeface="Comic Sans MS" panose="030F0702030302020204" pitchFamily="66" charset="0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Comic Sans MS" panose="030F0702030302020204" pitchFamily="66" charset="0"/>
              <a:cs typeface="Courier New" panose="02070309020205020404"/>
            </a:endParaRPr>
          </a:p>
          <a:p>
            <a:pPr marL="696595">
              <a:lnSpc>
                <a:spcPct val="100000"/>
              </a:lnSpc>
            </a:pP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cudaGetDeviceProperties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(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cudaDeviceProp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*prop, </a:t>
            </a:r>
            <a:r>
              <a:rPr sz="160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int</a:t>
            </a:r>
            <a:r>
              <a:rPr sz="1600" spc="-70" dirty="0">
                <a:solidFill>
                  <a:srgbClr val="76B900"/>
                </a:solidFill>
                <a:latin typeface="Comic Sans MS" panose="030F0702030302020204" pitchFamily="66" charset="0"/>
                <a:cs typeface="Courier New" panose="02070309020205020404"/>
              </a:rPr>
              <a:t>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ourier New" panose="02070309020205020404"/>
              </a:rPr>
              <a:t>device)</a:t>
            </a:r>
            <a:endParaRPr sz="1600" dirty="0">
              <a:latin typeface="Comic Sans MS" panose="030F0702030302020204" pitchFamily="66" charset="0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3775" y="114300"/>
            <a:ext cx="6175375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mic Sans MS" panose="030F0702030302020204" pitchFamily="66" charset="0"/>
              </a:rPr>
              <a:t>MULTI-GPU </a:t>
            </a:r>
            <a:r>
              <a:rPr dirty="0">
                <a:latin typeface="Comic Sans MS" panose="030F0702030302020204" pitchFamily="66" charset="0"/>
              </a:rPr>
              <a:t>–</a:t>
            </a:r>
            <a:r>
              <a:rPr spc="-80" dirty="0">
                <a:latin typeface="Comic Sans MS" panose="030F0702030302020204" pitchFamily="66" charset="0"/>
              </a:rPr>
              <a:t> </a:t>
            </a:r>
            <a:r>
              <a:rPr spc="-5" dirty="0">
                <a:latin typeface="Comic Sans MS" panose="030F0702030302020204" pitchFamily="66" charset="0"/>
              </a:rPr>
              <a:t>STREAMS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18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1623" y="5273039"/>
            <a:ext cx="9649968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9576" y="4195507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8922215" y="0"/>
                </a:moveTo>
                <a:lnTo>
                  <a:pt x="0" y="0"/>
                </a:lnTo>
                <a:lnTo>
                  <a:pt x="0" y="1454142"/>
                </a:lnTo>
                <a:lnTo>
                  <a:pt x="42490" y="1496632"/>
                </a:lnTo>
                <a:lnTo>
                  <a:pt x="8964706" y="1496632"/>
                </a:lnTo>
                <a:lnTo>
                  <a:pt x="8964706" y="42490"/>
                </a:lnTo>
                <a:lnTo>
                  <a:pt x="8922215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9576" y="4195507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0" y="0"/>
                </a:moveTo>
                <a:lnTo>
                  <a:pt x="8922216" y="0"/>
                </a:lnTo>
                <a:lnTo>
                  <a:pt x="8964706" y="42490"/>
                </a:lnTo>
                <a:lnTo>
                  <a:pt x="8964706" y="1496633"/>
                </a:lnTo>
                <a:lnTo>
                  <a:pt x="42490" y="1496633"/>
                </a:lnTo>
                <a:lnTo>
                  <a:pt x="0" y="145414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3091" y="4387596"/>
            <a:ext cx="27933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//associated with device</a:t>
            </a:r>
            <a:r>
              <a:rPr sz="1400" spc="-9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0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3091" y="4820411"/>
            <a:ext cx="396176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0"/>
              </a:lnSpc>
              <a:spcBef>
                <a:spcPts val="100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//associated with device</a:t>
            </a:r>
            <a:r>
              <a:rPr sz="1400" spc="-4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1</a:t>
            </a:r>
          </a:p>
          <a:p>
            <a:pPr marL="13970">
              <a:lnSpc>
                <a:spcPts val="1630"/>
              </a:lnSpc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these kernels have the</a:t>
            </a:r>
            <a:r>
              <a:rPr sz="1400" spc="-12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possibility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9550" y="4171188"/>
            <a:ext cx="3431540" cy="152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cudaSetDevice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(0);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(&amp;stream0);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cudaSetDevice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(1);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(&amp;stream1);  Kernel&lt;&lt;&lt;b,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t, 0,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stream1&gt;&gt;&gt;(…);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cudaSetDevice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(0);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Kernel&lt;&lt;&lt;b,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t, 0,</a:t>
            </a:r>
            <a:r>
              <a:rPr sz="1400" spc="-114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stream0&gt;&gt;&gt;(…);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4526" y="5454396"/>
            <a:ext cx="27895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5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to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execute</a:t>
            </a:r>
            <a:r>
              <a:rPr sz="1400" spc="-14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7030A0"/>
                </a:solidFill>
                <a:latin typeface="Comic Sans MS" panose="030F0702030302020204" pitchFamily="66" charset="0"/>
                <a:cs typeface="Lucida Console" panose="020B0609040504020204"/>
              </a:rPr>
              <a:t>concurrently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7" name="object 8"/>
          <p:cNvSpPr txBox="1"/>
          <p:nvPr/>
        </p:nvSpPr>
        <p:spPr>
          <a:xfrm>
            <a:off x="611187" y="943754"/>
            <a:ext cx="948055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</a:t>
            </a:r>
            <a:r>
              <a:rPr sz="2000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</a:t>
            </a:r>
            <a:r>
              <a:rPr sz="1600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and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) have implicit/automatic </a:t>
            </a:r>
            <a:r>
              <a:rPr sz="20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</a:t>
            </a:r>
            <a:r>
              <a:rPr sz="2000" i="1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association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Each device also has its own unique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default</a:t>
            </a:r>
            <a:r>
              <a:rPr sz="20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launches will fail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issued into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 not associated with current</a:t>
            </a:r>
            <a:r>
              <a:rPr sz="2000"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cudaStreamWaitEvent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can synchronize streams belonging to separate devices, 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cudaEventQuery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() can test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an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event 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“complete”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Simple device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concurrency: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181024"/>
            <a:ext cx="940308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Comic Sans MS" panose="030F0702030302020204" pitchFamily="66" charset="0"/>
              </a:rPr>
              <a:t>MULTI-GPU </a:t>
            </a:r>
            <a:r>
              <a:rPr sz="2800" dirty="0">
                <a:latin typeface="Comic Sans MS" panose="030F0702030302020204" pitchFamily="66" charset="0"/>
              </a:rPr>
              <a:t>– </a:t>
            </a:r>
            <a:r>
              <a:rPr sz="2800" spc="-5" dirty="0">
                <a:latin typeface="Comic Sans MS" panose="030F0702030302020204" pitchFamily="66" charset="0"/>
              </a:rPr>
              <a:t>DEVICE-TO-DEVICE DATA</a:t>
            </a:r>
            <a:r>
              <a:rPr sz="2800" spc="-60" dirty="0">
                <a:latin typeface="Comic Sans MS" panose="030F0702030302020204" pitchFamily="66" charset="0"/>
              </a:rPr>
              <a:t> </a:t>
            </a:r>
            <a:r>
              <a:rPr sz="2800" dirty="0">
                <a:latin typeface="Comic Sans MS" panose="030F0702030302020204" pitchFamily="66" charset="0"/>
              </a:rPr>
              <a:t>COPYING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19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2103" y="4815839"/>
            <a:ext cx="9649968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9940" y="3738275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8922216" y="0"/>
                </a:moveTo>
                <a:lnTo>
                  <a:pt x="0" y="0"/>
                </a:lnTo>
                <a:lnTo>
                  <a:pt x="0" y="1454143"/>
                </a:lnTo>
                <a:lnTo>
                  <a:pt x="42490" y="1496633"/>
                </a:lnTo>
                <a:lnTo>
                  <a:pt x="8964705" y="1496633"/>
                </a:lnTo>
                <a:lnTo>
                  <a:pt x="8964705" y="42490"/>
                </a:lnTo>
                <a:lnTo>
                  <a:pt x="8922216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940" y="3738275"/>
            <a:ext cx="8964930" cy="1496695"/>
          </a:xfrm>
          <a:custGeom>
            <a:avLst/>
            <a:gdLst/>
            <a:ahLst/>
            <a:cxnLst/>
            <a:rect l="l" t="t" r="r" b="b"/>
            <a:pathLst>
              <a:path w="8964930" h="1496695">
                <a:moveTo>
                  <a:pt x="0" y="0"/>
                </a:moveTo>
                <a:lnTo>
                  <a:pt x="8922216" y="0"/>
                </a:lnTo>
                <a:lnTo>
                  <a:pt x="8964706" y="42490"/>
                </a:lnTo>
                <a:lnTo>
                  <a:pt x="8964706" y="1496633"/>
                </a:lnTo>
                <a:lnTo>
                  <a:pt x="42490" y="1496633"/>
                </a:lnTo>
                <a:lnTo>
                  <a:pt x="0" y="145414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658002"/>
              </p:ext>
            </p:extLst>
          </p:nvPr>
        </p:nvGraphicFramePr>
        <p:xfrm>
          <a:off x="980865" y="3764192"/>
          <a:ext cx="8359773" cy="1028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2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7103">
                <a:tc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cudaSetDevice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(0);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cudaDeviceCanAccessPeer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(&amp;canPeer,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0,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1);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test</a:t>
                      </a:r>
                      <a:r>
                        <a:rPr sz="1400" spc="-7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for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535"/>
                        </a:lnSpc>
                      </a:pP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0,</a:t>
                      </a:r>
                      <a:r>
                        <a:rPr sz="1400" spc="-8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1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peerable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cudaDeviceEnablePeerAccess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(1,</a:t>
                      </a:r>
                      <a:r>
                        <a:rPr sz="1400" spc="-7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0);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</a:t>
                      </a:r>
                      <a:r>
                        <a:rPr sz="1400" spc="-7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0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sees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53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1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as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a</a:t>
                      </a:r>
                      <a:r>
                        <a:rPr sz="1400" spc="-13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“peer”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271">
                <a:tc>
                  <a:txBody>
                    <a:bodyPr/>
                    <a:lstStyle/>
                    <a:p>
                      <a:pPr marL="31750">
                        <a:lnSpc>
                          <a:spcPts val="1490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cudaSetDevice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(1</a:t>
                      </a:r>
                      <a:r>
                        <a:rPr lang="en-US" altLang="zh-CN" sz="1400" spc="-10" dirty="0">
                          <a:latin typeface="Lucida Console" panose="020B0609040504020204"/>
                          <a:cs typeface="Lucida Console" panose="020B0609040504020204"/>
                        </a:rPr>
                        <a:t>)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;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  <a:p>
                      <a:pPr marL="31750">
                        <a:lnSpc>
                          <a:spcPts val="1545"/>
                        </a:lnSpc>
                      </a:pPr>
                      <a:r>
                        <a:rPr sz="1400" spc="-10" dirty="0">
                          <a:solidFill>
                            <a:srgbClr val="76B900"/>
                          </a:solidFill>
                          <a:latin typeface="Lucida Console" panose="020B0609040504020204"/>
                          <a:cs typeface="Lucida Console" panose="020B0609040504020204"/>
                        </a:rPr>
                        <a:t>cudaDeviceEnablePeerAccess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(0,</a:t>
                      </a:r>
                      <a:r>
                        <a:rPr sz="1400" spc="-7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0);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//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</a:t>
                      </a:r>
                      <a:r>
                        <a:rPr sz="1400" spc="-75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1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sees</a:t>
                      </a:r>
                      <a:endParaRPr sz="140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334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device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0 </a:t>
                      </a:r>
                      <a:r>
                        <a:rPr sz="1400" spc="-5" dirty="0">
                          <a:latin typeface="Lucida Console" panose="020B0609040504020204"/>
                          <a:cs typeface="Lucida Console" panose="020B0609040504020204"/>
                        </a:rPr>
                        <a:t>as </a:t>
                      </a:r>
                      <a:r>
                        <a:rPr sz="1400" dirty="0">
                          <a:latin typeface="Lucida Console" panose="020B0609040504020204"/>
                          <a:cs typeface="Lucida Console" panose="020B0609040504020204"/>
                        </a:rPr>
                        <a:t>a</a:t>
                      </a:r>
                      <a:r>
                        <a:rPr sz="1400" spc="-130" dirty="0">
                          <a:latin typeface="Lucida Console" panose="020B0609040504020204"/>
                          <a:cs typeface="Lucida Console" panose="020B0609040504020204"/>
                        </a:rPr>
                        <a:t> </a:t>
                      </a:r>
                      <a:r>
                        <a:rPr sz="1400" spc="-10" dirty="0">
                          <a:latin typeface="Lucida Console" panose="020B0609040504020204"/>
                          <a:cs typeface="Lucida Console" panose="020B0609040504020204"/>
                        </a:rPr>
                        <a:t>“peer”</a:t>
                      </a:r>
                      <a:endParaRPr sz="1400" dirty="0">
                        <a:latin typeface="Lucida Console" panose="020B0609040504020204"/>
                        <a:cs typeface="Lucida Console" panose="020B0609040504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25995" y="4780788"/>
            <a:ext cx="8816975" cy="7372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6055" marR="5080">
              <a:lnSpc>
                <a:spcPct val="101000"/>
              </a:lnSpc>
              <a:spcBef>
                <a:spcPts val="75"/>
              </a:spcBef>
              <a:tabLst>
                <a:tab pos="4547235" algn="l"/>
              </a:tabLst>
            </a:pP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cudaMemcpyPeerAsync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(dst_ptr,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0,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src_ptr,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1,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size, stream0); //dev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1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to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dev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0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copy  </a:t>
            </a:r>
            <a:r>
              <a:rPr sz="1400" spc="-10" dirty="0" err="1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cudaDeviceDisablePeerAccess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(0);	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dev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0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is no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longer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a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peer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of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dev</a:t>
            </a:r>
            <a:r>
              <a:rPr sz="1400" spc="-15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dirty="0">
                <a:latin typeface="Comic Sans MS" panose="030F0702030302020204" pitchFamily="66" charset="0"/>
                <a:cs typeface="Lucida Console" panose="020B0609040504020204"/>
              </a:rPr>
              <a:t>1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264470" y="915959"/>
            <a:ext cx="10669411" cy="202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If system topology supports it, data can be copied directly from one device to another over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fabric (PCIE, or</a:t>
            </a:r>
            <a:r>
              <a:rPr sz="1600" spc="1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NVLink)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3633470" indent="-285750">
              <a:lnSpc>
                <a:spcPts val="3310"/>
              </a:lnSpc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Device must first be explicitly placed into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peer relationship (“clique”)  </a:t>
            </a:r>
            <a:endParaRPr lang="en-US" sz="16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3633470" indent="-285750">
              <a:lnSpc>
                <a:spcPts val="3310"/>
              </a:lnSpc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Must enable “peering” for both directions of transfer (if</a:t>
            </a:r>
            <a:r>
              <a:rPr sz="1600" spc="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needed)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69850" indent="-285750">
              <a:lnSpc>
                <a:spcPts val="1510"/>
              </a:lnSpc>
              <a:spcBef>
                <a:spcPts val="142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Thereafter, memory copies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between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those two devices will not “stage” through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system memory buffer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(GPUDirect 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P2P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transfer)</a:t>
            </a:r>
            <a:endParaRPr lang="en-US" sz="16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3400" y="5567164"/>
            <a:ext cx="4695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 to the number of peers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your</a:t>
            </a:r>
            <a:r>
              <a:rPr lang="en-US" altLang="zh-CN" sz="1600"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“clique”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4192" y="3052870"/>
            <a:ext cx="96499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5" dirty="0" err="1">
                <a:solidFill>
                  <a:srgbClr val="5E5E5E"/>
                </a:solidFill>
                <a:latin typeface="Comic Sans MS" panose="030F0702030302020204" pitchFamily="66" charset="0"/>
              </a:rPr>
              <a:t>cudaDeviceEnablePeerAccess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</a:rPr>
              <a:t> ( int  </a:t>
            </a:r>
            <a:r>
              <a:rPr lang="en-US" altLang="zh-CN" sz="1600" spc="-5" dirty="0" err="1">
                <a:solidFill>
                  <a:srgbClr val="5E5E5E"/>
                </a:solidFill>
                <a:latin typeface="Comic Sans MS" panose="030F0702030302020204" pitchFamily="66" charset="0"/>
              </a:rPr>
              <a:t>peerDevice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</a:rPr>
              <a:t>, unsigned int  flags ), </a:t>
            </a:r>
            <a:r>
              <a:rPr lang="en-US" altLang="zh-CN" sz="1600" spc="-5" dirty="0" err="1">
                <a:solidFill>
                  <a:srgbClr val="5E5E5E"/>
                </a:solidFill>
                <a:latin typeface="Comic Sans MS" panose="030F0702030302020204" pitchFamily="66" charset="0"/>
              </a:rPr>
              <a:t>peerDevice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</a:rPr>
              <a:t> Peer device to enable direct access to from the current device, flags Reserved for future use and must be set to 0</a:t>
            </a: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317" y="145077"/>
            <a:ext cx="41560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STREAM</a:t>
            </a:r>
            <a:r>
              <a:rPr sz="3200" spc="-7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PRIORITY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20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960" y="5321807"/>
            <a:ext cx="9668256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87506" y="4195481"/>
            <a:ext cx="8964930" cy="1558290"/>
          </a:xfrm>
          <a:custGeom>
            <a:avLst/>
            <a:gdLst/>
            <a:ahLst/>
            <a:cxnLst/>
            <a:rect l="l" t="t" r="r" b="b"/>
            <a:pathLst>
              <a:path w="8964930" h="1558289">
                <a:moveTo>
                  <a:pt x="8920470" y="0"/>
                </a:moveTo>
                <a:lnTo>
                  <a:pt x="0" y="0"/>
                </a:lnTo>
                <a:lnTo>
                  <a:pt x="0" y="1513858"/>
                </a:lnTo>
                <a:lnTo>
                  <a:pt x="44235" y="1558094"/>
                </a:lnTo>
                <a:lnTo>
                  <a:pt x="8964705" y="1558094"/>
                </a:lnTo>
                <a:lnTo>
                  <a:pt x="8964705" y="44235"/>
                </a:lnTo>
                <a:lnTo>
                  <a:pt x="8920470" y="0"/>
                </a:lnTo>
                <a:close/>
              </a:path>
            </a:pathLst>
          </a:custGeom>
          <a:solidFill>
            <a:srgbClr val="76B900">
              <a:alpha val="10198"/>
            </a:srgbClr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7506" y="4195481"/>
            <a:ext cx="8964930" cy="1558290"/>
          </a:xfrm>
          <a:custGeom>
            <a:avLst/>
            <a:gdLst/>
            <a:ahLst/>
            <a:cxnLst/>
            <a:rect l="l" t="t" r="r" b="b"/>
            <a:pathLst>
              <a:path w="8964930" h="1558289">
                <a:moveTo>
                  <a:pt x="0" y="0"/>
                </a:moveTo>
                <a:lnTo>
                  <a:pt x="8920471" y="0"/>
                </a:lnTo>
                <a:lnTo>
                  <a:pt x="8964706" y="44235"/>
                </a:lnTo>
                <a:lnTo>
                  <a:pt x="8964706" y="1558094"/>
                </a:lnTo>
                <a:lnTo>
                  <a:pt x="44235" y="1558094"/>
                </a:lnTo>
                <a:lnTo>
                  <a:pt x="0" y="151385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6136" y="3957958"/>
            <a:ext cx="9280525" cy="1795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75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74625" marR="3456940">
              <a:lnSpc>
                <a:spcPct val="101000"/>
              </a:lnSpc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get the range </a:t>
            </a: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of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stream priorities for this device  int priority_high,</a:t>
            </a:r>
            <a:r>
              <a:rPr sz="1400" spc="-3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priority_low;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74625">
              <a:lnSpc>
                <a:spcPct val="100000"/>
              </a:lnSpc>
              <a:spcBef>
                <a:spcPts val="20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cudaDeviceGetStreamPriorityRange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(&amp;priority_low,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&amp;priority_high);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74625" marR="2498725">
              <a:lnSpc>
                <a:spcPts val="1580"/>
              </a:lnSpc>
              <a:spcBef>
                <a:spcPts val="160"/>
              </a:spcBef>
            </a:pPr>
            <a:r>
              <a:rPr sz="1400" spc="-5" dirty="0">
                <a:latin typeface="Comic Sans MS" panose="030F0702030302020204" pitchFamily="66" charset="0"/>
                <a:cs typeface="Lucida Console" panose="020B0609040504020204"/>
              </a:rPr>
              <a:t>//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create streams with highest and lowest available priorities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cudaStream_t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st_high,</a:t>
            </a:r>
            <a:r>
              <a:rPr sz="1400" spc="-2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st_low;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74625" marR="906780">
              <a:lnSpc>
                <a:spcPts val="1700"/>
              </a:lnSpc>
              <a:spcBef>
                <a:spcPts val="35"/>
              </a:spcBef>
            </a:pP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cudaStreamCreateWithPriority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(&amp;st_high, cudaStreamNonBlocking, priority_high);  </a:t>
            </a:r>
            <a:r>
              <a:rPr sz="1400" spc="-1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cudaStreamCreateWithPriority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(&amp;st_low, cudaStreamNonBlocking,</a:t>
            </a:r>
            <a:r>
              <a:rPr sz="1400" spc="-6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priority_low);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1580" y="1482505"/>
            <a:ext cx="1049121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streams allow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optional definition of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lang="en-US" altLang="zh-CN" sz="16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i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priority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 affects execution of concurrent kernels (only).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ts val="151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GPU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 scheduler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will attempt to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schedule blocks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from high priority (stream) kernels before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blocks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from low  priority (stream)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kernels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Current implementation only has 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2</a:t>
            </a:r>
            <a:r>
              <a:rPr lang="en-US" altLang="zh-CN" sz="16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priorities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lang="en-US" altLang="zh-CN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Current implementation does not cause preemption of</a:t>
            </a:r>
            <a:r>
              <a:rPr lang="en-US" altLang="zh-CN"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blocks</a:t>
            </a:r>
            <a:endParaRPr lang="en-US" altLang="zh-CN"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endParaRPr lang="zh-CN" altLang="en-US" sz="1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31542"/>
            <a:ext cx="45123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FURTHER</a:t>
            </a:r>
            <a:r>
              <a:rPr sz="3200" spc="-70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STUDY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21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608894" y="1638300"/>
            <a:ext cx="9755011" cy="3607398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Concurrency with Unified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040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https://devblogs.nvidia.com/maximizing-unified-memory-performance-cuda/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Programming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Guide: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5080" indent="-285750">
              <a:lnSpc>
                <a:spcPts val="1680"/>
              </a:lnSpc>
              <a:spcBef>
                <a:spcPts val="1295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https://docs.nvidia.com/cuda/cuda-c-programming-guide/index.html#asynchronous-concurrent-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execution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787400" indent="-285750">
              <a:lnSpc>
                <a:spcPts val="1900"/>
              </a:lnSpc>
              <a:spcBef>
                <a:spcPts val="1265"/>
              </a:spcBef>
              <a:buFont typeface="Arial" panose="020B0604020202020204" pitchFamily="34" charset="0"/>
              <a:buChar char="•"/>
              <a:tabLst>
                <a:tab pos="2271395" algn="l"/>
              </a:tabLst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Sample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Codes:	concurrentKernels, simpleStreams, asyncAPI, simpleCallbacks,  simpleP2P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Video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processing pipeline with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callbacks: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311150" indent="-285750">
              <a:lnSpc>
                <a:spcPts val="1700"/>
              </a:lnSpc>
              <a:spcBef>
                <a:spcPts val="1280"/>
              </a:spcBef>
              <a:buFont typeface="Arial" panose="020B0604020202020204" pitchFamily="34" charset="0"/>
              <a:buChar char="•"/>
            </a:pP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https://stackoverflow.com/questions/31186926/multithreading-for-image-processing-at-gpu- </a:t>
            </a:r>
            <a:r>
              <a:rPr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using-cuda/31188999#31188999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1864</Words>
  <Application>Microsoft Office PowerPoint</Application>
  <PresentationFormat>自定义</PresentationFormat>
  <Paragraphs>281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宋体</vt:lpstr>
      <vt:lpstr>微软雅黑</vt:lpstr>
      <vt:lpstr>Arial</vt:lpstr>
      <vt:lpstr>Calibri</vt:lpstr>
      <vt:lpstr>Calibri Light</vt:lpstr>
      <vt:lpstr>Comic Sans MS</vt:lpstr>
      <vt:lpstr>Courier New</vt:lpstr>
      <vt:lpstr>Lucida Console</vt:lpstr>
      <vt:lpstr>Times New Roman</vt:lpstr>
      <vt:lpstr>1_Office 主题​​</vt:lpstr>
      <vt:lpstr>CUDA CONCURRENCY</vt:lpstr>
      <vt:lpstr>AGENDA</vt:lpstr>
      <vt:lpstr>MOTIVATION Recall 3 steps from session 1:</vt:lpstr>
      <vt:lpstr>PINNED MEMORY</vt:lpstr>
      <vt:lpstr>PINNED (NON-PAGEABLE) MEMORY</vt:lpstr>
      <vt:lpstr>CUDA STREAMS</vt:lpstr>
      <vt:lpstr>STREAMS AND ASYNC API OVERVIEW</vt:lpstr>
      <vt:lpstr>STREAM SEMANTICS</vt:lpstr>
      <vt:lpstr>STREAM CREATION AND COPY/COMPUTE OVERLAP</vt:lpstr>
      <vt:lpstr>STREAM EXAMPLES</vt:lpstr>
      <vt:lpstr>EXAMPLE STREAM BEHAVIOR FOR VECTOR MATH (assumes algorithm decomposability)</vt:lpstr>
      <vt:lpstr>DEFAULT STREAM</vt:lpstr>
      <vt:lpstr>CUDALAUNCHHOSTFUNC() (STREAM “CALLBACKS”)</vt:lpstr>
      <vt:lpstr>COPY-COMPUTE OVERLAP WITH UNIFIED MEMORY In particular, with demand-paging</vt:lpstr>
      <vt:lpstr>ASIDE: CUDAEVENT</vt:lpstr>
      <vt:lpstr>MULTI-GPU</vt:lpstr>
      <vt:lpstr>MULTI-GPU – DEVICE MANAGEMENT</vt:lpstr>
      <vt:lpstr>MULTI-GPU – STREAMS</vt:lpstr>
      <vt:lpstr>MULTI-GPU – DEVICE-TO-DEVICE DATA COPYING</vt:lpstr>
      <vt:lpstr>STREAM PRIORITY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Lab317-Dan</cp:lastModifiedBy>
  <cp:revision>74</cp:revision>
  <dcterms:created xsi:type="dcterms:W3CDTF">2020-11-24T11:56:00Z</dcterms:created>
  <dcterms:modified xsi:type="dcterms:W3CDTF">2025-06-17T14:57:28Z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2020-07-18T00:00:00Z</vt:filetime>
  </property>
  <property fmtid="{D5CDD505-2E9C-101B-9397-08002B2CF9AE}" pid="3" name="LastSaved">
    <vt:filetime>2020-11-25T00:00:00Z</vt:filetime>
  </property>
  <property fmtid="{D5CDD505-2E9C-101B-9397-08002B2CF9AE}" pid="4" name="ICV">
    <vt:lpwstr>73CAF331421447CD954AD2B82FFEF221</vt:lpwstr>
  </property>
  <property fmtid="{D5CDD505-2E9C-101B-9397-08002B2CF9AE}" pid="5" name="KSOProductBuildVer">
    <vt:lpwstr>2052-11.1.0.11294</vt:lpwstr>
  </property>
</Properties>
</file>