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7" r:id="rId4"/>
    <p:sldId id="262" r:id="rId5"/>
    <p:sldId id="263" r:id="rId6"/>
    <p:sldId id="273" r:id="rId7"/>
  </p:sldIdLst>
  <p:sldSz cx="12801600" cy="7200900"/>
  <p:notesSz cx="6797675" cy="9928225"/>
  <p:defaultTextStyle>
    <a:defPPr>
      <a:defRPr lang="zh-CN"/>
    </a:defPPr>
    <a:lvl1pPr marL="0" lvl="0" indent="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570230" lvl="1" indent="-11303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141730" lvl="2" indent="-22733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711325" lvl="3" indent="-3397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282825" lvl="4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2">
          <p15:clr>
            <a:srgbClr val="A4A3A4"/>
          </p15:clr>
        </p15:guide>
        <p15:guide id="2" pos="404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uyuan DENG" initials="XD" lastIdx="1" clrIdx="0"/>
  <p:cmAuthor id="2" name="Betty Mo" initials="BM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D9D9D9"/>
    <a:srgbClr val="F7AA89"/>
    <a:srgbClr val="FFD78E"/>
    <a:srgbClr val="0070C0"/>
    <a:srgbClr val="A0B0DC"/>
    <a:srgbClr val="338DCD"/>
    <a:srgbClr val="FFD686"/>
    <a:srgbClr val="F6B89E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24" autoAdjust="0"/>
    <p:restoredTop sz="82615" autoAdjust="0"/>
  </p:normalViewPr>
  <p:slideViewPr>
    <p:cSldViewPr showGuides="1">
      <p:cViewPr varScale="1">
        <p:scale>
          <a:sx n="74" d="100"/>
          <a:sy n="74" d="100"/>
        </p:scale>
        <p:origin x="88" y="76"/>
      </p:cViewPr>
      <p:guideLst>
        <p:guide orient="horz" pos="2292"/>
        <p:guide pos="40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26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60900f52fed158ba" providerId="LiveId" clId="{BBC88002-66BF-4133-BBBB-B1128FAB580C}"/>
    <pc:docChg chg="modSld">
      <pc:chgData name="" userId="60900f52fed158ba" providerId="LiveId" clId="{BBC88002-66BF-4133-BBBB-B1128FAB580C}" dt="2025-11-30T14:10:33.748" v="0"/>
      <pc:docMkLst>
        <pc:docMk/>
      </pc:docMkLst>
      <pc:sldChg chg="modSp">
        <pc:chgData name="" userId="60900f52fed158ba" providerId="LiveId" clId="{BBC88002-66BF-4133-BBBB-B1128FAB580C}" dt="2025-11-30T14:10:33.748" v="0"/>
        <pc:sldMkLst>
          <pc:docMk/>
          <pc:sldMk cId="0" sldId="256"/>
        </pc:sldMkLst>
        <pc:spChg chg="mod">
          <ac:chgData name="" userId="60900f52fed158ba" providerId="LiveId" clId="{BBC88002-66BF-4133-BBBB-B1128FAB580C}" dt="2025-11-30T14:10:33.748" v="0"/>
          <ac:spMkLst>
            <pc:docMk/>
            <pc:sldMk cId="0" sldId="256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836" y="0"/>
            <a:ext cx="2945659" cy="4964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0D72EB-56EB-4991-A892-A5CE144BC12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宋体" panose="02010600030101010101" pitchFamily="2" charset="-122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516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B66D08-2390-484F-8BCE-1AC42F82CB2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51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D4C65-1623-B542-AEDD-D096B05A4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C020A1D7-7BD2-F72F-37B7-897B27BE773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9B7BC7B0-1939-71E9-1D48-FFC2B45C3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8BC5664E-8422-ADCA-0C96-A4BE2908A461}"/>
              </a:ext>
            </a:extLst>
          </p:cNvPr>
          <p:cNvSpPr txBox="1">
            <a:spLocks noGrp="1"/>
          </p:cNvSpPr>
          <p:nvPr>
            <p:ph type="sldNum" sz="quarter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2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476261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60121" y="2236947"/>
            <a:ext cx="10881360" cy="154352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920241" y="4080510"/>
            <a:ext cx="8961120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08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17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125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83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54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25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960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66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AA6170-4F6A-4240-B398-59747D146C57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504256" y="72058"/>
            <a:ext cx="9900000" cy="792088"/>
          </a:xfrm>
        </p:spPr>
        <p:txBody>
          <a:bodyPr/>
          <a:lstStyle>
            <a:lvl1pPr algn="ctr">
              <a:defRPr kumimoji="1" lang="zh-CN" altLang="en-US" sz="360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Slide title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52128" y="1224187"/>
            <a:ext cx="12097344" cy="5208364"/>
          </a:xfrm>
        </p:spPr>
        <p:txBody>
          <a:bodyPr/>
          <a:lstStyle>
            <a:lvl1pPr marL="425450" indent="-425450">
              <a:lnSpc>
                <a:spcPct val="125000"/>
              </a:lnSpc>
              <a:buFont typeface="Wingdings" panose="05000000000000000000" pitchFamily="2" charset="2"/>
              <a:buChar char="q"/>
              <a:defRPr kumimoji="1" lang="zh-CN" altLang="en-US" sz="320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548640" indent="-274320">
              <a:lnSpc>
                <a:spcPct val="125000"/>
              </a:lnSpc>
              <a:spcBef>
                <a:spcPts val="0"/>
              </a:spcBef>
              <a:defRPr kumimoji="1" lang="zh-CN" altLang="en-US" sz="2800" b="0" kern="1200" baseline="0" dirty="0">
                <a:solidFill>
                  <a:schemeClr val="accent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822960" indent="-282575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kumimoji="1" lang="zh-CN" altLang="en-US" sz="24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 marL="1097280" indent="-282575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kumimoji="1" lang="zh-CN" altLang="en-US" sz="24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25000"/>
              </a:lnSpc>
              <a:defRPr sz="3200" baseline="0">
                <a:latin typeface="Calibri" panose="020F050202020403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 dirty="0"/>
              <a:t>First</a:t>
            </a:r>
            <a:endParaRPr lang="zh-CN" altLang="en-US" dirty="0"/>
          </a:p>
          <a:p>
            <a:pPr lvl="1"/>
            <a:r>
              <a:rPr lang="en-US" altLang="zh-CN" dirty="0"/>
              <a:t>Second</a:t>
            </a:r>
            <a:endParaRPr lang="zh-CN" altLang="en-US" dirty="0"/>
          </a:p>
          <a:p>
            <a:pPr lvl="2"/>
            <a:r>
              <a:rPr lang="en-US" altLang="zh-CN" dirty="0"/>
              <a:t>Third</a:t>
            </a:r>
            <a:endParaRPr lang="zh-CN" altLang="en-US" dirty="0"/>
          </a:p>
          <a:p>
            <a:pPr lvl="3"/>
            <a:r>
              <a:rPr lang="en-US" altLang="zh-CN" dirty="0"/>
              <a:t>Forth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1DE818A-A108-4677-9D6E-91BD9F1CB961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1239" y="4627250"/>
            <a:ext cx="10881360" cy="1430179"/>
          </a:xfrm>
        </p:spPr>
        <p:txBody>
          <a:bodyPr anchor="t"/>
          <a:lstStyle>
            <a:lvl1pPr algn="l">
              <a:defRPr sz="5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11239" y="3052049"/>
            <a:ext cx="10881360" cy="1575196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0865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14173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1259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4pPr>
            <a:lvl5pPr marL="228346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5pPr>
            <a:lvl6pPr marL="285432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6pPr>
            <a:lvl7pPr marL="342519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7pPr>
            <a:lvl8pPr marL="399605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8pPr>
            <a:lvl9pPr marL="45669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ED56370-FF39-4509-A07D-D87B92C1360D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0080" y="1680216"/>
            <a:ext cx="5654040" cy="4752261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07481" y="1680216"/>
            <a:ext cx="5654040" cy="4752261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3D46738-2B7E-4ECD-A118-6B36836C4147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0083" y="1611869"/>
            <a:ext cx="5656263" cy="671750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0865" indent="0">
              <a:buNone/>
              <a:defRPr sz="2500" b="1"/>
            </a:lvl2pPr>
            <a:lvl3pPr marL="1141730" indent="0">
              <a:buNone/>
              <a:defRPr sz="2200" b="1"/>
            </a:lvl3pPr>
            <a:lvl4pPr marL="1712595" indent="0">
              <a:buNone/>
              <a:defRPr sz="2000" b="1"/>
            </a:lvl4pPr>
            <a:lvl5pPr marL="2283460" indent="0">
              <a:buNone/>
              <a:defRPr sz="2000" b="1"/>
            </a:lvl5pPr>
            <a:lvl6pPr marL="2854325" indent="0">
              <a:buNone/>
              <a:defRPr sz="2000" b="1"/>
            </a:lvl6pPr>
            <a:lvl7pPr marL="3425190" indent="0">
              <a:buNone/>
              <a:defRPr sz="2000" b="1"/>
            </a:lvl7pPr>
            <a:lvl8pPr marL="3996055" indent="0">
              <a:buNone/>
              <a:defRPr sz="2000" b="1"/>
            </a:lvl8pPr>
            <a:lvl9pPr marL="4566920" indent="0">
              <a:buNone/>
              <a:defRPr sz="20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0083" y="2283619"/>
            <a:ext cx="5656263" cy="4148852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03036" y="1611869"/>
            <a:ext cx="5658485" cy="671750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0865" indent="0">
              <a:buNone/>
              <a:defRPr sz="2500" b="1"/>
            </a:lvl2pPr>
            <a:lvl3pPr marL="1141730" indent="0">
              <a:buNone/>
              <a:defRPr sz="2200" b="1"/>
            </a:lvl3pPr>
            <a:lvl4pPr marL="1712595" indent="0">
              <a:buNone/>
              <a:defRPr sz="2000" b="1"/>
            </a:lvl4pPr>
            <a:lvl5pPr marL="2283460" indent="0">
              <a:buNone/>
              <a:defRPr sz="2000" b="1"/>
            </a:lvl5pPr>
            <a:lvl6pPr marL="2854325" indent="0">
              <a:buNone/>
              <a:defRPr sz="2000" b="1"/>
            </a:lvl6pPr>
            <a:lvl7pPr marL="3425190" indent="0">
              <a:buNone/>
              <a:defRPr sz="2000" b="1"/>
            </a:lvl7pPr>
            <a:lvl8pPr marL="3996055" indent="0">
              <a:buNone/>
              <a:defRPr sz="2000" b="1"/>
            </a:lvl8pPr>
            <a:lvl9pPr marL="4566920" indent="0">
              <a:buNone/>
              <a:defRPr sz="20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03036" y="2283619"/>
            <a:ext cx="5658485" cy="4148852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42F1915-3414-4ED5-A6AF-801488672034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1350" y="71519"/>
            <a:ext cx="10762906" cy="792000"/>
          </a:xfrm>
        </p:spPr>
        <p:txBody>
          <a:bodyPr/>
          <a:lstStyle>
            <a:lvl1pPr algn="ctr">
              <a:defRPr sz="4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B9ABC0F-ACFF-429B-87E2-BA9E4508BCCA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2230" y="0"/>
            <a:ext cx="1003300" cy="93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9549B5-569F-4C30-AB79-6C40BC761A57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3" y="286707"/>
            <a:ext cx="4211639" cy="1220153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5072" y="286708"/>
            <a:ext cx="7156451" cy="6145769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0083" y="1506856"/>
            <a:ext cx="4211639" cy="4925616"/>
          </a:xfrm>
        </p:spPr>
        <p:txBody>
          <a:bodyPr/>
          <a:lstStyle>
            <a:lvl1pPr marL="0" indent="0">
              <a:buNone/>
              <a:defRPr sz="1700"/>
            </a:lvl1pPr>
            <a:lvl2pPr marL="570865" indent="0">
              <a:buNone/>
              <a:defRPr sz="1500"/>
            </a:lvl2pPr>
            <a:lvl3pPr marL="1141730" indent="0">
              <a:buNone/>
              <a:defRPr sz="1200"/>
            </a:lvl3pPr>
            <a:lvl4pPr marL="1712595" indent="0">
              <a:buNone/>
              <a:defRPr sz="1100"/>
            </a:lvl4pPr>
            <a:lvl5pPr marL="2283460" indent="0">
              <a:buNone/>
              <a:defRPr sz="1100"/>
            </a:lvl5pPr>
            <a:lvl6pPr marL="2854325" indent="0">
              <a:buNone/>
              <a:defRPr sz="1100"/>
            </a:lvl6pPr>
            <a:lvl7pPr marL="3425190" indent="0">
              <a:buNone/>
              <a:defRPr sz="1100"/>
            </a:lvl7pPr>
            <a:lvl8pPr marL="3996055" indent="0">
              <a:buNone/>
              <a:defRPr sz="1100"/>
            </a:lvl8pPr>
            <a:lvl9pPr marL="456692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7287415-686D-4F16-A43E-D5F3F0B9A6D9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9203" y="5040635"/>
            <a:ext cx="7680960" cy="595075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509203" y="643414"/>
            <a:ext cx="7680960" cy="4320540"/>
          </a:xfrm>
        </p:spPr>
        <p:txBody>
          <a:bodyPr vert="horz" wrap="square" lIns="114181" tIns="57091" rIns="114181" bIns="57091" numCol="1" rtlCol="0" anchor="t" anchorCtr="0" compatLnSpc="1">
            <a:normAutofit/>
          </a:bodyPr>
          <a:lstStyle>
            <a:lvl1pPr marL="0" indent="0">
              <a:buNone/>
              <a:defRPr sz="4000"/>
            </a:lvl1pPr>
            <a:lvl2pPr marL="570865" indent="0">
              <a:buNone/>
              <a:defRPr sz="3500"/>
            </a:lvl2pPr>
            <a:lvl3pPr marL="1141730" indent="0">
              <a:buNone/>
              <a:defRPr sz="3000"/>
            </a:lvl3pPr>
            <a:lvl4pPr marL="1712595" indent="0">
              <a:buNone/>
              <a:defRPr sz="2500"/>
            </a:lvl4pPr>
            <a:lvl5pPr marL="2283460" indent="0">
              <a:buNone/>
              <a:defRPr sz="2500"/>
            </a:lvl5pPr>
            <a:lvl6pPr marL="2854325" indent="0">
              <a:buNone/>
              <a:defRPr sz="2500"/>
            </a:lvl6pPr>
            <a:lvl7pPr marL="3425190" indent="0">
              <a:buNone/>
              <a:defRPr sz="2500"/>
            </a:lvl7pPr>
            <a:lvl8pPr marL="3996055" indent="0">
              <a:buNone/>
              <a:defRPr sz="2500"/>
            </a:lvl8pPr>
            <a:lvl9pPr marL="4566920" indent="0">
              <a:buNone/>
              <a:defRPr sz="2500"/>
            </a:lvl9pPr>
          </a:lstStyle>
          <a:p>
            <a:pPr marL="0" marR="0" lvl="0" indent="0" algn="l" defTabSz="11398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单击图标添加图片</a:t>
            </a:r>
            <a:endParaRPr kumimoji="1" lang="zh-CN" altLang="en-US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09203" y="5635710"/>
            <a:ext cx="7680960" cy="845105"/>
          </a:xfrm>
        </p:spPr>
        <p:txBody>
          <a:bodyPr/>
          <a:lstStyle>
            <a:lvl1pPr marL="0" indent="0">
              <a:buNone/>
              <a:defRPr sz="1700"/>
            </a:lvl1pPr>
            <a:lvl2pPr marL="570865" indent="0">
              <a:buNone/>
              <a:defRPr sz="1500"/>
            </a:lvl2pPr>
            <a:lvl3pPr marL="1141730" indent="0">
              <a:buNone/>
              <a:defRPr sz="1200"/>
            </a:lvl3pPr>
            <a:lvl4pPr marL="1712595" indent="0">
              <a:buNone/>
              <a:defRPr sz="1100"/>
            </a:lvl4pPr>
            <a:lvl5pPr marL="2283460" indent="0">
              <a:buNone/>
              <a:defRPr sz="1100"/>
            </a:lvl5pPr>
            <a:lvl6pPr marL="2854325" indent="0">
              <a:buNone/>
              <a:defRPr sz="1100"/>
            </a:lvl6pPr>
            <a:lvl7pPr marL="3425190" indent="0">
              <a:buNone/>
              <a:defRPr sz="1100"/>
            </a:lvl7pPr>
            <a:lvl8pPr marL="3996055" indent="0">
              <a:buNone/>
              <a:defRPr sz="1100"/>
            </a:lvl8pPr>
            <a:lvl9pPr marL="456692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D04FFC-18F0-47DA-9115-40ED58EC5719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AD6E897-9B17-40C1-A56A-9BAC4DDA74A8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81160" y="288376"/>
            <a:ext cx="2880360" cy="61441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40080" y="288376"/>
            <a:ext cx="8427720" cy="61441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765AF35-8021-4ADB-8838-7F70E01D9D90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641350" y="193535"/>
            <a:ext cx="11085662" cy="57522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641350" y="1211244"/>
            <a:ext cx="11518900" cy="477841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41350" y="6673850"/>
            <a:ext cx="2986088" cy="384175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eaLnBrk="1" hangingPunct="1">
              <a:defRPr sz="1500">
                <a:solidFill>
                  <a:srgbClr val="898989"/>
                </a:solidFill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0297BB-05E3-41BD-8AF7-22D4A53B7529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373563" y="6673850"/>
            <a:ext cx="4054475" cy="384175"/>
          </a:xfrm>
          <a:prstGeom prst="rect">
            <a:avLst/>
          </a:prstGeom>
        </p:spPr>
        <p:txBody>
          <a:bodyPr vert="horz" lIns="114181" tIns="57091" rIns="114181" bIns="57091" rtlCol="0" anchor="ctr"/>
          <a:lstStyle>
            <a:lvl1pPr algn="ctr" defTabSz="1141730" eaLnBrk="1" fontAlgn="auto" hangingPunct="1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497144" y="6661892"/>
            <a:ext cx="2986088" cy="384175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algn="r" eaLnBrk="1" hangingPunct="1">
              <a:defRPr sz="1500">
                <a:solidFill>
                  <a:srgbClr val="898989"/>
                </a:solidFill>
              </a:defRPr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hf hdr="0" ftr="0" dt="0"/>
  <p:txStyles>
    <p:titleStyle>
      <a:lvl1pPr algn="ctr" defTabSz="1139825" rtl="0" eaLnBrk="1" fontAlgn="base" hangingPunct="1">
        <a:spcBef>
          <a:spcPct val="0"/>
        </a:spcBef>
        <a:spcAft>
          <a:spcPct val="0"/>
        </a:spcAft>
        <a:defRPr kumimoji="1" sz="3800" b="1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1pPr>
      <a:lvl2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25450" indent="-425450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baseline="0" dirty="0">
          <a:solidFill>
            <a:srgbClr val="0070C0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1pPr>
      <a:lvl2pPr marL="925830" indent="-354330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baseline="0" dirty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2pPr>
      <a:lvl3pPr marL="142557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baseline="0" dirty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3pPr>
      <a:lvl4pPr marL="199580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baseline="0" dirty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4pPr>
      <a:lvl5pPr marL="256730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baseline="0" dirty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5pPr>
      <a:lvl6pPr marL="3140075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10940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281805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52670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7086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73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1259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8346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85432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42519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5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56692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104" y="83283"/>
            <a:ext cx="5059363" cy="812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TextBox 17"/>
          <p:cNvSpPr txBox="1">
            <a:spLocks noChangeArrowheads="1"/>
          </p:cNvSpPr>
          <p:nvPr/>
        </p:nvSpPr>
        <p:spPr bwMode="auto">
          <a:xfrm>
            <a:off x="784429" y="2489342"/>
            <a:ext cx="11377264" cy="705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ctr" eaLnBrk="1" hangingPunct="1">
              <a:defRPr/>
            </a:pPr>
            <a:r>
              <a:rPr lang="zh-CN" altLang="en-US" sz="4000" b="1" spc="3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高性能计算程序设计</a:t>
            </a:r>
            <a:endParaRPr lang="zh-CN" altLang="en-US" sz="4000" b="1" spc="3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3"/>
          <p:cNvSpPr txBox="1"/>
          <p:nvPr/>
        </p:nvSpPr>
        <p:spPr>
          <a:xfrm>
            <a:off x="1239224" y="1847676"/>
            <a:ext cx="10259219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8"/>
          <p:cNvSpPr txBox="1">
            <a:spLocks noChangeArrowheads="1"/>
          </p:cNvSpPr>
          <p:nvPr/>
        </p:nvSpPr>
        <p:spPr bwMode="auto">
          <a:xfrm>
            <a:off x="2584376" y="3836493"/>
            <a:ext cx="8064896" cy="1751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任课教师：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黄聃（Huang，Dan）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defRPr/>
            </a:pP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E0E02-281B-8D81-36F9-0AE12A5E9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2">
            <a:extLst>
              <a:ext uri="{FF2B5EF4-FFF2-40B4-BE49-F238E27FC236}">
                <a16:creationId xmlns:a16="http://schemas.microsoft.com/office/drawing/2014/main" id="{A3F09E32-9D59-9C05-82B9-7A8C83088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04" y="83283"/>
            <a:ext cx="5059363" cy="812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TextBox 17">
            <a:extLst>
              <a:ext uri="{FF2B5EF4-FFF2-40B4-BE49-F238E27FC236}">
                <a16:creationId xmlns:a16="http://schemas.microsoft.com/office/drawing/2014/main" id="{84EE16B4-B2BF-17EA-3EF5-6876739E77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429" y="2489342"/>
            <a:ext cx="11377264" cy="705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ctr" eaLnBrk="1" hangingPunct="1">
              <a:defRPr/>
            </a:pPr>
            <a:r>
              <a:rPr lang="en-US" altLang="zh-CN" sz="4000" b="1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CUDA OPTIMIZATION,  PART 1</a:t>
            </a:r>
            <a:endParaRPr lang="zh-CN" altLang="en-US" sz="4000" b="1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3">
            <a:extLst>
              <a:ext uri="{FF2B5EF4-FFF2-40B4-BE49-F238E27FC236}">
                <a16:creationId xmlns:a16="http://schemas.microsoft.com/office/drawing/2014/main" id="{E035577B-54BE-EF42-776B-FDF63089F662}"/>
              </a:ext>
            </a:extLst>
          </p:cNvPr>
          <p:cNvSpPr txBox="1"/>
          <p:nvPr/>
        </p:nvSpPr>
        <p:spPr>
          <a:xfrm>
            <a:off x="1239224" y="1847676"/>
            <a:ext cx="10259219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8">
            <a:extLst>
              <a:ext uri="{FF2B5EF4-FFF2-40B4-BE49-F238E27FC236}">
                <a16:creationId xmlns:a16="http://schemas.microsoft.com/office/drawing/2014/main" id="{18F7CED7-985B-7BEB-BE55-86E272BC9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0381" y="3194827"/>
            <a:ext cx="8136904" cy="581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defRPr/>
            </a:pPr>
            <a:r>
              <a:rPr lang="en-US" altLang="zh-CN" sz="2400" b="1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NVIDIA Corporation</a:t>
            </a:r>
          </a:p>
        </p:txBody>
      </p:sp>
    </p:spTree>
    <p:extLst>
      <p:ext uri="{BB962C8B-B14F-4D97-AF65-F5344CB8AC3E}">
        <p14:creationId xmlns:p14="http://schemas.microsoft.com/office/powerpoint/2010/main" val="1413910319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F61630F-79C4-43BA-AA9C-9BB6FF674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07A129C-96EB-48BA-9C11-3EF9DFAB8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331011"/>
            <a:ext cx="9433048" cy="4608511"/>
          </a:xfrm>
        </p:spPr>
        <p:txBody>
          <a:bodyPr/>
          <a:lstStyle/>
          <a:p>
            <a:r>
              <a:rPr lang="en-US" dirty="0"/>
              <a:t>Architecture:</a:t>
            </a:r>
          </a:p>
          <a:p>
            <a:pPr lvl="1"/>
            <a:r>
              <a:rPr lang="en-US" dirty="0"/>
              <a:t>Kepler/Maxwell/Pascal/Volta</a:t>
            </a:r>
          </a:p>
          <a:p>
            <a:r>
              <a:rPr lang="en-US" dirty="0"/>
              <a:t>Kernel optimizations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Launch configuration (use lots of threads)</a:t>
            </a:r>
          </a:p>
          <a:p>
            <a:r>
              <a:rPr lang="en-US" dirty="0"/>
              <a:t>Part 2 (next session):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Global memory throughput (use memory efficiently)  </a:t>
            </a:r>
          </a:p>
          <a:p>
            <a:pPr lvl="1"/>
            <a:r>
              <a:rPr lang="en-US" dirty="0"/>
              <a:t>Shared memory access</a:t>
            </a:r>
          </a:p>
          <a:p>
            <a:endParaRPr lang="en-US" dirty="0"/>
          </a:p>
        </p:txBody>
      </p:sp>
      <p:sp>
        <p:nvSpPr>
          <p:cNvPr id="2" name="object 14">
            <a:extLst>
              <a:ext uri="{FF2B5EF4-FFF2-40B4-BE49-F238E27FC236}">
                <a16:creationId xmlns:a16="http://schemas.microsoft.com/office/drawing/2014/main" id="{4DE7DE5A-2506-0CA5-EAD4-9E13FDBBDA82}"/>
              </a:ext>
            </a:extLst>
          </p:cNvPr>
          <p:cNvSpPr/>
          <p:nvPr/>
        </p:nvSpPr>
        <p:spPr>
          <a:xfrm>
            <a:off x="8787649" y="1614445"/>
            <a:ext cx="3721607" cy="21488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5">
            <a:extLst>
              <a:ext uri="{FF2B5EF4-FFF2-40B4-BE49-F238E27FC236}">
                <a16:creationId xmlns:a16="http://schemas.microsoft.com/office/drawing/2014/main" id="{242FD963-0FF6-95E6-B09F-5EBF525B2157}"/>
              </a:ext>
            </a:extLst>
          </p:cNvPr>
          <p:cNvSpPr/>
          <p:nvPr/>
        </p:nvSpPr>
        <p:spPr>
          <a:xfrm>
            <a:off x="8882137" y="1812564"/>
            <a:ext cx="3654552" cy="18836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6">
            <a:extLst>
              <a:ext uri="{FF2B5EF4-FFF2-40B4-BE49-F238E27FC236}">
                <a16:creationId xmlns:a16="http://schemas.microsoft.com/office/drawing/2014/main" id="{DC9AA272-A3E9-2F57-542C-DC461D38BD43}"/>
              </a:ext>
            </a:extLst>
          </p:cNvPr>
          <p:cNvSpPr/>
          <p:nvPr/>
        </p:nvSpPr>
        <p:spPr>
          <a:xfrm>
            <a:off x="8849022" y="1656234"/>
            <a:ext cx="3600450" cy="2025650"/>
          </a:xfrm>
          <a:custGeom>
            <a:avLst/>
            <a:gdLst/>
            <a:ahLst/>
            <a:cxnLst/>
            <a:rect l="l" t="t" r="r" b="b"/>
            <a:pathLst>
              <a:path w="3600450" h="2025650">
                <a:moveTo>
                  <a:pt x="3262854" y="0"/>
                </a:moveTo>
                <a:lnTo>
                  <a:pt x="337545" y="0"/>
                </a:lnTo>
                <a:lnTo>
                  <a:pt x="291742" y="3081"/>
                </a:lnTo>
                <a:lnTo>
                  <a:pt x="247812" y="12057"/>
                </a:lnTo>
                <a:lnTo>
                  <a:pt x="206157" y="26525"/>
                </a:lnTo>
                <a:lnTo>
                  <a:pt x="167180" y="46084"/>
                </a:lnTo>
                <a:lnTo>
                  <a:pt x="131281" y="70331"/>
                </a:lnTo>
                <a:lnTo>
                  <a:pt x="98865" y="98864"/>
                </a:lnTo>
                <a:lnTo>
                  <a:pt x="70332" y="131281"/>
                </a:lnTo>
                <a:lnTo>
                  <a:pt x="46085" y="167179"/>
                </a:lnTo>
                <a:lnTo>
                  <a:pt x="26526" y="206156"/>
                </a:lnTo>
                <a:lnTo>
                  <a:pt x="12057" y="247811"/>
                </a:lnTo>
                <a:lnTo>
                  <a:pt x="3081" y="291741"/>
                </a:lnTo>
                <a:lnTo>
                  <a:pt x="0" y="337544"/>
                </a:lnTo>
                <a:lnTo>
                  <a:pt x="0" y="1687678"/>
                </a:lnTo>
                <a:lnTo>
                  <a:pt x="3081" y="1733481"/>
                </a:lnTo>
                <a:lnTo>
                  <a:pt x="12057" y="1777412"/>
                </a:lnTo>
                <a:lnTo>
                  <a:pt x="26526" y="1819067"/>
                </a:lnTo>
                <a:lnTo>
                  <a:pt x="46085" y="1858044"/>
                </a:lnTo>
                <a:lnTo>
                  <a:pt x="70332" y="1893943"/>
                </a:lnTo>
                <a:lnTo>
                  <a:pt x="98865" y="1926359"/>
                </a:lnTo>
                <a:lnTo>
                  <a:pt x="131281" y="1954892"/>
                </a:lnTo>
                <a:lnTo>
                  <a:pt x="167180" y="1979139"/>
                </a:lnTo>
                <a:lnTo>
                  <a:pt x="206157" y="1998698"/>
                </a:lnTo>
                <a:lnTo>
                  <a:pt x="247812" y="2013167"/>
                </a:lnTo>
                <a:lnTo>
                  <a:pt x="291742" y="2022143"/>
                </a:lnTo>
                <a:lnTo>
                  <a:pt x="337545" y="2025224"/>
                </a:lnTo>
                <a:lnTo>
                  <a:pt x="3262854" y="2025224"/>
                </a:lnTo>
                <a:lnTo>
                  <a:pt x="3308657" y="2022143"/>
                </a:lnTo>
                <a:lnTo>
                  <a:pt x="3352587" y="2013167"/>
                </a:lnTo>
                <a:lnTo>
                  <a:pt x="3394242" y="1998698"/>
                </a:lnTo>
                <a:lnTo>
                  <a:pt x="3433220" y="1979139"/>
                </a:lnTo>
                <a:lnTo>
                  <a:pt x="3469118" y="1954892"/>
                </a:lnTo>
                <a:lnTo>
                  <a:pt x="3501535" y="1926359"/>
                </a:lnTo>
                <a:lnTo>
                  <a:pt x="3530068" y="1893943"/>
                </a:lnTo>
                <a:lnTo>
                  <a:pt x="3554315" y="1858044"/>
                </a:lnTo>
                <a:lnTo>
                  <a:pt x="3573874" y="1819067"/>
                </a:lnTo>
                <a:lnTo>
                  <a:pt x="3588342" y="1777412"/>
                </a:lnTo>
                <a:lnTo>
                  <a:pt x="3597319" y="1733481"/>
                </a:lnTo>
                <a:lnTo>
                  <a:pt x="3600400" y="1687678"/>
                </a:lnTo>
                <a:lnTo>
                  <a:pt x="3600400" y="337544"/>
                </a:lnTo>
                <a:lnTo>
                  <a:pt x="3597319" y="291741"/>
                </a:lnTo>
                <a:lnTo>
                  <a:pt x="3588342" y="247811"/>
                </a:lnTo>
                <a:lnTo>
                  <a:pt x="3573874" y="206156"/>
                </a:lnTo>
                <a:lnTo>
                  <a:pt x="3554315" y="167179"/>
                </a:lnTo>
                <a:lnTo>
                  <a:pt x="3530068" y="131281"/>
                </a:lnTo>
                <a:lnTo>
                  <a:pt x="3501535" y="98864"/>
                </a:lnTo>
                <a:lnTo>
                  <a:pt x="3469118" y="70331"/>
                </a:lnTo>
                <a:lnTo>
                  <a:pt x="3433220" y="46084"/>
                </a:lnTo>
                <a:lnTo>
                  <a:pt x="3394242" y="26525"/>
                </a:lnTo>
                <a:lnTo>
                  <a:pt x="3352587" y="12057"/>
                </a:lnTo>
                <a:lnTo>
                  <a:pt x="3308657" y="3081"/>
                </a:lnTo>
                <a:lnTo>
                  <a:pt x="3262854" y="0"/>
                </a:lnTo>
                <a:close/>
              </a:path>
            </a:pathLst>
          </a:custGeom>
          <a:solidFill>
            <a:srgbClr val="8C8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17">
            <a:extLst>
              <a:ext uri="{FF2B5EF4-FFF2-40B4-BE49-F238E27FC236}">
                <a16:creationId xmlns:a16="http://schemas.microsoft.com/office/drawing/2014/main" id="{C50E06EF-ED6D-CC39-9BE0-29D0BF2438AE}"/>
              </a:ext>
            </a:extLst>
          </p:cNvPr>
          <p:cNvSpPr/>
          <p:nvPr/>
        </p:nvSpPr>
        <p:spPr>
          <a:xfrm>
            <a:off x="8976022" y="1783234"/>
            <a:ext cx="3600450" cy="2025650"/>
          </a:xfrm>
          <a:custGeom>
            <a:avLst/>
            <a:gdLst/>
            <a:ahLst/>
            <a:cxnLst/>
            <a:rect l="l" t="t" r="r" b="b"/>
            <a:pathLst>
              <a:path w="3600450" h="2025650">
                <a:moveTo>
                  <a:pt x="0" y="337545"/>
                </a:moveTo>
                <a:lnTo>
                  <a:pt x="3081" y="291742"/>
                </a:lnTo>
                <a:lnTo>
                  <a:pt x="12057" y="247812"/>
                </a:lnTo>
                <a:lnTo>
                  <a:pt x="26525" y="206157"/>
                </a:lnTo>
                <a:lnTo>
                  <a:pt x="46084" y="167179"/>
                </a:lnTo>
                <a:lnTo>
                  <a:pt x="70331" y="131281"/>
                </a:lnTo>
                <a:lnTo>
                  <a:pt x="98864" y="98864"/>
                </a:lnTo>
                <a:lnTo>
                  <a:pt x="131281" y="70331"/>
                </a:lnTo>
                <a:lnTo>
                  <a:pt x="167179" y="46084"/>
                </a:lnTo>
                <a:lnTo>
                  <a:pt x="206157" y="26525"/>
                </a:lnTo>
                <a:lnTo>
                  <a:pt x="247812" y="12057"/>
                </a:lnTo>
                <a:lnTo>
                  <a:pt x="291742" y="3081"/>
                </a:lnTo>
                <a:lnTo>
                  <a:pt x="337545" y="0"/>
                </a:lnTo>
                <a:lnTo>
                  <a:pt x="3262855" y="0"/>
                </a:lnTo>
                <a:lnTo>
                  <a:pt x="3308657" y="3081"/>
                </a:lnTo>
                <a:lnTo>
                  <a:pt x="3352587" y="12057"/>
                </a:lnTo>
                <a:lnTo>
                  <a:pt x="3394242" y="26525"/>
                </a:lnTo>
                <a:lnTo>
                  <a:pt x="3433220" y="46084"/>
                </a:lnTo>
                <a:lnTo>
                  <a:pt x="3469118" y="70331"/>
                </a:lnTo>
                <a:lnTo>
                  <a:pt x="3501535" y="98864"/>
                </a:lnTo>
                <a:lnTo>
                  <a:pt x="3530068" y="131281"/>
                </a:lnTo>
                <a:lnTo>
                  <a:pt x="3554315" y="167179"/>
                </a:lnTo>
                <a:lnTo>
                  <a:pt x="3573874" y="206157"/>
                </a:lnTo>
                <a:lnTo>
                  <a:pt x="3588342" y="247812"/>
                </a:lnTo>
                <a:lnTo>
                  <a:pt x="3597318" y="291742"/>
                </a:lnTo>
                <a:lnTo>
                  <a:pt x="3600400" y="337545"/>
                </a:lnTo>
                <a:lnTo>
                  <a:pt x="3600400" y="1687680"/>
                </a:lnTo>
                <a:lnTo>
                  <a:pt x="3597318" y="1733482"/>
                </a:lnTo>
                <a:lnTo>
                  <a:pt x="3588342" y="1777412"/>
                </a:lnTo>
                <a:lnTo>
                  <a:pt x="3573874" y="1819067"/>
                </a:lnTo>
                <a:lnTo>
                  <a:pt x="3554315" y="1858045"/>
                </a:lnTo>
                <a:lnTo>
                  <a:pt x="3530068" y="1893943"/>
                </a:lnTo>
                <a:lnTo>
                  <a:pt x="3501535" y="1926360"/>
                </a:lnTo>
                <a:lnTo>
                  <a:pt x="3469118" y="1954893"/>
                </a:lnTo>
                <a:lnTo>
                  <a:pt x="3433220" y="1979140"/>
                </a:lnTo>
                <a:lnTo>
                  <a:pt x="3394242" y="1998699"/>
                </a:lnTo>
                <a:lnTo>
                  <a:pt x="3352587" y="2013167"/>
                </a:lnTo>
                <a:lnTo>
                  <a:pt x="3308657" y="2022143"/>
                </a:lnTo>
                <a:lnTo>
                  <a:pt x="3262855" y="2025225"/>
                </a:lnTo>
                <a:lnTo>
                  <a:pt x="337545" y="2025225"/>
                </a:lnTo>
                <a:lnTo>
                  <a:pt x="291742" y="2022143"/>
                </a:lnTo>
                <a:lnTo>
                  <a:pt x="247812" y="2013167"/>
                </a:lnTo>
                <a:lnTo>
                  <a:pt x="206157" y="1998699"/>
                </a:lnTo>
                <a:lnTo>
                  <a:pt x="167179" y="1979140"/>
                </a:lnTo>
                <a:lnTo>
                  <a:pt x="131281" y="1954893"/>
                </a:lnTo>
                <a:lnTo>
                  <a:pt x="98864" y="1926360"/>
                </a:lnTo>
                <a:lnTo>
                  <a:pt x="70331" y="1893943"/>
                </a:lnTo>
                <a:lnTo>
                  <a:pt x="46084" y="1858045"/>
                </a:lnTo>
                <a:lnTo>
                  <a:pt x="26525" y="1819067"/>
                </a:lnTo>
                <a:lnTo>
                  <a:pt x="12057" y="1777412"/>
                </a:lnTo>
                <a:lnTo>
                  <a:pt x="3081" y="1733482"/>
                </a:lnTo>
                <a:lnTo>
                  <a:pt x="0" y="1687680"/>
                </a:lnTo>
                <a:lnTo>
                  <a:pt x="0" y="337545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8">
            <a:extLst>
              <a:ext uri="{FF2B5EF4-FFF2-40B4-BE49-F238E27FC236}">
                <a16:creationId xmlns:a16="http://schemas.microsoft.com/office/drawing/2014/main" id="{7410EE1E-7486-0B11-1287-CBDFA45E5F30}"/>
              </a:ext>
            </a:extLst>
          </p:cNvPr>
          <p:cNvSpPr/>
          <p:nvPr/>
        </p:nvSpPr>
        <p:spPr>
          <a:xfrm>
            <a:off x="8955289" y="1830853"/>
            <a:ext cx="3505200" cy="7010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9">
            <a:extLst>
              <a:ext uri="{FF2B5EF4-FFF2-40B4-BE49-F238E27FC236}">
                <a16:creationId xmlns:a16="http://schemas.microsoft.com/office/drawing/2014/main" id="{33646881-0AF7-72A4-34A7-A32E2426DAFE}"/>
              </a:ext>
            </a:extLst>
          </p:cNvPr>
          <p:cNvSpPr/>
          <p:nvPr/>
        </p:nvSpPr>
        <p:spPr>
          <a:xfrm>
            <a:off x="8921761" y="2199660"/>
            <a:ext cx="3575304" cy="6979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20">
            <a:extLst>
              <a:ext uri="{FF2B5EF4-FFF2-40B4-BE49-F238E27FC236}">
                <a16:creationId xmlns:a16="http://schemas.microsoft.com/office/drawing/2014/main" id="{45B55DA5-F424-7C8B-EA70-8FB1E41231B2}"/>
              </a:ext>
            </a:extLst>
          </p:cNvPr>
          <p:cNvSpPr/>
          <p:nvPr/>
        </p:nvSpPr>
        <p:spPr>
          <a:xfrm>
            <a:off x="9052825" y="2568469"/>
            <a:ext cx="947927" cy="69799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21">
            <a:extLst>
              <a:ext uri="{FF2B5EF4-FFF2-40B4-BE49-F238E27FC236}">
                <a16:creationId xmlns:a16="http://schemas.microsoft.com/office/drawing/2014/main" id="{822FC27A-C87D-AB3B-0ECA-334A7DB395E7}"/>
              </a:ext>
            </a:extLst>
          </p:cNvPr>
          <p:cNvSpPr/>
          <p:nvPr/>
        </p:nvSpPr>
        <p:spPr>
          <a:xfrm>
            <a:off x="9668520" y="2568469"/>
            <a:ext cx="2697479" cy="69799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22">
            <a:extLst>
              <a:ext uri="{FF2B5EF4-FFF2-40B4-BE49-F238E27FC236}">
                <a16:creationId xmlns:a16="http://schemas.microsoft.com/office/drawing/2014/main" id="{73B4CD98-DE3B-9B76-ED85-1A9DB29F0B61}"/>
              </a:ext>
            </a:extLst>
          </p:cNvPr>
          <p:cNvSpPr/>
          <p:nvPr/>
        </p:nvSpPr>
        <p:spPr>
          <a:xfrm>
            <a:off x="9357625" y="2937276"/>
            <a:ext cx="2612135" cy="69799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23">
            <a:extLst>
              <a:ext uri="{FF2B5EF4-FFF2-40B4-BE49-F238E27FC236}">
                <a16:creationId xmlns:a16="http://schemas.microsoft.com/office/drawing/2014/main" id="{E1C243A4-B916-5C22-524A-AD7BECA74E88}"/>
              </a:ext>
            </a:extLst>
          </p:cNvPr>
          <p:cNvSpPr txBox="1"/>
          <p:nvPr/>
        </p:nvSpPr>
        <p:spPr>
          <a:xfrm>
            <a:off x="9105377" y="1912641"/>
            <a:ext cx="3088005" cy="14947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-635" algn="ctr">
              <a:lnSpc>
                <a:spcPct val="101000"/>
              </a:lnSpc>
              <a:spcBef>
                <a:spcPts val="80"/>
              </a:spcBef>
            </a:pPr>
            <a:r>
              <a:rPr sz="2400" b="1" dirty="0">
                <a:solidFill>
                  <a:srgbClr val="B8FF3C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Most </a:t>
            </a:r>
            <a:r>
              <a:rPr sz="2400" b="1" spc="-5" dirty="0">
                <a:solidFill>
                  <a:srgbClr val="B8FF3C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concepts in this  presentation </a:t>
            </a:r>
            <a:r>
              <a:rPr sz="2400" b="1" dirty="0">
                <a:solidFill>
                  <a:srgbClr val="B8FF3C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apply</a:t>
            </a:r>
            <a:r>
              <a:rPr sz="2400" b="1" spc="-75" dirty="0">
                <a:solidFill>
                  <a:srgbClr val="B8FF3C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 </a:t>
            </a:r>
            <a:r>
              <a:rPr sz="2400" b="1" spc="-5" dirty="0">
                <a:solidFill>
                  <a:srgbClr val="B8FF3C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to  </a:t>
            </a:r>
            <a:r>
              <a:rPr sz="2400" b="1" i="1" dirty="0">
                <a:solidFill>
                  <a:srgbClr val="B8FF3C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any </a:t>
            </a:r>
            <a:r>
              <a:rPr sz="2400" b="1" spc="-5" dirty="0">
                <a:solidFill>
                  <a:srgbClr val="B8FF3C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language </a:t>
            </a:r>
            <a:r>
              <a:rPr sz="2400" b="1" dirty="0">
                <a:solidFill>
                  <a:srgbClr val="B8FF3C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or API  on </a:t>
            </a:r>
            <a:r>
              <a:rPr sz="2400" b="1" spc="-10" dirty="0">
                <a:solidFill>
                  <a:srgbClr val="B8FF3C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NVIDIA</a:t>
            </a:r>
            <a:r>
              <a:rPr sz="2400" b="1" spc="-155" dirty="0">
                <a:solidFill>
                  <a:srgbClr val="B8FF3C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 </a:t>
            </a:r>
            <a:r>
              <a:rPr sz="2400" b="1" spc="-5" dirty="0">
                <a:solidFill>
                  <a:srgbClr val="B8FF3C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GPUs</a:t>
            </a:r>
            <a:endParaRPr sz="2400" dirty="0">
              <a:latin typeface="Trebuchet MS" panose="020B060302020202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723D0B85-75CD-A451-13CE-C6629F794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7867773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30CAA-DE87-0ACE-F463-CE0061330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111206F-C5FC-BFCF-C821-540620E6A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EXECUTION MODEL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0580D17-8BA2-86E0-1A14-349A5B50E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6664" y="1152178"/>
            <a:ext cx="7560840" cy="5832648"/>
          </a:xfrm>
        </p:spPr>
        <p:txBody>
          <a:bodyPr/>
          <a:lstStyle/>
          <a:p>
            <a:pPr marL="540385" lvl="2" indent="0">
              <a:buNone/>
            </a:pPr>
            <a:endParaRPr lang="en-US" sz="2000" dirty="0"/>
          </a:p>
          <a:p>
            <a:pPr lvl="2"/>
            <a:r>
              <a:rPr lang="en-US" sz="2000" dirty="0"/>
              <a:t>CUDA threads are executed by scalar processors (</a:t>
            </a:r>
            <a:r>
              <a:rPr lang="en-US" sz="2000" dirty="0">
                <a:solidFill>
                  <a:srgbClr val="FF0000"/>
                </a:solidFill>
              </a:rPr>
              <a:t>Lane of SIMD processor</a:t>
            </a:r>
            <a:r>
              <a:rPr lang="en-US" sz="2000" dirty="0"/>
              <a:t>)</a:t>
            </a:r>
          </a:p>
          <a:p>
            <a:pPr lvl="2"/>
            <a:endParaRPr lang="en-US" sz="2000" dirty="0"/>
          </a:p>
          <a:p>
            <a:pPr lvl="2"/>
            <a:endParaRPr lang="en-US" sz="2000" dirty="0"/>
          </a:p>
          <a:p>
            <a:pPr lvl="2"/>
            <a:r>
              <a:rPr lang="en-US" sz="2000" dirty="0"/>
              <a:t>Thread blocks are split to warps and executed on multiprocessors (</a:t>
            </a:r>
            <a:r>
              <a:rPr lang="en-US" sz="2000" dirty="0">
                <a:solidFill>
                  <a:srgbClr val="FF0000"/>
                </a:solidFill>
              </a:rPr>
              <a:t>SIMD processor</a:t>
            </a:r>
            <a:r>
              <a:rPr lang="en-US" sz="2000" dirty="0"/>
              <a:t>) in SIMT.</a:t>
            </a:r>
          </a:p>
          <a:p>
            <a:pPr lvl="2"/>
            <a:endParaRPr lang="en-US" sz="2000" dirty="0"/>
          </a:p>
          <a:p>
            <a:pPr lvl="2"/>
            <a:endParaRPr lang="en-US" sz="2000" dirty="0"/>
          </a:p>
          <a:p>
            <a:pPr lvl="2"/>
            <a:r>
              <a:rPr lang="en-US" sz="2000" dirty="0"/>
              <a:t>Several concurrent thread blocks can reside on one  SIMD processor (when the number of thread blocks greater than multiprocessors) - limited by SIMD processor resources (shared memory and register file)</a:t>
            </a:r>
          </a:p>
          <a:p>
            <a:pPr lvl="2"/>
            <a:r>
              <a:rPr lang="en-US" sz="2000" dirty="0"/>
              <a:t>A kernel is launched as a grid of thread blocks</a:t>
            </a:r>
          </a:p>
          <a:p>
            <a:endParaRPr lang="en-US" dirty="0"/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6699ED3D-06AC-182C-0D42-B8E7E3931DFA}"/>
              </a:ext>
            </a:extLst>
          </p:cNvPr>
          <p:cNvSpPr txBox="1"/>
          <p:nvPr/>
        </p:nvSpPr>
        <p:spPr>
          <a:xfrm>
            <a:off x="923883" y="949133"/>
            <a:ext cx="151953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omic Sans MS" panose="030F0702030302020204" pitchFamily="66" charset="0"/>
                <a:cs typeface="Arial" panose="020B0604020202020204"/>
              </a:rPr>
              <a:t>Software</a:t>
            </a:r>
            <a:endParaRPr sz="2400" dirty="0"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6D009AD1-07EF-60AB-6BCA-E8E87F853B46}"/>
              </a:ext>
            </a:extLst>
          </p:cNvPr>
          <p:cNvSpPr/>
          <p:nvPr/>
        </p:nvSpPr>
        <p:spPr>
          <a:xfrm>
            <a:off x="4153231" y="1615605"/>
            <a:ext cx="316230" cy="168910"/>
          </a:xfrm>
          <a:custGeom>
            <a:avLst/>
            <a:gdLst/>
            <a:ahLst/>
            <a:cxnLst/>
            <a:rect l="l" t="t" r="r" b="b"/>
            <a:pathLst>
              <a:path w="316229" h="168910">
                <a:moveTo>
                  <a:pt x="316229" y="0"/>
                </a:moveTo>
                <a:lnTo>
                  <a:pt x="0" y="0"/>
                </a:lnTo>
                <a:lnTo>
                  <a:pt x="0" y="168592"/>
                </a:lnTo>
                <a:lnTo>
                  <a:pt x="316229" y="168592"/>
                </a:lnTo>
                <a:lnTo>
                  <a:pt x="316229" y="0"/>
                </a:lnTo>
                <a:close/>
              </a:path>
            </a:pathLst>
          </a:custGeom>
          <a:solidFill>
            <a:srgbClr val="FE7F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041840A1-E2C9-B3FC-91A4-BE8C5BED6654}"/>
              </a:ext>
            </a:extLst>
          </p:cNvPr>
          <p:cNvSpPr/>
          <p:nvPr/>
        </p:nvSpPr>
        <p:spPr>
          <a:xfrm>
            <a:off x="4145610" y="1604452"/>
            <a:ext cx="316230" cy="168910"/>
          </a:xfrm>
          <a:custGeom>
            <a:avLst/>
            <a:gdLst/>
            <a:ahLst/>
            <a:cxnLst/>
            <a:rect l="l" t="t" r="r" b="b"/>
            <a:pathLst>
              <a:path w="316229" h="168910">
                <a:moveTo>
                  <a:pt x="0" y="0"/>
                </a:moveTo>
                <a:lnTo>
                  <a:pt x="316230" y="0"/>
                </a:lnTo>
                <a:lnTo>
                  <a:pt x="316230" y="168593"/>
                </a:lnTo>
                <a:lnTo>
                  <a:pt x="0" y="168593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7BACC32F-1809-D29A-ADC0-767CB5CBCC52}"/>
              </a:ext>
            </a:extLst>
          </p:cNvPr>
          <p:cNvSpPr txBox="1"/>
          <p:nvPr/>
        </p:nvSpPr>
        <p:spPr>
          <a:xfrm>
            <a:off x="3559346" y="946627"/>
            <a:ext cx="155528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omic Sans MS" panose="030F0702030302020204" pitchFamily="66" charset="0"/>
                <a:cs typeface="Arial" panose="020B0604020202020204"/>
              </a:rPr>
              <a:t>Hardware</a:t>
            </a:r>
            <a:endParaRPr sz="2400" dirty="0"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6E673F16-8477-6A51-EEAC-FF1663368E25}"/>
              </a:ext>
            </a:extLst>
          </p:cNvPr>
          <p:cNvSpPr/>
          <p:nvPr/>
        </p:nvSpPr>
        <p:spPr>
          <a:xfrm>
            <a:off x="1499683" y="1547629"/>
            <a:ext cx="213360" cy="702945"/>
          </a:xfrm>
          <a:custGeom>
            <a:avLst/>
            <a:gdLst/>
            <a:ahLst/>
            <a:cxnLst/>
            <a:rect l="l" t="t" r="r" b="b"/>
            <a:pathLst>
              <a:path w="213359" h="702944">
                <a:moveTo>
                  <a:pt x="13765" y="0"/>
                </a:moveTo>
                <a:lnTo>
                  <a:pt x="63748" y="35934"/>
                </a:lnTo>
                <a:lnTo>
                  <a:pt x="110865" y="71920"/>
                </a:lnTo>
                <a:lnTo>
                  <a:pt x="152248" y="108012"/>
                </a:lnTo>
                <a:lnTo>
                  <a:pt x="185030" y="144267"/>
                </a:lnTo>
                <a:lnTo>
                  <a:pt x="206343" y="180741"/>
                </a:lnTo>
                <a:lnTo>
                  <a:pt x="213320" y="217489"/>
                </a:lnTo>
                <a:lnTo>
                  <a:pt x="200780" y="248950"/>
                </a:lnTo>
                <a:lnTo>
                  <a:pt x="170025" y="280254"/>
                </a:lnTo>
                <a:lnTo>
                  <a:pt x="128396" y="311638"/>
                </a:lnTo>
                <a:lnTo>
                  <a:pt x="83236" y="343340"/>
                </a:lnTo>
                <a:lnTo>
                  <a:pt x="41889" y="375597"/>
                </a:lnTo>
                <a:lnTo>
                  <a:pt x="11696" y="408646"/>
                </a:lnTo>
                <a:lnTo>
                  <a:pt x="0" y="442725"/>
                </a:lnTo>
                <a:lnTo>
                  <a:pt x="6219" y="477901"/>
                </a:lnTo>
                <a:lnTo>
                  <a:pt x="23633" y="513968"/>
                </a:lnTo>
                <a:lnTo>
                  <a:pt x="50375" y="550790"/>
                </a:lnTo>
                <a:lnTo>
                  <a:pt x="84581" y="588233"/>
                </a:lnTo>
                <a:lnTo>
                  <a:pt x="124384" y="626162"/>
                </a:lnTo>
                <a:lnTo>
                  <a:pt x="167919" y="664444"/>
                </a:lnTo>
                <a:lnTo>
                  <a:pt x="213320" y="70294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" name="object 11">
            <a:extLst>
              <a:ext uri="{FF2B5EF4-FFF2-40B4-BE49-F238E27FC236}">
                <a16:creationId xmlns:a16="http://schemas.microsoft.com/office/drawing/2014/main" id="{E8E4C770-6CC6-32B7-C7B7-64AE61F7E011}"/>
              </a:ext>
            </a:extLst>
          </p:cNvPr>
          <p:cNvSpPr/>
          <p:nvPr/>
        </p:nvSpPr>
        <p:spPr>
          <a:xfrm>
            <a:off x="805493" y="3243590"/>
            <a:ext cx="1036319" cy="777240"/>
          </a:xfrm>
          <a:custGeom>
            <a:avLst/>
            <a:gdLst/>
            <a:ahLst/>
            <a:cxnLst/>
            <a:rect l="l" t="t" r="r" b="b"/>
            <a:pathLst>
              <a:path w="1036319" h="777239">
                <a:moveTo>
                  <a:pt x="1036319" y="0"/>
                </a:moveTo>
                <a:lnTo>
                  <a:pt x="0" y="0"/>
                </a:lnTo>
                <a:lnTo>
                  <a:pt x="0" y="777239"/>
                </a:lnTo>
                <a:lnTo>
                  <a:pt x="1036319" y="777239"/>
                </a:lnTo>
                <a:lnTo>
                  <a:pt x="1036319" y="0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" name="object 13">
            <a:extLst>
              <a:ext uri="{FF2B5EF4-FFF2-40B4-BE49-F238E27FC236}">
                <a16:creationId xmlns:a16="http://schemas.microsoft.com/office/drawing/2014/main" id="{4E3A38FF-9B26-4CB7-0C38-67DBCE336177}"/>
              </a:ext>
            </a:extLst>
          </p:cNvPr>
          <p:cNvSpPr/>
          <p:nvPr/>
        </p:nvSpPr>
        <p:spPr>
          <a:xfrm>
            <a:off x="874073" y="3317885"/>
            <a:ext cx="169545" cy="617220"/>
          </a:xfrm>
          <a:custGeom>
            <a:avLst/>
            <a:gdLst/>
            <a:ahLst/>
            <a:cxnLst/>
            <a:rect l="l" t="t" r="r" b="b"/>
            <a:pathLst>
              <a:path w="169544" h="617220">
                <a:moveTo>
                  <a:pt x="10938" y="0"/>
                </a:moveTo>
                <a:lnTo>
                  <a:pt x="58400" y="37866"/>
                </a:lnTo>
                <a:lnTo>
                  <a:pt x="101926" y="75811"/>
                </a:lnTo>
                <a:lnTo>
                  <a:pt x="137579" y="113920"/>
                </a:lnTo>
                <a:lnTo>
                  <a:pt x="161420" y="152276"/>
                </a:lnTo>
                <a:lnTo>
                  <a:pt x="169513" y="190966"/>
                </a:lnTo>
                <a:lnTo>
                  <a:pt x="156323" y="223175"/>
                </a:lnTo>
                <a:lnTo>
                  <a:pt x="124754" y="255244"/>
                </a:lnTo>
                <a:lnTo>
                  <a:pt x="84072" y="287503"/>
                </a:lnTo>
                <a:lnTo>
                  <a:pt x="43542" y="320284"/>
                </a:lnTo>
                <a:lnTo>
                  <a:pt x="12429" y="353917"/>
                </a:lnTo>
                <a:lnTo>
                  <a:pt x="0" y="388734"/>
                </a:lnTo>
                <a:lnTo>
                  <a:pt x="6670" y="424848"/>
                </a:lnTo>
                <a:lnTo>
                  <a:pt x="25113" y="461998"/>
                </a:lnTo>
                <a:lnTo>
                  <a:pt x="52972" y="499998"/>
                </a:lnTo>
                <a:lnTo>
                  <a:pt x="87895" y="538659"/>
                </a:lnTo>
                <a:lnTo>
                  <a:pt x="127527" y="577796"/>
                </a:lnTo>
                <a:lnTo>
                  <a:pt x="169513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1" name="object 14">
            <a:extLst>
              <a:ext uri="{FF2B5EF4-FFF2-40B4-BE49-F238E27FC236}">
                <a16:creationId xmlns:a16="http://schemas.microsoft.com/office/drawing/2014/main" id="{5765ABD1-E358-7778-7F1B-17E3FA78FC9B}"/>
              </a:ext>
            </a:extLst>
          </p:cNvPr>
          <p:cNvSpPr/>
          <p:nvPr/>
        </p:nvSpPr>
        <p:spPr>
          <a:xfrm>
            <a:off x="975037" y="3317885"/>
            <a:ext cx="171450" cy="617220"/>
          </a:xfrm>
          <a:custGeom>
            <a:avLst/>
            <a:gdLst/>
            <a:ahLst/>
            <a:cxnLst/>
            <a:rect l="l" t="t" r="r" b="b"/>
            <a:pathLst>
              <a:path w="171450" h="617220">
                <a:moveTo>
                  <a:pt x="11061" y="0"/>
                </a:moveTo>
                <a:lnTo>
                  <a:pt x="59056" y="37866"/>
                </a:lnTo>
                <a:lnTo>
                  <a:pt x="103072" y="75811"/>
                </a:lnTo>
                <a:lnTo>
                  <a:pt x="139125" y="113920"/>
                </a:lnTo>
                <a:lnTo>
                  <a:pt x="163234" y="152276"/>
                </a:lnTo>
                <a:lnTo>
                  <a:pt x="171417" y="190966"/>
                </a:lnTo>
                <a:lnTo>
                  <a:pt x="158079" y="223175"/>
                </a:lnTo>
                <a:lnTo>
                  <a:pt x="126156" y="255244"/>
                </a:lnTo>
                <a:lnTo>
                  <a:pt x="85017" y="287503"/>
                </a:lnTo>
                <a:lnTo>
                  <a:pt x="44031" y="320284"/>
                </a:lnTo>
                <a:lnTo>
                  <a:pt x="12569" y="353917"/>
                </a:lnTo>
                <a:lnTo>
                  <a:pt x="0" y="388734"/>
                </a:lnTo>
                <a:lnTo>
                  <a:pt x="6745" y="424848"/>
                </a:lnTo>
                <a:lnTo>
                  <a:pt x="25395" y="461998"/>
                </a:lnTo>
                <a:lnTo>
                  <a:pt x="53568" y="499998"/>
                </a:lnTo>
                <a:lnTo>
                  <a:pt x="88883" y="538659"/>
                </a:lnTo>
                <a:lnTo>
                  <a:pt x="128960" y="577796"/>
                </a:lnTo>
                <a:lnTo>
                  <a:pt x="171417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2" name="object 15">
            <a:extLst>
              <a:ext uri="{FF2B5EF4-FFF2-40B4-BE49-F238E27FC236}">
                <a16:creationId xmlns:a16="http://schemas.microsoft.com/office/drawing/2014/main" id="{687E9368-603F-BD12-0901-21FC0B78FB26}"/>
              </a:ext>
            </a:extLst>
          </p:cNvPr>
          <p:cNvSpPr/>
          <p:nvPr/>
        </p:nvSpPr>
        <p:spPr>
          <a:xfrm>
            <a:off x="1077907" y="3317885"/>
            <a:ext cx="169545" cy="617220"/>
          </a:xfrm>
          <a:custGeom>
            <a:avLst/>
            <a:gdLst/>
            <a:ahLst/>
            <a:cxnLst/>
            <a:rect l="l" t="t" r="r" b="b"/>
            <a:pathLst>
              <a:path w="169544" h="617220">
                <a:moveTo>
                  <a:pt x="10938" y="0"/>
                </a:moveTo>
                <a:lnTo>
                  <a:pt x="58400" y="37866"/>
                </a:lnTo>
                <a:lnTo>
                  <a:pt x="101926" y="75811"/>
                </a:lnTo>
                <a:lnTo>
                  <a:pt x="137579" y="113920"/>
                </a:lnTo>
                <a:lnTo>
                  <a:pt x="161420" y="152276"/>
                </a:lnTo>
                <a:lnTo>
                  <a:pt x="169513" y="190966"/>
                </a:lnTo>
                <a:lnTo>
                  <a:pt x="156323" y="223175"/>
                </a:lnTo>
                <a:lnTo>
                  <a:pt x="124754" y="255244"/>
                </a:lnTo>
                <a:lnTo>
                  <a:pt x="84072" y="287503"/>
                </a:lnTo>
                <a:lnTo>
                  <a:pt x="43542" y="320284"/>
                </a:lnTo>
                <a:lnTo>
                  <a:pt x="12429" y="353917"/>
                </a:lnTo>
                <a:lnTo>
                  <a:pt x="0" y="388734"/>
                </a:lnTo>
                <a:lnTo>
                  <a:pt x="6670" y="424848"/>
                </a:lnTo>
                <a:lnTo>
                  <a:pt x="25113" y="461998"/>
                </a:lnTo>
                <a:lnTo>
                  <a:pt x="52972" y="499998"/>
                </a:lnTo>
                <a:lnTo>
                  <a:pt x="87895" y="538659"/>
                </a:lnTo>
                <a:lnTo>
                  <a:pt x="127527" y="577796"/>
                </a:lnTo>
                <a:lnTo>
                  <a:pt x="169513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3" name="object 16">
            <a:extLst>
              <a:ext uri="{FF2B5EF4-FFF2-40B4-BE49-F238E27FC236}">
                <a16:creationId xmlns:a16="http://schemas.microsoft.com/office/drawing/2014/main" id="{02D1C3A8-37F6-4DEB-5217-453076568E12}"/>
              </a:ext>
            </a:extLst>
          </p:cNvPr>
          <p:cNvSpPr/>
          <p:nvPr/>
        </p:nvSpPr>
        <p:spPr>
          <a:xfrm>
            <a:off x="1178873" y="3317885"/>
            <a:ext cx="171450" cy="617220"/>
          </a:xfrm>
          <a:custGeom>
            <a:avLst/>
            <a:gdLst/>
            <a:ahLst/>
            <a:cxnLst/>
            <a:rect l="l" t="t" r="r" b="b"/>
            <a:pathLst>
              <a:path w="171450" h="617220">
                <a:moveTo>
                  <a:pt x="11061" y="0"/>
                </a:moveTo>
                <a:lnTo>
                  <a:pt x="59056" y="37866"/>
                </a:lnTo>
                <a:lnTo>
                  <a:pt x="103072" y="75811"/>
                </a:lnTo>
                <a:lnTo>
                  <a:pt x="139125" y="113920"/>
                </a:lnTo>
                <a:lnTo>
                  <a:pt x="163234" y="152276"/>
                </a:lnTo>
                <a:lnTo>
                  <a:pt x="171417" y="190966"/>
                </a:lnTo>
                <a:lnTo>
                  <a:pt x="158079" y="223175"/>
                </a:lnTo>
                <a:lnTo>
                  <a:pt x="126156" y="255244"/>
                </a:lnTo>
                <a:lnTo>
                  <a:pt x="85017" y="287503"/>
                </a:lnTo>
                <a:lnTo>
                  <a:pt x="44031" y="320284"/>
                </a:lnTo>
                <a:lnTo>
                  <a:pt x="12569" y="353917"/>
                </a:lnTo>
                <a:lnTo>
                  <a:pt x="0" y="388734"/>
                </a:lnTo>
                <a:lnTo>
                  <a:pt x="6745" y="424848"/>
                </a:lnTo>
                <a:lnTo>
                  <a:pt x="25395" y="461998"/>
                </a:lnTo>
                <a:lnTo>
                  <a:pt x="53568" y="499998"/>
                </a:lnTo>
                <a:lnTo>
                  <a:pt x="88883" y="538659"/>
                </a:lnTo>
                <a:lnTo>
                  <a:pt x="128960" y="577796"/>
                </a:lnTo>
                <a:lnTo>
                  <a:pt x="171417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4" name="object 17">
            <a:extLst>
              <a:ext uri="{FF2B5EF4-FFF2-40B4-BE49-F238E27FC236}">
                <a16:creationId xmlns:a16="http://schemas.microsoft.com/office/drawing/2014/main" id="{D1EE407F-A4E8-95A0-24D7-4145CDA9202C}"/>
              </a:ext>
            </a:extLst>
          </p:cNvPr>
          <p:cNvSpPr/>
          <p:nvPr/>
        </p:nvSpPr>
        <p:spPr>
          <a:xfrm>
            <a:off x="1281743" y="3317885"/>
            <a:ext cx="171450" cy="617220"/>
          </a:xfrm>
          <a:custGeom>
            <a:avLst/>
            <a:gdLst/>
            <a:ahLst/>
            <a:cxnLst/>
            <a:rect l="l" t="t" r="r" b="b"/>
            <a:pathLst>
              <a:path w="171450" h="617220">
                <a:moveTo>
                  <a:pt x="11061" y="0"/>
                </a:moveTo>
                <a:lnTo>
                  <a:pt x="59056" y="37866"/>
                </a:lnTo>
                <a:lnTo>
                  <a:pt x="103072" y="75811"/>
                </a:lnTo>
                <a:lnTo>
                  <a:pt x="139125" y="113920"/>
                </a:lnTo>
                <a:lnTo>
                  <a:pt x="163234" y="152276"/>
                </a:lnTo>
                <a:lnTo>
                  <a:pt x="171417" y="190966"/>
                </a:lnTo>
                <a:lnTo>
                  <a:pt x="158079" y="223175"/>
                </a:lnTo>
                <a:lnTo>
                  <a:pt x="126156" y="255244"/>
                </a:lnTo>
                <a:lnTo>
                  <a:pt x="85017" y="287503"/>
                </a:lnTo>
                <a:lnTo>
                  <a:pt x="44031" y="320284"/>
                </a:lnTo>
                <a:lnTo>
                  <a:pt x="12569" y="353917"/>
                </a:lnTo>
                <a:lnTo>
                  <a:pt x="0" y="388734"/>
                </a:lnTo>
                <a:lnTo>
                  <a:pt x="6745" y="424848"/>
                </a:lnTo>
                <a:lnTo>
                  <a:pt x="25395" y="461998"/>
                </a:lnTo>
                <a:lnTo>
                  <a:pt x="53568" y="499998"/>
                </a:lnTo>
                <a:lnTo>
                  <a:pt x="88883" y="538659"/>
                </a:lnTo>
                <a:lnTo>
                  <a:pt x="128960" y="577796"/>
                </a:lnTo>
                <a:lnTo>
                  <a:pt x="171417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5" name="object 18">
            <a:extLst>
              <a:ext uri="{FF2B5EF4-FFF2-40B4-BE49-F238E27FC236}">
                <a16:creationId xmlns:a16="http://schemas.microsoft.com/office/drawing/2014/main" id="{FF30B560-817F-7ED1-982E-AAC25F5136EB}"/>
              </a:ext>
            </a:extLst>
          </p:cNvPr>
          <p:cNvSpPr/>
          <p:nvPr/>
        </p:nvSpPr>
        <p:spPr>
          <a:xfrm>
            <a:off x="1384612" y="3317885"/>
            <a:ext cx="169545" cy="617220"/>
          </a:xfrm>
          <a:custGeom>
            <a:avLst/>
            <a:gdLst/>
            <a:ahLst/>
            <a:cxnLst/>
            <a:rect l="l" t="t" r="r" b="b"/>
            <a:pathLst>
              <a:path w="169544" h="617220">
                <a:moveTo>
                  <a:pt x="10938" y="0"/>
                </a:moveTo>
                <a:lnTo>
                  <a:pt x="58400" y="37866"/>
                </a:lnTo>
                <a:lnTo>
                  <a:pt x="101926" y="75811"/>
                </a:lnTo>
                <a:lnTo>
                  <a:pt x="137579" y="113920"/>
                </a:lnTo>
                <a:lnTo>
                  <a:pt x="161420" y="152276"/>
                </a:lnTo>
                <a:lnTo>
                  <a:pt x="169513" y="190966"/>
                </a:lnTo>
                <a:lnTo>
                  <a:pt x="156323" y="223175"/>
                </a:lnTo>
                <a:lnTo>
                  <a:pt x="124754" y="255244"/>
                </a:lnTo>
                <a:lnTo>
                  <a:pt x="84072" y="287503"/>
                </a:lnTo>
                <a:lnTo>
                  <a:pt x="43542" y="320284"/>
                </a:lnTo>
                <a:lnTo>
                  <a:pt x="12429" y="353917"/>
                </a:lnTo>
                <a:lnTo>
                  <a:pt x="0" y="388734"/>
                </a:lnTo>
                <a:lnTo>
                  <a:pt x="6670" y="424848"/>
                </a:lnTo>
                <a:lnTo>
                  <a:pt x="25113" y="461998"/>
                </a:lnTo>
                <a:lnTo>
                  <a:pt x="52972" y="499998"/>
                </a:lnTo>
                <a:lnTo>
                  <a:pt x="87895" y="538659"/>
                </a:lnTo>
                <a:lnTo>
                  <a:pt x="127527" y="577796"/>
                </a:lnTo>
                <a:lnTo>
                  <a:pt x="169513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6" name="object 19">
            <a:extLst>
              <a:ext uri="{FF2B5EF4-FFF2-40B4-BE49-F238E27FC236}">
                <a16:creationId xmlns:a16="http://schemas.microsoft.com/office/drawing/2014/main" id="{5FD32544-0CAD-7175-5470-75F7B8B882F5}"/>
              </a:ext>
            </a:extLst>
          </p:cNvPr>
          <p:cNvSpPr/>
          <p:nvPr/>
        </p:nvSpPr>
        <p:spPr>
          <a:xfrm>
            <a:off x="1485578" y="3317885"/>
            <a:ext cx="171450" cy="617220"/>
          </a:xfrm>
          <a:custGeom>
            <a:avLst/>
            <a:gdLst/>
            <a:ahLst/>
            <a:cxnLst/>
            <a:rect l="l" t="t" r="r" b="b"/>
            <a:pathLst>
              <a:path w="171450" h="617220">
                <a:moveTo>
                  <a:pt x="11061" y="0"/>
                </a:moveTo>
                <a:lnTo>
                  <a:pt x="59056" y="37866"/>
                </a:lnTo>
                <a:lnTo>
                  <a:pt x="103072" y="75811"/>
                </a:lnTo>
                <a:lnTo>
                  <a:pt x="139125" y="113920"/>
                </a:lnTo>
                <a:lnTo>
                  <a:pt x="163234" y="152276"/>
                </a:lnTo>
                <a:lnTo>
                  <a:pt x="171417" y="190966"/>
                </a:lnTo>
                <a:lnTo>
                  <a:pt x="158079" y="223175"/>
                </a:lnTo>
                <a:lnTo>
                  <a:pt x="126156" y="255244"/>
                </a:lnTo>
                <a:lnTo>
                  <a:pt x="85017" y="287503"/>
                </a:lnTo>
                <a:lnTo>
                  <a:pt x="44031" y="320284"/>
                </a:lnTo>
                <a:lnTo>
                  <a:pt x="12569" y="353917"/>
                </a:lnTo>
                <a:lnTo>
                  <a:pt x="0" y="388734"/>
                </a:lnTo>
                <a:lnTo>
                  <a:pt x="6745" y="424848"/>
                </a:lnTo>
                <a:lnTo>
                  <a:pt x="25395" y="461998"/>
                </a:lnTo>
                <a:lnTo>
                  <a:pt x="53568" y="499998"/>
                </a:lnTo>
                <a:lnTo>
                  <a:pt x="88883" y="538659"/>
                </a:lnTo>
                <a:lnTo>
                  <a:pt x="128960" y="577796"/>
                </a:lnTo>
                <a:lnTo>
                  <a:pt x="171417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7" name="object 20">
            <a:extLst>
              <a:ext uri="{FF2B5EF4-FFF2-40B4-BE49-F238E27FC236}">
                <a16:creationId xmlns:a16="http://schemas.microsoft.com/office/drawing/2014/main" id="{EE22295C-BB0C-5E6F-9349-94336B6F25AB}"/>
              </a:ext>
            </a:extLst>
          </p:cNvPr>
          <p:cNvSpPr/>
          <p:nvPr/>
        </p:nvSpPr>
        <p:spPr>
          <a:xfrm>
            <a:off x="1588447" y="3317885"/>
            <a:ext cx="171450" cy="617220"/>
          </a:xfrm>
          <a:custGeom>
            <a:avLst/>
            <a:gdLst/>
            <a:ahLst/>
            <a:cxnLst/>
            <a:rect l="l" t="t" r="r" b="b"/>
            <a:pathLst>
              <a:path w="171450" h="617220">
                <a:moveTo>
                  <a:pt x="11061" y="0"/>
                </a:moveTo>
                <a:lnTo>
                  <a:pt x="59056" y="37866"/>
                </a:lnTo>
                <a:lnTo>
                  <a:pt x="103072" y="75811"/>
                </a:lnTo>
                <a:lnTo>
                  <a:pt x="139125" y="113920"/>
                </a:lnTo>
                <a:lnTo>
                  <a:pt x="163234" y="152276"/>
                </a:lnTo>
                <a:lnTo>
                  <a:pt x="171417" y="190966"/>
                </a:lnTo>
                <a:lnTo>
                  <a:pt x="158079" y="223175"/>
                </a:lnTo>
                <a:lnTo>
                  <a:pt x="126156" y="255244"/>
                </a:lnTo>
                <a:lnTo>
                  <a:pt x="85017" y="287503"/>
                </a:lnTo>
                <a:lnTo>
                  <a:pt x="44031" y="320284"/>
                </a:lnTo>
                <a:lnTo>
                  <a:pt x="12569" y="353917"/>
                </a:lnTo>
                <a:lnTo>
                  <a:pt x="0" y="388734"/>
                </a:lnTo>
                <a:lnTo>
                  <a:pt x="6745" y="424848"/>
                </a:lnTo>
                <a:lnTo>
                  <a:pt x="25395" y="461998"/>
                </a:lnTo>
                <a:lnTo>
                  <a:pt x="53568" y="499998"/>
                </a:lnTo>
                <a:lnTo>
                  <a:pt x="88883" y="538659"/>
                </a:lnTo>
                <a:lnTo>
                  <a:pt x="128960" y="577796"/>
                </a:lnTo>
                <a:lnTo>
                  <a:pt x="171417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8" name="object 21">
            <a:extLst>
              <a:ext uri="{FF2B5EF4-FFF2-40B4-BE49-F238E27FC236}">
                <a16:creationId xmlns:a16="http://schemas.microsoft.com/office/drawing/2014/main" id="{5D98ABC5-5E9C-3035-6292-C03A38DFBF4E}"/>
              </a:ext>
            </a:extLst>
          </p:cNvPr>
          <p:cNvSpPr/>
          <p:nvPr/>
        </p:nvSpPr>
        <p:spPr>
          <a:xfrm>
            <a:off x="4039808" y="3058563"/>
            <a:ext cx="609600" cy="1085850"/>
          </a:xfrm>
          <a:custGeom>
            <a:avLst/>
            <a:gdLst/>
            <a:ahLst/>
            <a:cxnLst/>
            <a:rect l="l" t="t" r="r" b="b"/>
            <a:pathLst>
              <a:path w="609600" h="1085850">
                <a:moveTo>
                  <a:pt x="609600" y="0"/>
                </a:moveTo>
                <a:lnTo>
                  <a:pt x="0" y="0"/>
                </a:lnTo>
                <a:lnTo>
                  <a:pt x="0" y="1085850"/>
                </a:lnTo>
                <a:lnTo>
                  <a:pt x="609600" y="1085850"/>
                </a:lnTo>
                <a:lnTo>
                  <a:pt x="60960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9" name="object 23">
            <a:extLst>
              <a:ext uri="{FF2B5EF4-FFF2-40B4-BE49-F238E27FC236}">
                <a16:creationId xmlns:a16="http://schemas.microsoft.com/office/drawing/2014/main" id="{FE9BA161-F44F-9245-C88F-A3543C2A408D}"/>
              </a:ext>
            </a:extLst>
          </p:cNvPr>
          <p:cNvSpPr/>
          <p:nvPr/>
        </p:nvSpPr>
        <p:spPr>
          <a:xfrm>
            <a:off x="4109658" y="3095076"/>
            <a:ext cx="205105" cy="4984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0" name="object 24">
            <a:extLst>
              <a:ext uri="{FF2B5EF4-FFF2-40B4-BE49-F238E27FC236}">
                <a16:creationId xmlns:a16="http://schemas.microsoft.com/office/drawing/2014/main" id="{03B3CA31-B242-2899-E657-AEFDDD11ACF0}"/>
              </a:ext>
            </a:extLst>
          </p:cNvPr>
          <p:cNvSpPr/>
          <p:nvPr/>
        </p:nvSpPr>
        <p:spPr>
          <a:xfrm>
            <a:off x="4357308" y="3095076"/>
            <a:ext cx="207010" cy="4984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1" name="object 25">
            <a:extLst>
              <a:ext uri="{FF2B5EF4-FFF2-40B4-BE49-F238E27FC236}">
                <a16:creationId xmlns:a16="http://schemas.microsoft.com/office/drawing/2014/main" id="{607A9116-390A-BFD6-3858-F2506DD8AEBB}"/>
              </a:ext>
            </a:extLst>
          </p:cNvPr>
          <p:cNvSpPr/>
          <p:nvPr/>
        </p:nvSpPr>
        <p:spPr>
          <a:xfrm>
            <a:off x="4116008" y="3644352"/>
            <a:ext cx="441959" cy="100330"/>
          </a:xfrm>
          <a:custGeom>
            <a:avLst/>
            <a:gdLst/>
            <a:ahLst/>
            <a:cxnLst/>
            <a:rect l="l" t="t" r="r" b="b"/>
            <a:pathLst>
              <a:path w="441960" h="100329">
                <a:moveTo>
                  <a:pt x="441959" y="0"/>
                </a:moveTo>
                <a:lnTo>
                  <a:pt x="0" y="0"/>
                </a:lnTo>
                <a:lnTo>
                  <a:pt x="0" y="100012"/>
                </a:lnTo>
                <a:lnTo>
                  <a:pt x="441959" y="100012"/>
                </a:lnTo>
                <a:lnTo>
                  <a:pt x="441959" y="0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2" name="object 27">
            <a:extLst>
              <a:ext uri="{FF2B5EF4-FFF2-40B4-BE49-F238E27FC236}">
                <a16:creationId xmlns:a16="http://schemas.microsoft.com/office/drawing/2014/main" id="{AD5773BD-C61B-049A-9F48-5CA47C056249}"/>
              </a:ext>
            </a:extLst>
          </p:cNvPr>
          <p:cNvSpPr/>
          <p:nvPr/>
        </p:nvSpPr>
        <p:spPr>
          <a:xfrm>
            <a:off x="4121723" y="3808657"/>
            <a:ext cx="443865" cy="271780"/>
          </a:xfrm>
          <a:custGeom>
            <a:avLst/>
            <a:gdLst/>
            <a:ahLst/>
            <a:cxnLst/>
            <a:rect l="l" t="t" r="r" b="b"/>
            <a:pathLst>
              <a:path w="443864" h="271779">
                <a:moveTo>
                  <a:pt x="443864" y="0"/>
                </a:moveTo>
                <a:lnTo>
                  <a:pt x="0" y="0"/>
                </a:lnTo>
                <a:lnTo>
                  <a:pt x="0" y="271463"/>
                </a:lnTo>
                <a:lnTo>
                  <a:pt x="443864" y="271463"/>
                </a:lnTo>
                <a:lnTo>
                  <a:pt x="443864" y="0"/>
                </a:lnTo>
                <a:close/>
              </a:path>
            </a:pathLst>
          </a:custGeom>
          <a:solidFill>
            <a:srgbClr val="99CC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3" name="object 29">
            <a:extLst>
              <a:ext uri="{FF2B5EF4-FFF2-40B4-BE49-F238E27FC236}">
                <a16:creationId xmlns:a16="http://schemas.microsoft.com/office/drawing/2014/main" id="{18AC2A2D-66FD-A085-9878-B067ED0C892D}"/>
              </a:ext>
            </a:extLst>
          </p:cNvPr>
          <p:cNvSpPr txBox="1"/>
          <p:nvPr/>
        </p:nvSpPr>
        <p:spPr>
          <a:xfrm>
            <a:off x="926207" y="2379208"/>
            <a:ext cx="1519534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CUDA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hre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d</a:t>
            </a:r>
          </a:p>
        </p:txBody>
      </p:sp>
      <p:sp>
        <p:nvSpPr>
          <p:cNvPr id="24" name="object 30">
            <a:extLst>
              <a:ext uri="{FF2B5EF4-FFF2-40B4-BE49-F238E27FC236}">
                <a16:creationId xmlns:a16="http://schemas.microsoft.com/office/drawing/2014/main" id="{CC95D4DA-4CF4-45BA-C5A9-F24FF6490E0A}"/>
              </a:ext>
            </a:extLst>
          </p:cNvPr>
          <p:cNvSpPr txBox="1"/>
          <p:nvPr/>
        </p:nvSpPr>
        <p:spPr>
          <a:xfrm>
            <a:off x="3854466" y="1822892"/>
            <a:ext cx="104981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192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Scalar  </a:t>
            </a:r>
            <a:r>
              <a:rPr sz="1600" spc="-80" dirty="0">
                <a:latin typeface="Comic Sans MS" panose="030F0702030302020204" pitchFamily="66" charset="0"/>
                <a:cs typeface="Calibri" panose="020F0502020204030204" pitchFamily="34" charset="0"/>
              </a:rPr>
              <a:t>P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ro</a:t>
            </a:r>
            <a:r>
              <a:rPr sz="16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c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essor</a:t>
            </a:r>
          </a:p>
        </p:txBody>
      </p:sp>
      <p:sp>
        <p:nvSpPr>
          <p:cNvPr id="25" name="object 31">
            <a:extLst>
              <a:ext uri="{FF2B5EF4-FFF2-40B4-BE49-F238E27FC236}">
                <a16:creationId xmlns:a16="http://schemas.microsoft.com/office/drawing/2014/main" id="{8F74C4D3-812E-DCF0-075D-AAA250D2B479}"/>
              </a:ext>
            </a:extLst>
          </p:cNvPr>
          <p:cNvSpPr txBox="1"/>
          <p:nvPr/>
        </p:nvSpPr>
        <p:spPr>
          <a:xfrm>
            <a:off x="432112" y="4189422"/>
            <a:ext cx="1409700" cy="2667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18745" marR="5080" indent="-106680">
              <a:lnSpc>
                <a:spcPts val="1900"/>
              </a:lnSpc>
              <a:spcBef>
                <a:spcPts val="180"/>
              </a:spcBef>
            </a:pP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hre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d 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Block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26" name="object 32">
            <a:extLst>
              <a:ext uri="{FF2B5EF4-FFF2-40B4-BE49-F238E27FC236}">
                <a16:creationId xmlns:a16="http://schemas.microsoft.com/office/drawing/2014/main" id="{1556AEFC-90FC-EEF9-9550-CE12F70269C6}"/>
              </a:ext>
            </a:extLst>
          </p:cNvPr>
          <p:cNvSpPr txBox="1"/>
          <p:nvPr/>
        </p:nvSpPr>
        <p:spPr>
          <a:xfrm>
            <a:off x="3133691" y="4189422"/>
            <a:ext cx="2520894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Streaming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Multiprocessor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27" name="object 35">
            <a:extLst>
              <a:ext uri="{FF2B5EF4-FFF2-40B4-BE49-F238E27FC236}">
                <a16:creationId xmlns:a16="http://schemas.microsoft.com/office/drawing/2014/main" id="{02C1AC57-1E9B-50E1-A035-65868D3DD942}"/>
              </a:ext>
            </a:extLst>
          </p:cNvPr>
          <p:cNvSpPr/>
          <p:nvPr/>
        </p:nvSpPr>
        <p:spPr>
          <a:xfrm>
            <a:off x="3373057" y="5058221"/>
            <a:ext cx="977265" cy="822960"/>
          </a:xfrm>
          <a:custGeom>
            <a:avLst/>
            <a:gdLst/>
            <a:ahLst/>
            <a:cxnLst/>
            <a:rect l="l" t="t" r="r" b="b"/>
            <a:pathLst>
              <a:path w="977264" h="822960">
                <a:moveTo>
                  <a:pt x="977264" y="0"/>
                </a:moveTo>
                <a:lnTo>
                  <a:pt x="0" y="0"/>
                </a:lnTo>
                <a:lnTo>
                  <a:pt x="0" y="822959"/>
                </a:lnTo>
                <a:lnTo>
                  <a:pt x="977264" y="822959"/>
                </a:lnTo>
                <a:lnTo>
                  <a:pt x="977264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8" name="object 36">
            <a:extLst>
              <a:ext uri="{FF2B5EF4-FFF2-40B4-BE49-F238E27FC236}">
                <a16:creationId xmlns:a16="http://schemas.microsoft.com/office/drawing/2014/main" id="{820CC772-5A5A-7236-C258-DBA210486F45}"/>
              </a:ext>
            </a:extLst>
          </p:cNvPr>
          <p:cNvSpPr/>
          <p:nvPr/>
        </p:nvSpPr>
        <p:spPr>
          <a:xfrm>
            <a:off x="3403537" y="5192525"/>
            <a:ext cx="280035" cy="659130"/>
          </a:xfrm>
          <a:custGeom>
            <a:avLst/>
            <a:gdLst/>
            <a:ahLst/>
            <a:cxnLst/>
            <a:rect l="l" t="t" r="r" b="b"/>
            <a:pathLst>
              <a:path w="280035" h="659129">
                <a:moveTo>
                  <a:pt x="280034" y="0"/>
                </a:moveTo>
                <a:lnTo>
                  <a:pt x="0" y="0"/>
                </a:lnTo>
                <a:lnTo>
                  <a:pt x="0" y="658654"/>
                </a:lnTo>
                <a:lnTo>
                  <a:pt x="280034" y="658654"/>
                </a:lnTo>
                <a:lnTo>
                  <a:pt x="280034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9" name="object 38">
            <a:extLst>
              <a:ext uri="{FF2B5EF4-FFF2-40B4-BE49-F238E27FC236}">
                <a16:creationId xmlns:a16="http://schemas.microsoft.com/office/drawing/2014/main" id="{C40499C1-4023-E3C1-BE03-6117F87C89CC}"/>
              </a:ext>
            </a:extLst>
          </p:cNvPr>
          <p:cNvSpPr/>
          <p:nvPr/>
        </p:nvSpPr>
        <p:spPr>
          <a:xfrm>
            <a:off x="3433382" y="5211891"/>
            <a:ext cx="214630" cy="3070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0" name="object 39">
            <a:extLst>
              <a:ext uri="{FF2B5EF4-FFF2-40B4-BE49-F238E27FC236}">
                <a16:creationId xmlns:a16="http://schemas.microsoft.com/office/drawing/2014/main" id="{BBD58168-8699-5BAD-1583-4B28F52B9E45}"/>
              </a:ext>
            </a:extLst>
          </p:cNvPr>
          <p:cNvSpPr/>
          <p:nvPr/>
        </p:nvSpPr>
        <p:spPr>
          <a:xfrm>
            <a:off x="3439732" y="5577572"/>
            <a:ext cx="201930" cy="0"/>
          </a:xfrm>
          <a:custGeom>
            <a:avLst/>
            <a:gdLst/>
            <a:ahLst/>
            <a:cxnLst/>
            <a:rect l="l" t="t" r="r" b="b"/>
            <a:pathLst>
              <a:path w="201929">
                <a:moveTo>
                  <a:pt x="0" y="0"/>
                </a:moveTo>
                <a:lnTo>
                  <a:pt x="201929" y="0"/>
                </a:lnTo>
              </a:path>
            </a:pathLst>
          </a:custGeom>
          <a:ln w="61435">
            <a:solidFill>
              <a:srgbClr val="00808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1" name="object 40">
            <a:extLst>
              <a:ext uri="{FF2B5EF4-FFF2-40B4-BE49-F238E27FC236}">
                <a16:creationId xmlns:a16="http://schemas.microsoft.com/office/drawing/2014/main" id="{36794C03-5E06-6D6F-58C3-EDB1F0F61A40}"/>
              </a:ext>
            </a:extLst>
          </p:cNvPr>
          <p:cNvSpPr/>
          <p:nvPr/>
        </p:nvSpPr>
        <p:spPr>
          <a:xfrm>
            <a:off x="3439732" y="5546855"/>
            <a:ext cx="201930" cy="61594"/>
          </a:xfrm>
          <a:custGeom>
            <a:avLst/>
            <a:gdLst/>
            <a:ahLst/>
            <a:cxnLst/>
            <a:rect l="l" t="t" r="r" b="b"/>
            <a:pathLst>
              <a:path w="201929" h="61595">
                <a:moveTo>
                  <a:pt x="0" y="0"/>
                </a:moveTo>
                <a:lnTo>
                  <a:pt x="201930" y="0"/>
                </a:lnTo>
                <a:lnTo>
                  <a:pt x="201930" y="61436"/>
                </a:lnTo>
                <a:lnTo>
                  <a:pt x="0" y="6143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2" name="object 41">
            <a:extLst>
              <a:ext uri="{FF2B5EF4-FFF2-40B4-BE49-F238E27FC236}">
                <a16:creationId xmlns:a16="http://schemas.microsoft.com/office/drawing/2014/main" id="{EDD822F0-8770-A3FC-59AB-048A3E632F52}"/>
              </a:ext>
            </a:extLst>
          </p:cNvPr>
          <p:cNvSpPr/>
          <p:nvPr/>
        </p:nvSpPr>
        <p:spPr>
          <a:xfrm>
            <a:off x="3441637" y="5648295"/>
            <a:ext cx="206375" cy="164465"/>
          </a:xfrm>
          <a:custGeom>
            <a:avLst/>
            <a:gdLst/>
            <a:ahLst/>
            <a:cxnLst/>
            <a:rect l="l" t="t" r="r" b="b"/>
            <a:pathLst>
              <a:path w="206375" h="164464">
                <a:moveTo>
                  <a:pt x="205757" y="0"/>
                </a:moveTo>
                <a:lnTo>
                  <a:pt x="0" y="0"/>
                </a:lnTo>
                <a:lnTo>
                  <a:pt x="0" y="164305"/>
                </a:lnTo>
                <a:lnTo>
                  <a:pt x="205757" y="164305"/>
                </a:lnTo>
                <a:lnTo>
                  <a:pt x="205757" y="0"/>
                </a:lnTo>
                <a:close/>
              </a:path>
            </a:pathLst>
          </a:custGeom>
          <a:solidFill>
            <a:srgbClr val="99CC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3" name="object 43">
            <a:extLst>
              <a:ext uri="{FF2B5EF4-FFF2-40B4-BE49-F238E27FC236}">
                <a16:creationId xmlns:a16="http://schemas.microsoft.com/office/drawing/2014/main" id="{46731603-0E2A-B07C-9D64-EFFF4E039FA6}"/>
              </a:ext>
            </a:extLst>
          </p:cNvPr>
          <p:cNvSpPr/>
          <p:nvPr/>
        </p:nvSpPr>
        <p:spPr>
          <a:xfrm>
            <a:off x="3721672" y="5192525"/>
            <a:ext cx="280035" cy="659130"/>
          </a:xfrm>
          <a:custGeom>
            <a:avLst/>
            <a:gdLst/>
            <a:ahLst/>
            <a:cxnLst/>
            <a:rect l="l" t="t" r="r" b="b"/>
            <a:pathLst>
              <a:path w="280035" h="659129">
                <a:moveTo>
                  <a:pt x="280035" y="0"/>
                </a:moveTo>
                <a:lnTo>
                  <a:pt x="0" y="0"/>
                </a:lnTo>
                <a:lnTo>
                  <a:pt x="0" y="658654"/>
                </a:lnTo>
                <a:lnTo>
                  <a:pt x="280035" y="658654"/>
                </a:lnTo>
                <a:lnTo>
                  <a:pt x="280035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4" name="object 45">
            <a:extLst>
              <a:ext uri="{FF2B5EF4-FFF2-40B4-BE49-F238E27FC236}">
                <a16:creationId xmlns:a16="http://schemas.microsoft.com/office/drawing/2014/main" id="{1DB6BA66-344D-7D24-1E54-85B092FCE6EA}"/>
              </a:ext>
            </a:extLst>
          </p:cNvPr>
          <p:cNvSpPr/>
          <p:nvPr/>
        </p:nvSpPr>
        <p:spPr>
          <a:xfrm>
            <a:off x="3749612" y="5211891"/>
            <a:ext cx="216535" cy="30702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5" name="object 46">
            <a:extLst>
              <a:ext uri="{FF2B5EF4-FFF2-40B4-BE49-F238E27FC236}">
                <a16:creationId xmlns:a16="http://schemas.microsoft.com/office/drawing/2014/main" id="{C8950F19-FAFE-E495-7ECC-DEFA533D930D}"/>
              </a:ext>
            </a:extLst>
          </p:cNvPr>
          <p:cNvSpPr/>
          <p:nvPr/>
        </p:nvSpPr>
        <p:spPr>
          <a:xfrm>
            <a:off x="3755962" y="5577572"/>
            <a:ext cx="203835" cy="0"/>
          </a:xfrm>
          <a:custGeom>
            <a:avLst/>
            <a:gdLst/>
            <a:ahLst/>
            <a:cxnLst/>
            <a:rect l="l" t="t" r="r" b="b"/>
            <a:pathLst>
              <a:path w="203835">
                <a:moveTo>
                  <a:pt x="0" y="0"/>
                </a:moveTo>
                <a:lnTo>
                  <a:pt x="203835" y="0"/>
                </a:lnTo>
              </a:path>
            </a:pathLst>
          </a:custGeom>
          <a:ln w="61435">
            <a:solidFill>
              <a:srgbClr val="00808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6" name="object 47">
            <a:extLst>
              <a:ext uri="{FF2B5EF4-FFF2-40B4-BE49-F238E27FC236}">
                <a16:creationId xmlns:a16="http://schemas.microsoft.com/office/drawing/2014/main" id="{A3F599C4-F5AC-320E-E074-3B9E060642C7}"/>
              </a:ext>
            </a:extLst>
          </p:cNvPr>
          <p:cNvSpPr/>
          <p:nvPr/>
        </p:nvSpPr>
        <p:spPr>
          <a:xfrm>
            <a:off x="3755962" y="5546855"/>
            <a:ext cx="203835" cy="61594"/>
          </a:xfrm>
          <a:custGeom>
            <a:avLst/>
            <a:gdLst/>
            <a:ahLst/>
            <a:cxnLst/>
            <a:rect l="l" t="t" r="r" b="b"/>
            <a:pathLst>
              <a:path w="203835" h="61595">
                <a:moveTo>
                  <a:pt x="0" y="0"/>
                </a:moveTo>
                <a:lnTo>
                  <a:pt x="203835" y="0"/>
                </a:lnTo>
                <a:lnTo>
                  <a:pt x="203835" y="61436"/>
                </a:lnTo>
                <a:lnTo>
                  <a:pt x="0" y="6143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7" name="object 48">
            <a:extLst>
              <a:ext uri="{FF2B5EF4-FFF2-40B4-BE49-F238E27FC236}">
                <a16:creationId xmlns:a16="http://schemas.microsoft.com/office/drawing/2014/main" id="{855353C5-657E-1E61-0AA2-108BAD18A4FD}"/>
              </a:ext>
            </a:extLst>
          </p:cNvPr>
          <p:cNvSpPr/>
          <p:nvPr/>
        </p:nvSpPr>
        <p:spPr>
          <a:xfrm>
            <a:off x="3758828" y="5647581"/>
            <a:ext cx="205740" cy="163195"/>
          </a:xfrm>
          <a:custGeom>
            <a:avLst/>
            <a:gdLst/>
            <a:ahLst/>
            <a:cxnLst/>
            <a:rect l="l" t="t" r="r" b="b"/>
            <a:pathLst>
              <a:path w="205739" h="163195">
                <a:moveTo>
                  <a:pt x="205739" y="0"/>
                </a:moveTo>
                <a:lnTo>
                  <a:pt x="0" y="0"/>
                </a:lnTo>
                <a:lnTo>
                  <a:pt x="0" y="162876"/>
                </a:lnTo>
                <a:lnTo>
                  <a:pt x="205739" y="162876"/>
                </a:lnTo>
                <a:lnTo>
                  <a:pt x="205739" y="0"/>
                </a:lnTo>
                <a:close/>
              </a:path>
            </a:pathLst>
          </a:custGeom>
          <a:solidFill>
            <a:srgbClr val="99CC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8" name="object 50">
            <a:extLst>
              <a:ext uri="{FF2B5EF4-FFF2-40B4-BE49-F238E27FC236}">
                <a16:creationId xmlns:a16="http://schemas.microsoft.com/office/drawing/2014/main" id="{EEC620C5-82DD-C613-F859-511EAB1DCFFB}"/>
              </a:ext>
            </a:extLst>
          </p:cNvPr>
          <p:cNvSpPr/>
          <p:nvPr/>
        </p:nvSpPr>
        <p:spPr>
          <a:xfrm>
            <a:off x="4039807" y="5192525"/>
            <a:ext cx="280035" cy="659130"/>
          </a:xfrm>
          <a:custGeom>
            <a:avLst/>
            <a:gdLst/>
            <a:ahLst/>
            <a:cxnLst/>
            <a:rect l="l" t="t" r="r" b="b"/>
            <a:pathLst>
              <a:path w="280035" h="659129">
                <a:moveTo>
                  <a:pt x="280035" y="0"/>
                </a:moveTo>
                <a:lnTo>
                  <a:pt x="0" y="0"/>
                </a:lnTo>
                <a:lnTo>
                  <a:pt x="0" y="658654"/>
                </a:lnTo>
                <a:lnTo>
                  <a:pt x="280035" y="658654"/>
                </a:lnTo>
                <a:lnTo>
                  <a:pt x="280035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9" name="object 52">
            <a:extLst>
              <a:ext uri="{FF2B5EF4-FFF2-40B4-BE49-F238E27FC236}">
                <a16:creationId xmlns:a16="http://schemas.microsoft.com/office/drawing/2014/main" id="{65194211-32A9-D5C7-2560-1A6EB247D2BC}"/>
              </a:ext>
            </a:extLst>
          </p:cNvPr>
          <p:cNvSpPr/>
          <p:nvPr/>
        </p:nvSpPr>
        <p:spPr>
          <a:xfrm>
            <a:off x="4067747" y="5211891"/>
            <a:ext cx="216535" cy="30702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0" name="object 53">
            <a:extLst>
              <a:ext uri="{FF2B5EF4-FFF2-40B4-BE49-F238E27FC236}">
                <a16:creationId xmlns:a16="http://schemas.microsoft.com/office/drawing/2014/main" id="{0A63B82B-AB83-38F5-90D7-D1139E3DF78E}"/>
              </a:ext>
            </a:extLst>
          </p:cNvPr>
          <p:cNvSpPr/>
          <p:nvPr/>
        </p:nvSpPr>
        <p:spPr>
          <a:xfrm>
            <a:off x="4074097" y="5577572"/>
            <a:ext cx="203835" cy="0"/>
          </a:xfrm>
          <a:custGeom>
            <a:avLst/>
            <a:gdLst/>
            <a:ahLst/>
            <a:cxnLst/>
            <a:rect l="l" t="t" r="r" b="b"/>
            <a:pathLst>
              <a:path w="203835">
                <a:moveTo>
                  <a:pt x="0" y="0"/>
                </a:moveTo>
                <a:lnTo>
                  <a:pt x="203835" y="0"/>
                </a:lnTo>
              </a:path>
            </a:pathLst>
          </a:custGeom>
          <a:ln w="61435">
            <a:solidFill>
              <a:srgbClr val="00808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1" name="object 54">
            <a:extLst>
              <a:ext uri="{FF2B5EF4-FFF2-40B4-BE49-F238E27FC236}">
                <a16:creationId xmlns:a16="http://schemas.microsoft.com/office/drawing/2014/main" id="{4109B775-224E-F557-1696-E93AA45D0529}"/>
              </a:ext>
            </a:extLst>
          </p:cNvPr>
          <p:cNvSpPr/>
          <p:nvPr/>
        </p:nvSpPr>
        <p:spPr>
          <a:xfrm>
            <a:off x="4074097" y="5546855"/>
            <a:ext cx="203835" cy="61594"/>
          </a:xfrm>
          <a:custGeom>
            <a:avLst/>
            <a:gdLst/>
            <a:ahLst/>
            <a:cxnLst/>
            <a:rect l="l" t="t" r="r" b="b"/>
            <a:pathLst>
              <a:path w="203835" h="61595">
                <a:moveTo>
                  <a:pt x="0" y="0"/>
                </a:moveTo>
                <a:lnTo>
                  <a:pt x="203835" y="0"/>
                </a:lnTo>
                <a:lnTo>
                  <a:pt x="203835" y="61436"/>
                </a:lnTo>
                <a:lnTo>
                  <a:pt x="0" y="6143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2" name="object 55">
            <a:extLst>
              <a:ext uri="{FF2B5EF4-FFF2-40B4-BE49-F238E27FC236}">
                <a16:creationId xmlns:a16="http://schemas.microsoft.com/office/drawing/2014/main" id="{05A092BD-0EB2-AF1D-CA30-16F6AEABCC9F}"/>
              </a:ext>
            </a:extLst>
          </p:cNvPr>
          <p:cNvSpPr/>
          <p:nvPr/>
        </p:nvSpPr>
        <p:spPr>
          <a:xfrm>
            <a:off x="4077907" y="5648295"/>
            <a:ext cx="206375" cy="164465"/>
          </a:xfrm>
          <a:custGeom>
            <a:avLst/>
            <a:gdLst/>
            <a:ahLst/>
            <a:cxnLst/>
            <a:rect l="l" t="t" r="r" b="b"/>
            <a:pathLst>
              <a:path w="206375" h="164464">
                <a:moveTo>
                  <a:pt x="205757" y="0"/>
                </a:moveTo>
                <a:lnTo>
                  <a:pt x="0" y="0"/>
                </a:lnTo>
                <a:lnTo>
                  <a:pt x="0" y="164305"/>
                </a:lnTo>
                <a:lnTo>
                  <a:pt x="205757" y="164305"/>
                </a:lnTo>
                <a:lnTo>
                  <a:pt x="205757" y="0"/>
                </a:lnTo>
                <a:close/>
              </a:path>
            </a:pathLst>
          </a:custGeom>
          <a:solidFill>
            <a:srgbClr val="99CC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3" name="object 57">
            <a:extLst>
              <a:ext uri="{FF2B5EF4-FFF2-40B4-BE49-F238E27FC236}">
                <a16:creationId xmlns:a16="http://schemas.microsoft.com/office/drawing/2014/main" id="{9D02A51E-61A8-864B-A830-2E39493ED4FE}"/>
              </a:ext>
            </a:extLst>
          </p:cNvPr>
          <p:cNvSpPr/>
          <p:nvPr/>
        </p:nvSpPr>
        <p:spPr>
          <a:xfrm>
            <a:off x="4390327" y="5058221"/>
            <a:ext cx="979169" cy="822960"/>
          </a:xfrm>
          <a:custGeom>
            <a:avLst/>
            <a:gdLst/>
            <a:ahLst/>
            <a:cxnLst/>
            <a:rect l="l" t="t" r="r" b="b"/>
            <a:pathLst>
              <a:path w="979170" h="822960">
                <a:moveTo>
                  <a:pt x="979169" y="0"/>
                </a:moveTo>
                <a:lnTo>
                  <a:pt x="0" y="0"/>
                </a:lnTo>
                <a:lnTo>
                  <a:pt x="0" y="822959"/>
                </a:lnTo>
                <a:lnTo>
                  <a:pt x="979169" y="822959"/>
                </a:lnTo>
                <a:lnTo>
                  <a:pt x="979169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4" name="object 58">
            <a:extLst>
              <a:ext uri="{FF2B5EF4-FFF2-40B4-BE49-F238E27FC236}">
                <a16:creationId xmlns:a16="http://schemas.microsoft.com/office/drawing/2014/main" id="{06B0760A-EB63-A0FB-5022-B4F8F8F4D39E}"/>
              </a:ext>
            </a:extLst>
          </p:cNvPr>
          <p:cNvSpPr/>
          <p:nvPr/>
        </p:nvSpPr>
        <p:spPr>
          <a:xfrm>
            <a:off x="4420807" y="5192525"/>
            <a:ext cx="280035" cy="659130"/>
          </a:xfrm>
          <a:custGeom>
            <a:avLst/>
            <a:gdLst/>
            <a:ahLst/>
            <a:cxnLst/>
            <a:rect l="l" t="t" r="r" b="b"/>
            <a:pathLst>
              <a:path w="280035" h="659129">
                <a:moveTo>
                  <a:pt x="280035" y="0"/>
                </a:moveTo>
                <a:lnTo>
                  <a:pt x="0" y="0"/>
                </a:lnTo>
                <a:lnTo>
                  <a:pt x="0" y="658654"/>
                </a:lnTo>
                <a:lnTo>
                  <a:pt x="280035" y="658654"/>
                </a:lnTo>
                <a:lnTo>
                  <a:pt x="280035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5" name="object 60">
            <a:extLst>
              <a:ext uri="{FF2B5EF4-FFF2-40B4-BE49-F238E27FC236}">
                <a16:creationId xmlns:a16="http://schemas.microsoft.com/office/drawing/2014/main" id="{EE46471D-05A2-755B-3007-B0239CFAD948}"/>
              </a:ext>
            </a:extLst>
          </p:cNvPr>
          <p:cNvSpPr/>
          <p:nvPr/>
        </p:nvSpPr>
        <p:spPr>
          <a:xfrm>
            <a:off x="4450652" y="5211891"/>
            <a:ext cx="214630" cy="3070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6" name="object 61">
            <a:extLst>
              <a:ext uri="{FF2B5EF4-FFF2-40B4-BE49-F238E27FC236}">
                <a16:creationId xmlns:a16="http://schemas.microsoft.com/office/drawing/2014/main" id="{A5F14260-60D1-517A-8E1A-4F65E010A1AD}"/>
              </a:ext>
            </a:extLst>
          </p:cNvPr>
          <p:cNvSpPr/>
          <p:nvPr/>
        </p:nvSpPr>
        <p:spPr>
          <a:xfrm>
            <a:off x="4457002" y="5577572"/>
            <a:ext cx="201930" cy="0"/>
          </a:xfrm>
          <a:custGeom>
            <a:avLst/>
            <a:gdLst/>
            <a:ahLst/>
            <a:cxnLst/>
            <a:rect l="l" t="t" r="r" b="b"/>
            <a:pathLst>
              <a:path w="201929">
                <a:moveTo>
                  <a:pt x="0" y="0"/>
                </a:moveTo>
                <a:lnTo>
                  <a:pt x="201929" y="0"/>
                </a:lnTo>
              </a:path>
            </a:pathLst>
          </a:custGeom>
          <a:ln w="61435">
            <a:solidFill>
              <a:srgbClr val="00808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7" name="object 62">
            <a:extLst>
              <a:ext uri="{FF2B5EF4-FFF2-40B4-BE49-F238E27FC236}">
                <a16:creationId xmlns:a16="http://schemas.microsoft.com/office/drawing/2014/main" id="{8FB8E67E-79DE-0730-1CF8-FF45BA205FFE}"/>
              </a:ext>
            </a:extLst>
          </p:cNvPr>
          <p:cNvSpPr/>
          <p:nvPr/>
        </p:nvSpPr>
        <p:spPr>
          <a:xfrm>
            <a:off x="4457002" y="5546855"/>
            <a:ext cx="201930" cy="61594"/>
          </a:xfrm>
          <a:custGeom>
            <a:avLst/>
            <a:gdLst/>
            <a:ahLst/>
            <a:cxnLst/>
            <a:rect l="l" t="t" r="r" b="b"/>
            <a:pathLst>
              <a:path w="201929" h="61595">
                <a:moveTo>
                  <a:pt x="0" y="0"/>
                </a:moveTo>
                <a:lnTo>
                  <a:pt x="201930" y="0"/>
                </a:lnTo>
                <a:lnTo>
                  <a:pt x="201930" y="61436"/>
                </a:lnTo>
                <a:lnTo>
                  <a:pt x="0" y="6143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8" name="object 63">
            <a:extLst>
              <a:ext uri="{FF2B5EF4-FFF2-40B4-BE49-F238E27FC236}">
                <a16:creationId xmlns:a16="http://schemas.microsoft.com/office/drawing/2014/main" id="{A32C18FF-8486-2E4F-9037-C1B38A44E46F}"/>
              </a:ext>
            </a:extLst>
          </p:cNvPr>
          <p:cNvSpPr/>
          <p:nvPr/>
        </p:nvSpPr>
        <p:spPr>
          <a:xfrm>
            <a:off x="4458907" y="5648295"/>
            <a:ext cx="206375" cy="164465"/>
          </a:xfrm>
          <a:custGeom>
            <a:avLst/>
            <a:gdLst/>
            <a:ahLst/>
            <a:cxnLst/>
            <a:rect l="l" t="t" r="r" b="b"/>
            <a:pathLst>
              <a:path w="206375" h="164464">
                <a:moveTo>
                  <a:pt x="205757" y="0"/>
                </a:moveTo>
                <a:lnTo>
                  <a:pt x="0" y="0"/>
                </a:lnTo>
                <a:lnTo>
                  <a:pt x="0" y="164305"/>
                </a:lnTo>
                <a:lnTo>
                  <a:pt x="205757" y="164305"/>
                </a:lnTo>
                <a:lnTo>
                  <a:pt x="205757" y="0"/>
                </a:lnTo>
                <a:close/>
              </a:path>
            </a:pathLst>
          </a:custGeom>
          <a:solidFill>
            <a:srgbClr val="99CC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9" name="object 65">
            <a:extLst>
              <a:ext uri="{FF2B5EF4-FFF2-40B4-BE49-F238E27FC236}">
                <a16:creationId xmlns:a16="http://schemas.microsoft.com/office/drawing/2014/main" id="{A74BAF16-993E-D497-2BCC-35BC6B75D696}"/>
              </a:ext>
            </a:extLst>
          </p:cNvPr>
          <p:cNvSpPr/>
          <p:nvPr/>
        </p:nvSpPr>
        <p:spPr>
          <a:xfrm>
            <a:off x="4738942" y="5192525"/>
            <a:ext cx="280035" cy="659130"/>
          </a:xfrm>
          <a:custGeom>
            <a:avLst/>
            <a:gdLst/>
            <a:ahLst/>
            <a:cxnLst/>
            <a:rect l="l" t="t" r="r" b="b"/>
            <a:pathLst>
              <a:path w="280035" h="659129">
                <a:moveTo>
                  <a:pt x="280035" y="0"/>
                </a:moveTo>
                <a:lnTo>
                  <a:pt x="0" y="0"/>
                </a:lnTo>
                <a:lnTo>
                  <a:pt x="0" y="658654"/>
                </a:lnTo>
                <a:lnTo>
                  <a:pt x="280035" y="658654"/>
                </a:lnTo>
                <a:lnTo>
                  <a:pt x="280035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0" name="object 67">
            <a:extLst>
              <a:ext uri="{FF2B5EF4-FFF2-40B4-BE49-F238E27FC236}">
                <a16:creationId xmlns:a16="http://schemas.microsoft.com/office/drawing/2014/main" id="{201DD3E6-A2E8-5A17-6907-73BA10BCE96B}"/>
              </a:ext>
            </a:extLst>
          </p:cNvPr>
          <p:cNvSpPr/>
          <p:nvPr/>
        </p:nvSpPr>
        <p:spPr>
          <a:xfrm>
            <a:off x="4766882" y="5211891"/>
            <a:ext cx="216535" cy="3070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1" name="object 68">
            <a:extLst>
              <a:ext uri="{FF2B5EF4-FFF2-40B4-BE49-F238E27FC236}">
                <a16:creationId xmlns:a16="http://schemas.microsoft.com/office/drawing/2014/main" id="{737BFCCB-CC78-A332-6117-91D160C9E273}"/>
              </a:ext>
            </a:extLst>
          </p:cNvPr>
          <p:cNvSpPr/>
          <p:nvPr/>
        </p:nvSpPr>
        <p:spPr>
          <a:xfrm>
            <a:off x="4773232" y="5577572"/>
            <a:ext cx="203835" cy="0"/>
          </a:xfrm>
          <a:custGeom>
            <a:avLst/>
            <a:gdLst/>
            <a:ahLst/>
            <a:cxnLst/>
            <a:rect l="l" t="t" r="r" b="b"/>
            <a:pathLst>
              <a:path w="203835">
                <a:moveTo>
                  <a:pt x="0" y="0"/>
                </a:moveTo>
                <a:lnTo>
                  <a:pt x="203835" y="0"/>
                </a:lnTo>
              </a:path>
            </a:pathLst>
          </a:custGeom>
          <a:ln w="61435">
            <a:solidFill>
              <a:srgbClr val="00808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2" name="object 69">
            <a:extLst>
              <a:ext uri="{FF2B5EF4-FFF2-40B4-BE49-F238E27FC236}">
                <a16:creationId xmlns:a16="http://schemas.microsoft.com/office/drawing/2014/main" id="{D2893BFE-07EB-60BA-ED30-51FDEB478B4B}"/>
              </a:ext>
            </a:extLst>
          </p:cNvPr>
          <p:cNvSpPr/>
          <p:nvPr/>
        </p:nvSpPr>
        <p:spPr>
          <a:xfrm>
            <a:off x="4773232" y="5546855"/>
            <a:ext cx="203835" cy="61594"/>
          </a:xfrm>
          <a:custGeom>
            <a:avLst/>
            <a:gdLst/>
            <a:ahLst/>
            <a:cxnLst/>
            <a:rect l="l" t="t" r="r" b="b"/>
            <a:pathLst>
              <a:path w="203835" h="61595">
                <a:moveTo>
                  <a:pt x="0" y="0"/>
                </a:moveTo>
                <a:lnTo>
                  <a:pt x="203835" y="0"/>
                </a:lnTo>
                <a:lnTo>
                  <a:pt x="203835" y="61436"/>
                </a:lnTo>
                <a:lnTo>
                  <a:pt x="0" y="6143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3" name="object 70">
            <a:extLst>
              <a:ext uri="{FF2B5EF4-FFF2-40B4-BE49-F238E27FC236}">
                <a16:creationId xmlns:a16="http://schemas.microsoft.com/office/drawing/2014/main" id="{29F19943-1B7F-5644-725B-11CB14C83A67}"/>
              </a:ext>
            </a:extLst>
          </p:cNvPr>
          <p:cNvSpPr/>
          <p:nvPr/>
        </p:nvSpPr>
        <p:spPr>
          <a:xfrm>
            <a:off x="4777042" y="5648295"/>
            <a:ext cx="206375" cy="164465"/>
          </a:xfrm>
          <a:custGeom>
            <a:avLst/>
            <a:gdLst/>
            <a:ahLst/>
            <a:cxnLst/>
            <a:rect l="l" t="t" r="r" b="b"/>
            <a:pathLst>
              <a:path w="206375" h="164464">
                <a:moveTo>
                  <a:pt x="205757" y="0"/>
                </a:moveTo>
                <a:lnTo>
                  <a:pt x="0" y="0"/>
                </a:lnTo>
                <a:lnTo>
                  <a:pt x="0" y="164305"/>
                </a:lnTo>
                <a:lnTo>
                  <a:pt x="205757" y="164305"/>
                </a:lnTo>
                <a:lnTo>
                  <a:pt x="205757" y="0"/>
                </a:lnTo>
                <a:close/>
              </a:path>
            </a:pathLst>
          </a:custGeom>
          <a:solidFill>
            <a:srgbClr val="99CC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4" name="object 72">
            <a:extLst>
              <a:ext uri="{FF2B5EF4-FFF2-40B4-BE49-F238E27FC236}">
                <a16:creationId xmlns:a16="http://schemas.microsoft.com/office/drawing/2014/main" id="{0CB4CA63-6D12-2D85-5A29-A514B43BC22F}"/>
              </a:ext>
            </a:extLst>
          </p:cNvPr>
          <p:cNvSpPr/>
          <p:nvPr/>
        </p:nvSpPr>
        <p:spPr>
          <a:xfrm>
            <a:off x="5057077" y="5192525"/>
            <a:ext cx="280035" cy="659130"/>
          </a:xfrm>
          <a:custGeom>
            <a:avLst/>
            <a:gdLst/>
            <a:ahLst/>
            <a:cxnLst/>
            <a:rect l="l" t="t" r="r" b="b"/>
            <a:pathLst>
              <a:path w="280035" h="659129">
                <a:moveTo>
                  <a:pt x="280034" y="0"/>
                </a:moveTo>
                <a:lnTo>
                  <a:pt x="0" y="0"/>
                </a:lnTo>
                <a:lnTo>
                  <a:pt x="0" y="658654"/>
                </a:lnTo>
                <a:lnTo>
                  <a:pt x="280034" y="658654"/>
                </a:lnTo>
                <a:lnTo>
                  <a:pt x="280034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5" name="object 74">
            <a:extLst>
              <a:ext uri="{FF2B5EF4-FFF2-40B4-BE49-F238E27FC236}">
                <a16:creationId xmlns:a16="http://schemas.microsoft.com/office/drawing/2014/main" id="{45117D75-0716-F96B-33A8-22F01535703E}"/>
              </a:ext>
            </a:extLst>
          </p:cNvPr>
          <p:cNvSpPr/>
          <p:nvPr/>
        </p:nvSpPr>
        <p:spPr>
          <a:xfrm>
            <a:off x="5085017" y="5211891"/>
            <a:ext cx="216535" cy="30702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6" name="object 75">
            <a:extLst>
              <a:ext uri="{FF2B5EF4-FFF2-40B4-BE49-F238E27FC236}">
                <a16:creationId xmlns:a16="http://schemas.microsoft.com/office/drawing/2014/main" id="{B6F51D92-C5F8-44FE-B135-405B71A08CA3}"/>
              </a:ext>
            </a:extLst>
          </p:cNvPr>
          <p:cNvSpPr/>
          <p:nvPr/>
        </p:nvSpPr>
        <p:spPr>
          <a:xfrm>
            <a:off x="5091367" y="5577572"/>
            <a:ext cx="203835" cy="0"/>
          </a:xfrm>
          <a:custGeom>
            <a:avLst/>
            <a:gdLst/>
            <a:ahLst/>
            <a:cxnLst/>
            <a:rect l="l" t="t" r="r" b="b"/>
            <a:pathLst>
              <a:path w="203835">
                <a:moveTo>
                  <a:pt x="0" y="0"/>
                </a:moveTo>
                <a:lnTo>
                  <a:pt x="203835" y="0"/>
                </a:lnTo>
              </a:path>
            </a:pathLst>
          </a:custGeom>
          <a:ln w="61435">
            <a:solidFill>
              <a:srgbClr val="00808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7" name="object 76">
            <a:extLst>
              <a:ext uri="{FF2B5EF4-FFF2-40B4-BE49-F238E27FC236}">
                <a16:creationId xmlns:a16="http://schemas.microsoft.com/office/drawing/2014/main" id="{4A82D35C-7D81-26FB-42AE-DF93B731D485}"/>
              </a:ext>
            </a:extLst>
          </p:cNvPr>
          <p:cNvSpPr/>
          <p:nvPr/>
        </p:nvSpPr>
        <p:spPr>
          <a:xfrm>
            <a:off x="5091367" y="5546855"/>
            <a:ext cx="203835" cy="61594"/>
          </a:xfrm>
          <a:custGeom>
            <a:avLst/>
            <a:gdLst/>
            <a:ahLst/>
            <a:cxnLst/>
            <a:rect l="l" t="t" r="r" b="b"/>
            <a:pathLst>
              <a:path w="203835" h="61595">
                <a:moveTo>
                  <a:pt x="0" y="0"/>
                </a:moveTo>
                <a:lnTo>
                  <a:pt x="203835" y="0"/>
                </a:lnTo>
                <a:lnTo>
                  <a:pt x="203835" y="61436"/>
                </a:lnTo>
                <a:lnTo>
                  <a:pt x="0" y="6143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8" name="object 77">
            <a:extLst>
              <a:ext uri="{FF2B5EF4-FFF2-40B4-BE49-F238E27FC236}">
                <a16:creationId xmlns:a16="http://schemas.microsoft.com/office/drawing/2014/main" id="{D3AB1EF1-7B33-9A63-259E-C83237252C2F}"/>
              </a:ext>
            </a:extLst>
          </p:cNvPr>
          <p:cNvSpPr/>
          <p:nvPr/>
        </p:nvSpPr>
        <p:spPr>
          <a:xfrm>
            <a:off x="5095177" y="5648295"/>
            <a:ext cx="206375" cy="164465"/>
          </a:xfrm>
          <a:custGeom>
            <a:avLst/>
            <a:gdLst/>
            <a:ahLst/>
            <a:cxnLst/>
            <a:rect l="l" t="t" r="r" b="b"/>
            <a:pathLst>
              <a:path w="206375" h="164464">
                <a:moveTo>
                  <a:pt x="205757" y="0"/>
                </a:moveTo>
                <a:lnTo>
                  <a:pt x="0" y="0"/>
                </a:lnTo>
                <a:lnTo>
                  <a:pt x="0" y="164305"/>
                </a:lnTo>
                <a:lnTo>
                  <a:pt x="205757" y="164305"/>
                </a:lnTo>
                <a:lnTo>
                  <a:pt x="205757" y="0"/>
                </a:lnTo>
                <a:close/>
              </a:path>
            </a:pathLst>
          </a:custGeom>
          <a:solidFill>
            <a:srgbClr val="99CC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9" name="object 79">
            <a:extLst>
              <a:ext uri="{FF2B5EF4-FFF2-40B4-BE49-F238E27FC236}">
                <a16:creationId xmlns:a16="http://schemas.microsoft.com/office/drawing/2014/main" id="{ADE7E109-BAB4-A65F-59DC-78F924246456}"/>
              </a:ext>
            </a:extLst>
          </p:cNvPr>
          <p:cNvSpPr/>
          <p:nvPr/>
        </p:nvSpPr>
        <p:spPr>
          <a:xfrm>
            <a:off x="563558" y="5094460"/>
            <a:ext cx="2118360" cy="720090"/>
          </a:xfrm>
          <a:custGeom>
            <a:avLst/>
            <a:gdLst/>
            <a:ahLst/>
            <a:cxnLst/>
            <a:rect l="l" t="t" r="r" b="b"/>
            <a:pathLst>
              <a:path w="2118360" h="720089">
                <a:moveTo>
                  <a:pt x="2118360" y="0"/>
                </a:moveTo>
                <a:lnTo>
                  <a:pt x="0" y="0"/>
                </a:lnTo>
                <a:lnTo>
                  <a:pt x="0" y="720089"/>
                </a:lnTo>
                <a:lnTo>
                  <a:pt x="2118360" y="720089"/>
                </a:lnTo>
                <a:lnTo>
                  <a:pt x="2118360" y="0"/>
                </a:lnTo>
                <a:close/>
              </a:path>
            </a:pathLst>
          </a:custGeom>
          <a:solidFill>
            <a:srgbClr val="66FF66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0" name="object 80">
            <a:extLst>
              <a:ext uri="{FF2B5EF4-FFF2-40B4-BE49-F238E27FC236}">
                <a16:creationId xmlns:a16="http://schemas.microsoft.com/office/drawing/2014/main" id="{6886E550-BCB6-E4D0-CF15-B37A00A2A60E}"/>
              </a:ext>
            </a:extLst>
          </p:cNvPr>
          <p:cNvSpPr/>
          <p:nvPr/>
        </p:nvSpPr>
        <p:spPr>
          <a:xfrm>
            <a:off x="660713" y="5157324"/>
            <a:ext cx="487680" cy="605790"/>
          </a:xfrm>
          <a:custGeom>
            <a:avLst/>
            <a:gdLst/>
            <a:ahLst/>
            <a:cxnLst/>
            <a:rect l="l" t="t" r="r" b="b"/>
            <a:pathLst>
              <a:path w="487680" h="605789">
                <a:moveTo>
                  <a:pt x="487680" y="0"/>
                </a:moveTo>
                <a:lnTo>
                  <a:pt x="0" y="0"/>
                </a:lnTo>
                <a:lnTo>
                  <a:pt x="0" y="605789"/>
                </a:lnTo>
                <a:lnTo>
                  <a:pt x="487680" y="605789"/>
                </a:lnTo>
                <a:lnTo>
                  <a:pt x="487680" y="0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1" name="object 82">
            <a:extLst>
              <a:ext uri="{FF2B5EF4-FFF2-40B4-BE49-F238E27FC236}">
                <a16:creationId xmlns:a16="http://schemas.microsoft.com/office/drawing/2014/main" id="{D8152EC5-0BBD-7A29-E2A5-56CF2F0CABB1}"/>
              </a:ext>
            </a:extLst>
          </p:cNvPr>
          <p:cNvSpPr/>
          <p:nvPr/>
        </p:nvSpPr>
        <p:spPr>
          <a:xfrm>
            <a:off x="706433" y="5214474"/>
            <a:ext cx="114300" cy="481965"/>
          </a:xfrm>
          <a:custGeom>
            <a:avLst/>
            <a:gdLst/>
            <a:ahLst/>
            <a:cxnLst/>
            <a:rect l="l" t="t" r="r" b="b"/>
            <a:pathLst>
              <a:path w="114300" h="481964">
                <a:moveTo>
                  <a:pt x="7374" y="0"/>
                </a:moveTo>
                <a:lnTo>
                  <a:pt x="47059" y="36931"/>
                </a:lnTo>
                <a:lnTo>
                  <a:pt x="81561" y="73984"/>
                </a:lnTo>
                <a:lnTo>
                  <a:pt x="105696" y="111287"/>
                </a:lnTo>
                <a:lnTo>
                  <a:pt x="114278" y="148971"/>
                </a:lnTo>
                <a:lnTo>
                  <a:pt x="101921" y="179101"/>
                </a:lnTo>
                <a:lnTo>
                  <a:pt x="73521" y="209148"/>
                </a:lnTo>
                <a:lnTo>
                  <a:pt x="39871" y="239557"/>
                </a:lnTo>
                <a:lnTo>
                  <a:pt x="11766" y="270775"/>
                </a:lnTo>
                <a:lnTo>
                  <a:pt x="0" y="303248"/>
                </a:lnTo>
                <a:lnTo>
                  <a:pt x="9820" y="345819"/>
                </a:lnTo>
                <a:lnTo>
                  <a:pt x="35712" y="390045"/>
                </a:lnTo>
                <a:lnTo>
                  <a:pt x="72316" y="435432"/>
                </a:lnTo>
                <a:lnTo>
                  <a:pt x="114278" y="48148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2" name="object 83">
            <a:extLst>
              <a:ext uri="{FF2B5EF4-FFF2-40B4-BE49-F238E27FC236}">
                <a16:creationId xmlns:a16="http://schemas.microsoft.com/office/drawing/2014/main" id="{CD542FBB-2D33-A293-D975-94E2DE5DC2D3}"/>
              </a:ext>
            </a:extLst>
          </p:cNvPr>
          <p:cNvSpPr/>
          <p:nvPr/>
        </p:nvSpPr>
        <p:spPr>
          <a:xfrm>
            <a:off x="775013" y="5214474"/>
            <a:ext cx="114300" cy="481965"/>
          </a:xfrm>
          <a:custGeom>
            <a:avLst/>
            <a:gdLst/>
            <a:ahLst/>
            <a:cxnLst/>
            <a:rect l="l" t="t" r="r" b="b"/>
            <a:pathLst>
              <a:path w="114300" h="481964">
                <a:moveTo>
                  <a:pt x="7374" y="0"/>
                </a:moveTo>
                <a:lnTo>
                  <a:pt x="47059" y="36931"/>
                </a:lnTo>
                <a:lnTo>
                  <a:pt x="81561" y="73984"/>
                </a:lnTo>
                <a:lnTo>
                  <a:pt x="105696" y="111287"/>
                </a:lnTo>
                <a:lnTo>
                  <a:pt x="114278" y="148971"/>
                </a:lnTo>
                <a:lnTo>
                  <a:pt x="101921" y="179101"/>
                </a:lnTo>
                <a:lnTo>
                  <a:pt x="73521" y="209148"/>
                </a:lnTo>
                <a:lnTo>
                  <a:pt x="39871" y="239557"/>
                </a:lnTo>
                <a:lnTo>
                  <a:pt x="11766" y="270775"/>
                </a:lnTo>
                <a:lnTo>
                  <a:pt x="0" y="303248"/>
                </a:lnTo>
                <a:lnTo>
                  <a:pt x="9820" y="345819"/>
                </a:lnTo>
                <a:lnTo>
                  <a:pt x="35712" y="390045"/>
                </a:lnTo>
                <a:lnTo>
                  <a:pt x="72316" y="435432"/>
                </a:lnTo>
                <a:lnTo>
                  <a:pt x="114278" y="48148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3" name="object 84">
            <a:extLst>
              <a:ext uri="{FF2B5EF4-FFF2-40B4-BE49-F238E27FC236}">
                <a16:creationId xmlns:a16="http://schemas.microsoft.com/office/drawing/2014/main" id="{7156B84E-18BE-60F3-D21B-34B2A6EDFC83}"/>
              </a:ext>
            </a:extLst>
          </p:cNvPr>
          <p:cNvSpPr/>
          <p:nvPr/>
        </p:nvSpPr>
        <p:spPr>
          <a:xfrm>
            <a:off x="843592" y="5214474"/>
            <a:ext cx="114300" cy="481965"/>
          </a:xfrm>
          <a:custGeom>
            <a:avLst/>
            <a:gdLst/>
            <a:ahLst/>
            <a:cxnLst/>
            <a:rect l="l" t="t" r="r" b="b"/>
            <a:pathLst>
              <a:path w="114300" h="481964">
                <a:moveTo>
                  <a:pt x="7374" y="0"/>
                </a:moveTo>
                <a:lnTo>
                  <a:pt x="47059" y="36931"/>
                </a:lnTo>
                <a:lnTo>
                  <a:pt x="81561" y="73984"/>
                </a:lnTo>
                <a:lnTo>
                  <a:pt x="105696" y="111287"/>
                </a:lnTo>
                <a:lnTo>
                  <a:pt x="114278" y="148971"/>
                </a:lnTo>
                <a:lnTo>
                  <a:pt x="101921" y="179101"/>
                </a:lnTo>
                <a:lnTo>
                  <a:pt x="73521" y="209148"/>
                </a:lnTo>
                <a:lnTo>
                  <a:pt x="39871" y="239557"/>
                </a:lnTo>
                <a:lnTo>
                  <a:pt x="11766" y="270775"/>
                </a:lnTo>
                <a:lnTo>
                  <a:pt x="0" y="303248"/>
                </a:lnTo>
                <a:lnTo>
                  <a:pt x="9820" y="345819"/>
                </a:lnTo>
                <a:lnTo>
                  <a:pt x="35712" y="390045"/>
                </a:lnTo>
                <a:lnTo>
                  <a:pt x="72316" y="435432"/>
                </a:lnTo>
                <a:lnTo>
                  <a:pt x="114278" y="48148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4" name="object 85">
            <a:extLst>
              <a:ext uri="{FF2B5EF4-FFF2-40B4-BE49-F238E27FC236}">
                <a16:creationId xmlns:a16="http://schemas.microsoft.com/office/drawing/2014/main" id="{14A4E676-582E-1584-3FDA-6A9EE48189C7}"/>
              </a:ext>
            </a:extLst>
          </p:cNvPr>
          <p:cNvSpPr/>
          <p:nvPr/>
        </p:nvSpPr>
        <p:spPr>
          <a:xfrm>
            <a:off x="912173" y="5214474"/>
            <a:ext cx="114300" cy="481965"/>
          </a:xfrm>
          <a:custGeom>
            <a:avLst/>
            <a:gdLst/>
            <a:ahLst/>
            <a:cxnLst/>
            <a:rect l="l" t="t" r="r" b="b"/>
            <a:pathLst>
              <a:path w="114300" h="481964">
                <a:moveTo>
                  <a:pt x="7374" y="0"/>
                </a:moveTo>
                <a:lnTo>
                  <a:pt x="47059" y="36931"/>
                </a:lnTo>
                <a:lnTo>
                  <a:pt x="81561" y="73984"/>
                </a:lnTo>
                <a:lnTo>
                  <a:pt x="105696" y="111287"/>
                </a:lnTo>
                <a:lnTo>
                  <a:pt x="114278" y="148971"/>
                </a:lnTo>
                <a:lnTo>
                  <a:pt x="101921" y="179101"/>
                </a:lnTo>
                <a:lnTo>
                  <a:pt x="73521" y="209148"/>
                </a:lnTo>
                <a:lnTo>
                  <a:pt x="39871" y="239557"/>
                </a:lnTo>
                <a:lnTo>
                  <a:pt x="11766" y="270775"/>
                </a:lnTo>
                <a:lnTo>
                  <a:pt x="0" y="303248"/>
                </a:lnTo>
                <a:lnTo>
                  <a:pt x="9820" y="345819"/>
                </a:lnTo>
                <a:lnTo>
                  <a:pt x="35712" y="390045"/>
                </a:lnTo>
                <a:lnTo>
                  <a:pt x="72316" y="435432"/>
                </a:lnTo>
                <a:lnTo>
                  <a:pt x="114278" y="48148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5" name="object 86">
            <a:extLst>
              <a:ext uri="{FF2B5EF4-FFF2-40B4-BE49-F238E27FC236}">
                <a16:creationId xmlns:a16="http://schemas.microsoft.com/office/drawing/2014/main" id="{D0357E94-5C4B-E306-428A-201AD78F5514}"/>
              </a:ext>
            </a:extLst>
          </p:cNvPr>
          <p:cNvSpPr/>
          <p:nvPr/>
        </p:nvSpPr>
        <p:spPr>
          <a:xfrm>
            <a:off x="980752" y="5214474"/>
            <a:ext cx="114300" cy="481965"/>
          </a:xfrm>
          <a:custGeom>
            <a:avLst/>
            <a:gdLst/>
            <a:ahLst/>
            <a:cxnLst/>
            <a:rect l="l" t="t" r="r" b="b"/>
            <a:pathLst>
              <a:path w="114300" h="481964">
                <a:moveTo>
                  <a:pt x="7374" y="0"/>
                </a:moveTo>
                <a:lnTo>
                  <a:pt x="47059" y="36931"/>
                </a:lnTo>
                <a:lnTo>
                  <a:pt x="81561" y="73984"/>
                </a:lnTo>
                <a:lnTo>
                  <a:pt x="105696" y="111287"/>
                </a:lnTo>
                <a:lnTo>
                  <a:pt x="114278" y="148971"/>
                </a:lnTo>
                <a:lnTo>
                  <a:pt x="101921" y="179101"/>
                </a:lnTo>
                <a:lnTo>
                  <a:pt x="73521" y="209148"/>
                </a:lnTo>
                <a:lnTo>
                  <a:pt x="39871" y="239557"/>
                </a:lnTo>
                <a:lnTo>
                  <a:pt x="11766" y="270775"/>
                </a:lnTo>
                <a:lnTo>
                  <a:pt x="0" y="303248"/>
                </a:lnTo>
                <a:lnTo>
                  <a:pt x="9820" y="345819"/>
                </a:lnTo>
                <a:lnTo>
                  <a:pt x="35712" y="390045"/>
                </a:lnTo>
                <a:lnTo>
                  <a:pt x="72316" y="435432"/>
                </a:lnTo>
                <a:lnTo>
                  <a:pt x="114278" y="48148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6" name="object 87">
            <a:extLst>
              <a:ext uri="{FF2B5EF4-FFF2-40B4-BE49-F238E27FC236}">
                <a16:creationId xmlns:a16="http://schemas.microsoft.com/office/drawing/2014/main" id="{C3F549F9-6233-27E0-C502-3685D5A1A1F2}"/>
              </a:ext>
            </a:extLst>
          </p:cNvPr>
          <p:cNvSpPr/>
          <p:nvPr/>
        </p:nvSpPr>
        <p:spPr>
          <a:xfrm>
            <a:off x="1224593" y="5157324"/>
            <a:ext cx="487680" cy="605790"/>
          </a:xfrm>
          <a:custGeom>
            <a:avLst/>
            <a:gdLst/>
            <a:ahLst/>
            <a:cxnLst/>
            <a:rect l="l" t="t" r="r" b="b"/>
            <a:pathLst>
              <a:path w="487680" h="605789">
                <a:moveTo>
                  <a:pt x="487680" y="0"/>
                </a:moveTo>
                <a:lnTo>
                  <a:pt x="0" y="0"/>
                </a:lnTo>
                <a:lnTo>
                  <a:pt x="0" y="605789"/>
                </a:lnTo>
                <a:lnTo>
                  <a:pt x="487680" y="605789"/>
                </a:lnTo>
                <a:lnTo>
                  <a:pt x="487680" y="0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7" name="object 89">
            <a:extLst>
              <a:ext uri="{FF2B5EF4-FFF2-40B4-BE49-F238E27FC236}">
                <a16:creationId xmlns:a16="http://schemas.microsoft.com/office/drawing/2014/main" id="{85015F1F-4CBF-E937-BB77-3F35327710F7}"/>
              </a:ext>
            </a:extLst>
          </p:cNvPr>
          <p:cNvSpPr/>
          <p:nvPr/>
        </p:nvSpPr>
        <p:spPr>
          <a:xfrm>
            <a:off x="1270313" y="5214474"/>
            <a:ext cx="114300" cy="481965"/>
          </a:xfrm>
          <a:custGeom>
            <a:avLst/>
            <a:gdLst/>
            <a:ahLst/>
            <a:cxnLst/>
            <a:rect l="l" t="t" r="r" b="b"/>
            <a:pathLst>
              <a:path w="114300" h="481964">
                <a:moveTo>
                  <a:pt x="7374" y="0"/>
                </a:moveTo>
                <a:lnTo>
                  <a:pt x="47059" y="36931"/>
                </a:lnTo>
                <a:lnTo>
                  <a:pt x="81561" y="73984"/>
                </a:lnTo>
                <a:lnTo>
                  <a:pt x="105696" y="111287"/>
                </a:lnTo>
                <a:lnTo>
                  <a:pt x="114278" y="148971"/>
                </a:lnTo>
                <a:lnTo>
                  <a:pt x="101921" y="179101"/>
                </a:lnTo>
                <a:lnTo>
                  <a:pt x="73521" y="209148"/>
                </a:lnTo>
                <a:lnTo>
                  <a:pt x="39871" y="239557"/>
                </a:lnTo>
                <a:lnTo>
                  <a:pt x="11766" y="270775"/>
                </a:lnTo>
                <a:lnTo>
                  <a:pt x="0" y="303248"/>
                </a:lnTo>
                <a:lnTo>
                  <a:pt x="9820" y="345819"/>
                </a:lnTo>
                <a:lnTo>
                  <a:pt x="35712" y="390045"/>
                </a:lnTo>
                <a:lnTo>
                  <a:pt x="72316" y="435432"/>
                </a:lnTo>
                <a:lnTo>
                  <a:pt x="114278" y="48148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8" name="object 90">
            <a:extLst>
              <a:ext uri="{FF2B5EF4-FFF2-40B4-BE49-F238E27FC236}">
                <a16:creationId xmlns:a16="http://schemas.microsoft.com/office/drawing/2014/main" id="{B400CD60-5546-D770-F839-E56CB8C3F342}"/>
              </a:ext>
            </a:extLst>
          </p:cNvPr>
          <p:cNvSpPr/>
          <p:nvPr/>
        </p:nvSpPr>
        <p:spPr>
          <a:xfrm>
            <a:off x="1338893" y="5214474"/>
            <a:ext cx="114300" cy="481965"/>
          </a:xfrm>
          <a:custGeom>
            <a:avLst/>
            <a:gdLst/>
            <a:ahLst/>
            <a:cxnLst/>
            <a:rect l="l" t="t" r="r" b="b"/>
            <a:pathLst>
              <a:path w="114300" h="481964">
                <a:moveTo>
                  <a:pt x="7374" y="0"/>
                </a:moveTo>
                <a:lnTo>
                  <a:pt x="47059" y="36931"/>
                </a:lnTo>
                <a:lnTo>
                  <a:pt x="81561" y="73984"/>
                </a:lnTo>
                <a:lnTo>
                  <a:pt x="105696" y="111287"/>
                </a:lnTo>
                <a:lnTo>
                  <a:pt x="114278" y="148971"/>
                </a:lnTo>
                <a:lnTo>
                  <a:pt x="101921" y="179101"/>
                </a:lnTo>
                <a:lnTo>
                  <a:pt x="73521" y="209148"/>
                </a:lnTo>
                <a:lnTo>
                  <a:pt x="39871" y="239557"/>
                </a:lnTo>
                <a:lnTo>
                  <a:pt x="11766" y="270775"/>
                </a:lnTo>
                <a:lnTo>
                  <a:pt x="0" y="303248"/>
                </a:lnTo>
                <a:lnTo>
                  <a:pt x="9820" y="345819"/>
                </a:lnTo>
                <a:lnTo>
                  <a:pt x="35712" y="390045"/>
                </a:lnTo>
                <a:lnTo>
                  <a:pt x="72316" y="435432"/>
                </a:lnTo>
                <a:lnTo>
                  <a:pt x="114278" y="48148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9" name="object 91">
            <a:extLst>
              <a:ext uri="{FF2B5EF4-FFF2-40B4-BE49-F238E27FC236}">
                <a16:creationId xmlns:a16="http://schemas.microsoft.com/office/drawing/2014/main" id="{F5C0D56B-219C-83A8-98D9-CEF8C3C42887}"/>
              </a:ext>
            </a:extLst>
          </p:cNvPr>
          <p:cNvSpPr/>
          <p:nvPr/>
        </p:nvSpPr>
        <p:spPr>
          <a:xfrm>
            <a:off x="1407472" y="5214474"/>
            <a:ext cx="114300" cy="481965"/>
          </a:xfrm>
          <a:custGeom>
            <a:avLst/>
            <a:gdLst/>
            <a:ahLst/>
            <a:cxnLst/>
            <a:rect l="l" t="t" r="r" b="b"/>
            <a:pathLst>
              <a:path w="114300" h="481964">
                <a:moveTo>
                  <a:pt x="7374" y="0"/>
                </a:moveTo>
                <a:lnTo>
                  <a:pt x="47059" y="36931"/>
                </a:lnTo>
                <a:lnTo>
                  <a:pt x="81561" y="73984"/>
                </a:lnTo>
                <a:lnTo>
                  <a:pt x="105696" y="111287"/>
                </a:lnTo>
                <a:lnTo>
                  <a:pt x="114278" y="148971"/>
                </a:lnTo>
                <a:lnTo>
                  <a:pt x="101921" y="179101"/>
                </a:lnTo>
                <a:lnTo>
                  <a:pt x="73521" y="209148"/>
                </a:lnTo>
                <a:lnTo>
                  <a:pt x="39871" y="239557"/>
                </a:lnTo>
                <a:lnTo>
                  <a:pt x="11766" y="270775"/>
                </a:lnTo>
                <a:lnTo>
                  <a:pt x="0" y="303248"/>
                </a:lnTo>
                <a:lnTo>
                  <a:pt x="9820" y="345819"/>
                </a:lnTo>
                <a:lnTo>
                  <a:pt x="35712" y="390045"/>
                </a:lnTo>
                <a:lnTo>
                  <a:pt x="72316" y="435432"/>
                </a:lnTo>
                <a:lnTo>
                  <a:pt x="114278" y="48148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70" name="object 92">
            <a:extLst>
              <a:ext uri="{FF2B5EF4-FFF2-40B4-BE49-F238E27FC236}">
                <a16:creationId xmlns:a16="http://schemas.microsoft.com/office/drawing/2014/main" id="{0344968C-E154-12E5-EDFE-247759C72369}"/>
              </a:ext>
            </a:extLst>
          </p:cNvPr>
          <p:cNvSpPr/>
          <p:nvPr/>
        </p:nvSpPr>
        <p:spPr>
          <a:xfrm>
            <a:off x="1476052" y="5214474"/>
            <a:ext cx="114300" cy="481965"/>
          </a:xfrm>
          <a:custGeom>
            <a:avLst/>
            <a:gdLst/>
            <a:ahLst/>
            <a:cxnLst/>
            <a:rect l="l" t="t" r="r" b="b"/>
            <a:pathLst>
              <a:path w="114300" h="481964">
                <a:moveTo>
                  <a:pt x="7374" y="0"/>
                </a:moveTo>
                <a:lnTo>
                  <a:pt x="47059" y="36931"/>
                </a:lnTo>
                <a:lnTo>
                  <a:pt x="81561" y="73984"/>
                </a:lnTo>
                <a:lnTo>
                  <a:pt x="105696" y="111287"/>
                </a:lnTo>
                <a:lnTo>
                  <a:pt x="114278" y="148971"/>
                </a:lnTo>
                <a:lnTo>
                  <a:pt x="101921" y="179101"/>
                </a:lnTo>
                <a:lnTo>
                  <a:pt x="73521" y="209148"/>
                </a:lnTo>
                <a:lnTo>
                  <a:pt x="39871" y="239557"/>
                </a:lnTo>
                <a:lnTo>
                  <a:pt x="11766" y="270775"/>
                </a:lnTo>
                <a:lnTo>
                  <a:pt x="0" y="303248"/>
                </a:lnTo>
                <a:lnTo>
                  <a:pt x="9820" y="345819"/>
                </a:lnTo>
                <a:lnTo>
                  <a:pt x="35712" y="390045"/>
                </a:lnTo>
                <a:lnTo>
                  <a:pt x="72316" y="435432"/>
                </a:lnTo>
                <a:lnTo>
                  <a:pt x="114278" y="48148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71" name="object 93">
            <a:extLst>
              <a:ext uri="{FF2B5EF4-FFF2-40B4-BE49-F238E27FC236}">
                <a16:creationId xmlns:a16="http://schemas.microsoft.com/office/drawing/2014/main" id="{74171201-3DBB-C4D6-1B7D-4F6B125FDBD7}"/>
              </a:ext>
            </a:extLst>
          </p:cNvPr>
          <p:cNvSpPr/>
          <p:nvPr/>
        </p:nvSpPr>
        <p:spPr>
          <a:xfrm>
            <a:off x="1544633" y="5214474"/>
            <a:ext cx="114300" cy="481965"/>
          </a:xfrm>
          <a:custGeom>
            <a:avLst/>
            <a:gdLst/>
            <a:ahLst/>
            <a:cxnLst/>
            <a:rect l="l" t="t" r="r" b="b"/>
            <a:pathLst>
              <a:path w="114300" h="481964">
                <a:moveTo>
                  <a:pt x="7374" y="0"/>
                </a:moveTo>
                <a:lnTo>
                  <a:pt x="47059" y="36931"/>
                </a:lnTo>
                <a:lnTo>
                  <a:pt x="81561" y="73984"/>
                </a:lnTo>
                <a:lnTo>
                  <a:pt x="105696" y="111287"/>
                </a:lnTo>
                <a:lnTo>
                  <a:pt x="114278" y="148971"/>
                </a:lnTo>
                <a:lnTo>
                  <a:pt x="101921" y="179101"/>
                </a:lnTo>
                <a:lnTo>
                  <a:pt x="73521" y="209148"/>
                </a:lnTo>
                <a:lnTo>
                  <a:pt x="39871" y="239557"/>
                </a:lnTo>
                <a:lnTo>
                  <a:pt x="11766" y="270775"/>
                </a:lnTo>
                <a:lnTo>
                  <a:pt x="0" y="303248"/>
                </a:lnTo>
                <a:lnTo>
                  <a:pt x="9820" y="345819"/>
                </a:lnTo>
                <a:lnTo>
                  <a:pt x="35712" y="390045"/>
                </a:lnTo>
                <a:lnTo>
                  <a:pt x="72316" y="435432"/>
                </a:lnTo>
                <a:lnTo>
                  <a:pt x="114278" y="48148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72" name="object 94">
            <a:extLst>
              <a:ext uri="{FF2B5EF4-FFF2-40B4-BE49-F238E27FC236}">
                <a16:creationId xmlns:a16="http://schemas.microsoft.com/office/drawing/2014/main" id="{0D05D510-9B2B-5ECF-9F69-274D9DD8B11F}"/>
              </a:ext>
            </a:extLst>
          </p:cNvPr>
          <p:cNvSpPr/>
          <p:nvPr/>
        </p:nvSpPr>
        <p:spPr>
          <a:xfrm>
            <a:off x="2093272" y="5157324"/>
            <a:ext cx="487680" cy="605790"/>
          </a:xfrm>
          <a:custGeom>
            <a:avLst/>
            <a:gdLst/>
            <a:ahLst/>
            <a:cxnLst/>
            <a:rect l="l" t="t" r="r" b="b"/>
            <a:pathLst>
              <a:path w="487680" h="605789">
                <a:moveTo>
                  <a:pt x="487680" y="0"/>
                </a:moveTo>
                <a:lnTo>
                  <a:pt x="0" y="0"/>
                </a:lnTo>
                <a:lnTo>
                  <a:pt x="0" y="605789"/>
                </a:lnTo>
                <a:lnTo>
                  <a:pt x="487680" y="605789"/>
                </a:lnTo>
                <a:lnTo>
                  <a:pt x="487680" y="0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73" name="object 96">
            <a:extLst>
              <a:ext uri="{FF2B5EF4-FFF2-40B4-BE49-F238E27FC236}">
                <a16:creationId xmlns:a16="http://schemas.microsoft.com/office/drawing/2014/main" id="{C8844D1C-DFF6-0523-BE17-66136B16218C}"/>
              </a:ext>
            </a:extLst>
          </p:cNvPr>
          <p:cNvSpPr/>
          <p:nvPr/>
        </p:nvSpPr>
        <p:spPr>
          <a:xfrm>
            <a:off x="2138993" y="5214474"/>
            <a:ext cx="114300" cy="481965"/>
          </a:xfrm>
          <a:custGeom>
            <a:avLst/>
            <a:gdLst/>
            <a:ahLst/>
            <a:cxnLst/>
            <a:rect l="l" t="t" r="r" b="b"/>
            <a:pathLst>
              <a:path w="114300" h="481964">
                <a:moveTo>
                  <a:pt x="7374" y="0"/>
                </a:moveTo>
                <a:lnTo>
                  <a:pt x="47059" y="36931"/>
                </a:lnTo>
                <a:lnTo>
                  <a:pt x="81561" y="73984"/>
                </a:lnTo>
                <a:lnTo>
                  <a:pt x="105696" y="111287"/>
                </a:lnTo>
                <a:lnTo>
                  <a:pt x="114278" y="148971"/>
                </a:lnTo>
                <a:lnTo>
                  <a:pt x="101921" y="179101"/>
                </a:lnTo>
                <a:lnTo>
                  <a:pt x="73521" y="209148"/>
                </a:lnTo>
                <a:lnTo>
                  <a:pt x="39871" y="239557"/>
                </a:lnTo>
                <a:lnTo>
                  <a:pt x="11766" y="270775"/>
                </a:lnTo>
                <a:lnTo>
                  <a:pt x="0" y="303248"/>
                </a:lnTo>
                <a:lnTo>
                  <a:pt x="9820" y="345819"/>
                </a:lnTo>
                <a:lnTo>
                  <a:pt x="35712" y="390045"/>
                </a:lnTo>
                <a:lnTo>
                  <a:pt x="72316" y="435432"/>
                </a:lnTo>
                <a:lnTo>
                  <a:pt x="114278" y="48148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74" name="object 97">
            <a:extLst>
              <a:ext uri="{FF2B5EF4-FFF2-40B4-BE49-F238E27FC236}">
                <a16:creationId xmlns:a16="http://schemas.microsoft.com/office/drawing/2014/main" id="{FFF1A74D-92CD-07DB-4A7C-98DD28D61A3C}"/>
              </a:ext>
            </a:extLst>
          </p:cNvPr>
          <p:cNvSpPr/>
          <p:nvPr/>
        </p:nvSpPr>
        <p:spPr>
          <a:xfrm>
            <a:off x="2207572" y="5214474"/>
            <a:ext cx="114300" cy="481965"/>
          </a:xfrm>
          <a:custGeom>
            <a:avLst/>
            <a:gdLst/>
            <a:ahLst/>
            <a:cxnLst/>
            <a:rect l="l" t="t" r="r" b="b"/>
            <a:pathLst>
              <a:path w="114300" h="481964">
                <a:moveTo>
                  <a:pt x="7374" y="0"/>
                </a:moveTo>
                <a:lnTo>
                  <a:pt x="47059" y="36931"/>
                </a:lnTo>
                <a:lnTo>
                  <a:pt x="81561" y="73984"/>
                </a:lnTo>
                <a:lnTo>
                  <a:pt x="105696" y="111287"/>
                </a:lnTo>
                <a:lnTo>
                  <a:pt x="114278" y="148971"/>
                </a:lnTo>
                <a:lnTo>
                  <a:pt x="101921" y="179101"/>
                </a:lnTo>
                <a:lnTo>
                  <a:pt x="73521" y="209148"/>
                </a:lnTo>
                <a:lnTo>
                  <a:pt x="39871" y="239557"/>
                </a:lnTo>
                <a:lnTo>
                  <a:pt x="11766" y="270775"/>
                </a:lnTo>
                <a:lnTo>
                  <a:pt x="0" y="303248"/>
                </a:lnTo>
                <a:lnTo>
                  <a:pt x="9820" y="345819"/>
                </a:lnTo>
                <a:lnTo>
                  <a:pt x="35712" y="390045"/>
                </a:lnTo>
                <a:lnTo>
                  <a:pt x="72316" y="435432"/>
                </a:lnTo>
                <a:lnTo>
                  <a:pt x="114278" y="48148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75" name="object 98">
            <a:extLst>
              <a:ext uri="{FF2B5EF4-FFF2-40B4-BE49-F238E27FC236}">
                <a16:creationId xmlns:a16="http://schemas.microsoft.com/office/drawing/2014/main" id="{D5EB0345-D8E6-D1E7-1A2B-301456A7D404}"/>
              </a:ext>
            </a:extLst>
          </p:cNvPr>
          <p:cNvSpPr/>
          <p:nvPr/>
        </p:nvSpPr>
        <p:spPr>
          <a:xfrm>
            <a:off x="2276153" y="5214474"/>
            <a:ext cx="114300" cy="481965"/>
          </a:xfrm>
          <a:custGeom>
            <a:avLst/>
            <a:gdLst/>
            <a:ahLst/>
            <a:cxnLst/>
            <a:rect l="l" t="t" r="r" b="b"/>
            <a:pathLst>
              <a:path w="114300" h="481964">
                <a:moveTo>
                  <a:pt x="7374" y="0"/>
                </a:moveTo>
                <a:lnTo>
                  <a:pt x="47059" y="36931"/>
                </a:lnTo>
                <a:lnTo>
                  <a:pt x="81561" y="73984"/>
                </a:lnTo>
                <a:lnTo>
                  <a:pt x="105696" y="111287"/>
                </a:lnTo>
                <a:lnTo>
                  <a:pt x="114278" y="148971"/>
                </a:lnTo>
                <a:lnTo>
                  <a:pt x="101921" y="179101"/>
                </a:lnTo>
                <a:lnTo>
                  <a:pt x="73521" y="209148"/>
                </a:lnTo>
                <a:lnTo>
                  <a:pt x="39871" y="239557"/>
                </a:lnTo>
                <a:lnTo>
                  <a:pt x="11766" y="270775"/>
                </a:lnTo>
                <a:lnTo>
                  <a:pt x="0" y="303248"/>
                </a:lnTo>
                <a:lnTo>
                  <a:pt x="9820" y="345819"/>
                </a:lnTo>
                <a:lnTo>
                  <a:pt x="35712" y="390045"/>
                </a:lnTo>
                <a:lnTo>
                  <a:pt x="72316" y="435432"/>
                </a:lnTo>
                <a:lnTo>
                  <a:pt x="114278" y="48148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76" name="object 99">
            <a:extLst>
              <a:ext uri="{FF2B5EF4-FFF2-40B4-BE49-F238E27FC236}">
                <a16:creationId xmlns:a16="http://schemas.microsoft.com/office/drawing/2014/main" id="{1010691D-9530-6441-492E-154E22674267}"/>
              </a:ext>
            </a:extLst>
          </p:cNvPr>
          <p:cNvSpPr/>
          <p:nvPr/>
        </p:nvSpPr>
        <p:spPr>
          <a:xfrm>
            <a:off x="2344733" y="5214474"/>
            <a:ext cx="114300" cy="481965"/>
          </a:xfrm>
          <a:custGeom>
            <a:avLst/>
            <a:gdLst/>
            <a:ahLst/>
            <a:cxnLst/>
            <a:rect l="l" t="t" r="r" b="b"/>
            <a:pathLst>
              <a:path w="114300" h="481964">
                <a:moveTo>
                  <a:pt x="7374" y="0"/>
                </a:moveTo>
                <a:lnTo>
                  <a:pt x="47059" y="36931"/>
                </a:lnTo>
                <a:lnTo>
                  <a:pt x="81561" y="73984"/>
                </a:lnTo>
                <a:lnTo>
                  <a:pt x="105696" y="111287"/>
                </a:lnTo>
                <a:lnTo>
                  <a:pt x="114278" y="148971"/>
                </a:lnTo>
                <a:lnTo>
                  <a:pt x="101921" y="179101"/>
                </a:lnTo>
                <a:lnTo>
                  <a:pt x="73521" y="209148"/>
                </a:lnTo>
                <a:lnTo>
                  <a:pt x="39871" y="239557"/>
                </a:lnTo>
                <a:lnTo>
                  <a:pt x="11766" y="270775"/>
                </a:lnTo>
                <a:lnTo>
                  <a:pt x="0" y="303248"/>
                </a:lnTo>
                <a:lnTo>
                  <a:pt x="9820" y="345819"/>
                </a:lnTo>
                <a:lnTo>
                  <a:pt x="35712" y="390045"/>
                </a:lnTo>
                <a:lnTo>
                  <a:pt x="72316" y="435432"/>
                </a:lnTo>
                <a:lnTo>
                  <a:pt x="114278" y="48148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77" name="object 100">
            <a:extLst>
              <a:ext uri="{FF2B5EF4-FFF2-40B4-BE49-F238E27FC236}">
                <a16:creationId xmlns:a16="http://schemas.microsoft.com/office/drawing/2014/main" id="{31778081-7E8C-EB6F-FC35-6D7B4AB2CB5B}"/>
              </a:ext>
            </a:extLst>
          </p:cNvPr>
          <p:cNvSpPr/>
          <p:nvPr/>
        </p:nvSpPr>
        <p:spPr>
          <a:xfrm>
            <a:off x="2413312" y="5214474"/>
            <a:ext cx="114300" cy="481965"/>
          </a:xfrm>
          <a:custGeom>
            <a:avLst/>
            <a:gdLst/>
            <a:ahLst/>
            <a:cxnLst/>
            <a:rect l="l" t="t" r="r" b="b"/>
            <a:pathLst>
              <a:path w="114300" h="481964">
                <a:moveTo>
                  <a:pt x="7374" y="0"/>
                </a:moveTo>
                <a:lnTo>
                  <a:pt x="47059" y="36931"/>
                </a:lnTo>
                <a:lnTo>
                  <a:pt x="81561" y="73984"/>
                </a:lnTo>
                <a:lnTo>
                  <a:pt x="105696" y="111287"/>
                </a:lnTo>
                <a:lnTo>
                  <a:pt x="114278" y="148971"/>
                </a:lnTo>
                <a:lnTo>
                  <a:pt x="101921" y="179101"/>
                </a:lnTo>
                <a:lnTo>
                  <a:pt x="73521" y="209148"/>
                </a:lnTo>
                <a:lnTo>
                  <a:pt x="39871" y="239557"/>
                </a:lnTo>
                <a:lnTo>
                  <a:pt x="11766" y="270775"/>
                </a:lnTo>
                <a:lnTo>
                  <a:pt x="0" y="303248"/>
                </a:lnTo>
                <a:lnTo>
                  <a:pt x="9820" y="345819"/>
                </a:lnTo>
                <a:lnTo>
                  <a:pt x="35712" y="390045"/>
                </a:lnTo>
                <a:lnTo>
                  <a:pt x="72316" y="435432"/>
                </a:lnTo>
                <a:lnTo>
                  <a:pt x="114278" y="48148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78" name="object 101">
            <a:extLst>
              <a:ext uri="{FF2B5EF4-FFF2-40B4-BE49-F238E27FC236}">
                <a16:creationId xmlns:a16="http://schemas.microsoft.com/office/drawing/2014/main" id="{13CA60D6-809B-8804-FA9C-77C7A7C08CE0}"/>
              </a:ext>
            </a:extLst>
          </p:cNvPr>
          <p:cNvSpPr txBox="1"/>
          <p:nvPr/>
        </p:nvSpPr>
        <p:spPr>
          <a:xfrm>
            <a:off x="690558" y="5221460"/>
            <a:ext cx="2118360" cy="461024"/>
          </a:xfrm>
          <a:prstGeom prst="rect">
            <a:avLst/>
          </a:prstGeom>
        </p:spPr>
        <p:txBody>
          <a:bodyPr vert="horz" wrap="square" lIns="0" tIns="182245" rIns="0" bIns="0" rtlCol="0">
            <a:spAutoFit/>
          </a:bodyPr>
          <a:lstStyle/>
          <a:p>
            <a:pPr marL="377190" algn="ctr">
              <a:lnSpc>
                <a:spcPct val="100000"/>
              </a:lnSpc>
              <a:spcBef>
                <a:spcPts val="1435"/>
              </a:spcBef>
            </a:pP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...</a:t>
            </a:r>
            <a:endParaRPr sz="1800"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79" name="object 102">
            <a:extLst>
              <a:ext uri="{FF2B5EF4-FFF2-40B4-BE49-F238E27FC236}">
                <a16:creationId xmlns:a16="http://schemas.microsoft.com/office/drawing/2014/main" id="{3975C87E-9247-5722-369F-69BFAF244BE9}"/>
              </a:ext>
            </a:extLst>
          </p:cNvPr>
          <p:cNvSpPr txBox="1"/>
          <p:nvPr/>
        </p:nvSpPr>
        <p:spPr>
          <a:xfrm>
            <a:off x="1327987" y="5821536"/>
            <a:ext cx="529441" cy="2634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G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id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80" name="object 103">
            <a:extLst>
              <a:ext uri="{FF2B5EF4-FFF2-40B4-BE49-F238E27FC236}">
                <a16:creationId xmlns:a16="http://schemas.microsoft.com/office/drawing/2014/main" id="{2FABE228-CE96-4325-D029-6661B10275A2}"/>
              </a:ext>
            </a:extLst>
          </p:cNvPr>
          <p:cNvSpPr txBox="1"/>
          <p:nvPr/>
        </p:nvSpPr>
        <p:spPr>
          <a:xfrm>
            <a:off x="3949242" y="5891460"/>
            <a:ext cx="97726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D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ev</a:t>
            </a: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c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</a:p>
        </p:txBody>
      </p:sp>
      <p:sp>
        <p:nvSpPr>
          <p:cNvPr id="81" name="object 30">
            <a:extLst>
              <a:ext uri="{FF2B5EF4-FFF2-40B4-BE49-F238E27FC236}">
                <a16:creationId xmlns:a16="http://schemas.microsoft.com/office/drawing/2014/main" id="{3F001F7F-6646-6535-5EBE-95659F4C17D7}"/>
              </a:ext>
            </a:extLst>
          </p:cNvPr>
          <p:cNvSpPr txBox="1"/>
          <p:nvPr/>
        </p:nvSpPr>
        <p:spPr>
          <a:xfrm>
            <a:off x="3047378" y="2348322"/>
            <a:ext cx="2579218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1920">
              <a:lnSpc>
                <a:spcPct val="100000"/>
              </a:lnSpc>
              <a:spcBef>
                <a:spcPts val="100"/>
              </a:spcBef>
            </a:pPr>
            <a:r>
              <a:rPr lang="en-US" altLang="zh-CN" sz="16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Lane of SIMD processor</a:t>
            </a:r>
            <a:endParaRPr sz="1600" dirty="0">
              <a:solidFill>
                <a:srgbClr val="FF0000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82" name="object 30">
            <a:extLst>
              <a:ext uri="{FF2B5EF4-FFF2-40B4-BE49-F238E27FC236}">
                <a16:creationId xmlns:a16="http://schemas.microsoft.com/office/drawing/2014/main" id="{5E372A77-EB10-28B6-A439-ECC2D4E96CCC}"/>
              </a:ext>
            </a:extLst>
          </p:cNvPr>
          <p:cNvSpPr txBox="1"/>
          <p:nvPr/>
        </p:nvSpPr>
        <p:spPr>
          <a:xfrm>
            <a:off x="3413063" y="4461843"/>
            <a:ext cx="1781966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1920">
              <a:lnSpc>
                <a:spcPct val="100000"/>
              </a:lnSpc>
              <a:spcBef>
                <a:spcPts val="100"/>
              </a:spcBef>
            </a:pPr>
            <a:r>
              <a:rPr lang="en-US" altLang="zh-CN" sz="16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SIMD processor</a:t>
            </a:r>
            <a:endParaRPr sz="1600" dirty="0">
              <a:solidFill>
                <a:srgbClr val="FF0000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83" name="object 11">
            <a:extLst>
              <a:ext uri="{FF2B5EF4-FFF2-40B4-BE49-F238E27FC236}">
                <a16:creationId xmlns:a16="http://schemas.microsoft.com/office/drawing/2014/main" id="{983063F8-DFE9-E692-8660-7C4E4E7832A2}"/>
              </a:ext>
            </a:extLst>
          </p:cNvPr>
          <p:cNvSpPr/>
          <p:nvPr/>
        </p:nvSpPr>
        <p:spPr>
          <a:xfrm>
            <a:off x="2100893" y="3255906"/>
            <a:ext cx="428743" cy="339910"/>
          </a:xfrm>
          <a:custGeom>
            <a:avLst/>
            <a:gdLst/>
            <a:ahLst/>
            <a:cxnLst/>
            <a:rect l="l" t="t" r="r" b="b"/>
            <a:pathLst>
              <a:path w="1036319" h="777239">
                <a:moveTo>
                  <a:pt x="1036319" y="0"/>
                </a:moveTo>
                <a:lnTo>
                  <a:pt x="0" y="0"/>
                </a:lnTo>
                <a:lnTo>
                  <a:pt x="0" y="777239"/>
                </a:lnTo>
                <a:lnTo>
                  <a:pt x="1036319" y="777239"/>
                </a:lnTo>
                <a:lnTo>
                  <a:pt x="103631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84" name="object 13">
            <a:extLst>
              <a:ext uri="{FF2B5EF4-FFF2-40B4-BE49-F238E27FC236}">
                <a16:creationId xmlns:a16="http://schemas.microsoft.com/office/drawing/2014/main" id="{56C9FF2C-391F-9533-2420-C4CEA054DB87}"/>
              </a:ext>
            </a:extLst>
          </p:cNvPr>
          <p:cNvSpPr/>
          <p:nvPr/>
        </p:nvSpPr>
        <p:spPr>
          <a:xfrm>
            <a:off x="2121849" y="3289941"/>
            <a:ext cx="70144" cy="269929"/>
          </a:xfrm>
          <a:custGeom>
            <a:avLst/>
            <a:gdLst/>
            <a:ahLst/>
            <a:cxnLst/>
            <a:rect l="l" t="t" r="r" b="b"/>
            <a:pathLst>
              <a:path w="169544" h="617220">
                <a:moveTo>
                  <a:pt x="10938" y="0"/>
                </a:moveTo>
                <a:lnTo>
                  <a:pt x="58400" y="37866"/>
                </a:lnTo>
                <a:lnTo>
                  <a:pt x="101926" y="75811"/>
                </a:lnTo>
                <a:lnTo>
                  <a:pt x="137579" y="113920"/>
                </a:lnTo>
                <a:lnTo>
                  <a:pt x="161420" y="152276"/>
                </a:lnTo>
                <a:lnTo>
                  <a:pt x="169513" y="190966"/>
                </a:lnTo>
                <a:lnTo>
                  <a:pt x="156323" y="223175"/>
                </a:lnTo>
                <a:lnTo>
                  <a:pt x="124754" y="255244"/>
                </a:lnTo>
                <a:lnTo>
                  <a:pt x="84072" y="287503"/>
                </a:lnTo>
                <a:lnTo>
                  <a:pt x="43542" y="320284"/>
                </a:lnTo>
                <a:lnTo>
                  <a:pt x="12429" y="353917"/>
                </a:lnTo>
                <a:lnTo>
                  <a:pt x="0" y="388734"/>
                </a:lnTo>
                <a:lnTo>
                  <a:pt x="6670" y="424848"/>
                </a:lnTo>
                <a:lnTo>
                  <a:pt x="25113" y="461998"/>
                </a:lnTo>
                <a:lnTo>
                  <a:pt x="52972" y="499998"/>
                </a:lnTo>
                <a:lnTo>
                  <a:pt x="87895" y="538659"/>
                </a:lnTo>
                <a:lnTo>
                  <a:pt x="127527" y="577796"/>
                </a:lnTo>
                <a:lnTo>
                  <a:pt x="169513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85" name="object 14">
            <a:extLst>
              <a:ext uri="{FF2B5EF4-FFF2-40B4-BE49-F238E27FC236}">
                <a16:creationId xmlns:a16="http://schemas.microsoft.com/office/drawing/2014/main" id="{2042A043-A560-A7DD-93C2-FC07CF36C360}"/>
              </a:ext>
            </a:extLst>
          </p:cNvPr>
          <p:cNvSpPr/>
          <p:nvPr/>
        </p:nvSpPr>
        <p:spPr>
          <a:xfrm>
            <a:off x="2222812" y="3289941"/>
            <a:ext cx="70932" cy="269929"/>
          </a:xfrm>
          <a:custGeom>
            <a:avLst/>
            <a:gdLst/>
            <a:ahLst/>
            <a:cxnLst/>
            <a:rect l="l" t="t" r="r" b="b"/>
            <a:pathLst>
              <a:path w="171450" h="617220">
                <a:moveTo>
                  <a:pt x="11061" y="0"/>
                </a:moveTo>
                <a:lnTo>
                  <a:pt x="59056" y="37866"/>
                </a:lnTo>
                <a:lnTo>
                  <a:pt x="103072" y="75811"/>
                </a:lnTo>
                <a:lnTo>
                  <a:pt x="139125" y="113920"/>
                </a:lnTo>
                <a:lnTo>
                  <a:pt x="163234" y="152276"/>
                </a:lnTo>
                <a:lnTo>
                  <a:pt x="171417" y="190966"/>
                </a:lnTo>
                <a:lnTo>
                  <a:pt x="158079" y="223175"/>
                </a:lnTo>
                <a:lnTo>
                  <a:pt x="126156" y="255244"/>
                </a:lnTo>
                <a:lnTo>
                  <a:pt x="85017" y="287503"/>
                </a:lnTo>
                <a:lnTo>
                  <a:pt x="44031" y="320284"/>
                </a:lnTo>
                <a:lnTo>
                  <a:pt x="12569" y="353917"/>
                </a:lnTo>
                <a:lnTo>
                  <a:pt x="0" y="388734"/>
                </a:lnTo>
                <a:lnTo>
                  <a:pt x="6745" y="424848"/>
                </a:lnTo>
                <a:lnTo>
                  <a:pt x="25395" y="461998"/>
                </a:lnTo>
                <a:lnTo>
                  <a:pt x="53568" y="499998"/>
                </a:lnTo>
                <a:lnTo>
                  <a:pt x="88883" y="538659"/>
                </a:lnTo>
                <a:lnTo>
                  <a:pt x="128960" y="577796"/>
                </a:lnTo>
                <a:lnTo>
                  <a:pt x="171417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86" name="object 15">
            <a:extLst>
              <a:ext uri="{FF2B5EF4-FFF2-40B4-BE49-F238E27FC236}">
                <a16:creationId xmlns:a16="http://schemas.microsoft.com/office/drawing/2014/main" id="{AFB76933-A796-9535-23A3-C18FCCDBA280}"/>
              </a:ext>
            </a:extLst>
          </p:cNvPr>
          <p:cNvSpPr/>
          <p:nvPr/>
        </p:nvSpPr>
        <p:spPr>
          <a:xfrm>
            <a:off x="2325683" y="3289941"/>
            <a:ext cx="70144" cy="269929"/>
          </a:xfrm>
          <a:custGeom>
            <a:avLst/>
            <a:gdLst/>
            <a:ahLst/>
            <a:cxnLst/>
            <a:rect l="l" t="t" r="r" b="b"/>
            <a:pathLst>
              <a:path w="169544" h="617220">
                <a:moveTo>
                  <a:pt x="10938" y="0"/>
                </a:moveTo>
                <a:lnTo>
                  <a:pt x="58400" y="37866"/>
                </a:lnTo>
                <a:lnTo>
                  <a:pt x="101926" y="75811"/>
                </a:lnTo>
                <a:lnTo>
                  <a:pt x="137579" y="113920"/>
                </a:lnTo>
                <a:lnTo>
                  <a:pt x="161420" y="152276"/>
                </a:lnTo>
                <a:lnTo>
                  <a:pt x="169513" y="190966"/>
                </a:lnTo>
                <a:lnTo>
                  <a:pt x="156323" y="223175"/>
                </a:lnTo>
                <a:lnTo>
                  <a:pt x="124754" y="255244"/>
                </a:lnTo>
                <a:lnTo>
                  <a:pt x="84072" y="287503"/>
                </a:lnTo>
                <a:lnTo>
                  <a:pt x="43542" y="320284"/>
                </a:lnTo>
                <a:lnTo>
                  <a:pt x="12429" y="353917"/>
                </a:lnTo>
                <a:lnTo>
                  <a:pt x="0" y="388734"/>
                </a:lnTo>
                <a:lnTo>
                  <a:pt x="6670" y="424848"/>
                </a:lnTo>
                <a:lnTo>
                  <a:pt x="25113" y="461998"/>
                </a:lnTo>
                <a:lnTo>
                  <a:pt x="52972" y="499998"/>
                </a:lnTo>
                <a:lnTo>
                  <a:pt x="87895" y="538659"/>
                </a:lnTo>
                <a:lnTo>
                  <a:pt x="127527" y="577796"/>
                </a:lnTo>
                <a:lnTo>
                  <a:pt x="169513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87" name="object 16">
            <a:extLst>
              <a:ext uri="{FF2B5EF4-FFF2-40B4-BE49-F238E27FC236}">
                <a16:creationId xmlns:a16="http://schemas.microsoft.com/office/drawing/2014/main" id="{E20237DC-7FBC-0C5E-5696-4C42CC41E4AD}"/>
              </a:ext>
            </a:extLst>
          </p:cNvPr>
          <p:cNvSpPr/>
          <p:nvPr/>
        </p:nvSpPr>
        <p:spPr>
          <a:xfrm>
            <a:off x="2426648" y="3289941"/>
            <a:ext cx="70932" cy="269929"/>
          </a:xfrm>
          <a:custGeom>
            <a:avLst/>
            <a:gdLst/>
            <a:ahLst/>
            <a:cxnLst/>
            <a:rect l="l" t="t" r="r" b="b"/>
            <a:pathLst>
              <a:path w="171450" h="617220">
                <a:moveTo>
                  <a:pt x="11061" y="0"/>
                </a:moveTo>
                <a:lnTo>
                  <a:pt x="59056" y="37866"/>
                </a:lnTo>
                <a:lnTo>
                  <a:pt x="103072" y="75811"/>
                </a:lnTo>
                <a:lnTo>
                  <a:pt x="139125" y="113920"/>
                </a:lnTo>
                <a:lnTo>
                  <a:pt x="163234" y="152276"/>
                </a:lnTo>
                <a:lnTo>
                  <a:pt x="171417" y="190966"/>
                </a:lnTo>
                <a:lnTo>
                  <a:pt x="158079" y="223175"/>
                </a:lnTo>
                <a:lnTo>
                  <a:pt x="126156" y="255244"/>
                </a:lnTo>
                <a:lnTo>
                  <a:pt x="85017" y="287503"/>
                </a:lnTo>
                <a:lnTo>
                  <a:pt x="44031" y="320284"/>
                </a:lnTo>
                <a:lnTo>
                  <a:pt x="12569" y="353917"/>
                </a:lnTo>
                <a:lnTo>
                  <a:pt x="0" y="388734"/>
                </a:lnTo>
                <a:lnTo>
                  <a:pt x="6745" y="424848"/>
                </a:lnTo>
                <a:lnTo>
                  <a:pt x="25395" y="461998"/>
                </a:lnTo>
                <a:lnTo>
                  <a:pt x="53568" y="499998"/>
                </a:lnTo>
                <a:lnTo>
                  <a:pt x="88883" y="538659"/>
                </a:lnTo>
                <a:lnTo>
                  <a:pt x="128960" y="577796"/>
                </a:lnTo>
                <a:lnTo>
                  <a:pt x="171417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88" name="object 11">
            <a:extLst>
              <a:ext uri="{FF2B5EF4-FFF2-40B4-BE49-F238E27FC236}">
                <a16:creationId xmlns:a16="http://schemas.microsoft.com/office/drawing/2014/main" id="{8A0FD151-C193-2179-B26D-64EE50F6F4F3}"/>
              </a:ext>
            </a:extLst>
          </p:cNvPr>
          <p:cNvSpPr/>
          <p:nvPr/>
        </p:nvSpPr>
        <p:spPr>
          <a:xfrm>
            <a:off x="2100893" y="3636906"/>
            <a:ext cx="428743" cy="339910"/>
          </a:xfrm>
          <a:custGeom>
            <a:avLst/>
            <a:gdLst/>
            <a:ahLst/>
            <a:cxnLst/>
            <a:rect l="l" t="t" r="r" b="b"/>
            <a:pathLst>
              <a:path w="1036319" h="777239">
                <a:moveTo>
                  <a:pt x="1036319" y="0"/>
                </a:moveTo>
                <a:lnTo>
                  <a:pt x="0" y="0"/>
                </a:lnTo>
                <a:lnTo>
                  <a:pt x="0" y="777239"/>
                </a:lnTo>
                <a:lnTo>
                  <a:pt x="1036319" y="777239"/>
                </a:lnTo>
                <a:lnTo>
                  <a:pt x="103631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89" name="object 13">
            <a:extLst>
              <a:ext uri="{FF2B5EF4-FFF2-40B4-BE49-F238E27FC236}">
                <a16:creationId xmlns:a16="http://schemas.microsoft.com/office/drawing/2014/main" id="{C30871F0-AD21-6648-B3C7-A102F55E5085}"/>
              </a:ext>
            </a:extLst>
          </p:cNvPr>
          <p:cNvSpPr/>
          <p:nvPr/>
        </p:nvSpPr>
        <p:spPr>
          <a:xfrm>
            <a:off x="2121849" y="3670941"/>
            <a:ext cx="70144" cy="269929"/>
          </a:xfrm>
          <a:custGeom>
            <a:avLst/>
            <a:gdLst/>
            <a:ahLst/>
            <a:cxnLst/>
            <a:rect l="l" t="t" r="r" b="b"/>
            <a:pathLst>
              <a:path w="169544" h="617220">
                <a:moveTo>
                  <a:pt x="10938" y="0"/>
                </a:moveTo>
                <a:lnTo>
                  <a:pt x="58400" y="37866"/>
                </a:lnTo>
                <a:lnTo>
                  <a:pt x="101926" y="75811"/>
                </a:lnTo>
                <a:lnTo>
                  <a:pt x="137579" y="113920"/>
                </a:lnTo>
                <a:lnTo>
                  <a:pt x="161420" y="152276"/>
                </a:lnTo>
                <a:lnTo>
                  <a:pt x="169513" y="190966"/>
                </a:lnTo>
                <a:lnTo>
                  <a:pt x="156323" y="223175"/>
                </a:lnTo>
                <a:lnTo>
                  <a:pt x="124754" y="255244"/>
                </a:lnTo>
                <a:lnTo>
                  <a:pt x="84072" y="287503"/>
                </a:lnTo>
                <a:lnTo>
                  <a:pt x="43542" y="320284"/>
                </a:lnTo>
                <a:lnTo>
                  <a:pt x="12429" y="353917"/>
                </a:lnTo>
                <a:lnTo>
                  <a:pt x="0" y="388734"/>
                </a:lnTo>
                <a:lnTo>
                  <a:pt x="6670" y="424848"/>
                </a:lnTo>
                <a:lnTo>
                  <a:pt x="25113" y="461998"/>
                </a:lnTo>
                <a:lnTo>
                  <a:pt x="52972" y="499998"/>
                </a:lnTo>
                <a:lnTo>
                  <a:pt x="87895" y="538659"/>
                </a:lnTo>
                <a:lnTo>
                  <a:pt x="127527" y="577796"/>
                </a:lnTo>
                <a:lnTo>
                  <a:pt x="169513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0" name="object 14">
            <a:extLst>
              <a:ext uri="{FF2B5EF4-FFF2-40B4-BE49-F238E27FC236}">
                <a16:creationId xmlns:a16="http://schemas.microsoft.com/office/drawing/2014/main" id="{D3A739F1-606D-97A5-4D2A-A83DF44A2840}"/>
              </a:ext>
            </a:extLst>
          </p:cNvPr>
          <p:cNvSpPr/>
          <p:nvPr/>
        </p:nvSpPr>
        <p:spPr>
          <a:xfrm>
            <a:off x="2222812" y="3670941"/>
            <a:ext cx="70932" cy="269929"/>
          </a:xfrm>
          <a:custGeom>
            <a:avLst/>
            <a:gdLst/>
            <a:ahLst/>
            <a:cxnLst/>
            <a:rect l="l" t="t" r="r" b="b"/>
            <a:pathLst>
              <a:path w="171450" h="617220">
                <a:moveTo>
                  <a:pt x="11061" y="0"/>
                </a:moveTo>
                <a:lnTo>
                  <a:pt x="59056" y="37866"/>
                </a:lnTo>
                <a:lnTo>
                  <a:pt x="103072" y="75811"/>
                </a:lnTo>
                <a:lnTo>
                  <a:pt x="139125" y="113920"/>
                </a:lnTo>
                <a:lnTo>
                  <a:pt x="163234" y="152276"/>
                </a:lnTo>
                <a:lnTo>
                  <a:pt x="171417" y="190966"/>
                </a:lnTo>
                <a:lnTo>
                  <a:pt x="158079" y="223175"/>
                </a:lnTo>
                <a:lnTo>
                  <a:pt x="126156" y="255244"/>
                </a:lnTo>
                <a:lnTo>
                  <a:pt x="85017" y="287503"/>
                </a:lnTo>
                <a:lnTo>
                  <a:pt x="44031" y="320284"/>
                </a:lnTo>
                <a:lnTo>
                  <a:pt x="12569" y="353917"/>
                </a:lnTo>
                <a:lnTo>
                  <a:pt x="0" y="388734"/>
                </a:lnTo>
                <a:lnTo>
                  <a:pt x="6745" y="424848"/>
                </a:lnTo>
                <a:lnTo>
                  <a:pt x="25395" y="461998"/>
                </a:lnTo>
                <a:lnTo>
                  <a:pt x="53568" y="499998"/>
                </a:lnTo>
                <a:lnTo>
                  <a:pt x="88883" y="538659"/>
                </a:lnTo>
                <a:lnTo>
                  <a:pt x="128960" y="577796"/>
                </a:lnTo>
                <a:lnTo>
                  <a:pt x="171417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1" name="object 15">
            <a:extLst>
              <a:ext uri="{FF2B5EF4-FFF2-40B4-BE49-F238E27FC236}">
                <a16:creationId xmlns:a16="http://schemas.microsoft.com/office/drawing/2014/main" id="{C7E35F10-0D4A-14D9-EFF2-4C694E66E073}"/>
              </a:ext>
            </a:extLst>
          </p:cNvPr>
          <p:cNvSpPr/>
          <p:nvPr/>
        </p:nvSpPr>
        <p:spPr>
          <a:xfrm>
            <a:off x="2325683" y="3670941"/>
            <a:ext cx="70144" cy="269929"/>
          </a:xfrm>
          <a:custGeom>
            <a:avLst/>
            <a:gdLst/>
            <a:ahLst/>
            <a:cxnLst/>
            <a:rect l="l" t="t" r="r" b="b"/>
            <a:pathLst>
              <a:path w="169544" h="617220">
                <a:moveTo>
                  <a:pt x="10938" y="0"/>
                </a:moveTo>
                <a:lnTo>
                  <a:pt x="58400" y="37866"/>
                </a:lnTo>
                <a:lnTo>
                  <a:pt x="101926" y="75811"/>
                </a:lnTo>
                <a:lnTo>
                  <a:pt x="137579" y="113920"/>
                </a:lnTo>
                <a:lnTo>
                  <a:pt x="161420" y="152276"/>
                </a:lnTo>
                <a:lnTo>
                  <a:pt x="169513" y="190966"/>
                </a:lnTo>
                <a:lnTo>
                  <a:pt x="156323" y="223175"/>
                </a:lnTo>
                <a:lnTo>
                  <a:pt x="124754" y="255244"/>
                </a:lnTo>
                <a:lnTo>
                  <a:pt x="84072" y="287503"/>
                </a:lnTo>
                <a:lnTo>
                  <a:pt x="43542" y="320284"/>
                </a:lnTo>
                <a:lnTo>
                  <a:pt x="12429" y="353917"/>
                </a:lnTo>
                <a:lnTo>
                  <a:pt x="0" y="388734"/>
                </a:lnTo>
                <a:lnTo>
                  <a:pt x="6670" y="424848"/>
                </a:lnTo>
                <a:lnTo>
                  <a:pt x="25113" y="461998"/>
                </a:lnTo>
                <a:lnTo>
                  <a:pt x="52972" y="499998"/>
                </a:lnTo>
                <a:lnTo>
                  <a:pt x="87895" y="538659"/>
                </a:lnTo>
                <a:lnTo>
                  <a:pt x="127527" y="577796"/>
                </a:lnTo>
                <a:lnTo>
                  <a:pt x="169513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2" name="object 16">
            <a:extLst>
              <a:ext uri="{FF2B5EF4-FFF2-40B4-BE49-F238E27FC236}">
                <a16:creationId xmlns:a16="http://schemas.microsoft.com/office/drawing/2014/main" id="{8F732005-3716-5BD9-531A-9FB3C6D7AE29}"/>
              </a:ext>
            </a:extLst>
          </p:cNvPr>
          <p:cNvSpPr/>
          <p:nvPr/>
        </p:nvSpPr>
        <p:spPr>
          <a:xfrm>
            <a:off x="2426648" y="3670941"/>
            <a:ext cx="70932" cy="269929"/>
          </a:xfrm>
          <a:custGeom>
            <a:avLst/>
            <a:gdLst/>
            <a:ahLst/>
            <a:cxnLst/>
            <a:rect l="l" t="t" r="r" b="b"/>
            <a:pathLst>
              <a:path w="171450" h="617220">
                <a:moveTo>
                  <a:pt x="11061" y="0"/>
                </a:moveTo>
                <a:lnTo>
                  <a:pt x="59056" y="37866"/>
                </a:lnTo>
                <a:lnTo>
                  <a:pt x="103072" y="75811"/>
                </a:lnTo>
                <a:lnTo>
                  <a:pt x="139125" y="113920"/>
                </a:lnTo>
                <a:lnTo>
                  <a:pt x="163234" y="152276"/>
                </a:lnTo>
                <a:lnTo>
                  <a:pt x="171417" y="190966"/>
                </a:lnTo>
                <a:lnTo>
                  <a:pt x="158079" y="223175"/>
                </a:lnTo>
                <a:lnTo>
                  <a:pt x="126156" y="255244"/>
                </a:lnTo>
                <a:lnTo>
                  <a:pt x="85017" y="287503"/>
                </a:lnTo>
                <a:lnTo>
                  <a:pt x="44031" y="320284"/>
                </a:lnTo>
                <a:lnTo>
                  <a:pt x="12569" y="353917"/>
                </a:lnTo>
                <a:lnTo>
                  <a:pt x="0" y="388734"/>
                </a:lnTo>
                <a:lnTo>
                  <a:pt x="6745" y="424848"/>
                </a:lnTo>
                <a:lnTo>
                  <a:pt x="25395" y="461998"/>
                </a:lnTo>
                <a:lnTo>
                  <a:pt x="53568" y="499998"/>
                </a:lnTo>
                <a:lnTo>
                  <a:pt x="88883" y="538659"/>
                </a:lnTo>
                <a:lnTo>
                  <a:pt x="128960" y="577796"/>
                </a:lnTo>
                <a:lnTo>
                  <a:pt x="171417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3" name="object 11">
            <a:extLst>
              <a:ext uri="{FF2B5EF4-FFF2-40B4-BE49-F238E27FC236}">
                <a16:creationId xmlns:a16="http://schemas.microsoft.com/office/drawing/2014/main" id="{1EC87145-3D51-C11D-751D-EC14FD7ECF8B}"/>
              </a:ext>
            </a:extLst>
          </p:cNvPr>
          <p:cNvSpPr/>
          <p:nvPr/>
        </p:nvSpPr>
        <p:spPr>
          <a:xfrm>
            <a:off x="2094101" y="2849543"/>
            <a:ext cx="428743" cy="339910"/>
          </a:xfrm>
          <a:custGeom>
            <a:avLst/>
            <a:gdLst/>
            <a:ahLst/>
            <a:cxnLst/>
            <a:rect l="l" t="t" r="r" b="b"/>
            <a:pathLst>
              <a:path w="1036319" h="777239">
                <a:moveTo>
                  <a:pt x="1036319" y="0"/>
                </a:moveTo>
                <a:lnTo>
                  <a:pt x="0" y="0"/>
                </a:lnTo>
                <a:lnTo>
                  <a:pt x="0" y="777239"/>
                </a:lnTo>
                <a:lnTo>
                  <a:pt x="1036319" y="777239"/>
                </a:lnTo>
                <a:lnTo>
                  <a:pt x="103631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4" name="object 13">
            <a:extLst>
              <a:ext uri="{FF2B5EF4-FFF2-40B4-BE49-F238E27FC236}">
                <a16:creationId xmlns:a16="http://schemas.microsoft.com/office/drawing/2014/main" id="{6E2CF953-25E0-D594-DC4D-3667951E8213}"/>
              </a:ext>
            </a:extLst>
          </p:cNvPr>
          <p:cNvSpPr/>
          <p:nvPr/>
        </p:nvSpPr>
        <p:spPr>
          <a:xfrm>
            <a:off x="2115057" y="2883578"/>
            <a:ext cx="70144" cy="269929"/>
          </a:xfrm>
          <a:custGeom>
            <a:avLst/>
            <a:gdLst/>
            <a:ahLst/>
            <a:cxnLst/>
            <a:rect l="l" t="t" r="r" b="b"/>
            <a:pathLst>
              <a:path w="169544" h="617220">
                <a:moveTo>
                  <a:pt x="10938" y="0"/>
                </a:moveTo>
                <a:lnTo>
                  <a:pt x="58400" y="37866"/>
                </a:lnTo>
                <a:lnTo>
                  <a:pt x="101926" y="75811"/>
                </a:lnTo>
                <a:lnTo>
                  <a:pt x="137579" y="113920"/>
                </a:lnTo>
                <a:lnTo>
                  <a:pt x="161420" y="152276"/>
                </a:lnTo>
                <a:lnTo>
                  <a:pt x="169513" y="190966"/>
                </a:lnTo>
                <a:lnTo>
                  <a:pt x="156323" y="223175"/>
                </a:lnTo>
                <a:lnTo>
                  <a:pt x="124754" y="255244"/>
                </a:lnTo>
                <a:lnTo>
                  <a:pt x="84072" y="287503"/>
                </a:lnTo>
                <a:lnTo>
                  <a:pt x="43542" y="320284"/>
                </a:lnTo>
                <a:lnTo>
                  <a:pt x="12429" y="353917"/>
                </a:lnTo>
                <a:lnTo>
                  <a:pt x="0" y="388734"/>
                </a:lnTo>
                <a:lnTo>
                  <a:pt x="6670" y="424848"/>
                </a:lnTo>
                <a:lnTo>
                  <a:pt x="25113" y="461998"/>
                </a:lnTo>
                <a:lnTo>
                  <a:pt x="52972" y="499998"/>
                </a:lnTo>
                <a:lnTo>
                  <a:pt x="87895" y="538659"/>
                </a:lnTo>
                <a:lnTo>
                  <a:pt x="127527" y="577796"/>
                </a:lnTo>
                <a:lnTo>
                  <a:pt x="169513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5" name="object 14">
            <a:extLst>
              <a:ext uri="{FF2B5EF4-FFF2-40B4-BE49-F238E27FC236}">
                <a16:creationId xmlns:a16="http://schemas.microsoft.com/office/drawing/2014/main" id="{035B12FB-46A0-7415-2023-1C3E2D216E63}"/>
              </a:ext>
            </a:extLst>
          </p:cNvPr>
          <p:cNvSpPr/>
          <p:nvPr/>
        </p:nvSpPr>
        <p:spPr>
          <a:xfrm>
            <a:off x="2216020" y="2883578"/>
            <a:ext cx="70932" cy="269929"/>
          </a:xfrm>
          <a:custGeom>
            <a:avLst/>
            <a:gdLst/>
            <a:ahLst/>
            <a:cxnLst/>
            <a:rect l="l" t="t" r="r" b="b"/>
            <a:pathLst>
              <a:path w="171450" h="617220">
                <a:moveTo>
                  <a:pt x="11061" y="0"/>
                </a:moveTo>
                <a:lnTo>
                  <a:pt x="59056" y="37866"/>
                </a:lnTo>
                <a:lnTo>
                  <a:pt x="103072" y="75811"/>
                </a:lnTo>
                <a:lnTo>
                  <a:pt x="139125" y="113920"/>
                </a:lnTo>
                <a:lnTo>
                  <a:pt x="163234" y="152276"/>
                </a:lnTo>
                <a:lnTo>
                  <a:pt x="171417" y="190966"/>
                </a:lnTo>
                <a:lnTo>
                  <a:pt x="158079" y="223175"/>
                </a:lnTo>
                <a:lnTo>
                  <a:pt x="126156" y="255244"/>
                </a:lnTo>
                <a:lnTo>
                  <a:pt x="85017" y="287503"/>
                </a:lnTo>
                <a:lnTo>
                  <a:pt x="44031" y="320284"/>
                </a:lnTo>
                <a:lnTo>
                  <a:pt x="12569" y="353917"/>
                </a:lnTo>
                <a:lnTo>
                  <a:pt x="0" y="388734"/>
                </a:lnTo>
                <a:lnTo>
                  <a:pt x="6745" y="424848"/>
                </a:lnTo>
                <a:lnTo>
                  <a:pt x="25395" y="461998"/>
                </a:lnTo>
                <a:lnTo>
                  <a:pt x="53568" y="499998"/>
                </a:lnTo>
                <a:lnTo>
                  <a:pt x="88883" y="538659"/>
                </a:lnTo>
                <a:lnTo>
                  <a:pt x="128960" y="577796"/>
                </a:lnTo>
                <a:lnTo>
                  <a:pt x="171417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6" name="object 15">
            <a:extLst>
              <a:ext uri="{FF2B5EF4-FFF2-40B4-BE49-F238E27FC236}">
                <a16:creationId xmlns:a16="http://schemas.microsoft.com/office/drawing/2014/main" id="{A5D9865E-1C4B-5D06-9F17-35D98C6D0DCB}"/>
              </a:ext>
            </a:extLst>
          </p:cNvPr>
          <p:cNvSpPr/>
          <p:nvPr/>
        </p:nvSpPr>
        <p:spPr>
          <a:xfrm>
            <a:off x="2318891" y="2883578"/>
            <a:ext cx="70144" cy="269929"/>
          </a:xfrm>
          <a:custGeom>
            <a:avLst/>
            <a:gdLst/>
            <a:ahLst/>
            <a:cxnLst/>
            <a:rect l="l" t="t" r="r" b="b"/>
            <a:pathLst>
              <a:path w="169544" h="617220">
                <a:moveTo>
                  <a:pt x="10938" y="0"/>
                </a:moveTo>
                <a:lnTo>
                  <a:pt x="58400" y="37866"/>
                </a:lnTo>
                <a:lnTo>
                  <a:pt x="101926" y="75811"/>
                </a:lnTo>
                <a:lnTo>
                  <a:pt x="137579" y="113920"/>
                </a:lnTo>
                <a:lnTo>
                  <a:pt x="161420" y="152276"/>
                </a:lnTo>
                <a:lnTo>
                  <a:pt x="169513" y="190966"/>
                </a:lnTo>
                <a:lnTo>
                  <a:pt x="156323" y="223175"/>
                </a:lnTo>
                <a:lnTo>
                  <a:pt x="124754" y="255244"/>
                </a:lnTo>
                <a:lnTo>
                  <a:pt x="84072" y="287503"/>
                </a:lnTo>
                <a:lnTo>
                  <a:pt x="43542" y="320284"/>
                </a:lnTo>
                <a:lnTo>
                  <a:pt x="12429" y="353917"/>
                </a:lnTo>
                <a:lnTo>
                  <a:pt x="0" y="388734"/>
                </a:lnTo>
                <a:lnTo>
                  <a:pt x="6670" y="424848"/>
                </a:lnTo>
                <a:lnTo>
                  <a:pt x="25113" y="461998"/>
                </a:lnTo>
                <a:lnTo>
                  <a:pt x="52972" y="499998"/>
                </a:lnTo>
                <a:lnTo>
                  <a:pt x="87895" y="538659"/>
                </a:lnTo>
                <a:lnTo>
                  <a:pt x="127527" y="577796"/>
                </a:lnTo>
                <a:lnTo>
                  <a:pt x="169513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7" name="object 16">
            <a:extLst>
              <a:ext uri="{FF2B5EF4-FFF2-40B4-BE49-F238E27FC236}">
                <a16:creationId xmlns:a16="http://schemas.microsoft.com/office/drawing/2014/main" id="{8B425D4E-9B8D-BB0B-007B-AA0F5BDB4852}"/>
              </a:ext>
            </a:extLst>
          </p:cNvPr>
          <p:cNvSpPr/>
          <p:nvPr/>
        </p:nvSpPr>
        <p:spPr>
          <a:xfrm>
            <a:off x="2419856" y="2883578"/>
            <a:ext cx="70932" cy="269929"/>
          </a:xfrm>
          <a:custGeom>
            <a:avLst/>
            <a:gdLst/>
            <a:ahLst/>
            <a:cxnLst/>
            <a:rect l="l" t="t" r="r" b="b"/>
            <a:pathLst>
              <a:path w="171450" h="617220">
                <a:moveTo>
                  <a:pt x="11061" y="0"/>
                </a:moveTo>
                <a:lnTo>
                  <a:pt x="59056" y="37866"/>
                </a:lnTo>
                <a:lnTo>
                  <a:pt x="103072" y="75811"/>
                </a:lnTo>
                <a:lnTo>
                  <a:pt x="139125" y="113920"/>
                </a:lnTo>
                <a:lnTo>
                  <a:pt x="163234" y="152276"/>
                </a:lnTo>
                <a:lnTo>
                  <a:pt x="171417" y="190966"/>
                </a:lnTo>
                <a:lnTo>
                  <a:pt x="158079" y="223175"/>
                </a:lnTo>
                <a:lnTo>
                  <a:pt x="126156" y="255244"/>
                </a:lnTo>
                <a:lnTo>
                  <a:pt x="85017" y="287503"/>
                </a:lnTo>
                <a:lnTo>
                  <a:pt x="44031" y="320284"/>
                </a:lnTo>
                <a:lnTo>
                  <a:pt x="12569" y="353917"/>
                </a:lnTo>
                <a:lnTo>
                  <a:pt x="0" y="388734"/>
                </a:lnTo>
                <a:lnTo>
                  <a:pt x="6745" y="424848"/>
                </a:lnTo>
                <a:lnTo>
                  <a:pt x="25395" y="461998"/>
                </a:lnTo>
                <a:lnTo>
                  <a:pt x="53568" y="499998"/>
                </a:lnTo>
                <a:lnTo>
                  <a:pt x="88883" y="538659"/>
                </a:lnTo>
                <a:lnTo>
                  <a:pt x="128960" y="577796"/>
                </a:lnTo>
                <a:lnTo>
                  <a:pt x="171417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8" name="object 11">
            <a:extLst>
              <a:ext uri="{FF2B5EF4-FFF2-40B4-BE49-F238E27FC236}">
                <a16:creationId xmlns:a16="http://schemas.microsoft.com/office/drawing/2014/main" id="{105F2EE4-A0DC-48A8-5461-45FBA2405BA5}"/>
              </a:ext>
            </a:extLst>
          </p:cNvPr>
          <p:cNvSpPr/>
          <p:nvPr/>
        </p:nvSpPr>
        <p:spPr>
          <a:xfrm>
            <a:off x="2100893" y="4044116"/>
            <a:ext cx="428743" cy="339910"/>
          </a:xfrm>
          <a:custGeom>
            <a:avLst/>
            <a:gdLst/>
            <a:ahLst/>
            <a:cxnLst/>
            <a:rect l="l" t="t" r="r" b="b"/>
            <a:pathLst>
              <a:path w="1036319" h="777239">
                <a:moveTo>
                  <a:pt x="1036319" y="0"/>
                </a:moveTo>
                <a:lnTo>
                  <a:pt x="0" y="0"/>
                </a:lnTo>
                <a:lnTo>
                  <a:pt x="0" y="777239"/>
                </a:lnTo>
                <a:lnTo>
                  <a:pt x="1036319" y="777239"/>
                </a:lnTo>
                <a:lnTo>
                  <a:pt x="103631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9" name="object 13">
            <a:extLst>
              <a:ext uri="{FF2B5EF4-FFF2-40B4-BE49-F238E27FC236}">
                <a16:creationId xmlns:a16="http://schemas.microsoft.com/office/drawing/2014/main" id="{F59C5B59-8F89-73E2-71EE-D60D6983F3B7}"/>
              </a:ext>
            </a:extLst>
          </p:cNvPr>
          <p:cNvSpPr/>
          <p:nvPr/>
        </p:nvSpPr>
        <p:spPr>
          <a:xfrm>
            <a:off x="2121849" y="4078151"/>
            <a:ext cx="70144" cy="269929"/>
          </a:xfrm>
          <a:custGeom>
            <a:avLst/>
            <a:gdLst/>
            <a:ahLst/>
            <a:cxnLst/>
            <a:rect l="l" t="t" r="r" b="b"/>
            <a:pathLst>
              <a:path w="169544" h="617220">
                <a:moveTo>
                  <a:pt x="10938" y="0"/>
                </a:moveTo>
                <a:lnTo>
                  <a:pt x="58400" y="37866"/>
                </a:lnTo>
                <a:lnTo>
                  <a:pt x="101926" y="75811"/>
                </a:lnTo>
                <a:lnTo>
                  <a:pt x="137579" y="113920"/>
                </a:lnTo>
                <a:lnTo>
                  <a:pt x="161420" y="152276"/>
                </a:lnTo>
                <a:lnTo>
                  <a:pt x="169513" y="190966"/>
                </a:lnTo>
                <a:lnTo>
                  <a:pt x="156323" y="223175"/>
                </a:lnTo>
                <a:lnTo>
                  <a:pt x="124754" y="255244"/>
                </a:lnTo>
                <a:lnTo>
                  <a:pt x="84072" y="287503"/>
                </a:lnTo>
                <a:lnTo>
                  <a:pt x="43542" y="320284"/>
                </a:lnTo>
                <a:lnTo>
                  <a:pt x="12429" y="353917"/>
                </a:lnTo>
                <a:lnTo>
                  <a:pt x="0" y="388734"/>
                </a:lnTo>
                <a:lnTo>
                  <a:pt x="6670" y="424848"/>
                </a:lnTo>
                <a:lnTo>
                  <a:pt x="25113" y="461998"/>
                </a:lnTo>
                <a:lnTo>
                  <a:pt x="52972" y="499998"/>
                </a:lnTo>
                <a:lnTo>
                  <a:pt x="87895" y="538659"/>
                </a:lnTo>
                <a:lnTo>
                  <a:pt x="127527" y="577796"/>
                </a:lnTo>
                <a:lnTo>
                  <a:pt x="169513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0" name="object 14">
            <a:extLst>
              <a:ext uri="{FF2B5EF4-FFF2-40B4-BE49-F238E27FC236}">
                <a16:creationId xmlns:a16="http://schemas.microsoft.com/office/drawing/2014/main" id="{3347EA12-F3EB-E118-9C0A-B42F43D4D87E}"/>
              </a:ext>
            </a:extLst>
          </p:cNvPr>
          <p:cNvSpPr/>
          <p:nvPr/>
        </p:nvSpPr>
        <p:spPr>
          <a:xfrm>
            <a:off x="2222812" y="4078151"/>
            <a:ext cx="70932" cy="269929"/>
          </a:xfrm>
          <a:custGeom>
            <a:avLst/>
            <a:gdLst/>
            <a:ahLst/>
            <a:cxnLst/>
            <a:rect l="l" t="t" r="r" b="b"/>
            <a:pathLst>
              <a:path w="171450" h="617220">
                <a:moveTo>
                  <a:pt x="11061" y="0"/>
                </a:moveTo>
                <a:lnTo>
                  <a:pt x="59056" y="37866"/>
                </a:lnTo>
                <a:lnTo>
                  <a:pt x="103072" y="75811"/>
                </a:lnTo>
                <a:lnTo>
                  <a:pt x="139125" y="113920"/>
                </a:lnTo>
                <a:lnTo>
                  <a:pt x="163234" y="152276"/>
                </a:lnTo>
                <a:lnTo>
                  <a:pt x="171417" y="190966"/>
                </a:lnTo>
                <a:lnTo>
                  <a:pt x="158079" y="223175"/>
                </a:lnTo>
                <a:lnTo>
                  <a:pt x="126156" y="255244"/>
                </a:lnTo>
                <a:lnTo>
                  <a:pt x="85017" y="287503"/>
                </a:lnTo>
                <a:lnTo>
                  <a:pt x="44031" y="320284"/>
                </a:lnTo>
                <a:lnTo>
                  <a:pt x="12569" y="353917"/>
                </a:lnTo>
                <a:lnTo>
                  <a:pt x="0" y="388734"/>
                </a:lnTo>
                <a:lnTo>
                  <a:pt x="6745" y="424848"/>
                </a:lnTo>
                <a:lnTo>
                  <a:pt x="25395" y="461998"/>
                </a:lnTo>
                <a:lnTo>
                  <a:pt x="53568" y="499998"/>
                </a:lnTo>
                <a:lnTo>
                  <a:pt x="88883" y="538659"/>
                </a:lnTo>
                <a:lnTo>
                  <a:pt x="128960" y="577796"/>
                </a:lnTo>
                <a:lnTo>
                  <a:pt x="171417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1" name="object 15">
            <a:extLst>
              <a:ext uri="{FF2B5EF4-FFF2-40B4-BE49-F238E27FC236}">
                <a16:creationId xmlns:a16="http://schemas.microsoft.com/office/drawing/2014/main" id="{06BDC938-0B65-95DB-89FD-08D854D932CE}"/>
              </a:ext>
            </a:extLst>
          </p:cNvPr>
          <p:cNvSpPr/>
          <p:nvPr/>
        </p:nvSpPr>
        <p:spPr>
          <a:xfrm>
            <a:off x="2325683" y="4078151"/>
            <a:ext cx="70144" cy="269929"/>
          </a:xfrm>
          <a:custGeom>
            <a:avLst/>
            <a:gdLst/>
            <a:ahLst/>
            <a:cxnLst/>
            <a:rect l="l" t="t" r="r" b="b"/>
            <a:pathLst>
              <a:path w="169544" h="617220">
                <a:moveTo>
                  <a:pt x="10938" y="0"/>
                </a:moveTo>
                <a:lnTo>
                  <a:pt x="58400" y="37866"/>
                </a:lnTo>
                <a:lnTo>
                  <a:pt x="101926" y="75811"/>
                </a:lnTo>
                <a:lnTo>
                  <a:pt x="137579" y="113920"/>
                </a:lnTo>
                <a:lnTo>
                  <a:pt x="161420" y="152276"/>
                </a:lnTo>
                <a:lnTo>
                  <a:pt x="169513" y="190966"/>
                </a:lnTo>
                <a:lnTo>
                  <a:pt x="156323" y="223175"/>
                </a:lnTo>
                <a:lnTo>
                  <a:pt x="124754" y="255244"/>
                </a:lnTo>
                <a:lnTo>
                  <a:pt x="84072" y="287503"/>
                </a:lnTo>
                <a:lnTo>
                  <a:pt x="43542" y="320284"/>
                </a:lnTo>
                <a:lnTo>
                  <a:pt x="12429" y="353917"/>
                </a:lnTo>
                <a:lnTo>
                  <a:pt x="0" y="388734"/>
                </a:lnTo>
                <a:lnTo>
                  <a:pt x="6670" y="424848"/>
                </a:lnTo>
                <a:lnTo>
                  <a:pt x="25113" y="461998"/>
                </a:lnTo>
                <a:lnTo>
                  <a:pt x="52972" y="499998"/>
                </a:lnTo>
                <a:lnTo>
                  <a:pt x="87895" y="538659"/>
                </a:lnTo>
                <a:lnTo>
                  <a:pt x="127527" y="577796"/>
                </a:lnTo>
                <a:lnTo>
                  <a:pt x="169513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2" name="object 16">
            <a:extLst>
              <a:ext uri="{FF2B5EF4-FFF2-40B4-BE49-F238E27FC236}">
                <a16:creationId xmlns:a16="http://schemas.microsoft.com/office/drawing/2014/main" id="{19B26EDD-73B5-6835-0EC6-A5BA22567287}"/>
              </a:ext>
            </a:extLst>
          </p:cNvPr>
          <p:cNvSpPr/>
          <p:nvPr/>
        </p:nvSpPr>
        <p:spPr>
          <a:xfrm>
            <a:off x="2426648" y="4078151"/>
            <a:ext cx="70932" cy="269929"/>
          </a:xfrm>
          <a:custGeom>
            <a:avLst/>
            <a:gdLst/>
            <a:ahLst/>
            <a:cxnLst/>
            <a:rect l="l" t="t" r="r" b="b"/>
            <a:pathLst>
              <a:path w="171450" h="617220">
                <a:moveTo>
                  <a:pt x="11061" y="0"/>
                </a:moveTo>
                <a:lnTo>
                  <a:pt x="59056" y="37866"/>
                </a:lnTo>
                <a:lnTo>
                  <a:pt x="103072" y="75811"/>
                </a:lnTo>
                <a:lnTo>
                  <a:pt x="139125" y="113920"/>
                </a:lnTo>
                <a:lnTo>
                  <a:pt x="163234" y="152276"/>
                </a:lnTo>
                <a:lnTo>
                  <a:pt x="171417" y="190966"/>
                </a:lnTo>
                <a:lnTo>
                  <a:pt x="158079" y="223175"/>
                </a:lnTo>
                <a:lnTo>
                  <a:pt x="126156" y="255244"/>
                </a:lnTo>
                <a:lnTo>
                  <a:pt x="85017" y="287503"/>
                </a:lnTo>
                <a:lnTo>
                  <a:pt x="44031" y="320284"/>
                </a:lnTo>
                <a:lnTo>
                  <a:pt x="12569" y="353917"/>
                </a:lnTo>
                <a:lnTo>
                  <a:pt x="0" y="388734"/>
                </a:lnTo>
                <a:lnTo>
                  <a:pt x="6745" y="424848"/>
                </a:lnTo>
                <a:lnTo>
                  <a:pt x="25395" y="461998"/>
                </a:lnTo>
                <a:lnTo>
                  <a:pt x="53568" y="499998"/>
                </a:lnTo>
                <a:lnTo>
                  <a:pt x="88883" y="538659"/>
                </a:lnTo>
                <a:lnTo>
                  <a:pt x="128960" y="577796"/>
                </a:lnTo>
                <a:lnTo>
                  <a:pt x="171417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3" name="object 29">
            <a:extLst>
              <a:ext uri="{FF2B5EF4-FFF2-40B4-BE49-F238E27FC236}">
                <a16:creationId xmlns:a16="http://schemas.microsoft.com/office/drawing/2014/main" id="{488B21EB-C293-7B06-47C8-BC528F9396E0}"/>
              </a:ext>
            </a:extLst>
          </p:cNvPr>
          <p:cNvSpPr txBox="1"/>
          <p:nvPr/>
        </p:nvSpPr>
        <p:spPr>
          <a:xfrm>
            <a:off x="1616593" y="4418088"/>
            <a:ext cx="1321813" cy="5180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Warp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SIMD thread</a:t>
            </a:r>
            <a:endParaRPr sz="1600" dirty="0">
              <a:solidFill>
                <a:srgbClr val="FF0000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0DEE8F39-6729-8518-21B7-C359DD69CB79}"/>
              </a:ext>
            </a:extLst>
          </p:cNvPr>
          <p:cNvCxnSpPr/>
          <p:nvPr/>
        </p:nvCxnSpPr>
        <p:spPr>
          <a:xfrm flipV="1">
            <a:off x="1841812" y="2872177"/>
            <a:ext cx="206754" cy="373278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F88ED30E-5CB4-56A9-E832-4ACA329B8C0F}"/>
              </a:ext>
            </a:extLst>
          </p:cNvPr>
          <p:cNvCxnSpPr/>
          <p:nvPr/>
        </p:nvCxnSpPr>
        <p:spPr>
          <a:xfrm>
            <a:off x="1823720" y="4042205"/>
            <a:ext cx="275240" cy="33991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灯片编号占位符 105">
            <a:extLst>
              <a:ext uri="{FF2B5EF4-FFF2-40B4-BE49-F238E27FC236}">
                <a16:creationId xmlns:a16="http://schemas.microsoft.com/office/drawing/2014/main" id="{30D6822D-C1F3-A1BA-2ADB-827F4F0A6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3046639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1D2E4-5BDE-1516-E2D5-78721E68F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F94B3E3-15FD-F169-CAF8-8D2128D04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spc="-5" dirty="0"/>
              <a:t>W</a:t>
            </a:r>
            <a:r>
              <a:rPr lang="en-US" altLang="zh-CN" sz="3600" b="1" dirty="0"/>
              <a:t>A</a:t>
            </a:r>
            <a:r>
              <a:rPr lang="en-US" altLang="zh-CN" sz="3600" b="1" spc="5" dirty="0"/>
              <a:t>R</a:t>
            </a:r>
            <a:r>
              <a:rPr lang="en-US" altLang="zh-CN" sz="3600" b="1" dirty="0"/>
              <a:t>PS </a:t>
            </a:r>
            <a:r>
              <a:rPr lang="zh-CN" altLang="en-US" sz="2000" b="1" dirty="0"/>
              <a:t>线程束</a:t>
            </a:r>
            <a:endParaRPr lang="en-US" sz="2000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950787D-5827-9946-6145-0075F6706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520" y="1224186"/>
            <a:ext cx="12449472" cy="1224136"/>
          </a:xfrm>
        </p:spPr>
        <p:txBody>
          <a:bodyPr/>
          <a:lstStyle/>
          <a:p>
            <a:pPr marL="12700" marR="5080">
              <a:lnSpc>
                <a:spcPct val="101000"/>
              </a:lnSpc>
              <a:spcBef>
                <a:spcPts val="75"/>
              </a:spcBef>
            </a:pPr>
            <a:r>
              <a:rPr lang="en-US" altLang="zh-CN" sz="3200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altLang="zh-CN" sz="3200" spc="-5" dirty="0">
                <a:latin typeface="Calibri" panose="020F0502020204030204" pitchFamily="34" charset="0"/>
                <a:cs typeface="Calibri" panose="020F0502020204030204" pitchFamily="34" charset="0"/>
              </a:rPr>
              <a:t>thread </a:t>
            </a:r>
            <a:r>
              <a:rPr lang="en-US" altLang="zh-CN" sz="3200" dirty="0">
                <a:latin typeface="Calibri" panose="020F0502020204030204" pitchFamily="34" charset="0"/>
                <a:cs typeface="Calibri" panose="020F0502020204030204" pitchFamily="34" charset="0"/>
              </a:rPr>
              <a:t>block </a:t>
            </a:r>
            <a:r>
              <a:rPr lang="en-US" altLang="zh-CN" sz="3200" spc="-5" dirty="0">
                <a:latin typeface="Calibri" panose="020F0502020204030204" pitchFamily="34" charset="0"/>
                <a:cs typeface="Calibri" panose="020F0502020204030204" pitchFamily="34" charset="0"/>
              </a:rPr>
              <a:t>consists</a:t>
            </a:r>
            <a:r>
              <a:rPr lang="en-US" altLang="zh-CN" sz="3200" spc="-16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3200" spc="-5" dirty="0">
                <a:latin typeface="Calibri" panose="020F0502020204030204" pitchFamily="34" charset="0"/>
                <a:cs typeface="Calibri" panose="020F0502020204030204" pitchFamily="34" charset="0"/>
              </a:rPr>
              <a:t>of  </a:t>
            </a:r>
            <a:r>
              <a:rPr lang="en-US" altLang="zh-CN" sz="3200" dirty="0">
                <a:latin typeface="Calibri" panose="020F0502020204030204" pitchFamily="34" charset="0"/>
                <a:cs typeface="Calibri" panose="020F0502020204030204" pitchFamily="34" charset="0"/>
              </a:rPr>
              <a:t>thread</a:t>
            </a:r>
            <a:r>
              <a:rPr lang="en-US" altLang="zh-CN" sz="3200" spc="-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3200" dirty="0">
                <a:latin typeface="Calibri" panose="020F0502020204030204" pitchFamily="34" charset="0"/>
                <a:cs typeface="Calibri" panose="020F0502020204030204" pitchFamily="34" charset="0"/>
              </a:rPr>
              <a:t>warps</a:t>
            </a:r>
          </a:p>
          <a:p>
            <a:pPr marL="12700" marR="5080">
              <a:lnSpc>
                <a:spcPct val="101000"/>
              </a:lnSpc>
              <a:spcBef>
                <a:spcPts val="75"/>
              </a:spcBef>
            </a:pPr>
            <a:r>
              <a:rPr lang="en-US" altLang="zh-CN" sz="3200" dirty="0">
                <a:latin typeface="Calibri" panose="020F0502020204030204" pitchFamily="34" charset="0"/>
                <a:cs typeface="Calibri" panose="020F0502020204030204" pitchFamily="34" charset="0"/>
              </a:rPr>
              <a:t>A warp is </a:t>
            </a:r>
            <a:r>
              <a:rPr lang="en-US" altLang="zh-CN" sz="3200" spc="-5" dirty="0">
                <a:latin typeface="Calibri" panose="020F0502020204030204" pitchFamily="34" charset="0"/>
                <a:cs typeface="Calibri" panose="020F0502020204030204" pitchFamily="34" charset="0"/>
              </a:rPr>
              <a:t>executed  </a:t>
            </a:r>
            <a:r>
              <a:rPr lang="en-US" altLang="zh-CN" sz="3200" dirty="0">
                <a:latin typeface="Calibri" panose="020F0502020204030204" pitchFamily="34" charset="0"/>
                <a:cs typeface="Calibri" panose="020F0502020204030204" pitchFamily="34" charset="0"/>
              </a:rPr>
              <a:t>physically in parallel  </a:t>
            </a:r>
            <a:r>
              <a:rPr lang="en-US" altLang="zh-CN" sz="3200" spc="-5" dirty="0">
                <a:latin typeface="Calibri" panose="020F0502020204030204" pitchFamily="34" charset="0"/>
                <a:cs typeface="Calibri" panose="020F0502020204030204" pitchFamily="34" charset="0"/>
              </a:rPr>
              <a:t>(SIMD) </a:t>
            </a:r>
            <a:r>
              <a:rPr lang="en-US" altLang="zh-CN" sz="3200" dirty="0">
                <a:latin typeface="Calibri" panose="020F0502020204030204" pitchFamily="34" charset="0"/>
                <a:cs typeface="Calibri" panose="020F0502020204030204" pitchFamily="34" charset="0"/>
              </a:rPr>
              <a:t>on a</a:t>
            </a:r>
            <a:r>
              <a:rPr lang="en-US" altLang="zh-CN" sz="3200" spc="-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3200" spc="-5" dirty="0">
                <a:latin typeface="Calibri" panose="020F0502020204030204" pitchFamily="34" charset="0"/>
                <a:cs typeface="Calibri" panose="020F0502020204030204" pitchFamily="34" charset="0"/>
              </a:rPr>
              <a:t>multiprocessor</a:t>
            </a:r>
            <a:endParaRPr lang="en-US" altLang="zh-CN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700" marR="5080">
              <a:lnSpc>
                <a:spcPct val="101000"/>
              </a:lnSpc>
              <a:spcBef>
                <a:spcPts val="75"/>
              </a:spcBef>
            </a:pPr>
            <a:endParaRPr lang="en-US" altLang="zh-CN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FD20CD11-B3AD-DB74-7DDE-134342B68111}"/>
              </a:ext>
            </a:extLst>
          </p:cNvPr>
          <p:cNvSpPr/>
          <p:nvPr/>
        </p:nvSpPr>
        <p:spPr>
          <a:xfrm>
            <a:off x="8058930" y="3352987"/>
            <a:ext cx="609600" cy="1085850"/>
          </a:xfrm>
          <a:custGeom>
            <a:avLst/>
            <a:gdLst/>
            <a:ahLst/>
            <a:cxnLst/>
            <a:rect l="l" t="t" r="r" b="b"/>
            <a:pathLst>
              <a:path w="609600" h="1085850">
                <a:moveTo>
                  <a:pt x="609600" y="0"/>
                </a:moveTo>
                <a:lnTo>
                  <a:pt x="0" y="0"/>
                </a:lnTo>
                <a:lnTo>
                  <a:pt x="0" y="1085850"/>
                </a:lnTo>
                <a:lnTo>
                  <a:pt x="609600" y="1085850"/>
                </a:lnTo>
                <a:lnTo>
                  <a:pt x="60960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27F6A140-927F-7884-3DA0-10F5BB087AE7}"/>
              </a:ext>
            </a:extLst>
          </p:cNvPr>
          <p:cNvSpPr/>
          <p:nvPr/>
        </p:nvSpPr>
        <p:spPr>
          <a:xfrm>
            <a:off x="8053849" y="3371963"/>
            <a:ext cx="609600" cy="1085850"/>
          </a:xfrm>
          <a:custGeom>
            <a:avLst/>
            <a:gdLst/>
            <a:ahLst/>
            <a:cxnLst/>
            <a:rect l="l" t="t" r="r" b="b"/>
            <a:pathLst>
              <a:path w="609600" h="1085850">
                <a:moveTo>
                  <a:pt x="0" y="0"/>
                </a:moveTo>
                <a:lnTo>
                  <a:pt x="609600" y="0"/>
                </a:lnTo>
                <a:lnTo>
                  <a:pt x="609600" y="1085850"/>
                </a:lnTo>
                <a:lnTo>
                  <a:pt x="0" y="108585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AA890080-C33A-B148-8EFA-D56AC91E2CD9}"/>
              </a:ext>
            </a:extLst>
          </p:cNvPr>
          <p:cNvSpPr/>
          <p:nvPr/>
        </p:nvSpPr>
        <p:spPr>
          <a:xfrm>
            <a:off x="8128780" y="3389501"/>
            <a:ext cx="205105" cy="4984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AC0B3B9F-EB6C-AFE5-E8AD-32E0E1D49EB2}"/>
              </a:ext>
            </a:extLst>
          </p:cNvPr>
          <p:cNvSpPr/>
          <p:nvPr/>
        </p:nvSpPr>
        <p:spPr>
          <a:xfrm>
            <a:off x="8376430" y="3389501"/>
            <a:ext cx="207010" cy="4984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2321C835-F049-1A85-FAFD-86E6090C15A2}"/>
              </a:ext>
            </a:extLst>
          </p:cNvPr>
          <p:cNvSpPr/>
          <p:nvPr/>
        </p:nvSpPr>
        <p:spPr>
          <a:xfrm>
            <a:off x="8135130" y="3913527"/>
            <a:ext cx="441959" cy="100330"/>
          </a:xfrm>
          <a:custGeom>
            <a:avLst/>
            <a:gdLst/>
            <a:ahLst/>
            <a:cxnLst/>
            <a:rect l="l" t="t" r="r" b="b"/>
            <a:pathLst>
              <a:path w="441960" h="100329">
                <a:moveTo>
                  <a:pt x="441960" y="0"/>
                </a:moveTo>
                <a:lnTo>
                  <a:pt x="0" y="0"/>
                </a:lnTo>
                <a:lnTo>
                  <a:pt x="0" y="100012"/>
                </a:lnTo>
                <a:lnTo>
                  <a:pt x="441960" y="100012"/>
                </a:lnTo>
                <a:lnTo>
                  <a:pt x="441960" y="0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93A02B08-BC33-1545-316E-0AACDA6147ED}"/>
              </a:ext>
            </a:extLst>
          </p:cNvPr>
          <p:cNvSpPr/>
          <p:nvPr/>
        </p:nvSpPr>
        <p:spPr>
          <a:xfrm>
            <a:off x="8130049" y="3911488"/>
            <a:ext cx="441959" cy="100330"/>
          </a:xfrm>
          <a:custGeom>
            <a:avLst/>
            <a:gdLst/>
            <a:ahLst/>
            <a:cxnLst/>
            <a:rect l="l" t="t" r="r" b="b"/>
            <a:pathLst>
              <a:path w="441960" h="100329">
                <a:moveTo>
                  <a:pt x="0" y="0"/>
                </a:moveTo>
                <a:lnTo>
                  <a:pt x="441960" y="0"/>
                </a:lnTo>
                <a:lnTo>
                  <a:pt x="441960" y="100013"/>
                </a:lnTo>
                <a:lnTo>
                  <a:pt x="0" y="100013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EDDC7644-53BA-2A3A-8F1B-40123305B9F6}"/>
              </a:ext>
            </a:extLst>
          </p:cNvPr>
          <p:cNvSpPr/>
          <p:nvPr/>
        </p:nvSpPr>
        <p:spPr>
          <a:xfrm>
            <a:off x="8140845" y="4103082"/>
            <a:ext cx="443865" cy="271780"/>
          </a:xfrm>
          <a:custGeom>
            <a:avLst/>
            <a:gdLst/>
            <a:ahLst/>
            <a:cxnLst/>
            <a:rect l="l" t="t" r="r" b="b"/>
            <a:pathLst>
              <a:path w="443864" h="271779">
                <a:moveTo>
                  <a:pt x="443864" y="0"/>
                </a:moveTo>
                <a:lnTo>
                  <a:pt x="0" y="0"/>
                </a:lnTo>
                <a:lnTo>
                  <a:pt x="0" y="271462"/>
                </a:lnTo>
                <a:lnTo>
                  <a:pt x="443864" y="271462"/>
                </a:lnTo>
                <a:lnTo>
                  <a:pt x="443864" y="0"/>
                </a:lnTo>
                <a:close/>
              </a:path>
            </a:pathLst>
          </a:custGeom>
          <a:solidFill>
            <a:srgbClr val="99CC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0F16A23A-C4FA-9A14-7D66-2050DDCCE6FE}"/>
              </a:ext>
            </a:extLst>
          </p:cNvPr>
          <p:cNvSpPr/>
          <p:nvPr/>
        </p:nvSpPr>
        <p:spPr>
          <a:xfrm>
            <a:off x="8135764" y="4075794"/>
            <a:ext cx="443865" cy="271780"/>
          </a:xfrm>
          <a:custGeom>
            <a:avLst/>
            <a:gdLst/>
            <a:ahLst/>
            <a:cxnLst/>
            <a:rect l="l" t="t" r="r" b="b"/>
            <a:pathLst>
              <a:path w="443864" h="271779">
                <a:moveTo>
                  <a:pt x="443865" y="0"/>
                </a:moveTo>
                <a:lnTo>
                  <a:pt x="443865" y="271463"/>
                </a:lnTo>
                <a:lnTo>
                  <a:pt x="0" y="271463"/>
                </a:lnTo>
                <a:lnTo>
                  <a:pt x="0" y="0"/>
                </a:lnTo>
                <a:lnTo>
                  <a:pt x="443865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2" name="object 13">
            <a:extLst>
              <a:ext uri="{FF2B5EF4-FFF2-40B4-BE49-F238E27FC236}">
                <a16:creationId xmlns:a16="http://schemas.microsoft.com/office/drawing/2014/main" id="{A3462B94-4505-7CCD-B3FF-061D38F1D078}"/>
              </a:ext>
            </a:extLst>
          </p:cNvPr>
          <p:cNvSpPr txBox="1"/>
          <p:nvPr/>
        </p:nvSpPr>
        <p:spPr>
          <a:xfrm>
            <a:off x="3463434" y="4323157"/>
            <a:ext cx="1042669" cy="51039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18745" marR="5080" indent="-106680" algn="ctr">
              <a:lnSpc>
                <a:spcPts val="1900"/>
              </a:lnSpc>
              <a:spcBef>
                <a:spcPts val="180"/>
              </a:spcBef>
            </a:pP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hre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d 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Block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3" name="object 14">
            <a:extLst>
              <a:ext uri="{FF2B5EF4-FFF2-40B4-BE49-F238E27FC236}">
                <a16:creationId xmlns:a16="http://schemas.microsoft.com/office/drawing/2014/main" id="{B885D2FD-4540-D4BF-061C-EB5ACDCF4369}"/>
              </a:ext>
            </a:extLst>
          </p:cNvPr>
          <p:cNvSpPr txBox="1"/>
          <p:nvPr/>
        </p:nvSpPr>
        <p:spPr>
          <a:xfrm>
            <a:off x="7525704" y="4529123"/>
            <a:ext cx="1616361" cy="10233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Streaming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Multiprocessor</a:t>
            </a:r>
            <a:endParaRPr lang="en-US" sz="1600" spc="-5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sz="1600" spc="-5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SIMD Processor</a:t>
            </a:r>
            <a:endParaRPr sz="1600" dirty="0">
              <a:solidFill>
                <a:srgbClr val="FF0000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4" name="object 15">
            <a:extLst>
              <a:ext uri="{FF2B5EF4-FFF2-40B4-BE49-F238E27FC236}">
                <a16:creationId xmlns:a16="http://schemas.microsoft.com/office/drawing/2014/main" id="{EFB02DA8-EE41-5107-F7A6-DD7373B84A97}"/>
              </a:ext>
            </a:extLst>
          </p:cNvPr>
          <p:cNvSpPr txBox="1"/>
          <p:nvPr/>
        </p:nvSpPr>
        <p:spPr>
          <a:xfrm>
            <a:off x="5168953" y="3117025"/>
            <a:ext cx="1524000" cy="471924"/>
          </a:xfrm>
          <a:prstGeom prst="rect">
            <a:avLst/>
          </a:prstGeom>
          <a:solidFill>
            <a:srgbClr val="FFCC66"/>
          </a:solidFill>
          <a:ln w="12700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315595">
              <a:lnSpc>
                <a:spcPct val="100000"/>
              </a:lnSpc>
              <a:spcBef>
                <a:spcPts val="320"/>
              </a:spcBef>
            </a:pPr>
            <a:r>
              <a:rPr sz="1400" spc="-5" dirty="0">
                <a:latin typeface="Comic Sans MS" panose="030F0702030302020204" pitchFamily="66" charset="0"/>
                <a:cs typeface="Arial" panose="020B0604020202020204"/>
              </a:rPr>
              <a:t>32</a:t>
            </a:r>
            <a:r>
              <a:rPr sz="1400" spc="-45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lang="zh-CN" altLang="en-US" sz="1400" spc="-45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lang="en-US" altLang="zh-CN" sz="1400" spc="-45" dirty="0">
                <a:latin typeface="Comic Sans MS" panose="030F0702030302020204" pitchFamily="66" charset="0"/>
                <a:cs typeface="Arial" panose="020B0604020202020204"/>
              </a:rPr>
              <a:t>CUDA</a:t>
            </a:r>
            <a:r>
              <a:rPr lang="zh-CN" altLang="en-US" sz="1400" spc="-45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1400" spc="-10" dirty="0">
                <a:latin typeface="Comic Sans MS" panose="030F0702030302020204" pitchFamily="66" charset="0"/>
                <a:cs typeface="Arial" panose="020B0604020202020204"/>
              </a:rPr>
              <a:t>Threads</a:t>
            </a:r>
            <a:endParaRPr sz="1400" dirty="0"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15" name="object 16">
            <a:extLst>
              <a:ext uri="{FF2B5EF4-FFF2-40B4-BE49-F238E27FC236}">
                <a16:creationId xmlns:a16="http://schemas.microsoft.com/office/drawing/2014/main" id="{28DF9BC6-27FC-6CC6-ED1A-CE26217CF71E}"/>
              </a:ext>
            </a:extLst>
          </p:cNvPr>
          <p:cNvSpPr txBox="1"/>
          <p:nvPr/>
        </p:nvSpPr>
        <p:spPr>
          <a:xfrm>
            <a:off x="5176664" y="3744466"/>
            <a:ext cx="1524000" cy="471924"/>
          </a:xfrm>
          <a:prstGeom prst="rect">
            <a:avLst/>
          </a:prstGeom>
          <a:solidFill>
            <a:srgbClr val="FFCC66"/>
          </a:solidFill>
          <a:ln w="12700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315595">
              <a:lnSpc>
                <a:spcPct val="100000"/>
              </a:lnSpc>
              <a:spcBef>
                <a:spcPts val="320"/>
              </a:spcBef>
            </a:pPr>
            <a:r>
              <a:rPr sz="1400" spc="-5" dirty="0">
                <a:latin typeface="Comic Sans MS" panose="030F0702030302020204" pitchFamily="66" charset="0"/>
                <a:cs typeface="Arial" panose="020B0604020202020204"/>
              </a:rPr>
              <a:t>32</a:t>
            </a:r>
            <a:r>
              <a:rPr sz="1400" spc="-45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lang="en-US" altLang="zh-CN" sz="1400" spc="-45" dirty="0">
                <a:latin typeface="Comic Sans MS" panose="030F0702030302020204" pitchFamily="66" charset="0"/>
                <a:cs typeface="Arial" panose="020B0604020202020204"/>
              </a:rPr>
              <a:t>CUDA</a:t>
            </a:r>
            <a:r>
              <a:rPr lang="zh-CN" altLang="en-US" sz="1400" spc="-45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1400" spc="-10" dirty="0">
                <a:latin typeface="Comic Sans MS" panose="030F0702030302020204" pitchFamily="66" charset="0"/>
                <a:cs typeface="Arial" panose="020B0604020202020204"/>
              </a:rPr>
              <a:t>Threads</a:t>
            </a:r>
            <a:endParaRPr sz="1400" dirty="0"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16" name="object 17">
            <a:extLst>
              <a:ext uri="{FF2B5EF4-FFF2-40B4-BE49-F238E27FC236}">
                <a16:creationId xmlns:a16="http://schemas.microsoft.com/office/drawing/2014/main" id="{905BB49C-2751-D00E-6B53-24615F510958}"/>
              </a:ext>
            </a:extLst>
          </p:cNvPr>
          <p:cNvSpPr txBox="1"/>
          <p:nvPr/>
        </p:nvSpPr>
        <p:spPr>
          <a:xfrm>
            <a:off x="5178091" y="4368036"/>
            <a:ext cx="1524000" cy="473848"/>
          </a:xfrm>
          <a:prstGeom prst="rect">
            <a:avLst/>
          </a:prstGeom>
          <a:solidFill>
            <a:srgbClr val="FFCC66"/>
          </a:solidFill>
          <a:ln w="12700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315595">
              <a:lnSpc>
                <a:spcPct val="100000"/>
              </a:lnSpc>
              <a:spcBef>
                <a:spcPts val="335"/>
              </a:spcBef>
            </a:pPr>
            <a:r>
              <a:rPr sz="1400" spc="-5" dirty="0">
                <a:latin typeface="Comic Sans MS" panose="030F0702030302020204" pitchFamily="66" charset="0"/>
                <a:cs typeface="Arial" panose="020B0604020202020204"/>
              </a:rPr>
              <a:t>32</a:t>
            </a:r>
            <a:r>
              <a:rPr sz="1400" spc="-45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lang="en-US" altLang="zh-CN" sz="1400" spc="-45" dirty="0">
                <a:latin typeface="Comic Sans MS" panose="030F0702030302020204" pitchFamily="66" charset="0"/>
                <a:cs typeface="Arial" panose="020B0604020202020204"/>
              </a:rPr>
              <a:t>CUDA</a:t>
            </a:r>
            <a:r>
              <a:rPr lang="zh-CN" altLang="en-US" sz="1400" spc="-45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1400" spc="-10" dirty="0">
                <a:latin typeface="Comic Sans MS" panose="030F0702030302020204" pitchFamily="66" charset="0"/>
                <a:cs typeface="Arial" panose="020B0604020202020204"/>
              </a:rPr>
              <a:t>Threads</a:t>
            </a:r>
            <a:endParaRPr sz="1400" dirty="0"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17" name="object 18">
            <a:extLst>
              <a:ext uri="{FF2B5EF4-FFF2-40B4-BE49-F238E27FC236}">
                <a16:creationId xmlns:a16="http://schemas.microsoft.com/office/drawing/2014/main" id="{08AD9F5A-F403-0FD7-EBD9-9ACF44EFFBB8}"/>
              </a:ext>
            </a:extLst>
          </p:cNvPr>
          <p:cNvSpPr/>
          <p:nvPr/>
        </p:nvSpPr>
        <p:spPr>
          <a:xfrm>
            <a:off x="3469784" y="3470146"/>
            <a:ext cx="1036319" cy="777240"/>
          </a:xfrm>
          <a:custGeom>
            <a:avLst/>
            <a:gdLst/>
            <a:ahLst/>
            <a:cxnLst/>
            <a:rect l="l" t="t" r="r" b="b"/>
            <a:pathLst>
              <a:path w="1036319" h="777239">
                <a:moveTo>
                  <a:pt x="1036319" y="0"/>
                </a:moveTo>
                <a:lnTo>
                  <a:pt x="0" y="0"/>
                </a:lnTo>
                <a:lnTo>
                  <a:pt x="0" y="777239"/>
                </a:lnTo>
                <a:lnTo>
                  <a:pt x="1036319" y="777239"/>
                </a:lnTo>
                <a:lnTo>
                  <a:pt x="1036319" y="0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8" name="object 20">
            <a:extLst>
              <a:ext uri="{FF2B5EF4-FFF2-40B4-BE49-F238E27FC236}">
                <a16:creationId xmlns:a16="http://schemas.microsoft.com/office/drawing/2014/main" id="{E1DC6D53-0E18-219C-11D8-DF07B16FEB87}"/>
              </a:ext>
            </a:extLst>
          </p:cNvPr>
          <p:cNvSpPr/>
          <p:nvPr/>
        </p:nvSpPr>
        <p:spPr>
          <a:xfrm>
            <a:off x="3538364" y="3544441"/>
            <a:ext cx="169545" cy="617220"/>
          </a:xfrm>
          <a:custGeom>
            <a:avLst/>
            <a:gdLst/>
            <a:ahLst/>
            <a:cxnLst/>
            <a:rect l="l" t="t" r="r" b="b"/>
            <a:pathLst>
              <a:path w="169544" h="617220">
                <a:moveTo>
                  <a:pt x="10938" y="0"/>
                </a:moveTo>
                <a:lnTo>
                  <a:pt x="58400" y="37866"/>
                </a:lnTo>
                <a:lnTo>
                  <a:pt x="101926" y="75811"/>
                </a:lnTo>
                <a:lnTo>
                  <a:pt x="137579" y="113920"/>
                </a:lnTo>
                <a:lnTo>
                  <a:pt x="161420" y="152276"/>
                </a:lnTo>
                <a:lnTo>
                  <a:pt x="169513" y="190966"/>
                </a:lnTo>
                <a:lnTo>
                  <a:pt x="156323" y="223175"/>
                </a:lnTo>
                <a:lnTo>
                  <a:pt x="124754" y="255244"/>
                </a:lnTo>
                <a:lnTo>
                  <a:pt x="84072" y="287503"/>
                </a:lnTo>
                <a:lnTo>
                  <a:pt x="43542" y="320284"/>
                </a:lnTo>
                <a:lnTo>
                  <a:pt x="12429" y="353917"/>
                </a:lnTo>
                <a:lnTo>
                  <a:pt x="0" y="388734"/>
                </a:lnTo>
                <a:lnTo>
                  <a:pt x="6670" y="424848"/>
                </a:lnTo>
                <a:lnTo>
                  <a:pt x="25113" y="461998"/>
                </a:lnTo>
                <a:lnTo>
                  <a:pt x="52972" y="499998"/>
                </a:lnTo>
                <a:lnTo>
                  <a:pt x="87895" y="538659"/>
                </a:lnTo>
                <a:lnTo>
                  <a:pt x="127527" y="577796"/>
                </a:lnTo>
                <a:lnTo>
                  <a:pt x="169513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9" name="object 21">
            <a:extLst>
              <a:ext uri="{FF2B5EF4-FFF2-40B4-BE49-F238E27FC236}">
                <a16:creationId xmlns:a16="http://schemas.microsoft.com/office/drawing/2014/main" id="{E59F5C85-048C-4110-AAE9-4EAAAA987D67}"/>
              </a:ext>
            </a:extLst>
          </p:cNvPr>
          <p:cNvSpPr/>
          <p:nvPr/>
        </p:nvSpPr>
        <p:spPr>
          <a:xfrm>
            <a:off x="3639329" y="3544441"/>
            <a:ext cx="171450" cy="617220"/>
          </a:xfrm>
          <a:custGeom>
            <a:avLst/>
            <a:gdLst/>
            <a:ahLst/>
            <a:cxnLst/>
            <a:rect l="l" t="t" r="r" b="b"/>
            <a:pathLst>
              <a:path w="171450" h="617220">
                <a:moveTo>
                  <a:pt x="11061" y="0"/>
                </a:moveTo>
                <a:lnTo>
                  <a:pt x="59056" y="37866"/>
                </a:lnTo>
                <a:lnTo>
                  <a:pt x="103072" y="75811"/>
                </a:lnTo>
                <a:lnTo>
                  <a:pt x="139125" y="113920"/>
                </a:lnTo>
                <a:lnTo>
                  <a:pt x="163234" y="152276"/>
                </a:lnTo>
                <a:lnTo>
                  <a:pt x="171417" y="190966"/>
                </a:lnTo>
                <a:lnTo>
                  <a:pt x="158079" y="223175"/>
                </a:lnTo>
                <a:lnTo>
                  <a:pt x="126156" y="255244"/>
                </a:lnTo>
                <a:lnTo>
                  <a:pt x="85017" y="287503"/>
                </a:lnTo>
                <a:lnTo>
                  <a:pt x="44031" y="320284"/>
                </a:lnTo>
                <a:lnTo>
                  <a:pt x="12569" y="353917"/>
                </a:lnTo>
                <a:lnTo>
                  <a:pt x="0" y="388734"/>
                </a:lnTo>
                <a:lnTo>
                  <a:pt x="6745" y="424848"/>
                </a:lnTo>
                <a:lnTo>
                  <a:pt x="25395" y="461998"/>
                </a:lnTo>
                <a:lnTo>
                  <a:pt x="53568" y="499998"/>
                </a:lnTo>
                <a:lnTo>
                  <a:pt x="88883" y="538659"/>
                </a:lnTo>
                <a:lnTo>
                  <a:pt x="128960" y="577796"/>
                </a:lnTo>
                <a:lnTo>
                  <a:pt x="171417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0" name="object 22">
            <a:extLst>
              <a:ext uri="{FF2B5EF4-FFF2-40B4-BE49-F238E27FC236}">
                <a16:creationId xmlns:a16="http://schemas.microsoft.com/office/drawing/2014/main" id="{89684329-6206-2FD1-645B-D00FB6371E53}"/>
              </a:ext>
            </a:extLst>
          </p:cNvPr>
          <p:cNvSpPr/>
          <p:nvPr/>
        </p:nvSpPr>
        <p:spPr>
          <a:xfrm>
            <a:off x="3742198" y="3544441"/>
            <a:ext cx="171450" cy="617220"/>
          </a:xfrm>
          <a:custGeom>
            <a:avLst/>
            <a:gdLst/>
            <a:ahLst/>
            <a:cxnLst/>
            <a:rect l="l" t="t" r="r" b="b"/>
            <a:pathLst>
              <a:path w="171450" h="617220">
                <a:moveTo>
                  <a:pt x="11061" y="0"/>
                </a:moveTo>
                <a:lnTo>
                  <a:pt x="59056" y="37866"/>
                </a:lnTo>
                <a:lnTo>
                  <a:pt x="103072" y="75811"/>
                </a:lnTo>
                <a:lnTo>
                  <a:pt x="139125" y="113920"/>
                </a:lnTo>
                <a:lnTo>
                  <a:pt x="163234" y="152276"/>
                </a:lnTo>
                <a:lnTo>
                  <a:pt x="171417" y="190966"/>
                </a:lnTo>
                <a:lnTo>
                  <a:pt x="158079" y="223175"/>
                </a:lnTo>
                <a:lnTo>
                  <a:pt x="126156" y="255244"/>
                </a:lnTo>
                <a:lnTo>
                  <a:pt x="85017" y="287503"/>
                </a:lnTo>
                <a:lnTo>
                  <a:pt x="44031" y="320284"/>
                </a:lnTo>
                <a:lnTo>
                  <a:pt x="12569" y="353917"/>
                </a:lnTo>
                <a:lnTo>
                  <a:pt x="0" y="388734"/>
                </a:lnTo>
                <a:lnTo>
                  <a:pt x="6745" y="424848"/>
                </a:lnTo>
                <a:lnTo>
                  <a:pt x="25395" y="461998"/>
                </a:lnTo>
                <a:lnTo>
                  <a:pt x="53568" y="499998"/>
                </a:lnTo>
                <a:lnTo>
                  <a:pt x="88883" y="538659"/>
                </a:lnTo>
                <a:lnTo>
                  <a:pt x="128960" y="577796"/>
                </a:lnTo>
                <a:lnTo>
                  <a:pt x="171417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1" name="object 23">
            <a:extLst>
              <a:ext uri="{FF2B5EF4-FFF2-40B4-BE49-F238E27FC236}">
                <a16:creationId xmlns:a16="http://schemas.microsoft.com/office/drawing/2014/main" id="{742DBB72-9622-B8E2-CCE1-551F92DC7F45}"/>
              </a:ext>
            </a:extLst>
          </p:cNvPr>
          <p:cNvSpPr/>
          <p:nvPr/>
        </p:nvSpPr>
        <p:spPr>
          <a:xfrm>
            <a:off x="3845068" y="3544441"/>
            <a:ext cx="169545" cy="617220"/>
          </a:xfrm>
          <a:custGeom>
            <a:avLst/>
            <a:gdLst/>
            <a:ahLst/>
            <a:cxnLst/>
            <a:rect l="l" t="t" r="r" b="b"/>
            <a:pathLst>
              <a:path w="169544" h="617220">
                <a:moveTo>
                  <a:pt x="10938" y="0"/>
                </a:moveTo>
                <a:lnTo>
                  <a:pt x="58400" y="37866"/>
                </a:lnTo>
                <a:lnTo>
                  <a:pt x="101926" y="75811"/>
                </a:lnTo>
                <a:lnTo>
                  <a:pt x="137579" y="113920"/>
                </a:lnTo>
                <a:lnTo>
                  <a:pt x="161420" y="152276"/>
                </a:lnTo>
                <a:lnTo>
                  <a:pt x="169513" y="190966"/>
                </a:lnTo>
                <a:lnTo>
                  <a:pt x="156323" y="223175"/>
                </a:lnTo>
                <a:lnTo>
                  <a:pt x="124754" y="255244"/>
                </a:lnTo>
                <a:lnTo>
                  <a:pt x="84072" y="287503"/>
                </a:lnTo>
                <a:lnTo>
                  <a:pt x="43542" y="320284"/>
                </a:lnTo>
                <a:lnTo>
                  <a:pt x="12429" y="353917"/>
                </a:lnTo>
                <a:lnTo>
                  <a:pt x="0" y="388734"/>
                </a:lnTo>
                <a:lnTo>
                  <a:pt x="6670" y="424848"/>
                </a:lnTo>
                <a:lnTo>
                  <a:pt x="25113" y="461998"/>
                </a:lnTo>
                <a:lnTo>
                  <a:pt x="52972" y="499998"/>
                </a:lnTo>
                <a:lnTo>
                  <a:pt x="87895" y="538659"/>
                </a:lnTo>
                <a:lnTo>
                  <a:pt x="127527" y="577796"/>
                </a:lnTo>
                <a:lnTo>
                  <a:pt x="169513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2" name="object 24">
            <a:extLst>
              <a:ext uri="{FF2B5EF4-FFF2-40B4-BE49-F238E27FC236}">
                <a16:creationId xmlns:a16="http://schemas.microsoft.com/office/drawing/2014/main" id="{6A8A6106-33A9-29A7-EEA4-C52C0E7FBCDA}"/>
              </a:ext>
            </a:extLst>
          </p:cNvPr>
          <p:cNvSpPr/>
          <p:nvPr/>
        </p:nvSpPr>
        <p:spPr>
          <a:xfrm>
            <a:off x="4252739" y="3544441"/>
            <a:ext cx="171450" cy="617220"/>
          </a:xfrm>
          <a:custGeom>
            <a:avLst/>
            <a:gdLst/>
            <a:ahLst/>
            <a:cxnLst/>
            <a:rect l="l" t="t" r="r" b="b"/>
            <a:pathLst>
              <a:path w="171450" h="617220">
                <a:moveTo>
                  <a:pt x="11061" y="0"/>
                </a:moveTo>
                <a:lnTo>
                  <a:pt x="59056" y="37866"/>
                </a:lnTo>
                <a:lnTo>
                  <a:pt x="103072" y="75811"/>
                </a:lnTo>
                <a:lnTo>
                  <a:pt x="139125" y="113920"/>
                </a:lnTo>
                <a:lnTo>
                  <a:pt x="163234" y="152276"/>
                </a:lnTo>
                <a:lnTo>
                  <a:pt x="171417" y="190966"/>
                </a:lnTo>
                <a:lnTo>
                  <a:pt x="158079" y="223175"/>
                </a:lnTo>
                <a:lnTo>
                  <a:pt x="126156" y="255244"/>
                </a:lnTo>
                <a:lnTo>
                  <a:pt x="85017" y="287503"/>
                </a:lnTo>
                <a:lnTo>
                  <a:pt x="44031" y="320284"/>
                </a:lnTo>
                <a:lnTo>
                  <a:pt x="12569" y="353917"/>
                </a:lnTo>
                <a:lnTo>
                  <a:pt x="0" y="388734"/>
                </a:lnTo>
                <a:lnTo>
                  <a:pt x="6745" y="424848"/>
                </a:lnTo>
                <a:lnTo>
                  <a:pt x="25395" y="461998"/>
                </a:lnTo>
                <a:lnTo>
                  <a:pt x="53568" y="499998"/>
                </a:lnTo>
                <a:lnTo>
                  <a:pt x="88883" y="538659"/>
                </a:lnTo>
                <a:lnTo>
                  <a:pt x="128960" y="577796"/>
                </a:lnTo>
                <a:lnTo>
                  <a:pt x="171417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3" name="object 25">
            <a:extLst>
              <a:ext uri="{FF2B5EF4-FFF2-40B4-BE49-F238E27FC236}">
                <a16:creationId xmlns:a16="http://schemas.microsoft.com/office/drawing/2014/main" id="{590D562E-1460-65F8-28A9-A5E94AC1E28D}"/>
              </a:ext>
            </a:extLst>
          </p:cNvPr>
          <p:cNvSpPr txBox="1"/>
          <p:nvPr/>
        </p:nvSpPr>
        <p:spPr>
          <a:xfrm>
            <a:off x="3463434" y="3463796"/>
            <a:ext cx="1049020" cy="48859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23495" algn="ctr">
              <a:lnSpc>
                <a:spcPct val="100000"/>
              </a:lnSpc>
              <a:spcBef>
                <a:spcPts val="930"/>
              </a:spcBef>
            </a:pPr>
            <a:r>
              <a:rPr sz="2400" spc="-5" dirty="0">
                <a:latin typeface="Comic Sans MS" panose="030F0702030302020204" pitchFamily="66" charset="0"/>
                <a:cs typeface="Arial" panose="020B0604020202020204"/>
              </a:rPr>
              <a:t>...</a:t>
            </a:r>
            <a:endParaRPr sz="2400"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24" name="object 26">
            <a:extLst>
              <a:ext uri="{FF2B5EF4-FFF2-40B4-BE49-F238E27FC236}">
                <a16:creationId xmlns:a16="http://schemas.microsoft.com/office/drawing/2014/main" id="{C8806DB0-2E79-54BC-51D2-294F78ABCB32}"/>
              </a:ext>
            </a:extLst>
          </p:cNvPr>
          <p:cNvSpPr txBox="1"/>
          <p:nvPr/>
        </p:nvSpPr>
        <p:spPr>
          <a:xfrm>
            <a:off x="5654501" y="4898139"/>
            <a:ext cx="74629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90" dirty="0">
                <a:latin typeface="Comic Sans MS" panose="030F0702030302020204" pitchFamily="66" charset="0"/>
                <a:cs typeface="Calibri" panose="020F0502020204030204" pitchFamily="34" charset="0"/>
              </a:rPr>
              <a:t>W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p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</a:p>
        </p:txBody>
      </p:sp>
      <p:sp>
        <p:nvSpPr>
          <p:cNvPr id="25" name="object 29">
            <a:extLst>
              <a:ext uri="{FF2B5EF4-FFF2-40B4-BE49-F238E27FC236}">
                <a16:creationId xmlns:a16="http://schemas.microsoft.com/office/drawing/2014/main" id="{7C3D822D-B8D3-BDFC-086F-EBFF1FA56A75}"/>
              </a:ext>
            </a:extLst>
          </p:cNvPr>
          <p:cNvSpPr/>
          <p:nvPr/>
        </p:nvSpPr>
        <p:spPr>
          <a:xfrm>
            <a:off x="6809885" y="3895912"/>
            <a:ext cx="1097280" cy="262890"/>
          </a:xfrm>
          <a:custGeom>
            <a:avLst/>
            <a:gdLst/>
            <a:ahLst/>
            <a:cxnLst/>
            <a:rect l="l" t="t" r="r" b="b"/>
            <a:pathLst>
              <a:path w="1097279" h="262889">
                <a:moveTo>
                  <a:pt x="788671" y="0"/>
                </a:moveTo>
                <a:lnTo>
                  <a:pt x="788671" y="83017"/>
                </a:lnTo>
                <a:lnTo>
                  <a:pt x="0" y="83017"/>
                </a:lnTo>
                <a:lnTo>
                  <a:pt x="0" y="179872"/>
                </a:lnTo>
                <a:lnTo>
                  <a:pt x="788671" y="179872"/>
                </a:lnTo>
                <a:lnTo>
                  <a:pt x="788671" y="262889"/>
                </a:lnTo>
                <a:lnTo>
                  <a:pt x="1097280" y="131444"/>
                </a:lnTo>
                <a:lnTo>
                  <a:pt x="788671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6" name="object 30">
            <a:extLst>
              <a:ext uri="{FF2B5EF4-FFF2-40B4-BE49-F238E27FC236}">
                <a16:creationId xmlns:a16="http://schemas.microsoft.com/office/drawing/2014/main" id="{D04F7D11-2D5E-B5E3-E2EE-BE0F5E149EFF}"/>
              </a:ext>
            </a:extLst>
          </p:cNvPr>
          <p:cNvSpPr/>
          <p:nvPr/>
        </p:nvSpPr>
        <p:spPr>
          <a:xfrm>
            <a:off x="6934344" y="3528566"/>
            <a:ext cx="1097280" cy="262890"/>
          </a:xfrm>
          <a:custGeom>
            <a:avLst/>
            <a:gdLst/>
            <a:ahLst/>
            <a:cxnLst/>
            <a:rect l="l" t="t" r="r" b="b"/>
            <a:pathLst>
              <a:path w="1097279" h="262889">
                <a:moveTo>
                  <a:pt x="0" y="83017"/>
                </a:moveTo>
                <a:lnTo>
                  <a:pt x="788671" y="83017"/>
                </a:lnTo>
                <a:lnTo>
                  <a:pt x="788671" y="0"/>
                </a:lnTo>
                <a:lnTo>
                  <a:pt x="1097280" y="131445"/>
                </a:lnTo>
                <a:lnTo>
                  <a:pt x="788671" y="262890"/>
                </a:lnTo>
                <a:lnTo>
                  <a:pt x="788671" y="179872"/>
                </a:lnTo>
                <a:lnTo>
                  <a:pt x="0" y="179872"/>
                </a:lnTo>
                <a:lnTo>
                  <a:pt x="0" y="8301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7" name="object 31">
            <a:extLst>
              <a:ext uri="{FF2B5EF4-FFF2-40B4-BE49-F238E27FC236}">
                <a16:creationId xmlns:a16="http://schemas.microsoft.com/office/drawing/2014/main" id="{A09CD40E-478B-F63B-3F50-4E98FA3D4F64}"/>
              </a:ext>
            </a:extLst>
          </p:cNvPr>
          <p:cNvSpPr txBox="1"/>
          <p:nvPr/>
        </p:nvSpPr>
        <p:spPr>
          <a:xfrm>
            <a:off x="4685808" y="3672916"/>
            <a:ext cx="203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8C8C8C"/>
                </a:solidFill>
                <a:latin typeface="Comic Sans MS" panose="030F0702030302020204" pitchFamily="66" charset="0"/>
                <a:cs typeface="Arial" panose="020B0604020202020204"/>
              </a:rPr>
              <a:t>=</a:t>
            </a:r>
            <a:endParaRPr sz="2400"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28" name="灯片编号占位符 27">
            <a:extLst>
              <a:ext uri="{FF2B5EF4-FFF2-40B4-BE49-F238E27FC236}">
                <a16:creationId xmlns:a16="http://schemas.microsoft.com/office/drawing/2014/main" id="{D5FE503B-F941-EB26-17E4-47D2D2405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5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3828389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A77F3-A74F-B331-587F-B0D993277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998365A-81AD-F4A3-0CAC-D717CF7E4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LAUNCH CONFIGURATION: SUMMARY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2B0141D-269A-A3CB-C8E9-D1548A1B5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080170"/>
            <a:ext cx="12097344" cy="5760639"/>
          </a:xfrm>
        </p:spPr>
        <p:txBody>
          <a:bodyPr/>
          <a:lstStyle/>
          <a:p>
            <a:r>
              <a:rPr lang="en-US" dirty="0"/>
              <a:t>Need enough total threads to keep GPU busy</a:t>
            </a:r>
          </a:p>
          <a:p>
            <a:pPr lvl="1"/>
            <a:r>
              <a:rPr lang="en-US" sz="2400" dirty="0"/>
              <a:t>Typically, you’d like 512+ CUDA threads per SIMD Processor</a:t>
            </a:r>
          </a:p>
          <a:p>
            <a:pPr lvl="2"/>
            <a:r>
              <a:rPr lang="en-US" sz="2000" dirty="0"/>
              <a:t>More if processing one fp32 element per thread</a:t>
            </a:r>
          </a:p>
          <a:p>
            <a:pPr lvl="1"/>
            <a:r>
              <a:rPr lang="en-US" sz="2400" dirty="0"/>
              <a:t>Of course, exceptions exist</a:t>
            </a:r>
          </a:p>
          <a:p>
            <a:r>
              <a:rPr lang="en-US" dirty="0" err="1"/>
              <a:t>Threadblock</a:t>
            </a:r>
            <a:r>
              <a:rPr lang="en-US" dirty="0"/>
              <a:t> configuration</a:t>
            </a:r>
          </a:p>
          <a:p>
            <a:pPr lvl="1"/>
            <a:r>
              <a:rPr lang="en-US" sz="2400" dirty="0"/>
              <a:t>Threads per block should be a multiple of warp size (32)</a:t>
            </a:r>
          </a:p>
          <a:p>
            <a:pPr lvl="1"/>
            <a:r>
              <a:rPr lang="en-US" sz="2400" dirty="0"/>
              <a:t>SIMD Processor can concurrently execute at least 16 thread blocks (Maxwell/Pascal/Volta/Ampere: 32)</a:t>
            </a:r>
          </a:p>
          <a:p>
            <a:pPr lvl="2"/>
            <a:r>
              <a:rPr lang="en-US" sz="2000" dirty="0"/>
              <a:t>Really small thread blocks prevent achieving good occupancy  </a:t>
            </a:r>
          </a:p>
          <a:p>
            <a:pPr lvl="2"/>
            <a:r>
              <a:rPr lang="en-US" sz="2000" dirty="0"/>
              <a:t>Really large thread blocks are less flexible</a:t>
            </a:r>
          </a:p>
          <a:p>
            <a:pPr lvl="2"/>
            <a:r>
              <a:rPr lang="en-US" sz="2000" dirty="0"/>
              <a:t>Could generally </a:t>
            </a:r>
            <a:r>
              <a:rPr lang="en-US" sz="2000"/>
              <a:t>use 320-512 </a:t>
            </a:r>
            <a:r>
              <a:rPr lang="en-US" sz="2000" dirty="0"/>
              <a:t>threads/block, but use whatever is best for the application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330E081-53D1-B9BB-0030-B195C9761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6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7648005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教育部工程研究中心项目汇报-改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教育部工程研究中心项目汇报-改</Template>
  <TotalTime>467</TotalTime>
  <Words>318</Words>
  <Application>Microsoft Office PowerPoint</Application>
  <PresentationFormat>自定义</PresentationFormat>
  <Paragraphs>67</Paragraphs>
  <Slides>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微软雅黑</vt:lpstr>
      <vt:lpstr>Arial</vt:lpstr>
      <vt:lpstr>Calibri</vt:lpstr>
      <vt:lpstr>Comic Sans MS</vt:lpstr>
      <vt:lpstr>Trebuchet MS</vt:lpstr>
      <vt:lpstr>Wingdings</vt:lpstr>
      <vt:lpstr>教育部工程研究中心项目汇报-改</vt:lpstr>
      <vt:lpstr>PowerPoint 演示文稿</vt:lpstr>
      <vt:lpstr>PowerPoint 演示文稿</vt:lpstr>
      <vt:lpstr>OUTLINE</vt:lpstr>
      <vt:lpstr>EXECUTION MODEL</vt:lpstr>
      <vt:lpstr>WARPS 线程束</vt:lpstr>
      <vt:lpstr>LAUNCH CONFIGURATION: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abc</dc:creator>
  <cp:lastModifiedBy>達富 鍾</cp:lastModifiedBy>
  <cp:revision>2629</cp:revision>
  <dcterms:created xsi:type="dcterms:W3CDTF">2016-05-19T09:43:00Z</dcterms:created>
  <dcterms:modified xsi:type="dcterms:W3CDTF">2026-01-14T09:24:40Z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2052-11.1.0.11294</vt:lpwstr>
  </property>
  <property fmtid="{D5CDD505-2E9C-101B-9397-08002B2CF9AE}" pid="3" name="ICV">
    <vt:lpwstr>FE6B41012A634C3A893C10D0EDECA588</vt:lpwstr>
  </property>
</Properties>
</file>